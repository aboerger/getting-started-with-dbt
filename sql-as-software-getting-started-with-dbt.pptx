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310" r:id="rId2"/>
    <p:sldId id="364" r:id="rId3"/>
    <p:sldId id="365" r:id="rId4"/>
    <p:sldId id="363" r:id="rId5"/>
    <p:sldId id="316" r:id="rId6"/>
    <p:sldId id="317" r:id="rId7"/>
    <p:sldId id="351" r:id="rId8"/>
    <p:sldId id="340" r:id="rId9"/>
    <p:sldId id="344" r:id="rId10"/>
    <p:sldId id="357" r:id="rId11"/>
    <p:sldId id="319" r:id="rId12"/>
    <p:sldId id="339" r:id="rId13"/>
    <p:sldId id="342" r:id="rId14"/>
    <p:sldId id="321" r:id="rId15"/>
    <p:sldId id="354" r:id="rId16"/>
    <p:sldId id="345" r:id="rId17"/>
    <p:sldId id="341" r:id="rId18"/>
    <p:sldId id="325" r:id="rId19"/>
    <p:sldId id="326" r:id="rId20"/>
    <p:sldId id="327" r:id="rId21"/>
    <p:sldId id="343" r:id="rId22"/>
    <p:sldId id="328" r:id="rId23"/>
    <p:sldId id="330" r:id="rId24"/>
    <p:sldId id="331" r:id="rId25"/>
    <p:sldId id="362" r:id="rId26"/>
    <p:sldId id="332" r:id="rId27"/>
    <p:sldId id="359" r:id="rId28"/>
    <p:sldId id="358" r:id="rId29"/>
    <p:sldId id="334" r:id="rId30"/>
    <p:sldId id="337" r:id="rId31"/>
    <p:sldId id="335" r:id="rId32"/>
    <p:sldId id="338" r:id="rId33"/>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267F4A-1957-48DA-B10B-CF9522B30266}" v="1" dt="2026-09-08T18:19:45.4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1669" autoAdjust="0"/>
  </p:normalViewPr>
  <p:slideViewPr>
    <p:cSldViewPr snapToGrid="0" snapToObjects="1">
      <p:cViewPr varScale="1">
        <p:scale>
          <a:sx n="76" d="100"/>
          <a:sy n="76" d="100"/>
        </p:scale>
        <p:origin x="209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erger, Andrew" userId="0c0bc9a9-2163-4dfe-8380-dffe9bae854a" providerId="ADAL" clId="{517DB387-D46D-4360-A89D-0AB2A58C50C0}"/>
    <pc:docChg chg="undo redo custSel mod addSld delSld modSld sldOrd">
      <pc:chgData name="Boerger, Andrew" userId="0c0bc9a9-2163-4dfe-8380-dffe9bae854a" providerId="ADAL" clId="{517DB387-D46D-4360-A89D-0AB2A58C50C0}" dt="2026-09-09T16:18:00.280" v="482" actId="27636"/>
      <pc:docMkLst>
        <pc:docMk/>
      </pc:docMkLst>
      <pc:sldChg chg="del">
        <pc:chgData name="Boerger, Andrew" userId="0c0bc9a9-2163-4dfe-8380-dffe9bae854a" providerId="ADAL" clId="{517DB387-D46D-4360-A89D-0AB2A58C50C0}" dt="2026-09-08T18:52:39.224" v="22"/>
        <pc:sldMkLst>
          <pc:docMk/>
          <pc:sldMk cId="1135986832" sldId="256"/>
        </pc:sldMkLst>
      </pc:sldChg>
      <pc:sldChg chg="del">
        <pc:chgData name="Boerger, Andrew" userId="0c0bc9a9-2163-4dfe-8380-dffe9bae854a" providerId="ADAL" clId="{517DB387-D46D-4360-A89D-0AB2A58C50C0}" dt="2026-09-08T18:53:06.439" v="25"/>
        <pc:sldMkLst>
          <pc:docMk/>
          <pc:sldMk cId="1281551574" sldId="257"/>
        </pc:sldMkLst>
      </pc:sldChg>
      <pc:sldChg chg="del">
        <pc:chgData name="Boerger, Andrew" userId="0c0bc9a9-2163-4dfe-8380-dffe9bae854a" providerId="ADAL" clId="{517DB387-D46D-4360-A89D-0AB2A58C50C0}" dt="2026-09-08T18:53:45.525" v="30"/>
        <pc:sldMkLst>
          <pc:docMk/>
          <pc:sldMk cId="1733220927" sldId="258"/>
        </pc:sldMkLst>
      </pc:sldChg>
      <pc:sldChg chg="del">
        <pc:chgData name="Boerger, Andrew" userId="0c0bc9a9-2163-4dfe-8380-dffe9bae854a" providerId="ADAL" clId="{517DB387-D46D-4360-A89D-0AB2A58C50C0}" dt="2026-09-08T18:55:04.849" v="40"/>
        <pc:sldMkLst>
          <pc:docMk/>
          <pc:sldMk cId="1281551574" sldId="259"/>
        </pc:sldMkLst>
      </pc:sldChg>
      <pc:sldChg chg="modSp del mod">
        <pc:chgData name="Boerger, Andrew" userId="0c0bc9a9-2163-4dfe-8380-dffe9bae854a" providerId="ADAL" clId="{517DB387-D46D-4360-A89D-0AB2A58C50C0}" dt="2026-09-08T18:56:14.966" v="48"/>
        <pc:sldMkLst>
          <pc:docMk/>
          <pc:sldMk cId="922738249" sldId="260"/>
        </pc:sldMkLst>
        <pc:spChg chg="mod">
          <ac:chgData name="Boerger, Andrew" userId="0c0bc9a9-2163-4dfe-8380-dffe9bae854a" providerId="ADAL" clId="{517DB387-D46D-4360-A89D-0AB2A58C50C0}" dt="2026-09-08T18:19:45.709" v="14" actId="27636"/>
          <ac:spMkLst>
            <pc:docMk/>
            <pc:sldMk cId="922738249" sldId="260"/>
            <ac:spMk id="9" creationId="{69167C31-1622-4F40-9C4C-1FB25C9C110D}"/>
          </ac:spMkLst>
        </pc:spChg>
        <pc:spChg chg="mod">
          <ac:chgData name="Boerger, Andrew" userId="0c0bc9a9-2163-4dfe-8380-dffe9bae854a" providerId="ADAL" clId="{517DB387-D46D-4360-A89D-0AB2A58C50C0}" dt="2026-09-08T18:19:45.707" v="13" actId="27636"/>
          <ac:spMkLst>
            <pc:docMk/>
            <pc:sldMk cId="922738249" sldId="260"/>
            <ac:spMk id="13" creationId="{CBDAAE06-19EE-409D-9092-413150E84C53}"/>
          </ac:spMkLst>
        </pc:spChg>
      </pc:sldChg>
      <pc:sldChg chg="del">
        <pc:chgData name="Boerger, Andrew" userId="0c0bc9a9-2163-4dfe-8380-dffe9bae854a" providerId="ADAL" clId="{517DB387-D46D-4360-A89D-0AB2A58C50C0}" dt="2026-09-08T18:57:43.006" v="53"/>
        <pc:sldMkLst>
          <pc:docMk/>
          <pc:sldMk cId="1733220927" sldId="261"/>
        </pc:sldMkLst>
      </pc:sldChg>
      <pc:sldChg chg="modSp del mod">
        <pc:chgData name="Boerger, Andrew" userId="0c0bc9a9-2163-4dfe-8380-dffe9bae854a" providerId="ADAL" clId="{517DB387-D46D-4360-A89D-0AB2A58C50C0}" dt="2026-09-08T18:59:47.881" v="62"/>
        <pc:sldMkLst>
          <pc:docMk/>
          <pc:sldMk cId="3343157203" sldId="262"/>
        </pc:sldMkLst>
        <pc:spChg chg="mod">
          <ac:chgData name="Boerger, Andrew" userId="0c0bc9a9-2163-4dfe-8380-dffe9bae854a" providerId="ADAL" clId="{517DB387-D46D-4360-A89D-0AB2A58C50C0}" dt="2026-09-08T18:19:45.727" v="15" actId="27636"/>
          <ac:spMkLst>
            <pc:docMk/>
            <pc:sldMk cId="3343157203" sldId="262"/>
            <ac:spMk id="7" creationId="{C426275A-6120-4A60-960F-EDFEA0556A63}"/>
          </ac:spMkLst>
        </pc:spChg>
      </pc:sldChg>
      <pc:sldChg chg="del">
        <pc:chgData name="Boerger, Andrew" userId="0c0bc9a9-2163-4dfe-8380-dffe9bae854a" providerId="ADAL" clId="{517DB387-D46D-4360-A89D-0AB2A58C50C0}" dt="2026-09-08T19:00:20.188" v="64"/>
        <pc:sldMkLst>
          <pc:docMk/>
          <pc:sldMk cId="1281551574" sldId="263"/>
        </pc:sldMkLst>
      </pc:sldChg>
      <pc:sldChg chg="del">
        <pc:chgData name="Boerger, Andrew" userId="0c0bc9a9-2163-4dfe-8380-dffe9bae854a" providerId="ADAL" clId="{517DB387-D46D-4360-A89D-0AB2A58C50C0}" dt="2026-09-08T19:01:27.836" v="71"/>
        <pc:sldMkLst>
          <pc:docMk/>
          <pc:sldMk cId="1733220927" sldId="264"/>
        </pc:sldMkLst>
      </pc:sldChg>
      <pc:sldChg chg="modSp del mod">
        <pc:chgData name="Boerger, Andrew" userId="0c0bc9a9-2163-4dfe-8380-dffe9bae854a" providerId="ADAL" clId="{517DB387-D46D-4360-A89D-0AB2A58C50C0}" dt="2026-09-08T19:02:23.845" v="77"/>
        <pc:sldMkLst>
          <pc:docMk/>
          <pc:sldMk cId="3343157203" sldId="265"/>
        </pc:sldMkLst>
        <pc:spChg chg="mod">
          <ac:chgData name="Boerger, Andrew" userId="0c0bc9a9-2163-4dfe-8380-dffe9bae854a" providerId="ADAL" clId="{517DB387-D46D-4360-A89D-0AB2A58C50C0}" dt="2026-09-08T18:19:45.742" v="16" actId="27636"/>
          <ac:spMkLst>
            <pc:docMk/>
            <pc:sldMk cId="3343157203" sldId="265"/>
            <ac:spMk id="7" creationId="{C426275A-6120-4A60-960F-EDFEA0556A63}"/>
          </ac:spMkLst>
        </pc:spChg>
      </pc:sldChg>
      <pc:sldChg chg="del">
        <pc:chgData name="Boerger, Andrew" userId="0c0bc9a9-2163-4dfe-8380-dffe9bae854a" providerId="ADAL" clId="{517DB387-D46D-4360-A89D-0AB2A58C50C0}" dt="2026-09-08T19:02:50.043" v="79"/>
        <pc:sldMkLst>
          <pc:docMk/>
          <pc:sldMk cId="1281551574" sldId="266"/>
        </pc:sldMkLst>
      </pc:sldChg>
      <pc:sldChg chg="modSp del mod">
        <pc:chgData name="Boerger, Andrew" userId="0c0bc9a9-2163-4dfe-8380-dffe9bae854a" providerId="ADAL" clId="{517DB387-D46D-4360-A89D-0AB2A58C50C0}" dt="2026-09-08T19:03:22.742" v="82"/>
        <pc:sldMkLst>
          <pc:docMk/>
          <pc:sldMk cId="3343157203" sldId="267"/>
        </pc:sldMkLst>
        <pc:spChg chg="mod">
          <ac:chgData name="Boerger, Andrew" userId="0c0bc9a9-2163-4dfe-8380-dffe9bae854a" providerId="ADAL" clId="{517DB387-D46D-4360-A89D-0AB2A58C50C0}" dt="2026-09-08T18:19:45.751" v="17" actId="27636"/>
          <ac:spMkLst>
            <pc:docMk/>
            <pc:sldMk cId="3343157203" sldId="267"/>
            <ac:spMk id="7" creationId="{C426275A-6120-4A60-960F-EDFEA0556A63}"/>
          </ac:spMkLst>
        </pc:spChg>
      </pc:sldChg>
      <pc:sldChg chg="del">
        <pc:chgData name="Boerger, Andrew" userId="0c0bc9a9-2163-4dfe-8380-dffe9bae854a" providerId="ADAL" clId="{517DB387-D46D-4360-A89D-0AB2A58C50C0}" dt="2026-09-08T19:04:29.919" v="85"/>
        <pc:sldMkLst>
          <pc:docMk/>
          <pc:sldMk cId="678549971" sldId="268"/>
        </pc:sldMkLst>
      </pc:sldChg>
      <pc:sldChg chg="modSp del mod">
        <pc:chgData name="Boerger, Andrew" userId="0c0bc9a9-2163-4dfe-8380-dffe9bae854a" providerId="ADAL" clId="{517DB387-D46D-4360-A89D-0AB2A58C50C0}" dt="2026-09-08T19:05:02.660" v="88"/>
        <pc:sldMkLst>
          <pc:docMk/>
          <pc:sldMk cId="922738249" sldId="269"/>
        </pc:sldMkLst>
        <pc:spChg chg="mod">
          <ac:chgData name="Boerger, Andrew" userId="0c0bc9a9-2163-4dfe-8380-dffe9bae854a" providerId="ADAL" clId="{517DB387-D46D-4360-A89D-0AB2A58C50C0}" dt="2026-09-08T18:19:45.508" v="2" actId="27636"/>
          <ac:spMkLst>
            <pc:docMk/>
            <pc:sldMk cId="922738249" sldId="269"/>
            <ac:spMk id="9" creationId="{69167C31-1622-4F40-9C4C-1FB25C9C110D}"/>
          </ac:spMkLst>
        </pc:spChg>
        <pc:spChg chg="mod">
          <ac:chgData name="Boerger, Andrew" userId="0c0bc9a9-2163-4dfe-8380-dffe9bae854a" providerId="ADAL" clId="{517DB387-D46D-4360-A89D-0AB2A58C50C0}" dt="2026-09-08T18:19:45.502" v="1" actId="27636"/>
          <ac:spMkLst>
            <pc:docMk/>
            <pc:sldMk cId="922738249" sldId="269"/>
            <ac:spMk id="13" creationId="{CBDAAE06-19EE-409D-9092-413150E84C53}"/>
          </ac:spMkLst>
        </pc:spChg>
      </pc:sldChg>
      <pc:sldChg chg="modSp del mod">
        <pc:chgData name="Boerger, Andrew" userId="0c0bc9a9-2163-4dfe-8380-dffe9bae854a" providerId="ADAL" clId="{517DB387-D46D-4360-A89D-0AB2A58C50C0}" dt="2026-09-08T19:05:43.378" v="91"/>
        <pc:sldMkLst>
          <pc:docMk/>
          <pc:sldMk cId="3343157203" sldId="270"/>
        </pc:sldMkLst>
        <pc:spChg chg="mod">
          <ac:chgData name="Boerger, Andrew" userId="0c0bc9a9-2163-4dfe-8380-dffe9bae854a" providerId="ADAL" clId="{517DB387-D46D-4360-A89D-0AB2A58C50C0}" dt="2026-09-08T18:19:45.650" v="3" actId="27636"/>
          <ac:spMkLst>
            <pc:docMk/>
            <pc:sldMk cId="3343157203" sldId="270"/>
            <ac:spMk id="7" creationId="{C426275A-6120-4A60-960F-EDFEA0556A63}"/>
          </ac:spMkLst>
        </pc:spChg>
      </pc:sldChg>
      <pc:sldChg chg="del">
        <pc:chgData name="Boerger, Andrew" userId="0c0bc9a9-2163-4dfe-8380-dffe9bae854a" providerId="ADAL" clId="{517DB387-D46D-4360-A89D-0AB2A58C50C0}" dt="2026-09-08T19:06:14.733" v="93"/>
        <pc:sldMkLst>
          <pc:docMk/>
          <pc:sldMk cId="1281551574" sldId="271"/>
        </pc:sldMkLst>
      </pc:sldChg>
      <pc:sldChg chg="del">
        <pc:chgData name="Boerger, Andrew" userId="0c0bc9a9-2163-4dfe-8380-dffe9bae854a" providerId="ADAL" clId="{517DB387-D46D-4360-A89D-0AB2A58C50C0}" dt="2026-09-08T19:07:58.097" v="98"/>
        <pc:sldMkLst>
          <pc:docMk/>
          <pc:sldMk cId="1733220927" sldId="272"/>
        </pc:sldMkLst>
      </pc:sldChg>
      <pc:sldChg chg="modSp del mod">
        <pc:chgData name="Boerger, Andrew" userId="0c0bc9a9-2163-4dfe-8380-dffe9bae854a" providerId="ADAL" clId="{517DB387-D46D-4360-A89D-0AB2A58C50C0}" dt="2026-09-08T19:08:44.753" v="104"/>
        <pc:sldMkLst>
          <pc:docMk/>
          <pc:sldMk cId="922738249" sldId="273"/>
        </pc:sldMkLst>
        <pc:spChg chg="mod">
          <ac:chgData name="Boerger, Andrew" userId="0c0bc9a9-2163-4dfe-8380-dffe9bae854a" providerId="ADAL" clId="{517DB387-D46D-4360-A89D-0AB2A58C50C0}" dt="2026-09-08T18:19:45.660" v="4" actId="27636"/>
          <ac:spMkLst>
            <pc:docMk/>
            <pc:sldMk cId="922738249" sldId="273"/>
            <ac:spMk id="9" creationId="{69167C31-1622-4F40-9C4C-1FB25C9C110D}"/>
          </ac:spMkLst>
        </pc:spChg>
        <pc:spChg chg="mod">
          <ac:chgData name="Boerger, Andrew" userId="0c0bc9a9-2163-4dfe-8380-dffe9bae854a" providerId="ADAL" clId="{517DB387-D46D-4360-A89D-0AB2A58C50C0}" dt="2026-09-08T18:19:45.661" v="5" actId="27636"/>
          <ac:spMkLst>
            <pc:docMk/>
            <pc:sldMk cId="922738249" sldId="273"/>
            <ac:spMk id="13" creationId="{CBDAAE06-19EE-409D-9092-413150E84C53}"/>
          </ac:spMkLst>
        </pc:spChg>
      </pc:sldChg>
      <pc:sldChg chg="modSp del mod">
        <pc:chgData name="Boerger, Andrew" userId="0c0bc9a9-2163-4dfe-8380-dffe9bae854a" providerId="ADAL" clId="{517DB387-D46D-4360-A89D-0AB2A58C50C0}" dt="2026-09-08T19:09:01.184" v="106"/>
        <pc:sldMkLst>
          <pc:docMk/>
          <pc:sldMk cId="3343157203" sldId="274"/>
        </pc:sldMkLst>
        <pc:spChg chg="mod">
          <ac:chgData name="Boerger, Andrew" userId="0c0bc9a9-2163-4dfe-8380-dffe9bae854a" providerId="ADAL" clId="{517DB387-D46D-4360-A89D-0AB2A58C50C0}" dt="2026-09-08T18:19:45.672" v="6" actId="27636"/>
          <ac:spMkLst>
            <pc:docMk/>
            <pc:sldMk cId="3343157203" sldId="274"/>
            <ac:spMk id="7" creationId="{C426275A-6120-4A60-960F-EDFEA0556A63}"/>
          </ac:spMkLst>
        </pc:spChg>
      </pc:sldChg>
      <pc:sldChg chg="del">
        <pc:chgData name="Boerger, Andrew" userId="0c0bc9a9-2163-4dfe-8380-dffe9bae854a" providerId="ADAL" clId="{517DB387-D46D-4360-A89D-0AB2A58C50C0}" dt="2026-09-08T19:09:35.838" v="109"/>
        <pc:sldMkLst>
          <pc:docMk/>
          <pc:sldMk cId="1281551574" sldId="275"/>
        </pc:sldMkLst>
      </pc:sldChg>
      <pc:sldChg chg="modSp del mod">
        <pc:chgData name="Boerger, Andrew" userId="0c0bc9a9-2163-4dfe-8380-dffe9bae854a" providerId="ADAL" clId="{517DB387-D46D-4360-A89D-0AB2A58C50C0}" dt="2026-09-08T19:09:54.983" v="112"/>
        <pc:sldMkLst>
          <pc:docMk/>
          <pc:sldMk cId="922738249" sldId="276"/>
        </pc:sldMkLst>
        <pc:spChg chg="mod">
          <ac:chgData name="Boerger, Andrew" userId="0c0bc9a9-2163-4dfe-8380-dffe9bae854a" providerId="ADAL" clId="{517DB387-D46D-4360-A89D-0AB2A58C50C0}" dt="2026-09-08T18:19:45.679" v="7" actId="27636"/>
          <ac:spMkLst>
            <pc:docMk/>
            <pc:sldMk cId="922738249" sldId="276"/>
            <ac:spMk id="9" creationId="{69167C31-1622-4F40-9C4C-1FB25C9C110D}"/>
          </ac:spMkLst>
        </pc:spChg>
        <pc:spChg chg="mod">
          <ac:chgData name="Boerger, Andrew" userId="0c0bc9a9-2163-4dfe-8380-dffe9bae854a" providerId="ADAL" clId="{517DB387-D46D-4360-A89D-0AB2A58C50C0}" dt="2026-09-08T18:19:45.683" v="9" actId="27636"/>
          <ac:spMkLst>
            <pc:docMk/>
            <pc:sldMk cId="922738249" sldId="276"/>
            <ac:spMk id="10" creationId="{8D6EF8D4-6301-4F0A-9857-CAD8071EAC6E}"/>
          </ac:spMkLst>
        </pc:spChg>
        <pc:spChg chg="mod">
          <ac:chgData name="Boerger, Andrew" userId="0c0bc9a9-2163-4dfe-8380-dffe9bae854a" providerId="ADAL" clId="{517DB387-D46D-4360-A89D-0AB2A58C50C0}" dt="2026-09-08T18:19:45.682" v="8" actId="27636"/>
          <ac:spMkLst>
            <pc:docMk/>
            <pc:sldMk cId="922738249" sldId="276"/>
            <ac:spMk id="13" creationId="{CBDAAE06-19EE-409D-9092-413150E84C53}"/>
          </ac:spMkLst>
        </pc:spChg>
        <pc:spChg chg="mod">
          <ac:chgData name="Boerger, Andrew" userId="0c0bc9a9-2163-4dfe-8380-dffe9bae854a" providerId="ADAL" clId="{517DB387-D46D-4360-A89D-0AB2A58C50C0}" dt="2026-09-08T18:19:45.685" v="10" actId="27636"/>
          <ac:spMkLst>
            <pc:docMk/>
            <pc:sldMk cId="922738249" sldId="276"/>
            <ac:spMk id="18" creationId="{280E74C6-90C0-46B1-AE43-7B92B45A2502}"/>
          </ac:spMkLst>
        </pc:spChg>
      </pc:sldChg>
      <pc:sldChg chg="modSp del mod">
        <pc:chgData name="Boerger, Andrew" userId="0c0bc9a9-2163-4dfe-8380-dffe9bae854a" providerId="ADAL" clId="{517DB387-D46D-4360-A89D-0AB2A58C50C0}" dt="2026-09-08T19:10:15.139" v="121"/>
        <pc:sldMkLst>
          <pc:docMk/>
          <pc:sldMk cId="922738249" sldId="277"/>
        </pc:sldMkLst>
        <pc:spChg chg="mod">
          <ac:chgData name="Boerger, Andrew" userId="0c0bc9a9-2163-4dfe-8380-dffe9bae854a" providerId="ADAL" clId="{517DB387-D46D-4360-A89D-0AB2A58C50C0}" dt="2026-09-08T18:19:45.691" v="12" actId="27636"/>
          <ac:spMkLst>
            <pc:docMk/>
            <pc:sldMk cId="922738249" sldId="277"/>
            <ac:spMk id="9" creationId="{69167C31-1622-4F40-9C4C-1FB25C9C110D}"/>
          </ac:spMkLst>
        </pc:spChg>
        <pc:spChg chg="mod">
          <ac:chgData name="Boerger, Andrew" userId="0c0bc9a9-2163-4dfe-8380-dffe9bae854a" providerId="ADAL" clId="{517DB387-D46D-4360-A89D-0AB2A58C50C0}" dt="2026-09-08T18:19:45.689" v="11" actId="27636"/>
          <ac:spMkLst>
            <pc:docMk/>
            <pc:sldMk cId="922738249" sldId="277"/>
            <ac:spMk id="13" creationId="{CBDAAE06-19EE-409D-9092-413150E84C53}"/>
          </ac:spMkLst>
        </pc:spChg>
      </pc:sldChg>
      <pc:sldChg chg="add del">
        <pc:chgData name="Boerger, Andrew" userId="0c0bc9a9-2163-4dfe-8380-dffe9bae854a" providerId="ADAL" clId="{517DB387-D46D-4360-A89D-0AB2A58C50C0}" dt="2026-09-08T18:58:30.082" v="55"/>
        <pc:sldMkLst>
          <pc:docMk/>
          <pc:sldMk cId="4231249892" sldId="278"/>
        </pc:sldMkLst>
      </pc:sldChg>
      <pc:sldChg chg="add del ord">
        <pc:chgData name="Boerger, Andrew" userId="0c0bc9a9-2163-4dfe-8380-dffe9bae854a" providerId="ADAL" clId="{517DB387-D46D-4360-A89D-0AB2A58C50C0}" dt="2026-09-08T19:06:49.033" v="96"/>
        <pc:sldMkLst>
          <pc:docMk/>
          <pc:sldMk cId="3647150540" sldId="279"/>
        </pc:sldMkLst>
      </pc:sldChg>
      <pc:sldChg chg="modSp add del mod">
        <pc:chgData name="Boerger, Andrew" userId="0c0bc9a9-2163-4dfe-8380-dffe9bae854a" providerId="ADAL" clId="{517DB387-D46D-4360-A89D-0AB2A58C50C0}" dt="2026-09-08T19:11:26.955" v="135"/>
        <pc:sldMkLst>
          <pc:docMk/>
          <pc:sldMk cId="3151657347" sldId="280"/>
        </pc:sldMkLst>
        <pc:spChg chg="mod">
          <ac:chgData name="Boerger, Andrew" userId="0c0bc9a9-2163-4dfe-8380-dffe9bae854a" providerId="ADAL" clId="{517DB387-D46D-4360-A89D-0AB2A58C50C0}" dt="2026-09-08T18:52:39.288" v="23" actId="27636"/>
          <ac:spMkLst>
            <pc:docMk/>
            <pc:sldMk cId="3151657347" sldId="280"/>
            <ac:spMk id="13" creationId="{449F7921-3772-DAF8-CB0A-17FCA37E8CD4}"/>
          </ac:spMkLst>
        </pc:spChg>
      </pc:sldChg>
      <pc:sldChg chg="modSp add del mod">
        <pc:chgData name="Boerger, Andrew" userId="0c0bc9a9-2163-4dfe-8380-dffe9bae854a" providerId="ADAL" clId="{517DB387-D46D-4360-A89D-0AB2A58C50C0}" dt="2026-09-08T19:14:52.636" v="148"/>
        <pc:sldMkLst>
          <pc:docMk/>
          <pc:sldMk cId="3683333797" sldId="281"/>
        </pc:sldMkLst>
        <pc:spChg chg="mod">
          <ac:chgData name="Boerger, Andrew" userId="0c0bc9a9-2163-4dfe-8380-dffe9bae854a" providerId="ADAL" clId="{517DB387-D46D-4360-A89D-0AB2A58C50C0}" dt="2026-09-08T18:53:06.584" v="26" actId="27636"/>
          <ac:spMkLst>
            <pc:docMk/>
            <pc:sldMk cId="3683333797" sldId="281"/>
            <ac:spMk id="101" creationId="{00000000-0000-0000-0000-000000000000}"/>
          </ac:spMkLst>
        </pc:spChg>
        <pc:spChg chg="mod">
          <ac:chgData name="Boerger, Andrew" userId="0c0bc9a9-2163-4dfe-8380-dffe9bae854a" providerId="ADAL" clId="{517DB387-D46D-4360-A89D-0AB2A58C50C0}" dt="2026-09-08T18:53:06.607" v="28" actId="27636"/>
          <ac:spMkLst>
            <pc:docMk/>
            <pc:sldMk cId="3683333797" sldId="281"/>
            <ac:spMk id="104" creationId="{00000000-0000-0000-0000-000000000000}"/>
          </ac:spMkLst>
        </pc:spChg>
        <pc:spChg chg="mod">
          <ac:chgData name="Boerger, Andrew" userId="0c0bc9a9-2163-4dfe-8380-dffe9bae854a" providerId="ADAL" clId="{517DB387-D46D-4360-A89D-0AB2A58C50C0}" dt="2026-09-08T18:53:06.597" v="27" actId="27636"/>
          <ac:spMkLst>
            <pc:docMk/>
            <pc:sldMk cId="3683333797" sldId="281"/>
            <ac:spMk id="107" creationId="{00000000-0000-0000-0000-000000000000}"/>
          </ac:spMkLst>
        </pc:spChg>
      </pc:sldChg>
      <pc:sldChg chg="modSp add del mod">
        <pc:chgData name="Boerger, Andrew" userId="0c0bc9a9-2163-4dfe-8380-dffe9bae854a" providerId="ADAL" clId="{517DB387-D46D-4360-A89D-0AB2A58C50C0}" dt="2026-09-08T18:54:18.343" v="36"/>
        <pc:sldMkLst>
          <pc:docMk/>
          <pc:sldMk cId="2557815746" sldId="282"/>
        </pc:sldMkLst>
        <pc:spChg chg="mod">
          <ac:chgData name="Boerger, Andrew" userId="0c0bc9a9-2163-4dfe-8380-dffe9bae854a" providerId="ADAL" clId="{517DB387-D46D-4360-A89D-0AB2A58C50C0}" dt="2026-09-08T18:53:45.595" v="33" actId="27636"/>
          <ac:spMkLst>
            <pc:docMk/>
            <pc:sldMk cId="2557815746" sldId="282"/>
            <ac:spMk id="3" creationId="{454A5393-1907-4275-B9E9-C410BF0DBCDF}"/>
          </ac:spMkLst>
        </pc:spChg>
        <pc:spChg chg="mod">
          <ac:chgData name="Boerger, Andrew" userId="0c0bc9a9-2163-4dfe-8380-dffe9bae854a" providerId="ADAL" clId="{517DB387-D46D-4360-A89D-0AB2A58C50C0}" dt="2026-09-08T18:53:45.593" v="32" actId="27636"/>
          <ac:spMkLst>
            <pc:docMk/>
            <pc:sldMk cId="2557815746" sldId="282"/>
            <ac:spMk id="100" creationId="{00000000-0000-0000-0000-000000000000}"/>
          </ac:spMkLst>
        </pc:spChg>
        <pc:spChg chg="mod">
          <ac:chgData name="Boerger, Andrew" userId="0c0bc9a9-2163-4dfe-8380-dffe9bae854a" providerId="ADAL" clId="{517DB387-D46D-4360-A89D-0AB2A58C50C0}" dt="2026-09-08T18:53:45.590" v="31" actId="27636"/>
          <ac:spMkLst>
            <pc:docMk/>
            <pc:sldMk cId="2557815746" sldId="282"/>
            <ac:spMk id="131" creationId="{00000000-0000-0000-0000-000000000000}"/>
          </ac:spMkLst>
        </pc:spChg>
        <pc:spChg chg="mod">
          <ac:chgData name="Boerger, Andrew" userId="0c0bc9a9-2163-4dfe-8380-dffe9bae854a" providerId="ADAL" clId="{517DB387-D46D-4360-A89D-0AB2A58C50C0}" dt="2026-09-08T18:53:45.596" v="34" actId="27636"/>
          <ac:spMkLst>
            <pc:docMk/>
            <pc:sldMk cId="2557815746" sldId="282"/>
            <ac:spMk id="151" creationId="{00000000-0000-0000-0000-000000000000}"/>
          </ac:spMkLst>
        </pc:spChg>
      </pc:sldChg>
      <pc:sldChg chg="modSp add del mod">
        <pc:chgData name="Boerger, Andrew" userId="0c0bc9a9-2163-4dfe-8380-dffe9bae854a" providerId="ADAL" clId="{517DB387-D46D-4360-A89D-0AB2A58C50C0}" dt="2026-09-08T19:12:00.338" v="142"/>
        <pc:sldMkLst>
          <pc:docMk/>
          <pc:sldMk cId="3765279070" sldId="283"/>
        </pc:sldMkLst>
        <pc:spChg chg="mod">
          <ac:chgData name="Boerger, Andrew" userId="0c0bc9a9-2163-4dfe-8380-dffe9bae854a" providerId="ADAL" clId="{517DB387-D46D-4360-A89D-0AB2A58C50C0}" dt="2026-09-08T18:54:18.378" v="37" actId="27636"/>
          <ac:spMkLst>
            <pc:docMk/>
            <pc:sldMk cId="3765279070" sldId="283"/>
            <ac:spMk id="100" creationId="{00000000-0000-0000-0000-000000000000}"/>
          </ac:spMkLst>
        </pc:spChg>
        <pc:spChg chg="mod">
          <ac:chgData name="Boerger, Andrew" userId="0c0bc9a9-2163-4dfe-8380-dffe9bae854a" providerId="ADAL" clId="{517DB387-D46D-4360-A89D-0AB2A58C50C0}" dt="2026-09-08T18:54:18.383" v="38" actId="27636"/>
          <ac:spMkLst>
            <pc:docMk/>
            <pc:sldMk cId="3765279070" sldId="283"/>
            <ac:spMk id="113" creationId="{00000000-0000-0000-0000-000000000000}"/>
          </ac:spMkLst>
        </pc:spChg>
      </pc:sldChg>
      <pc:sldChg chg="modSp add del mod">
        <pc:chgData name="Boerger, Andrew" userId="0c0bc9a9-2163-4dfe-8380-dffe9bae854a" providerId="ADAL" clId="{517DB387-D46D-4360-A89D-0AB2A58C50C0}" dt="2026-09-08T18:55:40.820" v="44"/>
        <pc:sldMkLst>
          <pc:docMk/>
          <pc:sldMk cId="3055174819" sldId="284"/>
        </pc:sldMkLst>
        <pc:spChg chg="mod">
          <ac:chgData name="Boerger, Andrew" userId="0c0bc9a9-2163-4dfe-8380-dffe9bae854a" providerId="ADAL" clId="{517DB387-D46D-4360-A89D-0AB2A58C50C0}" dt="2026-09-08T18:55:04.963" v="42" actId="27636"/>
          <ac:spMkLst>
            <pc:docMk/>
            <pc:sldMk cId="3055174819" sldId="284"/>
            <ac:spMk id="101" creationId="{00000000-0000-0000-0000-000000000000}"/>
          </ac:spMkLst>
        </pc:spChg>
        <pc:spChg chg="mod">
          <ac:chgData name="Boerger, Andrew" userId="0c0bc9a9-2163-4dfe-8380-dffe9bae854a" providerId="ADAL" clId="{517DB387-D46D-4360-A89D-0AB2A58C50C0}" dt="2026-09-08T18:55:04.933" v="41" actId="27636"/>
          <ac:spMkLst>
            <pc:docMk/>
            <pc:sldMk cId="3055174819" sldId="284"/>
            <ac:spMk id="111" creationId="{00000000-0000-0000-0000-000000000000}"/>
          </ac:spMkLst>
        </pc:spChg>
      </pc:sldChg>
      <pc:sldChg chg="modSp add del mod">
        <pc:chgData name="Boerger, Andrew" userId="0c0bc9a9-2163-4dfe-8380-dffe9bae854a" providerId="ADAL" clId="{517DB387-D46D-4360-A89D-0AB2A58C50C0}" dt="2026-09-08T19:15:07.081" v="154"/>
        <pc:sldMkLst>
          <pc:docMk/>
          <pc:sldMk cId="4235657228" sldId="285"/>
        </pc:sldMkLst>
        <pc:spChg chg="mod">
          <ac:chgData name="Boerger, Andrew" userId="0c0bc9a9-2163-4dfe-8380-dffe9bae854a" providerId="ADAL" clId="{517DB387-D46D-4360-A89D-0AB2A58C50C0}" dt="2026-09-08T18:55:40.915" v="45" actId="27636"/>
          <ac:spMkLst>
            <pc:docMk/>
            <pc:sldMk cId="4235657228" sldId="285"/>
            <ac:spMk id="101" creationId="{00000000-0000-0000-0000-000000000000}"/>
          </ac:spMkLst>
        </pc:spChg>
        <pc:spChg chg="mod">
          <ac:chgData name="Boerger, Andrew" userId="0c0bc9a9-2163-4dfe-8380-dffe9bae854a" providerId="ADAL" clId="{517DB387-D46D-4360-A89D-0AB2A58C50C0}" dt="2026-09-08T18:55:40.926" v="46" actId="27636"/>
          <ac:spMkLst>
            <pc:docMk/>
            <pc:sldMk cId="4235657228" sldId="285"/>
            <ac:spMk id="111" creationId="{00000000-0000-0000-0000-000000000000}"/>
          </ac:spMkLst>
        </pc:spChg>
      </pc:sldChg>
      <pc:sldChg chg="modSp add del mod">
        <pc:chgData name="Boerger, Andrew" userId="0c0bc9a9-2163-4dfe-8380-dffe9bae854a" providerId="ADAL" clId="{517DB387-D46D-4360-A89D-0AB2A58C50C0}" dt="2026-09-08T18:57:02.469" v="51"/>
        <pc:sldMkLst>
          <pc:docMk/>
          <pc:sldMk cId="1876020355" sldId="286"/>
        </pc:sldMkLst>
        <pc:spChg chg="mod">
          <ac:chgData name="Boerger, Andrew" userId="0c0bc9a9-2163-4dfe-8380-dffe9bae854a" providerId="ADAL" clId="{517DB387-D46D-4360-A89D-0AB2A58C50C0}" dt="2026-09-08T18:56:15.093" v="49" actId="27636"/>
          <ac:spMkLst>
            <pc:docMk/>
            <pc:sldMk cId="1876020355" sldId="286"/>
            <ac:spMk id="3" creationId="{BCCFDF1D-25C9-4CBE-B374-B2E6938EB573}"/>
          </ac:spMkLst>
        </pc:spChg>
      </pc:sldChg>
      <pc:sldChg chg="add del">
        <pc:chgData name="Boerger, Andrew" userId="0c0bc9a9-2163-4dfe-8380-dffe9bae854a" providerId="ADAL" clId="{517DB387-D46D-4360-A89D-0AB2A58C50C0}" dt="2026-09-08T19:15:13.911" v="156"/>
        <pc:sldMkLst>
          <pc:docMk/>
          <pc:sldMk cId="3533749252" sldId="287"/>
        </pc:sldMkLst>
      </pc:sldChg>
      <pc:sldChg chg="add del">
        <pc:chgData name="Boerger, Andrew" userId="0c0bc9a9-2163-4dfe-8380-dffe9bae854a" providerId="ADAL" clId="{517DB387-D46D-4360-A89D-0AB2A58C50C0}" dt="2026-09-08T19:11:39.879" v="138"/>
        <pc:sldMkLst>
          <pc:docMk/>
          <pc:sldMk cId="1440617740" sldId="288"/>
        </pc:sldMkLst>
      </pc:sldChg>
      <pc:sldChg chg="modSp add del mod">
        <pc:chgData name="Boerger, Andrew" userId="0c0bc9a9-2163-4dfe-8380-dffe9bae854a" providerId="ADAL" clId="{517DB387-D46D-4360-A89D-0AB2A58C50C0}" dt="2026-09-08T18:59:11.304" v="59"/>
        <pc:sldMkLst>
          <pc:docMk/>
          <pc:sldMk cId="3402679571" sldId="289"/>
        </pc:sldMkLst>
        <pc:spChg chg="mod">
          <ac:chgData name="Boerger, Andrew" userId="0c0bc9a9-2163-4dfe-8380-dffe9bae854a" providerId="ADAL" clId="{517DB387-D46D-4360-A89D-0AB2A58C50C0}" dt="2026-09-08T18:58:30.116" v="56" actId="27636"/>
          <ac:spMkLst>
            <pc:docMk/>
            <pc:sldMk cId="3402679571" sldId="289"/>
            <ac:spMk id="115" creationId="{00000000-0000-0000-0000-000000000000}"/>
          </ac:spMkLst>
        </pc:spChg>
        <pc:spChg chg="mod">
          <ac:chgData name="Boerger, Andrew" userId="0c0bc9a9-2163-4dfe-8380-dffe9bae854a" providerId="ADAL" clId="{517DB387-D46D-4360-A89D-0AB2A58C50C0}" dt="2026-09-08T18:58:30.122" v="57" actId="27636"/>
          <ac:spMkLst>
            <pc:docMk/>
            <pc:sldMk cId="3402679571" sldId="289"/>
            <ac:spMk id="141" creationId="{00000000-0000-0000-0000-000000000000}"/>
          </ac:spMkLst>
        </pc:spChg>
      </pc:sldChg>
      <pc:sldChg chg="modSp add del mod">
        <pc:chgData name="Boerger, Andrew" userId="0c0bc9a9-2163-4dfe-8380-dffe9bae854a" providerId="ADAL" clId="{517DB387-D46D-4360-A89D-0AB2A58C50C0}" dt="2026-09-08T19:11:51.530" v="140"/>
        <pc:sldMkLst>
          <pc:docMk/>
          <pc:sldMk cId="3529435421" sldId="290"/>
        </pc:sldMkLst>
        <pc:spChg chg="mod">
          <ac:chgData name="Boerger, Andrew" userId="0c0bc9a9-2163-4dfe-8380-dffe9bae854a" providerId="ADAL" clId="{517DB387-D46D-4360-A89D-0AB2A58C50C0}" dt="2026-09-08T19:10:48.396" v="122"/>
          <ac:spMkLst>
            <pc:docMk/>
            <pc:sldMk cId="3529435421" sldId="290"/>
            <ac:spMk id="26" creationId="{57053F5A-4F41-40B1-B3CE-278E9D4C84A8}"/>
          </ac:spMkLst>
        </pc:spChg>
        <pc:spChg chg="mod">
          <ac:chgData name="Boerger, Andrew" userId="0c0bc9a9-2163-4dfe-8380-dffe9bae854a" providerId="ADAL" clId="{517DB387-D46D-4360-A89D-0AB2A58C50C0}" dt="2026-09-08T18:59:11.330" v="60" actId="27636"/>
          <ac:spMkLst>
            <pc:docMk/>
            <pc:sldMk cId="3529435421" sldId="290"/>
            <ac:spMk id="141" creationId="{00000000-0000-0000-0000-000000000000}"/>
          </ac:spMkLst>
        </pc:spChg>
      </pc:sldChg>
      <pc:sldChg chg="add del">
        <pc:chgData name="Boerger, Andrew" userId="0c0bc9a9-2163-4dfe-8380-dffe9bae854a" providerId="ADAL" clId="{517DB387-D46D-4360-A89D-0AB2A58C50C0}" dt="2026-09-08T19:15:34.791" v="163"/>
        <pc:sldMkLst>
          <pc:docMk/>
          <pc:sldMk cId="1124176911" sldId="291"/>
        </pc:sldMkLst>
      </pc:sldChg>
      <pc:sldChg chg="modSp add del mod">
        <pc:chgData name="Boerger, Andrew" userId="0c0bc9a9-2163-4dfe-8380-dffe9bae854a" providerId="ADAL" clId="{517DB387-D46D-4360-A89D-0AB2A58C50C0}" dt="2026-09-08T19:00:49.553" v="68"/>
        <pc:sldMkLst>
          <pc:docMk/>
          <pc:sldMk cId="2735690142" sldId="292"/>
        </pc:sldMkLst>
        <pc:spChg chg="mod">
          <ac:chgData name="Boerger, Andrew" userId="0c0bc9a9-2163-4dfe-8380-dffe9bae854a" providerId="ADAL" clId="{517DB387-D46D-4360-A89D-0AB2A58C50C0}" dt="2026-09-08T19:00:20.212" v="66" actId="27636"/>
          <ac:spMkLst>
            <pc:docMk/>
            <pc:sldMk cId="2735690142" sldId="292"/>
            <ac:spMk id="111" creationId="{00000000-0000-0000-0000-000000000000}"/>
          </ac:spMkLst>
        </pc:spChg>
        <pc:spChg chg="mod">
          <ac:chgData name="Boerger, Andrew" userId="0c0bc9a9-2163-4dfe-8380-dffe9bae854a" providerId="ADAL" clId="{517DB387-D46D-4360-A89D-0AB2A58C50C0}" dt="2026-09-08T19:00:20.212" v="65" actId="27636"/>
          <ac:spMkLst>
            <pc:docMk/>
            <pc:sldMk cId="2735690142" sldId="292"/>
            <ac:spMk id="114" creationId="{00000000-0000-0000-0000-000000000000}"/>
          </ac:spMkLst>
        </pc:spChg>
      </pc:sldChg>
      <pc:sldChg chg="modSp add del mod">
        <pc:chgData name="Boerger, Andrew" userId="0c0bc9a9-2163-4dfe-8380-dffe9bae854a" providerId="ADAL" clId="{517DB387-D46D-4360-A89D-0AB2A58C50C0}" dt="2026-09-08T19:15:41.910" v="165"/>
        <pc:sldMkLst>
          <pc:docMk/>
          <pc:sldMk cId="1500559390" sldId="293"/>
        </pc:sldMkLst>
        <pc:spChg chg="mod">
          <ac:chgData name="Boerger, Andrew" userId="0c0bc9a9-2163-4dfe-8380-dffe9bae854a" providerId="ADAL" clId="{517DB387-D46D-4360-A89D-0AB2A58C50C0}" dt="2026-09-08T19:10:48.397" v="123"/>
          <ac:spMkLst>
            <pc:docMk/>
            <pc:sldMk cId="1500559390" sldId="293"/>
            <ac:spMk id="28" creationId="{E1A6A13E-D079-4787-BA2C-26179E45E0AB}"/>
          </ac:spMkLst>
        </pc:spChg>
        <pc:spChg chg="mod">
          <ac:chgData name="Boerger, Andrew" userId="0c0bc9a9-2163-4dfe-8380-dffe9bae854a" providerId="ADAL" clId="{517DB387-D46D-4360-A89D-0AB2A58C50C0}" dt="2026-09-08T19:00:49.637" v="69" actId="27636"/>
          <ac:spMkLst>
            <pc:docMk/>
            <pc:sldMk cId="1500559390" sldId="293"/>
            <ac:spMk id="111" creationId="{00000000-0000-0000-0000-000000000000}"/>
          </ac:spMkLst>
        </pc:spChg>
      </pc:sldChg>
      <pc:sldChg chg="modSp add del mod">
        <pc:chgData name="Boerger, Andrew" userId="0c0bc9a9-2163-4dfe-8380-dffe9bae854a" providerId="ADAL" clId="{517DB387-D46D-4360-A89D-0AB2A58C50C0}" dt="2026-09-08T19:01:47.186" v="74"/>
        <pc:sldMkLst>
          <pc:docMk/>
          <pc:sldMk cId="3516606931" sldId="294"/>
        </pc:sldMkLst>
        <pc:spChg chg="mod">
          <ac:chgData name="Boerger, Andrew" userId="0c0bc9a9-2163-4dfe-8380-dffe9bae854a" providerId="ADAL" clId="{517DB387-D46D-4360-A89D-0AB2A58C50C0}" dt="2026-09-08T19:01:27.917" v="72" actId="27636"/>
          <ac:spMkLst>
            <pc:docMk/>
            <pc:sldMk cId="3516606931" sldId="294"/>
            <ac:spMk id="3" creationId="{454A5393-1907-4275-B9E9-C410BF0DBCDF}"/>
          </ac:spMkLst>
        </pc:spChg>
      </pc:sldChg>
      <pc:sldChg chg="modSp add del mod">
        <pc:chgData name="Boerger, Andrew" userId="0c0bc9a9-2163-4dfe-8380-dffe9bae854a" providerId="ADAL" clId="{517DB387-D46D-4360-A89D-0AB2A58C50C0}" dt="2026-09-08T19:15:51.313" v="167"/>
        <pc:sldMkLst>
          <pc:docMk/>
          <pc:sldMk cId="2859442644" sldId="295"/>
        </pc:sldMkLst>
        <pc:spChg chg="mod">
          <ac:chgData name="Boerger, Andrew" userId="0c0bc9a9-2163-4dfe-8380-dffe9bae854a" providerId="ADAL" clId="{517DB387-D46D-4360-A89D-0AB2A58C50C0}" dt="2026-09-08T19:10:48.398" v="124"/>
          <ac:spMkLst>
            <pc:docMk/>
            <pc:sldMk cId="2859442644" sldId="295"/>
            <ac:spMk id="26" creationId="{57053F5A-4F41-40B1-B3CE-278E9D4C84A8}"/>
          </ac:spMkLst>
        </pc:spChg>
        <pc:spChg chg="mod">
          <ac:chgData name="Boerger, Andrew" userId="0c0bc9a9-2163-4dfe-8380-dffe9bae854a" providerId="ADAL" clId="{517DB387-D46D-4360-A89D-0AB2A58C50C0}" dt="2026-09-08T19:01:47.272" v="75" actId="27636"/>
          <ac:spMkLst>
            <pc:docMk/>
            <pc:sldMk cId="2859442644" sldId="295"/>
            <ac:spMk id="101" creationId="{00000000-0000-0000-0000-000000000000}"/>
          </ac:spMkLst>
        </pc:spChg>
      </pc:sldChg>
      <pc:sldChg chg="add del">
        <pc:chgData name="Boerger, Andrew" userId="0c0bc9a9-2163-4dfe-8380-dffe9bae854a" providerId="ADAL" clId="{517DB387-D46D-4360-A89D-0AB2A58C50C0}" dt="2026-09-08T19:16:13.583" v="169"/>
        <pc:sldMkLst>
          <pc:docMk/>
          <pc:sldMk cId="1809604154" sldId="296"/>
        </pc:sldMkLst>
      </pc:sldChg>
      <pc:sldChg chg="modSp add del mod">
        <pc:chgData name="Boerger, Andrew" userId="0c0bc9a9-2163-4dfe-8380-dffe9bae854a" providerId="ADAL" clId="{517DB387-D46D-4360-A89D-0AB2A58C50C0}" dt="2026-09-08T19:12:09.384" v="144"/>
        <pc:sldMkLst>
          <pc:docMk/>
          <pc:sldMk cId="3503900612" sldId="297"/>
        </pc:sldMkLst>
        <pc:spChg chg="mod">
          <ac:chgData name="Boerger, Andrew" userId="0c0bc9a9-2163-4dfe-8380-dffe9bae854a" providerId="ADAL" clId="{517DB387-D46D-4360-A89D-0AB2A58C50C0}" dt="2026-09-08T19:02:50.144" v="80" actId="27636"/>
          <ac:spMkLst>
            <pc:docMk/>
            <pc:sldMk cId="3503900612" sldId="297"/>
            <ac:spMk id="3" creationId="{4EC90D35-304A-4ED8-BF67-87162AFBE388}"/>
          </ac:spMkLst>
        </pc:spChg>
        <pc:spChg chg="mod">
          <ac:chgData name="Boerger, Andrew" userId="0c0bc9a9-2163-4dfe-8380-dffe9bae854a" providerId="ADAL" clId="{517DB387-D46D-4360-A89D-0AB2A58C50C0}" dt="2026-09-08T19:10:48.399" v="125"/>
          <ac:spMkLst>
            <pc:docMk/>
            <pc:sldMk cId="3503900612" sldId="297"/>
            <ac:spMk id="28" creationId="{E1A6A13E-D079-4787-BA2C-26179E45E0AB}"/>
          </ac:spMkLst>
        </pc:spChg>
      </pc:sldChg>
      <pc:sldChg chg="modSp add del mod">
        <pc:chgData name="Boerger, Andrew" userId="0c0bc9a9-2163-4dfe-8380-dffe9bae854a" providerId="ADAL" clId="{517DB387-D46D-4360-A89D-0AB2A58C50C0}" dt="2026-09-08T19:16:26.834" v="173"/>
        <pc:sldMkLst>
          <pc:docMk/>
          <pc:sldMk cId="4239317541" sldId="298"/>
        </pc:sldMkLst>
        <pc:spChg chg="mod">
          <ac:chgData name="Boerger, Andrew" userId="0c0bc9a9-2163-4dfe-8380-dffe9bae854a" providerId="ADAL" clId="{517DB387-D46D-4360-A89D-0AB2A58C50C0}" dt="2026-09-08T19:03:22.825" v="83" actId="27636"/>
          <ac:spMkLst>
            <pc:docMk/>
            <pc:sldMk cId="4239317541" sldId="298"/>
            <ac:spMk id="121" creationId="{00000000-0000-0000-0000-000000000000}"/>
          </ac:spMkLst>
        </pc:spChg>
      </pc:sldChg>
      <pc:sldChg chg="modSp add del mod">
        <pc:chgData name="Boerger, Andrew" userId="0c0bc9a9-2163-4dfe-8380-dffe9bae854a" providerId="ADAL" clId="{517DB387-D46D-4360-A89D-0AB2A58C50C0}" dt="2026-09-08T19:12:18.511" v="146"/>
        <pc:sldMkLst>
          <pc:docMk/>
          <pc:sldMk cId="1555215988" sldId="299"/>
        </pc:sldMkLst>
        <pc:spChg chg="mod">
          <ac:chgData name="Boerger, Andrew" userId="0c0bc9a9-2163-4dfe-8380-dffe9bae854a" providerId="ADAL" clId="{517DB387-D46D-4360-A89D-0AB2A58C50C0}" dt="2026-09-08T19:04:29.969" v="86" actId="27636"/>
          <ac:spMkLst>
            <pc:docMk/>
            <pc:sldMk cId="1555215988" sldId="299"/>
            <ac:spMk id="3" creationId="{2D0BB537-FBE2-412C-AB62-53C34BD675B2}"/>
          </ac:spMkLst>
        </pc:spChg>
        <pc:spChg chg="mod">
          <ac:chgData name="Boerger, Andrew" userId="0c0bc9a9-2163-4dfe-8380-dffe9bae854a" providerId="ADAL" clId="{517DB387-D46D-4360-A89D-0AB2A58C50C0}" dt="2026-09-08T19:10:48.400" v="126"/>
          <ac:spMkLst>
            <pc:docMk/>
            <pc:sldMk cId="1555215988" sldId="299"/>
            <ac:spMk id="37" creationId="{01C5E1DE-2C78-4E29-9A4C-3130ACEC655C}"/>
          </ac:spMkLst>
        </pc:spChg>
      </pc:sldChg>
      <pc:sldChg chg="modSp add del mod">
        <pc:chgData name="Boerger, Andrew" userId="0c0bc9a9-2163-4dfe-8380-dffe9bae854a" providerId="ADAL" clId="{517DB387-D46D-4360-A89D-0AB2A58C50C0}" dt="2026-09-08T19:16:40.628" v="178"/>
        <pc:sldMkLst>
          <pc:docMk/>
          <pc:sldMk cId="4249428647" sldId="300"/>
        </pc:sldMkLst>
        <pc:spChg chg="mod">
          <ac:chgData name="Boerger, Andrew" userId="0c0bc9a9-2163-4dfe-8380-dffe9bae854a" providerId="ADAL" clId="{517DB387-D46D-4360-A89D-0AB2A58C50C0}" dt="2026-09-08T19:10:48.400" v="127"/>
          <ac:spMkLst>
            <pc:docMk/>
            <pc:sldMk cId="4249428647" sldId="300"/>
            <ac:spMk id="25" creationId="{0D167625-4BC5-4EC5-9AFD-330CEA05D3F3}"/>
          </ac:spMkLst>
        </pc:spChg>
        <pc:spChg chg="mod">
          <ac:chgData name="Boerger, Andrew" userId="0c0bc9a9-2163-4dfe-8380-dffe9bae854a" providerId="ADAL" clId="{517DB387-D46D-4360-A89D-0AB2A58C50C0}" dt="2026-09-08T19:05:02.741" v="89" actId="27636"/>
          <ac:spMkLst>
            <pc:docMk/>
            <pc:sldMk cId="4249428647" sldId="300"/>
            <ac:spMk id="111" creationId="{00000000-0000-0000-0000-000000000000}"/>
          </ac:spMkLst>
        </pc:spChg>
      </pc:sldChg>
      <pc:sldChg chg="add del">
        <pc:chgData name="Boerger, Andrew" userId="0c0bc9a9-2163-4dfe-8380-dffe9bae854a" providerId="ADAL" clId="{517DB387-D46D-4360-A89D-0AB2A58C50C0}" dt="2026-09-08T19:16:49.409" v="180"/>
        <pc:sldMkLst>
          <pc:docMk/>
          <pc:sldMk cId="2974949559" sldId="301"/>
        </pc:sldMkLst>
      </pc:sldChg>
      <pc:sldChg chg="modSp add del mod">
        <pc:chgData name="Boerger, Andrew" userId="0c0bc9a9-2163-4dfe-8380-dffe9bae854a" providerId="ADAL" clId="{517DB387-D46D-4360-A89D-0AB2A58C50C0}" dt="2026-09-08T19:16:56.418" v="182"/>
        <pc:sldMkLst>
          <pc:docMk/>
          <pc:sldMk cId="3247826809" sldId="302"/>
        </pc:sldMkLst>
        <pc:spChg chg="mod">
          <ac:chgData name="Boerger, Andrew" userId="0c0bc9a9-2163-4dfe-8380-dffe9bae854a" providerId="ADAL" clId="{517DB387-D46D-4360-A89D-0AB2A58C50C0}" dt="2026-09-08T19:06:14.800" v="94" actId="27636"/>
          <ac:spMkLst>
            <pc:docMk/>
            <pc:sldMk cId="3247826809" sldId="302"/>
            <ac:spMk id="3" creationId="{4EC90D35-304A-4ED8-BF67-87162AFBE388}"/>
          </ac:spMkLst>
        </pc:spChg>
        <pc:spChg chg="mod">
          <ac:chgData name="Boerger, Andrew" userId="0c0bc9a9-2163-4dfe-8380-dffe9bae854a" providerId="ADAL" clId="{517DB387-D46D-4360-A89D-0AB2A58C50C0}" dt="2026-09-08T19:10:48.401" v="128"/>
          <ac:spMkLst>
            <pc:docMk/>
            <pc:sldMk cId="3247826809" sldId="302"/>
            <ac:spMk id="28" creationId="{E1A6A13E-D079-4787-BA2C-26179E45E0AB}"/>
          </ac:spMkLst>
        </pc:spChg>
      </pc:sldChg>
      <pc:sldChg chg="add del">
        <pc:chgData name="Boerger, Andrew" userId="0c0bc9a9-2163-4dfe-8380-dffe9bae854a" providerId="ADAL" clId="{517DB387-D46D-4360-A89D-0AB2A58C50C0}" dt="2026-09-08T19:17:03.236" v="184"/>
        <pc:sldMkLst>
          <pc:docMk/>
          <pc:sldMk cId="2816304660" sldId="303"/>
        </pc:sldMkLst>
      </pc:sldChg>
      <pc:sldChg chg="modSp add del mod">
        <pc:chgData name="Boerger, Andrew" userId="0c0bc9a9-2163-4dfe-8380-dffe9bae854a" providerId="ADAL" clId="{517DB387-D46D-4360-A89D-0AB2A58C50C0}" dt="2026-09-08T19:17:10.063" v="188"/>
        <pc:sldMkLst>
          <pc:docMk/>
          <pc:sldMk cId="3717893060" sldId="304"/>
        </pc:sldMkLst>
        <pc:spChg chg="mod">
          <ac:chgData name="Boerger, Andrew" userId="0c0bc9a9-2163-4dfe-8380-dffe9bae854a" providerId="ADAL" clId="{517DB387-D46D-4360-A89D-0AB2A58C50C0}" dt="2026-09-08T19:07:58.142" v="99" actId="27636"/>
          <ac:spMkLst>
            <pc:docMk/>
            <pc:sldMk cId="3717893060" sldId="304"/>
            <ac:spMk id="3" creationId="{454A5393-1907-4275-B9E9-C410BF0DBCDF}"/>
          </ac:spMkLst>
        </pc:spChg>
        <pc:spChg chg="mod">
          <ac:chgData name="Boerger, Andrew" userId="0c0bc9a9-2163-4dfe-8380-dffe9bae854a" providerId="ADAL" clId="{517DB387-D46D-4360-A89D-0AB2A58C50C0}" dt="2026-09-08T19:10:48.402" v="129"/>
          <ac:spMkLst>
            <pc:docMk/>
            <pc:sldMk cId="3717893060" sldId="304"/>
            <ac:spMk id="26" creationId="{57053F5A-4F41-40B1-B3CE-278E9D4C84A8}"/>
          </ac:spMkLst>
        </pc:spChg>
        <pc:spChg chg="mod">
          <ac:chgData name="Boerger, Andrew" userId="0c0bc9a9-2163-4dfe-8380-dffe9bae854a" providerId="ADAL" clId="{517DB387-D46D-4360-A89D-0AB2A58C50C0}" dt="2026-09-08T19:07:58.150" v="102" actId="27636"/>
          <ac:spMkLst>
            <pc:docMk/>
            <pc:sldMk cId="3717893060" sldId="304"/>
            <ac:spMk id="131" creationId="{00000000-0000-0000-0000-000000000000}"/>
          </ac:spMkLst>
        </pc:spChg>
        <pc:spChg chg="mod">
          <ac:chgData name="Boerger, Andrew" userId="0c0bc9a9-2163-4dfe-8380-dffe9bae854a" providerId="ADAL" clId="{517DB387-D46D-4360-A89D-0AB2A58C50C0}" dt="2026-09-08T19:07:58.148" v="101" actId="27636"/>
          <ac:spMkLst>
            <pc:docMk/>
            <pc:sldMk cId="3717893060" sldId="304"/>
            <ac:spMk id="133" creationId="{00000000-0000-0000-0000-000000000000}"/>
          </ac:spMkLst>
        </pc:spChg>
        <pc:spChg chg="mod">
          <ac:chgData name="Boerger, Andrew" userId="0c0bc9a9-2163-4dfe-8380-dffe9bae854a" providerId="ADAL" clId="{517DB387-D46D-4360-A89D-0AB2A58C50C0}" dt="2026-09-08T19:07:58.146" v="100" actId="27636"/>
          <ac:spMkLst>
            <pc:docMk/>
            <pc:sldMk cId="3717893060" sldId="304"/>
            <ac:spMk id="135" creationId="{00000000-0000-0000-0000-000000000000}"/>
          </ac:spMkLst>
        </pc:spChg>
      </pc:sldChg>
      <pc:sldChg chg="modSp add del mod">
        <pc:chgData name="Boerger, Andrew" userId="0c0bc9a9-2163-4dfe-8380-dffe9bae854a" providerId="ADAL" clId="{517DB387-D46D-4360-A89D-0AB2A58C50C0}" dt="2026-09-08T19:17:16.773" v="190"/>
        <pc:sldMkLst>
          <pc:docMk/>
          <pc:sldMk cId="2380507898" sldId="305"/>
        </pc:sldMkLst>
        <pc:spChg chg="mod">
          <ac:chgData name="Boerger, Andrew" userId="0c0bc9a9-2163-4dfe-8380-dffe9bae854a" providerId="ADAL" clId="{517DB387-D46D-4360-A89D-0AB2A58C50C0}" dt="2026-09-08T19:10:48.403" v="130"/>
          <ac:spMkLst>
            <pc:docMk/>
            <pc:sldMk cId="2380507898" sldId="305"/>
            <ac:spMk id="25" creationId="{0D167625-4BC5-4EC5-9AFD-330CEA05D3F3}"/>
          </ac:spMkLst>
        </pc:spChg>
      </pc:sldChg>
      <pc:sldChg chg="modSp add del mod">
        <pc:chgData name="Boerger, Andrew" userId="0c0bc9a9-2163-4dfe-8380-dffe9bae854a" providerId="ADAL" clId="{517DB387-D46D-4360-A89D-0AB2A58C50C0}" dt="2026-09-08T19:17:25.219" v="194"/>
        <pc:sldMkLst>
          <pc:docMk/>
          <pc:sldMk cId="4243166612" sldId="306"/>
        </pc:sldMkLst>
        <pc:spChg chg="mod">
          <ac:chgData name="Boerger, Andrew" userId="0c0bc9a9-2163-4dfe-8380-dffe9bae854a" providerId="ADAL" clId="{517DB387-D46D-4360-A89D-0AB2A58C50C0}" dt="2026-09-08T19:09:01.220" v="107" actId="27636"/>
          <ac:spMkLst>
            <pc:docMk/>
            <pc:sldMk cId="4243166612" sldId="306"/>
            <ac:spMk id="7" creationId="{C426275A-6120-4A60-960F-EDFEA0556A63}"/>
          </ac:spMkLst>
        </pc:spChg>
      </pc:sldChg>
      <pc:sldChg chg="modSp add del mod">
        <pc:chgData name="Boerger, Andrew" userId="0c0bc9a9-2163-4dfe-8380-dffe9bae854a" providerId="ADAL" clId="{517DB387-D46D-4360-A89D-0AB2A58C50C0}" dt="2026-09-08T19:17:32.675" v="196"/>
        <pc:sldMkLst>
          <pc:docMk/>
          <pc:sldMk cId="1249994246" sldId="307"/>
        </pc:sldMkLst>
        <pc:spChg chg="mod">
          <ac:chgData name="Boerger, Andrew" userId="0c0bc9a9-2163-4dfe-8380-dffe9bae854a" providerId="ADAL" clId="{517DB387-D46D-4360-A89D-0AB2A58C50C0}" dt="2026-09-08T19:09:35.882" v="110" actId="27636"/>
          <ac:spMkLst>
            <pc:docMk/>
            <pc:sldMk cId="1249994246" sldId="307"/>
            <ac:spMk id="3" creationId="{4EC90D35-304A-4ED8-BF67-87162AFBE388}"/>
          </ac:spMkLst>
        </pc:spChg>
        <pc:spChg chg="mod">
          <ac:chgData name="Boerger, Andrew" userId="0c0bc9a9-2163-4dfe-8380-dffe9bae854a" providerId="ADAL" clId="{517DB387-D46D-4360-A89D-0AB2A58C50C0}" dt="2026-09-08T19:10:48.404" v="131"/>
          <ac:spMkLst>
            <pc:docMk/>
            <pc:sldMk cId="1249994246" sldId="307"/>
            <ac:spMk id="28" creationId="{E1A6A13E-D079-4787-BA2C-26179E45E0AB}"/>
          </ac:spMkLst>
        </pc:spChg>
      </pc:sldChg>
      <pc:sldChg chg="modSp add del mod">
        <pc:chgData name="Boerger, Andrew" userId="0c0bc9a9-2163-4dfe-8380-dffe9bae854a" providerId="ADAL" clId="{517DB387-D46D-4360-A89D-0AB2A58C50C0}" dt="2026-09-08T19:17:40.524" v="198"/>
        <pc:sldMkLst>
          <pc:docMk/>
          <pc:sldMk cId="3071604990" sldId="308"/>
        </pc:sldMkLst>
        <pc:spChg chg="mod">
          <ac:chgData name="Boerger, Andrew" userId="0c0bc9a9-2163-4dfe-8380-dffe9bae854a" providerId="ADAL" clId="{517DB387-D46D-4360-A89D-0AB2A58C50C0}" dt="2026-09-08T19:09:55.021" v="114" actId="27636"/>
          <ac:spMkLst>
            <pc:docMk/>
            <pc:sldMk cId="3071604990" sldId="308"/>
            <ac:spMk id="3" creationId="{BCCFDF1D-25C9-4CBE-B374-B2E6938EB573}"/>
          </ac:spMkLst>
        </pc:spChg>
        <pc:spChg chg="mod">
          <ac:chgData name="Boerger, Andrew" userId="0c0bc9a9-2163-4dfe-8380-dffe9bae854a" providerId="ADAL" clId="{517DB387-D46D-4360-A89D-0AB2A58C50C0}" dt="2026-09-08T19:10:48.404" v="132"/>
          <ac:spMkLst>
            <pc:docMk/>
            <pc:sldMk cId="3071604990" sldId="308"/>
            <ac:spMk id="25" creationId="{0D167625-4BC5-4EC5-9AFD-330CEA05D3F3}"/>
          </ac:spMkLst>
        </pc:spChg>
        <pc:spChg chg="mod">
          <ac:chgData name="Boerger, Andrew" userId="0c0bc9a9-2163-4dfe-8380-dffe9bae854a" providerId="ADAL" clId="{517DB387-D46D-4360-A89D-0AB2A58C50C0}" dt="2026-09-08T19:09:55.019" v="113" actId="27636"/>
          <ac:spMkLst>
            <pc:docMk/>
            <pc:sldMk cId="3071604990" sldId="308"/>
            <ac:spMk id="101" creationId="{00000000-0000-0000-0000-000000000000}"/>
          </ac:spMkLst>
        </pc:spChg>
        <pc:spChg chg="mod">
          <ac:chgData name="Boerger, Andrew" userId="0c0bc9a9-2163-4dfe-8380-dffe9bae854a" providerId="ADAL" clId="{517DB387-D46D-4360-A89D-0AB2A58C50C0}" dt="2026-09-08T19:09:55.032" v="119" actId="27636"/>
          <ac:spMkLst>
            <pc:docMk/>
            <pc:sldMk cId="3071604990" sldId="308"/>
            <ac:spMk id="105" creationId="{00000000-0000-0000-0000-000000000000}"/>
          </ac:spMkLst>
        </pc:spChg>
        <pc:spChg chg="mod">
          <ac:chgData name="Boerger, Andrew" userId="0c0bc9a9-2163-4dfe-8380-dffe9bae854a" providerId="ADAL" clId="{517DB387-D46D-4360-A89D-0AB2A58C50C0}" dt="2026-09-08T19:09:55.025" v="116" actId="27636"/>
          <ac:spMkLst>
            <pc:docMk/>
            <pc:sldMk cId="3071604990" sldId="308"/>
            <ac:spMk id="109" creationId="{00000000-0000-0000-0000-000000000000}"/>
          </ac:spMkLst>
        </pc:spChg>
        <pc:spChg chg="mod">
          <ac:chgData name="Boerger, Andrew" userId="0c0bc9a9-2163-4dfe-8380-dffe9bae854a" providerId="ADAL" clId="{517DB387-D46D-4360-A89D-0AB2A58C50C0}" dt="2026-09-08T19:09:55.031" v="118" actId="27636"/>
          <ac:spMkLst>
            <pc:docMk/>
            <pc:sldMk cId="3071604990" sldId="308"/>
            <ac:spMk id="113" creationId="{00000000-0000-0000-0000-000000000000}"/>
          </ac:spMkLst>
        </pc:spChg>
        <pc:spChg chg="mod">
          <ac:chgData name="Boerger, Andrew" userId="0c0bc9a9-2163-4dfe-8380-dffe9bae854a" providerId="ADAL" clId="{517DB387-D46D-4360-A89D-0AB2A58C50C0}" dt="2026-09-08T19:09:55.026" v="117" actId="27636"/>
          <ac:spMkLst>
            <pc:docMk/>
            <pc:sldMk cId="3071604990" sldId="308"/>
            <ac:spMk id="117" creationId="{00000000-0000-0000-0000-000000000000}"/>
          </ac:spMkLst>
        </pc:spChg>
        <pc:spChg chg="mod">
          <ac:chgData name="Boerger, Andrew" userId="0c0bc9a9-2163-4dfe-8380-dffe9bae854a" providerId="ADAL" clId="{517DB387-D46D-4360-A89D-0AB2A58C50C0}" dt="2026-09-08T19:09:55.023" v="115" actId="27636"/>
          <ac:spMkLst>
            <pc:docMk/>
            <pc:sldMk cId="3071604990" sldId="308"/>
            <ac:spMk id="121" creationId="{00000000-0000-0000-0000-000000000000}"/>
          </ac:spMkLst>
        </pc:spChg>
      </pc:sldChg>
      <pc:sldChg chg="modSp add del mod">
        <pc:chgData name="Boerger, Andrew" userId="0c0bc9a9-2163-4dfe-8380-dffe9bae854a" providerId="ADAL" clId="{517DB387-D46D-4360-A89D-0AB2A58C50C0}" dt="2026-09-08T19:17:48.020" v="200"/>
        <pc:sldMkLst>
          <pc:docMk/>
          <pc:sldMk cId="2742821189" sldId="309"/>
        </pc:sldMkLst>
        <pc:spChg chg="mod">
          <ac:chgData name="Boerger, Andrew" userId="0c0bc9a9-2163-4dfe-8380-dffe9bae854a" providerId="ADAL" clId="{517DB387-D46D-4360-A89D-0AB2A58C50C0}" dt="2026-09-08T19:10:48.405" v="133"/>
          <ac:spMkLst>
            <pc:docMk/>
            <pc:sldMk cId="2742821189" sldId="309"/>
            <ac:spMk id="25" creationId="{0D167625-4BC5-4EC5-9AFD-330CEA05D3F3}"/>
          </ac:spMkLst>
        </pc:spChg>
      </pc:sldChg>
      <pc:sldChg chg="modSp add del mod">
        <pc:chgData name="Boerger, Andrew" userId="0c0bc9a9-2163-4dfe-8380-dffe9bae854a" providerId="ADAL" clId="{517DB387-D46D-4360-A89D-0AB2A58C50C0}" dt="2026-09-09T16:05:30.822" v="353" actId="47"/>
        <pc:sldMkLst>
          <pc:docMk/>
          <pc:sldMk cId="3684364853" sldId="310"/>
        </pc:sldMkLst>
        <pc:spChg chg="mod">
          <ac:chgData name="Boerger, Andrew" userId="0c0bc9a9-2163-4dfe-8380-dffe9bae854a" providerId="ADAL" clId="{517DB387-D46D-4360-A89D-0AB2A58C50C0}" dt="2026-09-09T13:13:52.947" v="289" actId="20577"/>
          <ac:spMkLst>
            <pc:docMk/>
            <pc:sldMk cId="3684364853" sldId="310"/>
            <ac:spMk id="9" creationId="{FCBE5CFD-AA44-147D-C540-625AA8679015}"/>
          </ac:spMkLst>
        </pc:spChg>
        <pc:spChg chg="mod">
          <ac:chgData name="Boerger, Andrew" userId="0c0bc9a9-2163-4dfe-8380-dffe9bae854a" providerId="ADAL" clId="{517DB387-D46D-4360-A89D-0AB2A58C50C0}" dt="2026-09-09T13:13:57.848" v="314" actId="20577"/>
          <ac:spMkLst>
            <pc:docMk/>
            <pc:sldMk cId="3684364853" sldId="310"/>
            <ac:spMk id="11" creationId="{5E64D667-2173-6C87-52B3-C25550804019}"/>
          </ac:spMkLst>
        </pc:spChg>
        <pc:spChg chg="mod">
          <ac:chgData name="Boerger, Andrew" userId="0c0bc9a9-2163-4dfe-8380-dffe9bae854a" providerId="ADAL" clId="{517DB387-D46D-4360-A89D-0AB2A58C50C0}" dt="2026-09-09T13:14:06.816" v="316" actId="27636"/>
          <ac:spMkLst>
            <pc:docMk/>
            <pc:sldMk cId="3684364853" sldId="310"/>
            <ac:spMk id="13" creationId="{449F7921-3772-DAF8-CB0A-17FCA37E8CD4}"/>
          </ac:spMkLst>
        </pc:spChg>
      </pc:sldChg>
      <pc:sldChg chg="add del">
        <pc:chgData name="Boerger, Andrew" userId="0c0bc9a9-2163-4dfe-8380-dffe9bae854a" providerId="ADAL" clId="{517DB387-D46D-4360-A89D-0AB2A58C50C0}" dt="2026-09-08T19:15:20.891" v="158"/>
        <pc:sldMkLst>
          <pc:docMk/>
          <pc:sldMk cId="663876910" sldId="311"/>
        </pc:sldMkLst>
      </pc:sldChg>
      <pc:sldChg chg="add del">
        <pc:chgData name="Boerger, Andrew" userId="0c0bc9a9-2163-4dfe-8380-dffe9bae854a" providerId="ADAL" clId="{517DB387-D46D-4360-A89D-0AB2A58C50C0}" dt="2026-09-08T19:15:27.960" v="160"/>
        <pc:sldMkLst>
          <pc:docMk/>
          <pc:sldMk cId="2381137493" sldId="312"/>
        </pc:sldMkLst>
      </pc:sldChg>
      <pc:sldChg chg="add del">
        <pc:chgData name="Boerger, Andrew" userId="0c0bc9a9-2163-4dfe-8380-dffe9bae854a" providerId="ADAL" clId="{517DB387-D46D-4360-A89D-0AB2A58C50C0}" dt="2026-09-08T19:14:59.758" v="150"/>
        <pc:sldMkLst>
          <pc:docMk/>
          <pc:sldMk cId="1284038564" sldId="313"/>
        </pc:sldMkLst>
      </pc:sldChg>
      <pc:sldChg chg="add del">
        <pc:chgData name="Boerger, Andrew" userId="0c0bc9a9-2163-4dfe-8380-dffe9bae854a" providerId="ADAL" clId="{517DB387-D46D-4360-A89D-0AB2A58C50C0}" dt="2026-09-08T19:16:20.193" v="171"/>
        <pc:sldMkLst>
          <pc:docMk/>
          <pc:sldMk cId="4240160897" sldId="314"/>
        </pc:sldMkLst>
      </pc:sldChg>
      <pc:sldChg chg="add del">
        <pc:chgData name="Boerger, Andrew" userId="0c0bc9a9-2163-4dfe-8380-dffe9bae854a" providerId="ADAL" clId="{517DB387-D46D-4360-A89D-0AB2A58C50C0}" dt="2026-09-08T19:16:33.263" v="175"/>
        <pc:sldMkLst>
          <pc:docMk/>
          <pc:sldMk cId="4161270262" sldId="315"/>
        </pc:sldMkLst>
      </pc:sldChg>
      <pc:sldChg chg="modSp add mod">
        <pc:chgData name="Boerger, Andrew" userId="0c0bc9a9-2163-4dfe-8380-dffe9bae854a" providerId="ADAL" clId="{517DB387-D46D-4360-A89D-0AB2A58C50C0}" dt="2026-09-08T19:20:54.213" v="207"/>
        <pc:sldMkLst>
          <pc:docMk/>
          <pc:sldMk cId="1017227523" sldId="316"/>
        </pc:sldMkLst>
        <pc:spChg chg="mod">
          <ac:chgData name="Boerger, Andrew" userId="0c0bc9a9-2163-4dfe-8380-dffe9bae854a" providerId="ADAL" clId="{517DB387-D46D-4360-A89D-0AB2A58C50C0}" dt="2026-09-08T19:20:54.211" v="206"/>
          <ac:spMkLst>
            <pc:docMk/>
            <pc:sldMk cId="1017227523" sldId="316"/>
            <ac:spMk id="2" creationId="{EBF2AD33-830A-48C5-90B4-ADC3835E0158}"/>
          </ac:spMkLst>
        </pc:spChg>
        <pc:spChg chg="mod">
          <ac:chgData name="Boerger, Andrew" userId="0c0bc9a9-2163-4dfe-8380-dffe9bae854a" providerId="ADAL" clId="{517DB387-D46D-4360-A89D-0AB2A58C50C0}" dt="2026-09-08T19:20:54.213" v="207"/>
          <ac:spMkLst>
            <pc:docMk/>
            <pc:sldMk cId="1017227523" sldId="316"/>
            <ac:spMk id="3" creationId="{4EC90D35-304A-4ED8-BF67-87162AFBE388}"/>
          </ac:spMkLst>
        </pc:spChg>
      </pc:sldChg>
      <pc:sldChg chg="modSp add mod">
        <pc:chgData name="Boerger, Andrew" userId="0c0bc9a9-2163-4dfe-8380-dffe9bae854a" providerId="ADAL" clId="{517DB387-D46D-4360-A89D-0AB2A58C50C0}" dt="2026-09-08T19:20:54.348" v="240" actId="27636"/>
        <pc:sldMkLst>
          <pc:docMk/>
          <pc:sldMk cId="1923808177" sldId="317"/>
        </pc:sldMkLst>
        <pc:spChg chg="mod">
          <ac:chgData name="Boerger, Andrew" userId="0c0bc9a9-2163-4dfe-8380-dffe9bae854a" providerId="ADAL" clId="{517DB387-D46D-4360-A89D-0AB2A58C50C0}" dt="2026-09-08T19:20:54.216" v="208"/>
          <ac:spMkLst>
            <pc:docMk/>
            <pc:sldMk cId="1923808177" sldId="317"/>
            <ac:spMk id="2" creationId="{78DD8E74-1DB1-4509-B6B8-8F85DE69EC33}"/>
          </ac:spMkLst>
        </pc:spChg>
        <pc:spChg chg="mod">
          <ac:chgData name="Boerger, Andrew" userId="0c0bc9a9-2163-4dfe-8380-dffe9bae854a" providerId="ADAL" clId="{517DB387-D46D-4360-A89D-0AB2A58C50C0}" dt="2026-09-08T19:20:54.348" v="240" actId="27636"/>
          <ac:spMkLst>
            <pc:docMk/>
            <pc:sldMk cId="1923808177" sldId="317"/>
            <ac:spMk id="3" creationId="{454A5393-1907-4275-B9E9-C410BF0DBCDF}"/>
          </ac:spMkLst>
        </pc:spChg>
        <pc:spChg chg="mod">
          <ac:chgData name="Boerger, Andrew" userId="0c0bc9a9-2163-4dfe-8380-dffe9bae854a" providerId="ADAL" clId="{517DB387-D46D-4360-A89D-0AB2A58C50C0}" dt="2026-09-08T19:14:59.822" v="152" actId="27636"/>
          <ac:spMkLst>
            <pc:docMk/>
            <pc:sldMk cId="1923808177" sldId="317"/>
            <ac:spMk id="111" creationId="{00000000-0000-0000-0000-000000000000}"/>
          </ac:spMkLst>
        </pc:spChg>
        <pc:spChg chg="mod">
          <ac:chgData name="Boerger, Andrew" userId="0c0bc9a9-2163-4dfe-8380-dffe9bae854a" providerId="ADAL" clId="{517DB387-D46D-4360-A89D-0AB2A58C50C0}" dt="2026-09-08T19:14:59.804" v="151" actId="27636"/>
          <ac:spMkLst>
            <pc:docMk/>
            <pc:sldMk cId="1923808177" sldId="317"/>
            <ac:spMk id="113" creationId="{00000000-0000-0000-0000-000000000000}"/>
          </ac:spMkLst>
        </pc:spChg>
      </pc:sldChg>
      <pc:sldChg chg="add del">
        <pc:chgData name="Boerger, Andrew" userId="0c0bc9a9-2163-4dfe-8380-dffe9bae854a" providerId="ADAL" clId="{517DB387-D46D-4360-A89D-0AB2A58C50C0}" dt="2026-09-08T19:20:09.185" v="205"/>
        <pc:sldMkLst>
          <pc:docMk/>
          <pc:sldMk cId="706904460" sldId="318"/>
        </pc:sldMkLst>
      </pc:sldChg>
      <pc:sldChg chg="modSp add mod ord">
        <pc:chgData name="Boerger, Andrew" userId="0c0bc9a9-2163-4dfe-8380-dffe9bae854a" providerId="ADAL" clId="{517DB387-D46D-4360-A89D-0AB2A58C50C0}" dt="2026-09-09T16:12:45.669" v="424"/>
        <pc:sldMkLst>
          <pc:docMk/>
          <pc:sldMk cId="3984599950" sldId="319"/>
        </pc:sldMkLst>
        <pc:spChg chg="mod">
          <ac:chgData name="Boerger, Andrew" userId="0c0bc9a9-2163-4dfe-8380-dffe9bae854a" providerId="ADAL" clId="{517DB387-D46D-4360-A89D-0AB2A58C50C0}" dt="2026-09-08T19:20:54.224" v="212"/>
          <ac:spMkLst>
            <pc:docMk/>
            <pc:sldMk cId="3984599950" sldId="319"/>
            <ac:spMk id="2" creationId="{53AA81A4-4B55-4071-8D0D-8E66DAC85BE0}"/>
          </ac:spMkLst>
        </pc:spChg>
        <pc:spChg chg="mod">
          <ac:chgData name="Boerger, Andrew" userId="0c0bc9a9-2163-4dfe-8380-dffe9bae854a" providerId="ADAL" clId="{517DB387-D46D-4360-A89D-0AB2A58C50C0}" dt="2026-09-08T19:20:54.370" v="241" actId="27636"/>
          <ac:spMkLst>
            <pc:docMk/>
            <pc:sldMk cId="3984599950" sldId="319"/>
            <ac:spMk id="3" creationId="{BCCFDF1D-25C9-4CBE-B374-B2E6938EB573}"/>
          </ac:spMkLst>
        </pc:spChg>
        <pc:spChg chg="mod">
          <ac:chgData name="Boerger, Andrew" userId="0c0bc9a9-2163-4dfe-8380-dffe9bae854a" providerId="ADAL" clId="{517DB387-D46D-4360-A89D-0AB2A58C50C0}" dt="2026-09-09T16:12:45.669" v="424"/>
          <ac:spMkLst>
            <pc:docMk/>
            <pc:sldMk cId="3984599950" sldId="319"/>
            <ac:spMk id="25" creationId="{0D167625-4BC5-4EC5-9AFD-330CEA05D3F3}"/>
          </ac:spMkLst>
        </pc:spChg>
      </pc:sldChg>
      <pc:sldChg chg="add del">
        <pc:chgData name="Boerger, Andrew" userId="0c0bc9a9-2163-4dfe-8380-dffe9bae854a" providerId="ADAL" clId="{517DB387-D46D-4360-A89D-0AB2A58C50C0}" dt="2026-09-08T19:18:56.422" v="203"/>
        <pc:sldMkLst>
          <pc:docMk/>
          <pc:sldMk cId="2472371341" sldId="320"/>
        </pc:sldMkLst>
      </pc:sldChg>
      <pc:sldChg chg="modSp add mod">
        <pc:chgData name="Boerger, Andrew" userId="0c0bc9a9-2163-4dfe-8380-dffe9bae854a" providerId="ADAL" clId="{517DB387-D46D-4360-A89D-0AB2A58C50C0}" dt="2026-09-09T16:12:45.670" v="427"/>
        <pc:sldMkLst>
          <pc:docMk/>
          <pc:sldMk cId="1710973808" sldId="321"/>
        </pc:sldMkLst>
        <pc:spChg chg="mod">
          <ac:chgData name="Boerger, Andrew" userId="0c0bc9a9-2163-4dfe-8380-dffe9bae854a" providerId="ADAL" clId="{517DB387-D46D-4360-A89D-0AB2A58C50C0}" dt="2026-09-08T19:20:54.230" v="216"/>
          <ac:spMkLst>
            <pc:docMk/>
            <pc:sldMk cId="1710973808" sldId="321"/>
            <ac:spMk id="2" creationId="{78DD8E74-1DB1-4509-B6B8-8F85DE69EC33}"/>
          </ac:spMkLst>
        </pc:spChg>
        <pc:spChg chg="mod">
          <ac:chgData name="Boerger, Andrew" userId="0c0bc9a9-2163-4dfe-8380-dffe9bae854a" providerId="ADAL" clId="{517DB387-D46D-4360-A89D-0AB2A58C50C0}" dt="2026-09-08T19:20:54.232" v="217"/>
          <ac:spMkLst>
            <pc:docMk/>
            <pc:sldMk cId="1710973808" sldId="321"/>
            <ac:spMk id="3" creationId="{454A5393-1907-4275-B9E9-C410BF0DBCDF}"/>
          </ac:spMkLst>
        </pc:spChg>
        <pc:spChg chg="mod">
          <ac:chgData name="Boerger, Andrew" userId="0c0bc9a9-2163-4dfe-8380-dffe9bae854a" providerId="ADAL" clId="{517DB387-D46D-4360-A89D-0AB2A58C50C0}" dt="2026-09-09T16:12:45.670" v="427"/>
          <ac:spMkLst>
            <pc:docMk/>
            <pc:sldMk cId="1710973808" sldId="321"/>
            <ac:spMk id="26" creationId="{57053F5A-4F41-40B1-B3CE-278E9D4C84A8}"/>
          </ac:spMkLst>
        </pc:spChg>
        <pc:spChg chg="mod">
          <ac:chgData name="Boerger, Andrew" userId="0c0bc9a9-2163-4dfe-8380-dffe9bae854a" providerId="ADAL" clId="{517DB387-D46D-4360-A89D-0AB2A58C50C0}" dt="2026-09-08T19:15:28.071" v="161" actId="27636"/>
          <ac:spMkLst>
            <pc:docMk/>
            <pc:sldMk cId="1710973808" sldId="321"/>
            <ac:spMk id="101" creationId="{00000000-0000-0000-0000-000000000000}"/>
          </ac:spMkLst>
        </pc:spChg>
      </pc:sldChg>
      <pc:sldChg chg="add del">
        <pc:chgData name="Boerger, Andrew" userId="0c0bc9a9-2163-4dfe-8380-dffe9bae854a" providerId="ADAL" clId="{517DB387-D46D-4360-A89D-0AB2A58C50C0}" dt="2026-09-08T19:22:12.971" v="250"/>
        <pc:sldMkLst>
          <pc:docMk/>
          <pc:sldMk cId="2594978693" sldId="322"/>
        </pc:sldMkLst>
      </pc:sldChg>
      <pc:sldChg chg="modSp add del mod">
        <pc:chgData name="Boerger, Andrew" userId="0c0bc9a9-2163-4dfe-8380-dffe9bae854a" providerId="ADAL" clId="{517DB387-D46D-4360-A89D-0AB2A58C50C0}" dt="2026-09-08T19:23:00.841" v="252"/>
        <pc:sldMkLst>
          <pc:docMk/>
          <pc:sldMk cId="1994550218" sldId="323"/>
        </pc:sldMkLst>
        <pc:spChg chg="mod">
          <ac:chgData name="Boerger, Andrew" userId="0c0bc9a9-2163-4dfe-8380-dffe9bae854a" providerId="ADAL" clId="{517DB387-D46D-4360-A89D-0AB2A58C50C0}" dt="2026-09-08T19:20:54.234" v="218"/>
          <ac:spMkLst>
            <pc:docMk/>
            <pc:sldMk cId="1994550218" sldId="323"/>
            <ac:spMk id="2" creationId="{EBF2AD33-830A-48C5-90B4-ADC3835E0158}"/>
          </ac:spMkLst>
        </pc:spChg>
        <pc:spChg chg="mod">
          <ac:chgData name="Boerger, Andrew" userId="0c0bc9a9-2163-4dfe-8380-dffe9bae854a" providerId="ADAL" clId="{517DB387-D46D-4360-A89D-0AB2A58C50C0}" dt="2026-09-08T19:20:54.236" v="219"/>
          <ac:spMkLst>
            <pc:docMk/>
            <pc:sldMk cId="1994550218" sldId="323"/>
            <ac:spMk id="3" creationId="{4EC90D35-304A-4ED8-BF67-87162AFBE388}"/>
          </ac:spMkLst>
        </pc:spChg>
      </pc:sldChg>
      <pc:sldChg chg="modSp add del mod">
        <pc:chgData name="Boerger, Andrew" userId="0c0bc9a9-2163-4dfe-8380-dffe9bae854a" providerId="ADAL" clId="{517DB387-D46D-4360-A89D-0AB2A58C50C0}" dt="2026-09-08T19:23:23.837" v="258"/>
        <pc:sldMkLst>
          <pc:docMk/>
          <pc:sldMk cId="4294177756" sldId="324"/>
        </pc:sldMkLst>
        <pc:spChg chg="mod">
          <ac:chgData name="Boerger, Andrew" userId="0c0bc9a9-2163-4dfe-8380-dffe9bae854a" providerId="ADAL" clId="{517DB387-D46D-4360-A89D-0AB2A58C50C0}" dt="2026-09-08T19:20:54.238" v="220"/>
          <ac:spMkLst>
            <pc:docMk/>
            <pc:sldMk cId="4294177756" sldId="324"/>
            <ac:spMk id="2" creationId="{78DD8E74-1DB1-4509-B6B8-8F85DE69EC33}"/>
          </ac:spMkLst>
        </pc:spChg>
        <pc:spChg chg="mod">
          <ac:chgData name="Boerger, Andrew" userId="0c0bc9a9-2163-4dfe-8380-dffe9bae854a" providerId="ADAL" clId="{517DB387-D46D-4360-A89D-0AB2A58C50C0}" dt="2026-09-08T19:20:54.387" v="242" actId="27636"/>
          <ac:spMkLst>
            <pc:docMk/>
            <pc:sldMk cId="4294177756" sldId="324"/>
            <ac:spMk id="3" creationId="{454A5393-1907-4275-B9E9-C410BF0DBCDF}"/>
          </ac:spMkLst>
        </pc:spChg>
      </pc:sldChg>
      <pc:sldChg chg="add">
        <pc:chgData name="Boerger, Andrew" userId="0c0bc9a9-2163-4dfe-8380-dffe9bae854a" providerId="ADAL" clId="{517DB387-D46D-4360-A89D-0AB2A58C50C0}" dt="2026-09-08T19:16:13.556" v="168"/>
        <pc:sldMkLst>
          <pc:docMk/>
          <pc:sldMk cId="4237632561" sldId="325"/>
        </pc:sldMkLst>
      </pc:sldChg>
      <pc:sldChg chg="modSp add mod">
        <pc:chgData name="Boerger, Andrew" userId="0c0bc9a9-2163-4dfe-8380-dffe9bae854a" providerId="ADAL" clId="{517DB387-D46D-4360-A89D-0AB2A58C50C0}" dt="2026-09-09T16:12:45.673" v="430"/>
        <pc:sldMkLst>
          <pc:docMk/>
          <pc:sldMk cId="2742198103" sldId="326"/>
        </pc:sldMkLst>
        <pc:spChg chg="mod">
          <ac:chgData name="Boerger, Andrew" userId="0c0bc9a9-2163-4dfe-8380-dffe9bae854a" providerId="ADAL" clId="{517DB387-D46D-4360-A89D-0AB2A58C50C0}" dt="2026-09-08T19:20:54.241" v="222"/>
          <ac:spMkLst>
            <pc:docMk/>
            <pc:sldMk cId="2742198103" sldId="326"/>
            <ac:spMk id="2" creationId="{EBF2AD33-830A-48C5-90B4-ADC3835E0158}"/>
          </ac:spMkLst>
        </pc:spChg>
        <pc:spChg chg="mod">
          <ac:chgData name="Boerger, Andrew" userId="0c0bc9a9-2163-4dfe-8380-dffe9bae854a" providerId="ADAL" clId="{517DB387-D46D-4360-A89D-0AB2A58C50C0}" dt="2026-09-08T19:20:54.400" v="243" actId="27636"/>
          <ac:spMkLst>
            <pc:docMk/>
            <pc:sldMk cId="2742198103" sldId="326"/>
            <ac:spMk id="3" creationId="{4EC90D35-304A-4ED8-BF67-87162AFBE388}"/>
          </ac:spMkLst>
        </pc:spChg>
        <pc:spChg chg="mod">
          <ac:chgData name="Boerger, Andrew" userId="0c0bc9a9-2163-4dfe-8380-dffe9bae854a" providerId="ADAL" clId="{517DB387-D46D-4360-A89D-0AB2A58C50C0}" dt="2026-09-09T16:12:45.673" v="430"/>
          <ac:spMkLst>
            <pc:docMk/>
            <pc:sldMk cId="2742198103" sldId="326"/>
            <ac:spMk id="28" creationId="{E1A6A13E-D079-4787-BA2C-26179E45E0AB}"/>
          </ac:spMkLst>
        </pc:spChg>
      </pc:sldChg>
      <pc:sldChg chg="add">
        <pc:chgData name="Boerger, Andrew" userId="0c0bc9a9-2163-4dfe-8380-dffe9bae854a" providerId="ADAL" clId="{517DB387-D46D-4360-A89D-0AB2A58C50C0}" dt="2026-09-08T19:16:26.811" v="172"/>
        <pc:sldMkLst>
          <pc:docMk/>
          <pc:sldMk cId="224454931" sldId="327"/>
        </pc:sldMkLst>
      </pc:sldChg>
      <pc:sldChg chg="modSp add mod">
        <pc:chgData name="Boerger, Andrew" userId="0c0bc9a9-2163-4dfe-8380-dffe9bae854a" providerId="ADAL" clId="{517DB387-D46D-4360-A89D-0AB2A58C50C0}" dt="2026-09-09T16:12:45.674" v="432"/>
        <pc:sldMkLst>
          <pc:docMk/>
          <pc:sldMk cId="3245262249" sldId="328"/>
        </pc:sldMkLst>
        <pc:spChg chg="mod">
          <ac:chgData name="Boerger, Andrew" userId="0c0bc9a9-2163-4dfe-8380-dffe9bae854a" providerId="ADAL" clId="{517DB387-D46D-4360-A89D-0AB2A58C50C0}" dt="2026-09-08T19:20:54.244" v="224"/>
          <ac:spMkLst>
            <pc:docMk/>
            <pc:sldMk cId="3245262249" sldId="328"/>
            <ac:spMk id="2" creationId="{C287B7A3-6757-4F52-B407-E1C2426E2E36}"/>
          </ac:spMkLst>
        </pc:spChg>
        <pc:spChg chg="mod">
          <ac:chgData name="Boerger, Andrew" userId="0c0bc9a9-2163-4dfe-8380-dffe9bae854a" providerId="ADAL" clId="{517DB387-D46D-4360-A89D-0AB2A58C50C0}" dt="2026-09-08T19:20:54.417" v="244" actId="27636"/>
          <ac:spMkLst>
            <pc:docMk/>
            <pc:sldMk cId="3245262249" sldId="328"/>
            <ac:spMk id="3" creationId="{2D0BB537-FBE2-412C-AB62-53C34BD675B2}"/>
          </ac:spMkLst>
        </pc:spChg>
        <pc:spChg chg="mod">
          <ac:chgData name="Boerger, Andrew" userId="0c0bc9a9-2163-4dfe-8380-dffe9bae854a" providerId="ADAL" clId="{517DB387-D46D-4360-A89D-0AB2A58C50C0}" dt="2026-09-09T16:12:45.674" v="432"/>
          <ac:spMkLst>
            <pc:docMk/>
            <pc:sldMk cId="3245262249" sldId="328"/>
            <ac:spMk id="37" creationId="{01C5E1DE-2C78-4E29-9A4C-3130ACEC655C}"/>
          </ac:spMkLst>
        </pc:spChg>
        <pc:spChg chg="mod">
          <ac:chgData name="Boerger, Andrew" userId="0c0bc9a9-2163-4dfe-8380-dffe9bae854a" providerId="ADAL" clId="{517DB387-D46D-4360-A89D-0AB2A58C50C0}" dt="2026-09-08T19:16:33.338" v="176" actId="27636"/>
          <ac:spMkLst>
            <pc:docMk/>
            <pc:sldMk cId="3245262249" sldId="328"/>
            <ac:spMk id="123" creationId="{00000000-0000-0000-0000-000000000000}"/>
          </ac:spMkLst>
        </pc:spChg>
      </pc:sldChg>
      <pc:sldChg chg="modSp add del mod">
        <pc:chgData name="Boerger, Andrew" userId="0c0bc9a9-2163-4dfe-8380-dffe9bae854a" providerId="ADAL" clId="{517DB387-D46D-4360-A89D-0AB2A58C50C0}" dt="2026-09-08T19:23:08.059" v="254"/>
        <pc:sldMkLst>
          <pc:docMk/>
          <pc:sldMk cId="3515298458" sldId="329"/>
        </pc:sldMkLst>
        <pc:spChg chg="mod">
          <ac:chgData name="Boerger, Andrew" userId="0c0bc9a9-2163-4dfe-8380-dffe9bae854a" providerId="ADAL" clId="{517DB387-D46D-4360-A89D-0AB2A58C50C0}" dt="2026-09-08T19:20:54.249" v="226"/>
          <ac:spMkLst>
            <pc:docMk/>
            <pc:sldMk cId="3515298458" sldId="329"/>
            <ac:spMk id="2" creationId="{53AA81A4-4B55-4071-8D0D-8E66DAC85BE0}"/>
          </ac:spMkLst>
        </pc:spChg>
        <pc:spChg chg="mod">
          <ac:chgData name="Boerger, Andrew" userId="0c0bc9a9-2163-4dfe-8380-dffe9bae854a" providerId="ADAL" clId="{517DB387-D46D-4360-A89D-0AB2A58C50C0}" dt="2026-09-08T19:20:54.251" v="227"/>
          <ac:spMkLst>
            <pc:docMk/>
            <pc:sldMk cId="3515298458" sldId="329"/>
            <ac:spMk id="3" creationId="{BCCFDF1D-25C9-4CBE-B374-B2E6938EB573}"/>
          </ac:spMkLst>
        </pc:spChg>
      </pc:sldChg>
      <pc:sldChg chg="add">
        <pc:chgData name="Boerger, Andrew" userId="0c0bc9a9-2163-4dfe-8380-dffe9bae854a" providerId="ADAL" clId="{517DB387-D46D-4360-A89D-0AB2A58C50C0}" dt="2026-09-08T19:16:49.379" v="179"/>
        <pc:sldMkLst>
          <pc:docMk/>
          <pc:sldMk cId="347982122" sldId="330"/>
        </pc:sldMkLst>
      </pc:sldChg>
      <pc:sldChg chg="modSp add mod">
        <pc:chgData name="Boerger, Andrew" userId="0c0bc9a9-2163-4dfe-8380-dffe9bae854a" providerId="ADAL" clId="{517DB387-D46D-4360-A89D-0AB2A58C50C0}" dt="2026-09-09T16:12:45.674" v="433"/>
        <pc:sldMkLst>
          <pc:docMk/>
          <pc:sldMk cId="3784123178" sldId="331"/>
        </pc:sldMkLst>
        <pc:spChg chg="mod">
          <ac:chgData name="Boerger, Andrew" userId="0c0bc9a9-2163-4dfe-8380-dffe9bae854a" providerId="ADAL" clId="{517DB387-D46D-4360-A89D-0AB2A58C50C0}" dt="2026-09-08T19:20:54.253" v="228"/>
          <ac:spMkLst>
            <pc:docMk/>
            <pc:sldMk cId="3784123178" sldId="331"/>
            <ac:spMk id="2" creationId="{EBF2AD33-830A-48C5-90B4-ADC3835E0158}"/>
          </ac:spMkLst>
        </pc:spChg>
        <pc:spChg chg="mod">
          <ac:chgData name="Boerger, Andrew" userId="0c0bc9a9-2163-4dfe-8380-dffe9bae854a" providerId="ADAL" clId="{517DB387-D46D-4360-A89D-0AB2A58C50C0}" dt="2026-09-08T19:20:54.434" v="245" actId="27636"/>
          <ac:spMkLst>
            <pc:docMk/>
            <pc:sldMk cId="3784123178" sldId="331"/>
            <ac:spMk id="3" creationId="{4EC90D35-304A-4ED8-BF67-87162AFBE388}"/>
          </ac:spMkLst>
        </pc:spChg>
        <pc:spChg chg="mod">
          <ac:chgData name="Boerger, Andrew" userId="0c0bc9a9-2163-4dfe-8380-dffe9bae854a" providerId="ADAL" clId="{517DB387-D46D-4360-A89D-0AB2A58C50C0}" dt="2026-09-09T16:12:45.674" v="433"/>
          <ac:spMkLst>
            <pc:docMk/>
            <pc:sldMk cId="3784123178" sldId="331"/>
            <ac:spMk id="28" creationId="{E1A6A13E-D079-4787-BA2C-26179E45E0AB}"/>
          </ac:spMkLst>
        </pc:spChg>
      </pc:sldChg>
      <pc:sldChg chg="modSp add mod">
        <pc:chgData name="Boerger, Andrew" userId="0c0bc9a9-2163-4dfe-8380-dffe9bae854a" providerId="ADAL" clId="{517DB387-D46D-4360-A89D-0AB2A58C50C0}" dt="2026-09-08T19:17:03.305" v="186" actId="27636"/>
        <pc:sldMkLst>
          <pc:docMk/>
          <pc:sldMk cId="3098402184" sldId="332"/>
        </pc:sldMkLst>
        <pc:spChg chg="mod">
          <ac:chgData name="Boerger, Andrew" userId="0c0bc9a9-2163-4dfe-8380-dffe9bae854a" providerId="ADAL" clId="{517DB387-D46D-4360-A89D-0AB2A58C50C0}" dt="2026-09-08T19:17:03.305" v="186" actId="27636"/>
          <ac:spMkLst>
            <pc:docMk/>
            <pc:sldMk cId="3098402184" sldId="332"/>
            <ac:spMk id="111" creationId="{00000000-0000-0000-0000-000000000000}"/>
          </ac:spMkLst>
        </pc:spChg>
        <pc:spChg chg="mod">
          <ac:chgData name="Boerger, Andrew" userId="0c0bc9a9-2163-4dfe-8380-dffe9bae854a" providerId="ADAL" clId="{517DB387-D46D-4360-A89D-0AB2A58C50C0}" dt="2026-09-08T19:17:03.290" v="185" actId="27636"/>
          <ac:spMkLst>
            <pc:docMk/>
            <pc:sldMk cId="3098402184" sldId="332"/>
            <ac:spMk id="117" creationId="{00000000-0000-0000-0000-000000000000}"/>
          </ac:spMkLst>
        </pc:spChg>
      </pc:sldChg>
      <pc:sldChg chg="modSp add del mod">
        <pc:chgData name="Boerger, Andrew" userId="0c0bc9a9-2163-4dfe-8380-dffe9bae854a" providerId="ADAL" clId="{517DB387-D46D-4360-A89D-0AB2A58C50C0}" dt="2026-09-09T16:11:55.469" v="413"/>
        <pc:sldMkLst>
          <pc:docMk/>
          <pc:sldMk cId="3040163814" sldId="333"/>
        </pc:sldMkLst>
        <pc:spChg chg="mod">
          <ac:chgData name="Boerger, Andrew" userId="0c0bc9a9-2163-4dfe-8380-dffe9bae854a" providerId="ADAL" clId="{517DB387-D46D-4360-A89D-0AB2A58C50C0}" dt="2026-09-08T19:20:54.258" v="230"/>
          <ac:spMkLst>
            <pc:docMk/>
            <pc:sldMk cId="3040163814" sldId="333"/>
            <ac:spMk id="2" creationId="{78DD8E74-1DB1-4509-B6B8-8F85DE69EC33}"/>
          </ac:spMkLst>
        </pc:spChg>
        <pc:spChg chg="mod">
          <ac:chgData name="Boerger, Andrew" userId="0c0bc9a9-2163-4dfe-8380-dffe9bae854a" providerId="ADAL" clId="{517DB387-D46D-4360-A89D-0AB2A58C50C0}" dt="2026-09-08T19:20:54.449" v="246" actId="27636"/>
          <ac:spMkLst>
            <pc:docMk/>
            <pc:sldMk cId="3040163814" sldId="333"/>
            <ac:spMk id="3" creationId="{454A5393-1907-4275-B9E9-C410BF0DBCDF}"/>
          </ac:spMkLst>
        </pc:spChg>
      </pc:sldChg>
      <pc:sldChg chg="modSp add mod ord">
        <pc:chgData name="Boerger, Andrew" userId="0c0bc9a9-2163-4dfe-8380-dffe9bae854a" providerId="ADAL" clId="{517DB387-D46D-4360-A89D-0AB2A58C50C0}" dt="2026-09-09T16:12:45.675" v="436"/>
        <pc:sldMkLst>
          <pc:docMk/>
          <pc:sldMk cId="4228535550" sldId="334"/>
        </pc:sldMkLst>
        <pc:spChg chg="mod">
          <ac:chgData name="Boerger, Andrew" userId="0c0bc9a9-2163-4dfe-8380-dffe9bae854a" providerId="ADAL" clId="{517DB387-D46D-4360-A89D-0AB2A58C50C0}" dt="2026-09-08T19:20:54.261" v="232"/>
          <ac:spMkLst>
            <pc:docMk/>
            <pc:sldMk cId="4228535550" sldId="334"/>
            <ac:spMk id="2" creationId="{53AA81A4-4B55-4071-8D0D-8E66DAC85BE0}"/>
          </ac:spMkLst>
        </pc:spChg>
        <pc:spChg chg="mod">
          <ac:chgData name="Boerger, Andrew" userId="0c0bc9a9-2163-4dfe-8380-dffe9bae854a" providerId="ADAL" clId="{517DB387-D46D-4360-A89D-0AB2A58C50C0}" dt="2026-09-08T19:20:54.263" v="233"/>
          <ac:spMkLst>
            <pc:docMk/>
            <pc:sldMk cId="4228535550" sldId="334"/>
            <ac:spMk id="3" creationId="{BCCFDF1D-25C9-4CBE-B374-B2E6938EB573}"/>
          </ac:spMkLst>
        </pc:spChg>
        <pc:spChg chg="mod">
          <ac:chgData name="Boerger, Andrew" userId="0c0bc9a9-2163-4dfe-8380-dffe9bae854a" providerId="ADAL" clId="{517DB387-D46D-4360-A89D-0AB2A58C50C0}" dt="2026-09-09T16:12:45.675" v="436"/>
          <ac:spMkLst>
            <pc:docMk/>
            <pc:sldMk cId="4228535550" sldId="334"/>
            <ac:spMk id="25" creationId="{0D167625-4BC5-4EC5-9AFD-330CEA05D3F3}"/>
          </ac:spMkLst>
        </pc:spChg>
        <pc:spChg chg="mod">
          <ac:chgData name="Boerger, Andrew" userId="0c0bc9a9-2163-4dfe-8380-dffe9bae854a" providerId="ADAL" clId="{517DB387-D46D-4360-A89D-0AB2A58C50C0}" dt="2026-09-08T19:17:16.876" v="192" actId="27636"/>
          <ac:spMkLst>
            <pc:docMk/>
            <pc:sldMk cId="4228535550" sldId="334"/>
            <ac:spMk id="123" creationId="{00000000-0000-0000-0000-000000000000}"/>
          </ac:spMkLst>
        </pc:spChg>
        <pc:spChg chg="mod">
          <ac:chgData name="Boerger, Andrew" userId="0c0bc9a9-2163-4dfe-8380-dffe9bae854a" providerId="ADAL" clId="{517DB387-D46D-4360-A89D-0AB2A58C50C0}" dt="2026-09-08T19:17:16.849" v="191" actId="27636"/>
          <ac:spMkLst>
            <pc:docMk/>
            <pc:sldMk cId="4228535550" sldId="334"/>
            <ac:spMk id="127" creationId="{00000000-0000-0000-0000-000000000000}"/>
          </ac:spMkLst>
        </pc:spChg>
      </pc:sldChg>
      <pc:sldChg chg="add">
        <pc:chgData name="Boerger, Andrew" userId="0c0bc9a9-2163-4dfe-8380-dffe9bae854a" providerId="ADAL" clId="{517DB387-D46D-4360-A89D-0AB2A58C50C0}" dt="2026-09-08T19:17:25.191" v="193"/>
        <pc:sldMkLst>
          <pc:docMk/>
          <pc:sldMk cId="2687856521" sldId="335"/>
        </pc:sldMkLst>
      </pc:sldChg>
      <pc:sldChg chg="modSp add del mod">
        <pc:chgData name="Boerger, Andrew" userId="0c0bc9a9-2163-4dfe-8380-dffe9bae854a" providerId="ADAL" clId="{517DB387-D46D-4360-A89D-0AB2A58C50C0}" dt="2026-09-08T19:23:16.307" v="256"/>
        <pc:sldMkLst>
          <pc:docMk/>
          <pc:sldMk cId="1449821684" sldId="336"/>
        </pc:sldMkLst>
        <pc:spChg chg="mod">
          <ac:chgData name="Boerger, Andrew" userId="0c0bc9a9-2163-4dfe-8380-dffe9bae854a" providerId="ADAL" clId="{517DB387-D46D-4360-A89D-0AB2A58C50C0}" dt="2026-09-08T19:20:54.265" v="234"/>
          <ac:spMkLst>
            <pc:docMk/>
            <pc:sldMk cId="1449821684" sldId="336"/>
            <ac:spMk id="2" creationId="{EBF2AD33-830A-48C5-90B4-ADC3835E0158}"/>
          </ac:spMkLst>
        </pc:spChg>
        <pc:spChg chg="mod">
          <ac:chgData name="Boerger, Andrew" userId="0c0bc9a9-2163-4dfe-8380-dffe9bae854a" providerId="ADAL" clId="{517DB387-D46D-4360-A89D-0AB2A58C50C0}" dt="2026-09-08T19:20:54.468" v="247" actId="27636"/>
          <ac:spMkLst>
            <pc:docMk/>
            <pc:sldMk cId="1449821684" sldId="336"/>
            <ac:spMk id="3" creationId="{4EC90D35-304A-4ED8-BF67-87162AFBE388}"/>
          </ac:spMkLst>
        </pc:spChg>
      </pc:sldChg>
      <pc:sldChg chg="modSp add mod ord">
        <pc:chgData name="Boerger, Andrew" userId="0c0bc9a9-2163-4dfe-8380-dffe9bae854a" providerId="ADAL" clId="{517DB387-D46D-4360-A89D-0AB2A58C50C0}" dt="2026-09-09T16:12:45.676" v="437"/>
        <pc:sldMkLst>
          <pc:docMk/>
          <pc:sldMk cId="4229564469" sldId="337"/>
        </pc:sldMkLst>
        <pc:spChg chg="mod">
          <ac:chgData name="Boerger, Andrew" userId="0c0bc9a9-2163-4dfe-8380-dffe9bae854a" providerId="ADAL" clId="{517DB387-D46D-4360-A89D-0AB2A58C50C0}" dt="2026-09-08T19:20:54.269" v="236"/>
          <ac:spMkLst>
            <pc:docMk/>
            <pc:sldMk cId="4229564469" sldId="337"/>
            <ac:spMk id="2" creationId="{53AA81A4-4B55-4071-8D0D-8E66DAC85BE0}"/>
          </ac:spMkLst>
        </pc:spChg>
        <pc:spChg chg="mod">
          <ac:chgData name="Boerger, Andrew" userId="0c0bc9a9-2163-4dfe-8380-dffe9bae854a" providerId="ADAL" clId="{517DB387-D46D-4360-A89D-0AB2A58C50C0}" dt="2026-09-08T19:20:54.487" v="248" actId="27636"/>
          <ac:spMkLst>
            <pc:docMk/>
            <pc:sldMk cId="4229564469" sldId="337"/>
            <ac:spMk id="3" creationId="{BCCFDF1D-25C9-4CBE-B374-B2E6938EB573}"/>
          </ac:spMkLst>
        </pc:spChg>
        <pc:spChg chg="mod">
          <ac:chgData name="Boerger, Andrew" userId="0c0bc9a9-2163-4dfe-8380-dffe9bae854a" providerId="ADAL" clId="{517DB387-D46D-4360-A89D-0AB2A58C50C0}" dt="2026-09-09T16:12:45.676" v="437"/>
          <ac:spMkLst>
            <pc:docMk/>
            <pc:sldMk cId="4229564469" sldId="337"/>
            <ac:spMk id="25" creationId="{0D167625-4BC5-4EC5-9AFD-330CEA05D3F3}"/>
          </ac:spMkLst>
        </pc:spChg>
      </pc:sldChg>
      <pc:sldChg chg="modSp add mod">
        <pc:chgData name="Boerger, Andrew" userId="0c0bc9a9-2163-4dfe-8380-dffe9bae854a" providerId="ADAL" clId="{517DB387-D46D-4360-A89D-0AB2A58C50C0}" dt="2026-09-09T16:12:45.676" v="438"/>
        <pc:sldMkLst>
          <pc:docMk/>
          <pc:sldMk cId="1450069280" sldId="338"/>
        </pc:sldMkLst>
        <pc:spChg chg="mod">
          <ac:chgData name="Boerger, Andrew" userId="0c0bc9a9-2163-4dfe-8380-dffe9bae854a" providerId="ADAL" clId="{517DB387-D46D-4360-A89D-0AB2A58C50C0}" dt="2026-09-08T19:20:54.272" v="238"/>
          <ac:spMkLst>
            <pc:docMk/>
            <pc:sldMk cId="1450069280" sldId="338"/>
            <ac:spMk id="2" creationId="{53AA81A4-4B55-4071-8D0D-8E66DAC85BE0}"/>
          </ac:spMkLst>
        </pc:spChg>
        <pc:spChg chg="mod">
          <ac:chgData name="Boerger, Andrew" userId="0c0bc9a9-2163-4dfe-8380-dffe9bae854a" providerId="ADAL" clId="{517DB387-D46D-4360-A89D-0AB2A58C50C0}" dt="2026-09-08T19:20:54.273" v="239"/>
          <ac:spMkLst>
            <pc:docMk/>
            <pc:sldMk cId="1450069280" sldId="338"/>
            <ac:spMk id="3" creationId="{BCCFDF1D-25C9-4CBE-B374-B2E6938EB573}"/>
          </ac:spMkLst>
        </pc:spChg>
        <pc:spChg chg="mod">
          <ac:chgData name="Boerger, Andrew" userId="0c0bc9a9-2163-4dfe-8380-dffe9bae854a" providerId="ADAL" clId="{517DB387-D46D-4360-A89D-0AB2A58C50C0}" dt="2026-09-09T16:12:45.676" v="438"/>
          <ac:spMkLst>
            <pc:docMk/>
            <pc:sldMk cId="1450069280" sldId="338"/>
            <ac:spMk id="25" creationId="{0D167625-4BC5-4EC5-9AFD-330CEA05D3F3}"/>
          </ac:spMkLst>
        </pc:spChg>
        <pc:spChg chg="mod">
          <ac:chgData name="Boerger, Andrew" userId="0c0bc9a9-2163-4dfe-8380-dffe9bae854a" providerId="ADAL" clId="{517DB387-D46D-4360-A89D-0AB2A58C50C0}" dt="2026-09-08T19:17:48.116" v="201" actId="27636"/>
          <ac:spMkLst>
            <pc:docMk/>
            <pc:sldMk cId="1450069280" sldId="338"/>
            <ac:spMk id="111" creationId="{00000000-0000-0000-0000-000000000000}"/>
          </ac:spMkLst>
        </pc:spChg>
      </pc:sldChg>
      <pc:sldChg chg="modSp add mod">
        <pc:chgData name="Boerger, Andrew" userId="0c0bc9a9-2163-4dfe-8380-dffe9bae854a" providerId="ADAL" clId="{517DB387-D46D-4360-A89D-0AB2A58C50C0}" dt="2026-09-09T16:12:45.670" v="425"/>
        <pc:sldMkLst>
          <pc:docMk/>
          <pc:sldMk cId="3448472848" sldId="339"/>
        </pc:sldMkLst>
        <pc:spChg chg="mod">
          <ac:chgData name="Boerger, Andrew" userId="0c0bc9a9-2163-4dfe-8380-dffe9bae854a" providerId="ADAL" clId="{517DB387-D46D-4360-A89D-0AB2A58C50C0}" dt="2026-09-08T19:20:54.227" v="214"/>
          <ac:spMkLst>
            <pc:docMk/>
            <pc:sldMk cId="3448472848" sldId="339"/>
            <ac:spMk id="2" creationId="{78DD8E74-1DB1-4509-B6B8-8F85DE69EC33}"/>
          </ac:spMkLst>
        </pc:spChg>
        <pc:spChg chg="mod">
          <ac:chgData name="Boerger, Andrew" userId="0c0bc9a9-2163-4dfe-8380-dffe9bae854a" providerId="ADAL" clId="{517DB387-D46D-4360-A89D-0AB2A58C50C0}" dt="2026-09-08T19:20:54.229" v="215"/>
          <ac:spMkLst>
            <pc:docMk/>
            <pc:sldMk cId="3448472848" sldId="339"/>
            <ac:spMk id="3" creationId="{454A5393-1907-4275-B9E9-C410BF0DBCDF}"/>
          </ac:spMkLst>
        </pc:spChg>
        <pc:spChg chg="mod">
          <ac:chgData name="Boerger, Andrew" userId="0c0bc9a9-2163-4dfe-8380-dffe9bae854a" providerId="ADAL" clId="{517DB387-D46D-4360-A89D-0AB2A58C50C0}" dt="2026-09-09T16:12:45.670" v="425"/>
          <ac:spMkLst>
            <pc:docMk/>
            <pc:sldMk cId="3448472848" sldId="339"/>
            <ac:spMk id="26" creationId="{57053F5A-4F41-40B1-B3CE-278E9D4C84A8}"/>
          </ac:spMkLst>
        </pc:spChg>
      </pc:sldChg>
      <pc:sldChg chg="modSp add mod ord">
        <pc:chgData name="Boerger, Andrew" userId="0c0bc9a9-2163-4dfe-8380-dffe9bae854a" providerId="ADAL" clId="{517DB387-D46D-4360-A89D-0AB2A58C50C0}" dt="2026-09-09T16:12:45.668" v="422"/>
        <pc:sldMkLst>
          <pc:docMk/>
          <pc:sldMk cId="1383063481" sldId="340"/>
        </pc:sldMkLst>
        <pc:spChg chg="mod">
          <ac:chgData name="Boerger, Andrew" userId="0c0bc9a9-2163-4dfe-8380-dffe9bae854a" providerId="ADAL" clId="{517DB387-D46D-4360-A89D-0AB2A58C50C0}" dt="2026-09-08T19:20:54.219" v="210"/>
          <ac:spMkLst>
            <pc:docMk/>
            <pc:sldMk cId="1383063481" sldId="340"/>
            <ac:spMk id="2" creationId="{EBF2AD33-830A-48C5-90B4-ADC3835E0158}"/>
          </ac:spMkLst>
        </pc:spChg>
        <pc:spChg chg="mod">
          <ac:chgData name="Boerger, Andrew" userId="0c0bc9a9-2163-4dfe-8380-dffe9bae854a" providerId="ADAL" clId="{517DB387-D46D-4360-A89D-0AB2A58C50C0}" dt="2026-09-08T19:20:54.222" v="211"/>
          <ac:spMkLst>
            <pc:docMk/>
            <pc:sldMk cId="1383063481" sldId="340"/>
            <ac:spMk id="3" creationId="{4EC90D35-304A-4ED8-BF67-87162AFBE388}"/>
          </ac:spMkLst>
        </pc:spChg>
        <pc:spChg chg="mod">
          <ac:chgData name="Boerger, Andrew" userId="0c0bc9a9-2163-4dfe-8380-dffe9bae854a" providerId="ADAL" clId="{517DB387-D46D-4360-A89D-0AB2A58C50C0}" dt="2026-09-09T16:12:45.668" v="422"/>
          <ac:spMkLst>
            <pc:docMk/>
            <pc:sldMk cId="1383063481" sldId="340"/>
            <ac:spMk id="28" creationId="{E1A6A13E-D079-4787-BA2C-26179E45E0AB}"/>
          </ac:spMkLst>
        </pc:spChg>
      </pc:sldChg>
      <pc:sldChg chg="add">
        <pc:chgData name="Boerger, Andrew" userId="0c0bc9a9-2163-4dfe-8380-dffe9bae854a" providerId="ADAL" clId="{517DB387-D46D-4360-A89D-0AB2A58C50C0}" dt="2026-09-08T19:22:12.954" v="249"/>
        <pc:sldMkLst>
          <pc:docMk/>
          <pc:sldMk cId="1957108801" sldId="341"/>
        </pc:sldMkLst>
      </pc:sldChg>
      <pc:sldChg chg="modSp add mod ord">
        <pc:chgData name="Boerger, Andrew" userId="0c0bc9a9-2163-4dfe-8380-dffe9bae854a" providerId="ADAL" clId="{517DB387-D46D-4360-A89D-0AB2A58C50C0}" dt="2026-09-09T16:12:45.670" v="426"/>
        <pc:sldMkLst>
          <pc:docMk/>
          <pc:sldMk cId="3794934289" sldId="342"/>
        </pc:sldMkLst>
        <pc:spChg chg="mod">
          <ac:chgData name="Boerger, Andrew" userId="0c0bc9a9-2163-4dfe-8380-dffe9bae854a" providerId="ADAL" clId="{517DB387-D46D-4360-A89D-0AB2A58C50C0}" dt="2026-09-09T16:12:45.670" v="426"/>
          <ac:spMkLst>
            <pc:docMk/>
            <pc:sldMk cId="3794934289" sldId="342"/>
            <ac:spMk id="28" creationId="{E1A6A13E-D079-4787-BA2C-26179E45E0AB}"/>
          </ac:spMkLst>
        </pc:spChg>
      </pc:sldChg>
      <pc:sldChg chg="modSp add mod ord">
        <pc:chgData name="Boerger, Andrew" userId="0c0bc9a9-2163-4dfe-8380-dffe9bae854a" providerId="ADAL" clId="{517DB387-D46D-4360-A89D-0AB2A58C50C0}" dt="2026-09-09T16:12:45.673" v="431"/>
        <pc:sldMkLst>
          <pc:docMk/>
          <pc:sldMk cId="2785367851" sldId="343"/>
        </pc:sldMkLst>
        <pc:spChg chg="mod">
          <ac:chgData name="Boerger, Andrew" userId="0c0bc9a9-2163-4dfe-8380-dffe9bae854a" providerId="ADAL" clId="{517DB387-D46D-4360-A89D-0AB2A58C50C0}" dt="2026-09-09T16:12:45.673" v="431"/>
          <ac:spMkLst>
            <pc:docMk/>
            <pc:sldMk cId="2785367851" sldId="343"/>
            <ac:spMk id="25" creationId="{0D167625-4BC5-4EC5-9AFD-330CEA05D3F3}"/>
          </ac:spMkLst>
        </pc:spChg>
      </pc:sldChg>
      <pc:sldChg chg="modSp add mod ord">
        <pc:chgData name="Boerger, Andrew" userId="0c0bc9a9-2163-4dfe-8380-dffe9bae854a" providerId="ADAL" clId="{517DB387-D46D-4360-A89D-0AB2A58C50C0}" dt="2026-09-09T16:12:45.668" v="421"/>
        <pc:sldMkLst>
          <pc:docMk/>
          <pc:sldMk cId="189493624" sldId="344"/>
        </pc:sldMkLst>
        <pc:spChg chg="mod">
          <ac:chgData name="Boerger, Andrew" userId="0c0bc9a9-2163-4dfe-8380-dffe9bae854a" providerId="ADAL" clId="{517DB387-D46D-4360-A89D-0AB2A58C50C0}" dt="2026-09-09T15:49:52.650" v="345" actId="20577"/>
          <ac:spMkLst>
            <pc:docMk/>
            <pc:sldMk cId="189493624" sldId="344"/>
            <ac:spMk id="2" creationId="{EBF2AD33-830A-48C5-90B4-ADC3835E0158}"/>
          </ac:spMkLst>
        </pc:spChg>
        <pc:spChg chg="mod">
          <ac:chgData name="Boerger, Andrew" userId="0c0bc9a9-2163-4dfe-8380-dffe9bae854a" providerId="ADAL" clId="{517DB387-D46D-4360-A89D-0AB2A58C50C0}" dt="2026-09-09T16:12:45.668" v="421"/>
          <ac:spMkLst>
            <pc:docMk/>
            <pc:sldMk cId="189493624" sldId="344"/>
            <ac:spMk id="28" creationId="{E1A6A13E-D079-4787-BA2C-26179E45E0AB}"/>
          </ac:spMkLst>
        </pc:spChg>
      </pc:sldChg>
      <pc:sldChg chg="modSp add mod ord">
        <pc:chgData name="Boerger, Andrew" userId="0c0bc9a9-2163-4dfe-8380-dffe9bae854a" providerId="ADAL" clId="{517DB387-D46D-4360-A89D-0AB2A58C50C0}" dt="2026-09-09T16:12:45.672" v="428"/>
        <pc:sldMkLst>
          <pc:docMk/>
          <pc:sldMk cId="3324024509" sldId="345"/>
        </pc:sldMkLst>
        <pc:spChg chg="mod">
          <ac:chgData name="Boerger, Andrew" userId="0c0bc9a9-2163-4dfe-8380-dffe9bae854a" providerId="ADAL" clId="{517DB387-D46D-4360-A89D-0AB2A58C50C0}" dt="2026-09-09T16:12:45.672" v="428"/>
          <ac:spMkLst>
            <pc:docMk/>
            <pc:sldMk cId="3324024509" sldId="345"/>
            <ac:spMk id="26" creationId="{57053F5A-4F41-40B1-B3CE-278E9D4C84A8}"/>
          </ac:spMkLst>
        </pc:spChg>
      </pc:sldChg>
      <pc:sldChg chg="add del ord">
        <pc:chgData name="Boerger, Andrew" userId="0c0bc9a9-2163-4dfe-8380-dffe9bae854a" providerId="ADAL" clId="{517DB387-D46D-4360-A89D-0AB2A58C50C0}" dt="2026-09-09T16:12:25.699" v="419"/>
        <pc:sldMkLst>
          <pc:docMk/>
          <pc:sldMk cId="3893286659" sldId="346"/>
        </pc:sldMkLst>
      </pc:sldChg>
      <pc:sldChg chg="add del ord">
        <pc:chgData name="Boerger, Andrew" userId="0c0bc9a9-2163-4dfe-8380-dffe9bae854a" providerId="ADAL" clId="{517DB387-D46D-4360-A89D-0AB2A58C50C0}" dt="2026-09-09T16:11:20.283" v="410"/>
        <pc:sldMkLst>
          <pc:docMk/>
          <pc:sldMk cId="1154100099" sldId="347"/>
        </pc:sldMkLst>
      </pc:sldChg>
      <pc:sldChg chg="add del ord">
        <pc:chgData name="Boerger, Andrew" userId="0c0bc9a9-2163-4dfe-8380-dffe9bae854a" providerId="ADAL" clId="{517DB387-D46D-4360-A89D-0AB2A58C50C0}" dt="2026-09-09T16:10:29.961" v="388"/>
        <pc:sldMkLst>
          <pc:docMk/>
          <pc:sldMk cId="2437868417" sldId="348"/>
        </pc:sldMkLst>
      </pc:sldChg>
      <pc:sldChg chg="add del ord">
        <pc:chgData name="Boerger, Andrew" userId="0c0bc9a9-2163-4dfe-8380-dffe9bae854a" providerId="ADAL" clId="{517DB387-D46D-4360-A89D-0AB2A58C50C0}" dt="2026-09-09T16:09:05.409" v="366"/>
        <pc:sldMkLst>
          <pc:docMk/>
          <pc:sldMk cId="3155149367" sldId="349"/>
        </pc:sldMkLst>
      </pc:sldChg>
      <pc:sldChg chg="modSp add del mod">
        <pc:chgData name="Boerger, Andrew" userId="0c0bc9a9-2163-4dfe-8380-dffe9bae854a" providerId="ADAL" clId="{517DB387-D46D-4360-A89D-0AB2A58C50C0}" dt="2026-09-09T16:09:34.836" v="377"/>
        <pc:sldMkLst>
          <pc:docMk/>
          <pc:sldMk cId="1650758894" sldId="350"/>
        </pc:sldMkLst>
        <pc:spChg chg="mod">
          <ac:chgData name="Boerger, Andrew" userId="0c0bc9a9-2163-4dfe-8380-dffe9bae854a" providerId="ADAL" clId="{517DB387-D46D-4360-A89D-0AB2A58C50C0}" dt="2026-09-09T16:09:05.428" v="368" actId="27636"/>
          <ac:spMkLst>
            <pc:docMk/>
            <pc:sldMk cId="1650758894" sldId="350"/>
            <ac:spMk id="101" creationId="{00000000-0000-0000-0000-000000000000}"/>
          </ac:spMkLst>
        </pc:spChg>
        <pc:spChg chg="mod">
          <ac:chgData name="Boerger, Andrew" userId="0c0bc9a9-2163-4dfe-8380-dffe9bae854a" providerId="ADAL" clId="{517DB387-D46D-4360-A89D-0AB2A58C50C0}" dt="2026-09-09T16:09:05.427" v="367" actId="27636"/>
          <ac:spMkLst>
            <pc:docMk/>
            <pc:sldMk cId="1650758894" sldId="350"/>
            <ac:spMk id="105" creationId="{00000000-0000-0000-0000-000000000000}"/>
          </ac:spMkLst>
        </pc:spChg>
        <pc:spChg chg="mod">
          <ac:chgData name="Boerger, Andrew" userId="0c0bc9a9-2163-4dfe-8380-dffe9bae854a" providerId="ADAL" clId="{517DB387-D46D-4360-A89D-0AB2A58C50C0}" dt="2026-09-09T16:09:05.429" v="370" actId="27636"/>
          <ac:spMkLst>
            <pc:docMk/>
            <pc:sldMk cId="1650758894" sldId="350"/>
            <ac:spMk id="109" creationId="{00000000-0000-0000-0000-000000000000}"/>
          </ac:spMkLst>
        </pc:spChg>
        <pc:spChg chg="mod">
          <ac:chgData name="Boerger, Andrew" userId="0c0bc9a9-2163-4dfe-8380-dffe9bae854a" providerId="ADAL" clId="{517DB387-D46D-4360-A89D-0AB2A58C50C0}" dt="2026-09-09T16:09:05.432" v="372" actId="27636"/>
          <ac:spMkLst>
            <pc:docMk/>
            <pc:sldMk cId="1650758894" sldId="350"/>
            <ac:spMk id="113" creationId="{00000000-0000-0000-0000-000000000000}"/>
          </ac:spMkLst>
        </pc:spChg>
        <pc:spChg chg="mod">
          <ac:chgData name="Boerger, Andrew" userId="0c0bc9a9-2163-4dfe-8380-dffe9bae854a" providerId="ADAL" clId="{517DB387-D46D-4360-A89D-0AB2A58C50C0}" dt="2026-09-09T16:09:05.431" v="371" actId="27636"/>
          <ac:spMkLst>
            <pc:docMk/>
            <pc:sldMk cId="1650758894" sldId="350"/>
            <ac:spMk id="122" creationId="{00000000-0000-0000-0000-000000000000}"/>
          </ac:spMkLst>
        </pc:spChg>
        <pc:spChg chg="mod">
          <ac:chgData name="Boerger, Andrew" userId="0c0bc9a9-2163-4dfe-8380-dffe9bae854a" providerId="ADAL" clId="{517DB387-D46D-4360-A89D-0AB2A58C50C0}" dt="2026-09-09T16:09:05.437" v="375" actId="27636"/>
          <ac:spMkLst>
            <pc:docMk/>
            <pc:sldMk cId="1650758894" sldId="350"/>
            <ac:spMk id="124" creationId="{00000000-0000-0000-0000-000000000000}"/>
          </ac:spMkLst>
        </pc:spChg>
        <pc:spChg chg="mod">
          <ac:chgData name="Boerger, Andrew" userId="0c0bc9a9-2163-4dfe-8380-dffe9bae854a" providerId="ADAL" clId="{517DB387-D46D-4360-A89D-0AB2A58C50C0}" dt="2026-09-09T16:09:05.434" v="373" actId="27636"/>
          <ac:spMkLst>
            <pc:docMk/>
            <pc:sldMk cId="1650758894" sldId="350"/>
            <ac:spMk id="126" creationId="{00000000-0000-0000-0000-000000000000}"/>
          </ac:spMkLst>
        </pc:spChg>
        <pc:spChg chg="mod">
          <ac:chgData name="Boerger, Andrew" userId="0c0bc9a9-2163-4dfe-8380-dffe9bae854a" providerId="ADAL" clId="{517DB387-D46D-4360-A89D-0AB2A58C50C0}" dt="2026-09-09T16:09:05.429" v="369" actId="27636"/>
          <ac:spMkLst>
            <pc:docMk/>
            <pc:sldMk cId="1650758894" sldId="350"/>
            <ac:spMk id="128" creationId="{00000000-0000-0000-0000-000000000000}"/>
          </ac:spMkLst>
        </pc:spChg>
        <pc:spChg chg="mod">
          <ac:chgData name="Boerger, Andrew" userId="0c0bc9a9-2163-4dfe-8380-dffe9bae854a" providerId="ADAL" clId="{517DB387-D46D-4360-A89D-0AB2A58C50C0}" dt="2026-09-09T16:09:05.436" v="374" actId="27636"/>
          <ac:spMkLst>
            <pc:docMk/>
            <pc:sldMk cId="1650758894" sldId="350"/>
            <ac:spMk id="130" creationId="{00000000-0000-0000-0000-000000000000}"/>
          </ac:spMkLst>
        </pc:spChg>
      </pc:sldChg>
      <pc:sldChg chg="modSp add mod">
        <pc:chgData name="Boerger, Andrew" userId="0c0bc9a9-2163-4dfe-8380-dffe9bae854a" providerId="ADAL" clId="{517DB387-D46D-4360-A89D-0AB2A58C50C0}" dt="2026-09-09T16:12:45.667" v="420"/>
        <pc:sldMkLst>
          <pc:docMk/>
          <pc:sldMk cId="3929917959" sldId="351"/>
        </pc:sldMkLst>
        <pc:spChg chg="mod">
          <ac:chgData name="Boerger, Andrew" userId="0c0bc9a9-2163-4dfe-8380-dffe9bae854a" providerId="ADAL" clId="{517DB387-D46D-4360-A89D-0AB2A58C50C0}" dt="2026-09-09T16:12:45.667" v="420"/>
          <ac:spMkLst>
            <pc:docMk/>
            <pc:sldMk cId="3929917959" sldId="351"/>
            <ac:spMk id="28" creationId="{E1A6A13E-D079-4787-BA2C-26179E45E0AB}"/>
          </ac:spMkLst>
        </pc:spChg>
        <pc:spChg chg="mod">
          <ac:chgData name="Boerger, Andrew" userId="0c0bc9a9-2163-4dfe-8380-dffe9bae854a" providerId="ADAL" clId="{517DB387-D46D-4360-A89D-0AB2A58C50C0}" dt="2026-09-09T16:09:34.861" v="382" actId="27636"/>
          <ac:spMkLst>
            <pc:docMk/>
            <pc:sldMk cId="3929917959" sldId="351"/>
            <ac:spMk id="101" creationId="{00000000-0000-0000-0000-000000000000}"/>
          </ac:spMkLst>
        </pc:spChg>
        <pc:spChg chg="mod">
          <ac:chgData name="Boerger, Andrew" userId="0c0bc9a9-2163-4dfe-8380-dffe9bae854a" providerId="ADAL" clId="{517DB387-D46D-4360-A89D-0AB2A58C50C0}" dt="2026-09-09T16:09:34.864" v="384" actId="27636"/>
          <ac:spMkLst>
            <pc:docMk/>
            <pc:sldMk cId="3929917959" sldId="351"/>
            <ac:spMk id="105" creationId="{00000000-0000-0000-0000-000000000000}"/>
          </ac:spMkLst>
        </pc:spChg>
        <pc:spChg chg="mod">
          <ac:chgData name="Boerger, Andrew" userId="0c0bc9a9-2163-4dfe-8380-dffe9bae854a" providerId="ADAL" clId="{517DB387-D46D-4360-A89D-0AB2A58C50C0}" dt="2026-09-09T16:09:34.867" v="386" actId="27636"/>
          <ac:spMkLst>
            <pc:docMk/>
            <pc:sldMk cId="3929917959" sldId="351"/>
            <ac:spMk id="109" creationId="{00000000-0000-0000-0000-000000000000}"/>
          </ac:spMkLst>
        </pc:spChg>
        <pc:spChg chg="mod">
          <ac:chgData name="Boerger, Andrew" userId="0c0bc9a9-2163-4dfe-8380-dffe9bae854a" providerId="ADAL" clId="{517DB387-D46D-4360-A89D-0AB2A58C50C0}" dt="2026-09-09T16:09:34.865" v="385" actId="27636"/>
          <ac:spMkLst>
            <pc:docMk/>
            <pc:sldMk cId="3929917959" sldId="351"/>
            <ac:spMk id="113" creationId="{00000000-0000-0000-0000-000000000000}"/>
          </ac:spMkLst>
        </pc:spChg>
        <pc:spChg chg="mod">
          <ac:chgData name="Boerger, Andrew" userId="0c0bc9a9-2163-4dfe-8380-dffe9bae854a" providerId="ADAL" clId="{517DB387-D46D-4360-A89D-0AB2A58C50C0}" dt="2026-09-09T16:09:34.859" v="380" actId="27636"/>
          <ac:spMkLst>
            <pc:docMk/>
            <pc:sldMk cId="3929917959" sldId="351"/>
            <ac:spMk id="122" creationId="{00000000-0000-0000-0000-000000000000}"/>
          </ac:spMkLst>
        </pc:spChg>
        <pc:spChg chg="mod">
          <ac:chgData name="Boerger, Andrew" userId="0c0bc9a9-2163-4dfe-8380-dffe9bae854a" providerId="ADAL" clId="{517DB387-D46D-4360-A89D-0AB2A58C50C0}" dt="2026-09-09T16:09:34.863" v="383" actId="27636"/>
          <ac:spMkLst>
            <pc:docMk/>
            <pc:sldMk cId="3929917959" sldId="351"/>
            <ac:spMk id="124" creationId="{00000000-0000-0000-0000-000000000000}"/>
          </ac:spMkLst>
        </pc:spChg>
        <pc:spChg chg="mod">
          <ac:chgData name="Boerger, Andrew" userId="0c0bc9a9-2163-4dfe-8380-dffe9bae854a" providerId="ADAL" clId="{517DB387-D46D-4360-A89D-0AB2A58C50C0}" dt="2026-09-09T16:09:34.858" v="379" actId="27636"/>
          <ac:spMkLst>
            <pc:docMk/>
            <pc:sldMk cId="3929917959" sldId="351"/>
            <ac:spMk id="126" creationId="{00000000-0000-0000-0000-000000000000}"/>
          </ac:spMkLst>
        </pc:spChg>
        <pc:spChg chg="mod">
          <ac:chgData name="Boerger, Andrew" userId="0c0bc9a9-2163-4dfe-8380-dffe9bae854a" providerId="ADAL" clId="{517DB387-D46D-4360-A89D-0AB2A58C50C0}" dt="2026-09-09T16:09:34.860" v="381" actId="27636"/>
          <ac:spMkLst>
            <pc:docMk/>
            <pc:sldMk cId="3929917959" sldId="351"/>
            <ac:spMk id="128" creationId="{00000000-0000-0000-0000-000000000000}"/>
          </ac:spMkLst>
        </pc:spChg>
        <pc:spChg chg="mod">
          <ac:chgData name="Boerger, Andrew" userId="0c0bc9a9-2163-4dfe-8380-dffe9bae854a" providerId="ADAL" clId="{517DB387-D46D-4360-A89D-0AB2A58C50C0}" dt="2026-09-09T16:09:34.857" v="378" actId="27636"/>
          <ac:spMkLst>
            <pc:docMk/>
            <pc:sldMk cId="3929917959" sldId="351"/>
            <ac:spMk id="130" creationId="{00000000-0000-0000-0000-000000000000}"/>
          </ac:spMkLst>
        </pc:spChg>
      </pc:sldChg>
      <pc:sldChg chg="modSp add del mod">
        <pc:chgData name="Boerger, Andrew" userId="0c0bc9a9-2163-4dfe-8380-dffe9bae854a" providerId="ADAL" clId="{517DB387-D46D-4360-A89D-0AB2A58C50C0}" dt="2026-09-09T16:10:56.714" v="399"/>
        <pc:sldMkLst>
          <pc:docMk/>
          <pc:sldMk cId="3688374971" sldId="352"/>
        </pc:sldMkLst>
        <pc:spChg chg="mod">
          <ac:chgData name="Boerger, Andrew" userId="0c0bc9a9-2163-4dfe-8380-dffe9bae854a" providerId="ADAL" clId="{517DB387-D46D-4360-A89D-0AB2A58C50C0}" dt="2026-09-09T16:10:29.985" v="390" actId="27636"/>
          <ac:spMkLst>
            <pc:docMk/>
            <pc:sldMk cId="3688374971" sldId="352"/>
            <ac:spMk id="101" creationId="{00000000-0000-0000-0000-000000000000}"/>
          </ac:spMkLst>
        </pc:spChg>
        <pc:spChg chg="mod">
          <ac:chgData name="Boerger, Andrew" userId="0c0bc9a9-2163-4dfe-8380-dffe9bae854a" providerId="ADAL" clId="{517DB387-D46D-4360-A89D-0AB2A58C50C0}" dt="2026-09-09T16:10:29.990" v="393" actId="27636"/>
          <ac:spMkLst>
            <pc:docMk/>
            <pc:sldMk cId="3688374971" sldId="352"/>
            <ac:spMk id="105" creationId="{00000000-0000-0000-0000-000000000000}"/>
          </ac:spMkLst>
        </pc:spChg>
        <pc:spChg chg="mod">
          <ac:chgData name="Boerger, Andrew" userId="0c0bc9a9-2163-4dfe-8380-dffe9bae854a" providerId="ADAL" clId="{517DB387-D46D-4360-A89D-0AB2A58C50C0}" dt="2026-09-09T16:10:29.992" v="395" actId="27636"/>
          <ac:spMkLst>
            <pc:docMk/>
            <pc:sldMk cId="3688374971" sldId="352"/>
            <ac:spMk id="109" creationId="{00000000-0000-0000-0000-000000000000}"/>
          </ac:spMkLst>
        </pc:spChg>
        <pc:spChg chg="mod">
          <ac:chgData name="Boerger, Andrew" userId="0c0bc9a9-2163-4dfe-8380-dffe9bae854a" providerId="ADAL" clId="{517DB387-D46D-4360-A89D-0AB2A58C50C0}" dt="2026-09-09T16:10:29.982" v="389" actId="27636"/>
          <ac:spMkLst>
            <pc:docMk/>
            <pc:sldMk cId="3688374971" sldId="352"/>
            <ac:spMk id="113" creationId="{00000000-0000-0000-0000-000000000000}"/>
          </ac:spMkLst>
        </pc:spChg>
        <pc:spChg chg="mod">
          <ac:chgData name="Boerger, Andrew" userId="0c0bc9a9-2163-4dfe-8380-dffe9bae854a" providerId="ADAL" clId="{517DB387-D46D-4360-A89D-0AB2A58C50C0}" dt="2026-09-09T16:10:29.987" v="391" actId="27636"/>
          <ac:spMkLst>
            <pc:docMk/>
            <pc:sldMk cId="3688374971" sldId="352"/>
            <ac:spMk id="117" creationId="{00000000-0000-0000-0000-000000000000}"/>
          </ac:spMkLst>
        </pc:spChg>
        <pc:spChg chg="mod">
          <ac:chgData name="Boerger, Andrew" userId="0c0bc9a9-2163-4dfe-8380-dffe9bae854a" providerId="ADAL" clId="{517DB387-D46D-4360-A89D-0AB2A58C50C0}" dt="2026-09-09T16:10:29.994" v="397" actId="27636"/>
          <ac:spMkLst>
            <pc:docMk/>
            <pc:sldMk cId="3688374971" sldId="352"/>
            <ac:spMk id="121" creationId="{00000000-0000-0000-0000-000000000000}"/>
          </ac:spMkLst>
        </pc:spChg>
        <pc:spChg chg="mod">
          <ac:chgData name="Boerger, Andrew" userId="0c0bc9a9-2163-4dfe-8380-dffe9bae854a" providerId="ADAL" clId="{517DB387-D46D-4360-A89D-0AB2A58C50C0}" dt="2026-09-09T16:10:29.993" v="396" actId="27636"/>
          <ac:spMkLst>
            <pc:docMk/>
            <pc:sldMk cId="3688374971" sldId="352"/>
            <ac:spMk id="125" creationId="{00000000-0000-0000-0000-000000000000}"/>
          </ac:spMkLst>
        </pc:spChg>
        <pc:spChg chg="mod">
          <ac:chgData name="Boerger, Andrew" userId="0c0bc9a9-2163-4dfe-8380-dffe9bae854a" providerId="ADAL" clId="{517DB387-D46D-4360-A89D-0AB2A58C50C0}" dt="2026-09-09T16:10:29.991" v="394" actId="27636"/>
          <ac:spMkLst>
            <pc:docMk/>
            <pc:sldMk cId="3688374971" sldId="352"/>
            <ac:spMk id="129" creationId="{00000000-0000-0000-0000-000000000000}"/>
          </ac:spMkLst>
        </pc:spChg>
        <pc:spChg chg="mod">
          <ac:chgData name="Boerger, Andrew" userId="0c0bc9a9-2163-4dfe-8380-dffe9bae854a" providerId="ADAL" clId="{517DB387-D46D-4360-A89D-0AB2A58C50C0}" dt="2026-09-09T16:10:29.989" v="392" actId="27636"/>
          <ac:spMkLst>
            <pc:docMk/>
            <pc:sldMk cId="3688374971" sldId="352"/>
            <ac:spMk id="200" creationId="{00000000-0000-0000-0000-000000000000}"/>
          </ac:spMkLst>
        </pc:spChg>
      </pc:sldChg>
      <pc:sldChg chg="modSp add del mod">
        <pc:chgData name="Boerger, Andrew" userId="0c0bc9a9-2163-4dfe-8380-dffe9bae854a" providerId="ADAL" clId="{517DB387-D46D-4360-A89D-0AB2A58C50C0}" dt="2026-09-09T16:14:23.044" v="440"/>
        <pc:sldMkLst>
          <pc:docMk/>
          <pc:sldMk cId="1133857394" sldId="353"/>
        </pc:sldMkLst>
        <pc:spChg chg="mod">
          <ac:chgData name="Boerger, Andrew" userId="0c0bc9a9-2163-4dfe-8380-dffe9bae854a" providerId="ADAL" clId="{517DB387-D46D-4360-A89D-0AB2A58C50C0}" dt="2026-09-09T16:12:45.669" v="423"/>
          <ac:spMkLst>
            <pc:docMk/>
            <pc:sldMk cId="1133857394" sldId="353"/>
            <ac:spMk id="28" creationId="{E1A6A13E-D079-4787-BA2C-26179E45E0AB}"/>
          </ac:spMkLst>
        </pc:spChg>
        <pc:spChg chg="mod">
          <ac:chgData name="Boerger, Andrew" userId="0c0bc9a9-2163-4dfe-8380-dffe9bae854a" providerId="ADAL" clId="{517DB387-D46D-4360-A89D-0AB2A58C50C0}" dt="2026-09-09T16:10:56.733" v="400" actId="27636"/>
          <ac:spMkLst>
            <pc:docMk/>
            <pc:sldMk cId="1133857394" sldId="353"/>
            <ac:spMk id="101" creationId="{00000000-0000-0000-0000-000000000000}"/>
          </ac:spMkLst>
        </pc:spChg>
        <pc:spChg chg="mod">
          <ac:chgData name="Boerger, Andrew" userId="0c0bc9a9-2163-4dfe-8380-dffe9bae854a" providerId="ADAL" clId="{517DB387-D46D-4360-A89D-0AB2A58C50C0}" dt="2026-09-09T16:10:56.741" v="406" actId="27636"/>
          <ac:spMkLst>
            <pc:docMk/>
            <pc:sldMk cId="1133857394" sldId="353"/>
            <ac:spMk id="105" creationId="{00000000-0000-0000-0000-000000000000}"/>
          </ac:spMkLst>
        </pc:spChg>
        <pc:spChg chg="mod">
          <ac:chgData name="Boerger, Andrew" userId="0c0bc9a9-2163-4dfe-8380-dffe9bae854a" providerId="ADAL" clId="{517DB387-D46D-4360-A89D-0AB2A58C50C0}" dt="2026-09-09T16:10:56.742" v="407" actId="27636"/>
          <ac:spMkLst>
            <pc:docMk/>
            <pc:sldMk cId="1133857394" sldId="353"/>
            <ac:spMk id="109" creationId="{00000000-0000-0000-0000-000000000000}"/>
          </ac:spMkLst>
        </pc:spChg>
        <pc:spChg chg="mod">
          <ac:chgData name="Boerger, Andrew" userId="0c0bc9a9-2163-4dfe-8380-dffe9bae854a" providerId="ADAL" clId="{517DB387-D46D-4360-A89D-0AB2A58C50C0}" dt="2026-09-09T16:10:56.736" v="403" actId="27636"/>
          <ac:spMkLst>
            <pc:docMk/>
            <pc:sldMk cId="1133857394" sldId="353"/>
            <ac:spMk id="113" creationId="{00000000-0000-0000-0000-000000000000}"/>
          </ac:spMkLst>
        </pc:spChg>
        <pc:spChg chg="mod">
          <ac:chgData name="Boerger, Andrew" userId="0c0bc9a9-2163-4dfe-8380-dffe9bae854a" providerId="ADAL" clId="{517DB387-D46D-4360-A89D-0AB2A58C50C0}" dt="2026-09-09T16:10:56.738" v="404" actId="27636"/>
          <ac:spMkLst>
            <pc:docMk/>
            <pc:sldMk cId="1133857394" sldId="353"/>
            <ac:spMk id="117" creationId="{00000000-0000-0000-0000-000000000000}"/>
          </ac:spMkLst>
        </pc:spChg>
        <pc:spChg chg="mod">
          <ac:chgData name="Boerger, Andrew" userId="0c0bc9a9-2163-4dfe-8380-dffe9bae854a" providerId="ADAL" clId="{517DB387-D46D-4360-A89D-0AB2A58C50C0}" dt="2026-09-09T16:10:56.739" v="405" actId="27636"/>
          <ac:spMkLst>
            <pc:docMk/>
            <pc:sldMk cId="1133857394" sldId="353"/>
            <ac:spMk id="121" creationId="{00000000-0000-0000-0000-000000000000}"/>
          </ac:spMkLst>
        </pc:spChg>
        <pc:spChg chg="mod">
          <ac:chgData name="Boerger, Andrew" userId="0c0bc9a9-2163-4dfe-8380-dffe9bae854a" providerId="ADAL" clId="{517DB387-D46D-4360-A89D-0AB2A58C50C0}" dt="2026-09-09T16:10:56.736" v="402" actId="27636"/>
          <ac:spMkLst>
            <pc:docMk/>
            <pc:sldMk cId="1133857394" sldId="353"/>
            <ac:spMk id="125" creationId="{00000000-0000-0000-0000-000000000000}"/>
          </ac:spMkLst>
        </pc:spChg>
        <pc:spChg chg="mod">
          <ac:chgData name="Boerger, Andrew" userId="0c0bc9a9-2163-4dfe-8380-dffe9bae854a" providerId="ADAL" clId="{517DB387-D46D-4360-A89D-0AB2A58C50C0}" dt="2026-09-09T16:10:56.735" v="401" actId="27636"/>
          <ac:spMkLst>
            <pc:docMk/>
            <pc:sldMk cId="1133857394" sldId="353"/>
            <ac:spMk id="129" creationId="{00000000-0000-0000-0000-000000000000}"/>
          </ac:spMkLst>
        </pc:spChg>
        <pc:spChg chg="mod">
          <ac:chgData name="Boerger, Andrew" userId="0c0bc9a9-2163-4dfe-8380-dffe9bae854a" providerId="ADAL" clId="{517DB387-D46D-4360-A89D-0AB2A58C50C0}" dt="2026-09-09T16:10:56.743" v="408" actId="27636"/>
          <ac:spMkLst>
            <pc:docMk/>
            <pc:sldMk cId="1133857394" sldId="353"/>
            <ac:spMk id="200" creationId="{00000000-0000-0000-0000-000000000000}"/>
          </ac:spMkLst>
        </pc:spChg>
      </pc:sldChg>
      <pc:sldChg chg="modSp add mod">
        <pc:chgData name="Boerger, Andrew" userId="0c0bc9a9-2163-4dfe-8380-dffe9bae854a" providerId="ADAL" clId="{517DB387-D46D-4360-A89D-0AB2A58C50C0}" dt="2026-09-09T16:12:45.672" v="429"/>
        <pc:sldMkLst>
          <pc:docMk/>
          <pc:sldMk cId="1914950974" sldId="354"/>
        </pc:sldMkLst>
        <pc:spChg chg="mod">
          <ac:chgData name="Boerger, Andrew" userId="0c0bc9a9-2163-4dfe-8380-dffe9bae854a" providerId="ADAL" clId="{517DB387-D46D-4360-A89D-0AB2A58C50C0}" dt="2026-09-09T16:12:45.672" v="429"/>
          <ac:spMkLst>
            <pc:docMk/>
            <pc:sldMk cId="1914950974" sldId="354"/>
            <ac:spMk id="28" creationId="{E1A6A13E-D079-4787-BA2C-26179E45E0AB}"/>
          </ac:spMkLst>
        </pc:spChg>
        <pc:spChg chg="mod">
          <ac:chgData name="Boerger, Andrew" userId="0c0bc9a9-2163-4dfe-8380-dffe9bae854a" providerId="ADAL" clId="{517DB387-D46D-4360-A89D-0AB2A58C50C0}" dt="2026-09-09T16:11:20.304" v="411" actId="27636"/>
          <ac:spMkLst>
            <pc:docMk/>
            <pc:sldMk cId="1914950974" sldId="354"/>
            <ac:spMk id="101" creationId="{00000000-0000-0000-0000-000000000000}"/>
          </ac:spMkLst>
        </pc:spChg>
      </pc:sldChg>
      <pc:sldChg chg="modSp add del mod">
        <pc:chgData name="Boerger, Andrew" userId="0c0bc9a9-2163-4dfe-8380-dffe9bae854a" providerId="ADAL" clId="{517DB387-D46D-4360-A89D-0AB2A58C50C0}" dt="2026-09-09T16:18:00.182" v="478"/>
        <pc:sldMkLst>
          <pc:docMk/>
          <pc:sldMk cId="354847040" sldId="355"/>
        </pc:sldMkLst>
        <pc:spChg chg="mod">
          <ac:chgData name="Boerger, Andrew" userId="0c0bc9a9-2163-4dfe-8380-dffe9bae854a" providerId="ADAL" clId="{517DB387-D46D-4360-A89D-0AB2A58C50C0}" dt="2026-09-09T16:12:45.675" v="434"/>
          <ac:spMkLst>
            <pc:docMk/>
            <pc:sldMk cId="354847040" sldId="355"/>
            <ac:spMk id="26" creationId="{57053F5A-4F41-40B1-B3CE-278E9D4C84A8}"/>
          </ac:spMkLst>
        </pc:spChg>
        <pc:spChg chg="mod">
          <ac:chgData name="Boerger, Andrew" userId="0c0bc9a9-2163-4dfe-8380-dffe9bae854a" providerId="ADAL" clId="{517DB387-D46D-4360-A89D-0AB2A58C50C0}" dt="2026-09-09T16:17:26.729" v="453"/>
          <ac:spMkLst>
            <pc:docMk/>
            <pc:sldMk cId="354847040" sldId="355"/>
            <ac:spMk id="130" creationId="{00000000-0000-0000-0000-000000000000}"/>
          </ac:spMkLst>
        </pc:spChg>
        <pc:spChg chg="mod">
          <ac:chgData name="Boerger, Andrew" userId="0c0bc9a9-2163-4dfe-8380-dffe9bae854a" providerId="ADAL" clId="{517DB387-D46D-4360-A89D-0AB2A58C50C0}" dt="2026-09-09T16:17:26.732" v="455"/>
          <ac:spMkLst>
            <pc:docMk/>
            <pc:sldMk cId="354847040" sldId="355"/>
            <ac:spMk id="131" creationId="{00000000-0000-0000-0000-000000000000}"/>
          </ac:spMkLst>
        </pc:spChg>
        <pc:spChg chg="mod">
          <ac:chgData name="Boerger, Andrew" userId="0c0bc9a9-2163-4dfe-8380-dffe9bae854a" providerId="ADAL" clId="{517DB387-D46D-4360-A89D-0AB2A58C50C0}" dt="2026-09-09T16:17:26.737" v="459"/>
          <ac:spMkLst>
            <pc:docMk/>
            <pc:sldMk cId="354847040" sldId="355"/>
            <ac:spMk id="132" creationId="{00000000-0000-0000-0000-000000000000}"/>
          </ac:spMkLst>
        </pc:spChg>
        <pc:spChg chg="mod">
          <ac:chgData name="Boerger, Andrew" userId="0c0bc9a9-2163-4dfe-8380-dffe9bae854a" providerId="ADAL" clId="{517DB387-D46D-4360-A89D-0AB2A58C50C0}" dt="2026-09-09T16:17:26.740" v="461"/>
          <ac:spMkLst>
            <pc:docMk/>
            <pc:sldMk cId="354847040" sldId="355"/>
            <ac:spMk id="133" creationId="{00000000-0000-0000-0000-000000000000}"/>
          </ac:spMkLst>
        </pc:spChg>
        <pc:spChg chg="mod">
          <ac:chgData name="Boerger, Andrew" userId="0c0bc9a9-2163-4dfe-8380-dffe9bae854a" providerId="ADAL" clId="{517DB387-D46D-4360-A89D-0AB2A58C50C0}" dt="2026-09-09T16:17:26.811" v="476"/>
          <ac:spMkLst>
            <pc:docMk/>
            <pc:sldMk cId="354847040" sldId="355"/>
            <ac:spMk id="134" creationId="{00000000-0000-0000-0000-000000000000}"/>
          </ac:spMkLst>
        </pc:spChg>
        <pc:spChg chg="mod">
          <ac:chgData name="Boerger, Andrew" userId="0c0bc9a9-2163-4dfe-8380-dffe9bae854a" providerId="ADAL" clId="{517DB387-D46D-4360-A89D-0AB2A58C50C0}" dt="2026-09-09T16:17:26.752" v="467"/>
          <ac:spMkLst>
            <pc:docMk/>
            <pc:sldMk cId="354847040" sldId="355"/>
            <ac:spMk id="135" creationId="{00000000-0000-0000-0000-000000000000}"/>
          </ac:spMkLst>
        </pc:spChg>
        <pc:spChg chg="mod">
          <ac:chgData name="Boerger, Andrew" userId="0c0bc9a9-2163-4dfe-8380-dffe9bae854a" providerId="ADAL" clId="{517DB387-D46D-4360-A89D-0AB2A58C50C0}" dt="2026-09-09T16:17:26.757" v="471"/>
          <ac:spMkLst>
            <pc:docMk/>
            <pc:sldMk cId="354847040" sldId="355"/>
            <ac:spMk id="136" creationId="{00000000-0000-0000-0000-000000000000}"/>
          </ac:spMkLst>
        </pc:spChg>
        <pc:spChg chg="mod">
          <ac:chgData name="Boerger, Andrew" userId="0c0bc9a9-2163-4dfe-8380-dffe9bae854a" providerId="ADAL" clId="{517DB387-D46D-4360-A89D-0AB2A58C50C0}" dt="2026-09-09T16:17:26.760" v="473"/>
          <ac:spMkLst>
            <pc:docMk/>
            <pc:sldMk cId="354847040" sldId="355"/>
            <ac:spMk id="137" creationId="{00000000-0000-0000-0000-000000000000}"/>
          </ac:spMkLst>
        </pc:spChg>
        <pc:spChg chg="mod">
          <ac:chgData name="Boerger, Andrew" userId="0c0bc9a9-2163-4dfe-8380-dffe9bae854a" providerId="ADAL" clId="{517DB387-D46D-4360-A89D-0AB2A58C50C0}" dt="2026-09-09T16:17:26.763" v="475"/>
          <ac:spMkLst>
            <pc:docMk/>
            <pc:sldMk cId="354847040" sldId="355"/>
            <ac:spMk id="138" creationId="{00000000-0000-0000-0000-000000000000}"/>
          </ac:spMkLst>
        </pc:spChg>
      </pc:sldChg>
      <pc:sldChg chg="modSp add del mod">
        <pc:chgData name="Boerger, Andrew" userId="0c0bc9a9-2163-4dfe-8380-dffe9bae854a" providerId="ADAL" clId="{517DB387-D46D-4360-A89D-0AB2A58C50C0}" dt="2026-09-09T16:16:13.488" v="451"/>
        <pc:sldMkLst>
          <pc:docMk/>
          <pc:sldMk cId="722780103" sldId="356"/>
        </pc:sldMkLst>
        <pc:spChg chg="mod">
          <ac:chgData name="Boerger, Andrew" userId="0c0bc9a9-2163-4dfe-8380-dffe9bae854a" providerId="ADAL" clId="{517DB387-D46D-4360-A89D-0AB2A58C50C0}" dt="2026-09-09T16:12:45.675" v="435"/>
          <ac:spMkLst>
            <pc:docMk/>
            <pc:sldMk cId="722780103" sldId="356"/>
            <ac:spMk id="28" creationId="{E1A6A13E-D079-4787-BA2C-26179E45E0AB}"/>
          </ac:spMkLst>
        </pc:spChg>
      </pc:sldChg>
      <pc:sldChg chg="modSp add mod">
        <pc:chgData name="Boerger, Andrew" userId="0c0bc9a9-2163-4dfe-8380-dffe9bae854a" providerId="ADAL" clId="{517DB387-D46D-4360-A89D-0AB2A58C50C0}" dt="2026-09-09T16:14:23.076" v="449" actId="27636"/>
        <pc:sldMkLst>
          <pc:docMk/>
          <pc:sldMk cId="1525687368" sldId="357"/>
        </pc:sldMkLst>
        <pc:spChg chg="mod">
          <ac:chgData name="Boerger, Andrew" userId="0c0bc9a9-2163-4dfe-8380-dffe9bae854a" providerId="ADAL" clId="{517DB387-D46D-4360-A89D-0AB2A58C50C0}" dt="2026-09-09T16:14:23.073" v="447" actId="27636"/>
          <ac:spMkLst>
            <pc:docMk/>
            <pc:sldMk cId="1525687368" sldId="357"/>
            <ac:spMk id="101" creationId="{00000000-0000-0000-0000-000000000000}"/>
          </ac:spMkLst>
        </pc:spChg>
        <pc:spChg chg="mod">
          <ac:chgData name="Boerger, Andrew" userId="0c0bc9a9-2163-4dfe-8380-dffe9bae854a" providerId="ADAL" clId="{517DB387-D46D-4360-A89D-0AB2A58C50C0}" dt="2026-09-09T16:14:23.070" v="445" actId="27636"/>
          <ac:spMkLst>
            <pc:docMk/>
            <pc:sldMk cId="1525687368" sldId="357"/>
            <ac:spMk id="105" creationId="{00000000-0000-0000-0000-000000000000}"/>
          </ac:spMkLst>
        </pc:spChg>
        <pc:spChg chg="mod">
          <ac:chgData name="Boerger, Andrew" userId="0c0bc9a9-2163-4dfe-8380-dffe9bae854a" providerId="ADAL" clId="{517DB387-D46D-4360-A89D-0AB2A58C50C0}" dt="2026-09-09T16:14:23.072" v="446" actId="27636"/>
          <ac:spMkLst>
            <pc:docMk/>
            <pc:sldMk cId="1525687368" sldId="357"/>
            <ac:spMk id="109" creationId="{00000000-0000-0000-0000-000000000000}"/>
          </ac:spMkLst>
        </pc:spChg>
        <pc:spChg chg="mod">
          <ac:chgData name="Boerger, Andrew" userId="0c0bc9a9-2163-4dfe-8380-dffe9bae854a" providerId="ADAL" clId="{517DB387-D46D-4360-A89D-0AB2A58C50C0}" dt="2026-09-09T16:14:23.069" v="444" actId="27636"/>
          <ac:spMkLst>
            <pc:docMk/>
            <pc:sldMk cId="1525687368" sldId="357"/>
            <ac:spMk id="113" creationId="{00000000-0000-0000-0000-000000000000}"/>
          </ac:spMkLst>
        </pc:spChg>
        <pc:spChg chg="mod">
          <ac:chgData name="Boerger, Andrew" userId="0c0bc9a9-2163-4dfe-8380-dffe9bae854a" providerId="ADAL" clId="{517DB387-D46D-4360-A89D-0AB2A58C50C0}" dt="2026-09-09T16:14:23.066" v="442" actId="27636"/>
          <ac:spMkLst>
            <pc:docMk/>
            <pc:sldMk cId="1525687368" sldId="357"/>
            <ac:spMk id="117" creationId="{00000000-0000-0000-0000-000000000000}"/>
          </ac:spMkLst>
        </pc:spChg>
        <pc:spChg chg="mod">
          <ac:chgData name="Boerger, Andrew" userId="0c0bc9a9-2163-4dfe-8380-dffe9bae854a" providerId="ADAL" clId="{517DB387-D46D-4360-A89D-0AB2A58C50C0}" dt="2026-09-09T16:14:23.067" v="443" actId="27636"/>
          <ac:spMkLst>
            <pc:docMk/>
            <pc:sldMk cId="1525687368" sldId="357"/>
            <ac:spMk id="121" creationId="{00000000-0000-0000-0000-000000000000}"/>
          </ac:spMkLst>
        </pc:spChg>
        <pc:spChg chg="mod">
          <ac:chgData name="Boerger, Andrew" userId="0c0bc9a9-2163-4dfe-8380-dffe9bae854a" providerId="ADAL" clId="{517DB387-D46D-4360-A89D-0AB2A58C50C0}" dt="2026-09-09T16:14:23.074" v="448" actId="27636"/>
          <ac:spMkLst>
            <pc:docMk/>
            <pc:sldMk cId="1525687368" sldId="357"/>
            <ac:spMk id="125" creationId="{00000000-0000-0000-0000-000000000000}"/>
          </ac:spMkLst>
        </pc:spChg>
        <pc:spChg chg="mod">
          <ac:chgData name="Boerger, Andrew" userId="0c0bc9a9-2163-4dfe-8380-dffe9bae854a" providerId="ADAL" clId="{517DB387-D46D-4360-A89D-0AB2A58C50C0}" dt="2026-09-09T16:14:23.076" v="449" actId="27636"/>
          <ac:spMkLst>
            <pc:docMk/>
            <pc:sldMk cId="1525687368" sldId="357"/>
            <ac:spMk id="129" creationId="{00000000-0000-0000-0000-000000000000}"/>
          </ac:spMkLst>
        </pc:spChg>
        <pc:spChg chg="mod">
          <ac:chgData name="Boerger, Andrew" userId="0c0bc9a9-2163-4dfe-8380-dffe9bae854a" providerId="ADAL" clId="{517DB387-D46D-4360-A89D-0AB2A58C50C0}" dt="2026-09-09T16:14:23.064" v="441" actId="27636"/>
          <ac:spMkLst>
            <pc:docMk/>
            <pc:sldMk cId="1525687368" sldId="357"/>
            <ac:spMk id="200" creationId="{00000000-0000-0000-0000-000000000000}"/>
          </ac:spMkLst>
        </pc:spChg>
      </pc:sldChg>
      <pc:sldChg chg="add">
        <pc:chgData name="Boerger, Andrew" userId="0c0bc9a9-2163-4dfe-8380-dffe9bae854a" providerId="ADAL" clId="{517DB387-D46D-4360-A89D-0AB2A58C50C0}" dt="2026-09-09T16:16:13.461" v="450"/>
        <pc:sldMkLst>
          <pc:docMk/>
          <pc:sldMk cId="1726360764" sldId="358"/>
        </pc:sldMkLst>
      </pc:sldChg>
      <pc:sldChg chg="modSp add mod">
        <pc:chgData name="Boerger, Andrew" userId="0c0bc9a9-2163-4dfe-8380-dffe9bae854a" providerId="ADAL" clId="{517DB387-D46D-4360-A89D-0AB2A58C50C0}" dt="2026-09-09T16:18:00.280" v="482" actId="27636"/>
        <pc:sldMkLst>
          <pc:docMk/>
          <pc:sldMk cId="824494094" sldId="359"/>
        </pc:sldMkLst>
        <pc:spChg chg="mod">
          <ac:chgData name="Boerger, Andrew" userId="0c0bc9a9-2163-4dfe-8380-dffe9bae854a" providerId="ADAL" clId="{517DB387-D46D-4360-A89D-0AB2A58C50C0}" dt="2026-09-09T16:18:00.264" v="481" actId="27636"/>
          <ac:spMkLst>
            <pc:docMk/>
            <pc:sldMk cId="824494094" sldId="359"/>
            <ac:spMk id="131" creationId="{00000000-0000-0000-0000-000000000000}"/>
          </ac:spMkLst>
        </pc:spChg>
        <pc:spChg chg="mod">
          <ac:chgData name="Boerger, Andrew" userId="0c0bc9a9-2163-4dfe-8380-dffe9bae854a" providerId="ADAL" clId="{517DB387-D46D-4360-A89D-0AB2A58C50C0}" dt="2026-09-09T16:18:00.230" v="479" actId="27636"/>
          <ac:spMkLst>
            <pc:docMk/>
            <pc:sldMk cId="824494094" sldId="359"/>
            <ac:spMk id="133" creationId="{00000000-0000-0000-0000-000000000000}"/>
          </ac:spMkLst>
        </pc:spChg>
        <pc:spChg chg="mod">
          <ac:chgData name="Boerger, Andrew" userId="0c0bc9a9-2163-4dfe-8380-dffe9bae854a" providerId="ADAL" clId="{517DB387-D46D-4360-A89D-0AB2A58C50C0}" dt="2026-09-09T16:18:00.239" v="480" actId="27636"/>
          <ac:spMkLst>
            <pc:docMk/>
            <pc:sldMk cId="824494094" sldId="359"/>
            <ac:spMk id="135" creationId="{00000000-0000-0000-0000-000000000000}"/>
          </ac:spMkLst>
        </pc:spChg>
        <pc:spChg chg="mod">
          <ac:chgData name="Boerger, Andrew" userId="0c0bc9a9-2163-4dfe-8380-dffe9bae854a" providerId="ADAL" clId="{517DB387-D46D-4360-A89D-0AB2A58C50C0}" dt="2026-09-09T16:18:00.280" v="482" actId="27636"/>
          <ac:spMkLst>
            <pc:docMk/>
            <pc:sldMk cId="824494094" sldId="359"/>
            <ac:spMk id="137" creationId="{00000000-0000-0000-0000-000000000000}"/>
          </ac:spMkLst>
        </pc:spChg>
      </pc:sldChg>
      <pc:sldMasterChg chg="addSldLayout delSldLayout">
        <pc:chgData name="Boerger, Andrew" userId="0c0bc9a9-2163-4dfe-8380-dffe9bae854a" providerId="ADAL" clId="{517DB387-D46D-4360-A89D-0AB2A58C50C0}" dt="2026-09-09T16:18:00.158" v="477"/>
        <pc:sldMasterMkLst>
          <pc:docMk/>
          <pc:sldMasterMk cId="0" sldId="2147483648"/>
        </pc:sldMasterMkLst>
        <pc:sldLayoutChg chg="del">
          <pc:chgData name="Boerger, Andrew" userId="0c0bc9a9-2163-4dfe-8380-dffe9bae854a" providerId="ADAL" clId="{517DB387-D46D-4360-A89D-0AB2A58C50C0}" dt="2026-09-08T18:52:39.224" v="22"/>
          <pc:sldLayoutMkLst>
            <pc:docMk/>
            <pc:sldMasterMk cId="0" sldId="2147483648"/>
            <pc:sldLayoutMk cId="0" sldId="2147483650"/>
          </pc:sldLayoutMkLst>
        </pc:sldLayoutChg>
        <pc:sldLayoutChg chg="add del">
          <pc:chgData name="Boerger, Andrew" userId="0c0bc9a9-2163-4dfe-8380-dffe9bae854a" providerId="ADAL" clId="{517DB387-D46D-4360-A89D-0AB2A58C50C0}" dt="2026-09-09T16:05:30.822" v="353" actId="47"/>
          <pc:sldLayoutMkLst>
            <pc:docMk/>
            <pc:sldMasterMk cId="0" sldId="2147483648"/>
            <pc:sldLayoutMk cId="0" sldId="2147483651"/>
          </pc:sldLayoutMkLst>
        </pc:sldLayoutChg>
        <pc:sldLayoutChg chg="add">
          <pc:chgData name="Boerger, Andrew" userId="0c0bc9a9-2163-4dfe-8380-dffe9bae854a" providerId="ADAL" clId="{517DB387-D46D-4360-A89D-0AB2A58C50C0}" dt="2026-09-09T16:07:47.217" v="356"/>
          <pc:sldLayoutMkLst>
            <pc:docMk/>
            <pc:sldMasterMk cId="0" sldId="2147483648"/>
            <pc:sldLayoutMk cId="0" sldId="2147483652"/>
          </pc:sldLayoutMkLst>
        </pc:sldLayoutChg>
        <pc:sldLayoutChg chg="add">
          <pc:chgData name="Boerger, Andrew" userId="0c0bc9a9-2163-4dfe-8380-dffe9bae854a" providerId="ADAL" clId="{517DB387-D46D-4360-A89D-0AB2A58C50C0}" dt="2026-09-09T16:07:51.764" v="357"/>
          <pc:sldLayoutMkLst>
            <pc:docMk/>
            <pc:sldMasterMk cId="0" sldId="2147483648"/>
            <pc:sldLayoutMk cId="0" sldId="2147483653"/>
          </pc:sldLayoutMkLst>
        </pc:sldLayoutChg>
        <pc:sldLayoutChg chg="add">
          <pc:chgData name="Boerger, Andrew" userId="0c0bc9a9-2163-4dfe-8380-dffe9bae854a" providerId="ADAL" clId="{517DB387-D46D-4360-A89D-0AB2A58C50C0}" dt="2026-09-09T16:07:58.002" v="358"/>
          <pc:sldLayoutMkLst>
            <pc:docMk/>
            <pc:sldMasterMk cId="0" sldId="2147483648"/>
            <pc:sldLayoutMk cId="0" sldId="2147483654"/>
          </pc:sldLayoutMkLst>
        </pc:sldLayoutChg>
        <pc:sldLayoutChg chg="add">
          <pc:chgData name="Boerger, Andrew" userId="0c0bc9a9-2163-4dfe-8380-dffe9bae854a" providerId="ADAL" clId="{517DB387-D46D-4360-A89D-0AB2A58C50C0}" dt="2026-09-09T16:08:03.974" v="359"/>
          <pc:sldLayoutMkLst>
            <pc:docMk/>
            <pc:sldMasterMk cId="0" sldId="2147483648"/>
            <pc:sldLayoutMk cId="0" sldId="2147483655"/>
          </pc:sldLayoutMkLst>
        </pc:sldLayoutChg>
        <pc:sldLayoutChg chg="add">
          <pc:chgData name="Boerger, Andrew" userId="0c0bc9a9-2163-4dfe-8380-dffe9bae854a" providerId="ADAL" clId="{517DB387-D46D-4360-A89D-0AB2A58C50C0}" dt="2026-09-09T16:09:05.403" v="365"/>
          <pc:sldLayoutMkLst>
            <pc:docMk/>
            <pc:sldMasterMk cId="0" sldId="2147483648"/>
            <pc:sldLayoutMk cId="0" sldId="2147483656"/>
          </pc:sldLayoutMkLst>
        </pc:sldLayoutChg>
        <pc:sldLayoutChg chg="add">
          <pc:chgData name="Boerger, Andrew" userId="0c0bc9a9-2163-4dfe-8380-dffe9bae854a" providerId="ADAL" clId="{517DB387-D46D-4360-A89D-0AB2A58C50C0}" dt="2026-09-09T16:09:34.830" v="376"/>
          <pc:sldLayoutMkLst>
            <pc:docMk/>
            <pc:sldMasterMk cId="0" sldId="2147483648"/>
            <pc:sldLayoutMk cId="0" sldId="2147483657"/>
          </pc:sldLayoutMkLst>
        </pc:sldLayoutChg>
        <pc:sldLayoutChg chg="add">
          <pc:chgData name="Boerger, Andrew" userId="0c0bc9a9-2163-4dfe-8380-dffe9bae854a" providerId="ADAL" clId="{517DB387-D46D-4360-A89D-0AB2A58C50C0}" dt="2026-09-09T16:10:29.955" v="387"/>
          <pc:sldLayoutMkLst>
            <pc:docMk/>
            <pc:sldMasterMk cId="0" sldId="2147483648"/>
            <pc:sldLayoutMk cId="0" sldId="2147483658"/>
          </pc:sldLayoutMkLst>
        </pc:sldLayoutChg>
        <pc:sldLayoutChg chg="add">
          <pc:chgData name="Boerger, Andrew" userId="0c0bc9a9-2163-4dfe-8380-dffe9bae854a" providerId="ADAL" clId="{517DB387-D46D-4360-A89D-0AB2A58C50C0}" dt="2026-09-09T16:10:56.708" v="398"/>
          <pc:sldLayoutMkLst>
            <pc:docMk/>
            <pc:sldMasterMk cId="0" sldId="2147483648"/>
            <pc:sldLayoutMk cId="0" sldId="2147483659"/>
          </pc:sldLayoutMkLst>
        </pc:sldLayoutChg>
        <pc:sldLayoutChg chg="add">
          <pc:chgData name="Boerger, Andrew" userId="0c0bc9a9-2163-4dfe-8380-dffe9bae854a" providerId="ADAL" clId="{517DB387-D46D-4360-A89D-0AB2A58C50C0}" dt="2026-09-09T16:11:20.277" v="409"/>
          <pc:sldLayoutMkLst>
            <pc:docMk/>
            <pc:sldMasterMk cId="0" sldId="2147483648"/>
            <pc:sldLayoutMk cId="0" sldId="2147483660"/>
          </pc:sldLayoutMkLst>
        </pc:sldLayoutChg>
        <pc:sldLayoutChg chg="add">
          <pc:chgData name="Boerger, Andrew" userId="0c0bc9a9-2163-4dfe-8380-dffe9bae854a" providerId="ADAL" clId="{517DB387-D46D-4360-A89D-0AB2A58C50C0}" dt="2026-09-09T16:11:55.461" v="412"/>
          <pc:sldLayoutMkLst>
            <pc:docMk/>
            <pc:sldMasterMk cId="0" sldId="2147483648"/>
            <pc:sldLayoutMk cId="0" sldId="2147483661"/>
          </pc:sldLayoutMkLst>
        </pc:sldLayoutChg>
        <pc:sldLayoutChg chg="add">
          <pc:chgData name="Boerger, Andrew" userId="0c0bc9a9-2163-4dfe-8380-dffe9bae854a" providerId="ADAL" clId="{517DB387-D46D-4360-A89D-0AB2A58C50C0}" dt="2026-09-09T16:12:25.693" v="418"/>
          <pc:sldLayoutMkLst>
            <pc:docMk/>
            <pc:sldMasterMk cId="0" sldId="2147483648"/>
            <pc:sldLayoutMk cId="0" sldId="2147483662"/>
          </pc:sldLayoutMkLst>
        </pc:sldLayoutChg>
        <pc:sldLayoutChg chg="add">
          <pc:chgData name="Boerger, Andrew" userId="0c0bc9a9-2163-4dfe-8380-dffe9bae854a" providerId="ADAL" clId="{517DB387-D46D-4360-A89D-0AB2A58C50C0}" dt="2026-09-09T16:14:23.037" v="439"/>
          <pc:sldLayoutMkLst>
            <pc:docMk/>
            <pc:sldMasterMk cId="0" sldId="2147483648"/>
            <pc:sldLayoutMk cId="0" sldId="2147483663"/>
          </pc:sldLayoutMkLst>
        </pc:sldLayoutChg>
        <pc:sldLayoutChg chg="add">
          <pc:chgData name="Boerger, Andrew" userId="0c0bc9a9-2163-4dfe-8380-dffe9bae854a" providerId="ADAL" clId="{517DB387-D46D-4360-A89D-0AB2A58C50C0}" dt="2026-09-09T16:16:13.461" v="450"/>
          <pc:sldLayoutMkLst>
            <pc:docMk/>
            <pc:sldMasterMk cId="0" sldId="2147483648"/>
            <pc:sldLayoutMk cId="0" sldId="2147483664"/>
          </pc:sldLayoutMkLst>
        </pc:sldLayoutChg>
        <pc:sldLayoutChg chg="add">
          <pc:chgData name="Boerger, Andrew" userId="0c0bc9a9-2163-4dfe-8380-dffe9bae854a" providerId="ADAL" clId="{517DB387-D46D-4360-A89D-0AB2A58C50C0}" dt="2026-09-09T16:18:00.158" v="477"/>
          <pc:sldLayoutMkLst>
            <pc:docMk/>
            <pc:sldMasterMk cId="0" sldId="2147483648"/>
            <pc:sldLayoutMk cId="0" sldId="214748366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TIME: 00:00–01:00</a:t>
            </a:r>
          </a:p>
          <a:p>
            <a:endParaRPr dirty="0"/>
          </a:p>
          <a:p>
            <a:r>
              <a:rPr dirty="0"/>
              <a:t>Introduce yourself. Ask for a show of hands: SQL Server, Power BI, Fabric, dbt. Everyone who can read a SELECT is welcome. This session uses dbt Core and a fictional order dataset. No dbt subscription is needed for the demos. By the end, attendees should be able to explain a model, read a dependency, interpret a failing test, and choose an adapter.</a:t>
            </a:r>
          </a:p>
          <a:p>
            <a:endParaRPr dirty="0"/>
          </a:p>
          <a:p>
            <a:r>
              <a:rPr dirty="0"/>
              <a:t>[Sources]</a:t>
            </a:r>
          </a:p>
          <a:p>
            <a:r>
              <a:rPr dirty="0"/>
              <a:t>https://docs.getdbt.com/docs/introduction</a:t>
            </a:r>
          </a:p>
          <a:p>
            <a:r>
              <a:rPr dirty="0"/>
              <a:t>Theme: user-supplied AANA AI Adoption Roadmap.pptx, visual reference only.</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03FB7-3D0E-1292-6F6B-9532262012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1827D5-4DA7-1D85-C93A-908D8E1BC2E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87DE091-43E6-90BF-AC52-0AE132DA29DE}"/>
              </a:ext>
            </a:extLst>
          </p:cNvPr>
          <p:cNvSpPr>
            <a:spLocks noGrp="1"/>
          </p:cNvSpPr>
          <p:nvPr>
            <p:ph type="body" idx="1"/>
          </p:nvPr>
        </p:nvSpPr>
        <p:spPr/>
        <p:txBody>
          <a:bodyPr/>
          <a:lstStyle/>
          <a:p>
            <a:r>
              <a:rPr dirty="0"/>
              <a:t>TIME: 01:00–03:00</a:t>
            </a:r>
          </a:p>
          <a:p>
            <a:endParaRPr dirty="0"/>
          </a:p>
          <a:p>
            <a:r>
              <a:rPr dirty="0"/>
              <a:t>Ask: “Who has changed one SQL object and discovered the dependent report later?” The problem is coordination around transformations as they grow. Stored procedures and notebooks can be engineered well; dbt offers a consistent project workflow so each team does not invent all of it. Avoid claiming that existing tools cannot be tested or versioned.</a:t>
            </a:r>
          </a:p>
          <a:p>
            <a:endParaRPr dirty="0"/>
          </a:p>
          <a:p>
            <a:r>
              <a:rPr dirty="0"/>
              <a:t>[Sources]</a:t>
            </a:r>
          </a:p>
          <a:p>
            <a:r>
              <a:rPr dirty="0"/>
              <a:t>Original teaching scenario and synthetic demo data.</a:t>
            </a:r>
          </a:p>
          <a:p>
            <a:r>
              <a:rPr dirty="0"/>
              <a:t>Theme: user-supplied AANA AI Adoption Roadmap.pptx, visual reference only.</a:t>
            </a:r>
          </a:p>
          <a:p>
            <a:r>
              <a:rPr dirty="0"/>
              <a:t>[/Sources]</a:t>
            </a:r>
          </a:p>
        </p:txBody>
      </p:sp>
      <p:sp>
        <p:nvSpPr>
          <p:cNvPr id="4" name="Slide Number Placeholder 3">
            <a:extLst>
              <a:ext uri="{FF2B5EF4-FFF2-40B4-BE49-F238E27FC236}">
                <a16:creationId xmlns:a16="http://schemas.microsoft.com/office/drawing/2014/main" id="{57348712-57F1-8905-09D4-B8DD5B90D82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4130041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91CE2-EE68-4667-3F61-EDE337FBBF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5485DB-9036-803C-72B9-AA627E38A70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94B0EF0-EF27-E0C1-BE7F-42212F83FEEB}"/>
              </a:ext>
            </a:extLst>
          </p:cNvPr>
          <p:cNvSpPr>
            <a:spLocks noGrp="1"/>
          </p:cNvSpPr>
          <p:nvPr>
            <p:ph type="body" idx="1"/>
          </p:nvPr>
        </p:nvSpPr>
        <p:spPr/>
        <p:txBody>
          <a:bodyPr/>
          <a:lstStyle/>
          <a:p>
            <a:r>
              <a:rPr dirty="0"/>
              <a:t>TIME: 01:00–03:00</a:t>
            </a:r>
          </a:p>
          <a:p>
            <a:endParaRPr dirty="0"/>
          </a:p>
          <a:p>
            <a:r>
              <a:rPr dirty="0"/>
              <a:t>Ask: “Who has changed one SQL object and discovered the dependent report later?” The problem is coordination around transformations as they grow. Stored procedures and notebooks can be engineered well; dbt offers a consistent project workflow so each team does not invent all of it. Avoid claiming that existing tools cannot be tested or versioned.</a:t>
            </a:r>
          </a:p>
          <a:p>
            <a:endParaRPr dirty="0"/>
          </a:p>
          <a:p>
            <a:r>
              <a:rPr dirty="0"/>
              <a:t>[Sources]</a:t>
            </a:r>
          </a:p>
          <a:p>
            <a:r>
              <a:rPr dirty="0"/>
              <a:t>Original teaching scenario and synthetic demo data.</a:t>
            </a:r>
          </a:p>
          <a:p>
            <a:r>
              <a:rPr dirty="0"/>
              <a:t>Theme: user-supplied AANA AI Adoption Roadmap.pptx, visual reference only.</a:t>
            </a:r>
          </a:p>
          <a:p>
            <a:r>
              <a:rPr dirty="0"/>
              <a:t>[/Sources]</a:t>
            </a:r>
          </a:p>
        </p:txBody>
      </p:sp>
      <p:sp>
        <p:nvSpPr>
          <p:cNvPr id="4" name="Slide Number Placeholder 3">
            <a:extLst>
              <a:ext uri="{FF2B5EF4-FFF2-40B4-BE49-F238E27FC236}">
                <a16:creationId xmlns:a16="http://schemas.microsoft.com/office/drawing/2014/main" id="{808AFC5D-2298-6654-D110-7340D18DD3D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9622488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80F23-9230-6B75-BCD7-EF0897EF89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9C4763-C820-F994-BB69-B7F17BA6DC4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3E27E98-2428-F881-E8E0-95EF5740124C}"/>
              </a:ext>
            </a:extLst>
          </p:cNvPr>
          <p:cNvSpPr>
            <a:spLocks noGrp="1"/>
          </p:cNvSpPr>
          <p:nvPr>
            <p:ph type="body" idx="1"/>
          </p:nvPr>
        </p:nvSpPr>
        <p:spPr/>
        <p:txBody>
          <a:bodyPr/>
          <a:lstStyle/>
          <a:p>
            <a:r>
              <a:rPr dirty="0"/>
              <a:t>TIME: 01:00–03:00</a:t>
            </a:r>
          </a:p>
          <a:p>
            <a:endParaRPr dirty="0"/>
          </a:p>
          <a:p>
            <a:r>
              <a:rPr dirty="0"/>
              <a:t>Ask: “Who has changed one SQL object and discovered the dependent report later?” The problem is coordination around transformations as they grow. Stored procedures and notebooks can be engineered well; dbt offers a consistent project workflow so each team does not invent all of it. Avoid claiming that existing tools cannot be tested or versioned.</a:t>
            </a:r>
          </a:p>
          <a:p>
            <a:endParaRPr dirty="0"/>
          </a:p>
          <a:p>
            <a:r>
              <a:rPr dirty="0"/>
              <a:t>[Sources]</a:t>
            </a:r>
          </a:p>
          <a:p>
            <a:r>
              <a:rPr dirty="0"/>
              <a:t>Original teaching scenario and synthetic demo data.</a:t>
            </a:r>
          </a:p>
          <a:p>
            <a:r>
              <a:rPr dirty="0"/>
              <a:t>Theme: user-supplied AANA AI Adoption Roadmap.pptx, visual reference only.</a:t>
            </a:r>
          </a:p>
          <a:p>
            <a:r>
              <a:rPr dirty="0"/>
              <a:t>[/Sources]</a:t>
            </a:r>
          </a:p>
        </p:txBody>
      </p:sp>
      <p:sp>
        <p:nvSpPr>
          <p:cNvPr id="4" name="Slide Number Placeholder 3">
            <a:extLst>
              <a:ext uri="{FF2B5EF4-FFF2-40B4-BE49-F238E27FC236}">
                <a16:creationId xmlns:a16="http://schemas.microsoft.com/office/drawing/2014/main" id="{C36A3CF0-D610-E716-0CDF-4BEA1AA7325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85763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TIME: 01:00–03:00</a:t>
            </a:r>
          </a:p>
          <a:p>
            <a:endParaRPr dirty="0"/>
          </a:p>
          <a:p>
            <a:r>
              <a:rPr dirty="0"/>
              <a:t>Ask: “Who has changed one SQL object and discovered the dependent report later?” The problem is coordination around transformations as they grow. Stored procedures and notebooks can be engineered well; dbt offers a consistent project workflow so each team does not invent all of it. Avoid claiming that existing tools cannot be tested or versioned.</a:t>
            </a:r>
          </a:p>
          <a:p>
            <a:endParaRPr dirty="0"/>
          </a:p>
          <a:p>
            <a:r>
              <a:rPr dirty="0"/>
              <a:t>[Sources]</a:t>
            </a:r>
          </a:p>
          <a:p>
            <a:r>
              <a:rPr dirty="0"/>
              <a:t>Original teaching scenario and synthetic demo data.</a:t>
            </a:r>
          </a:p>
          <a:p>
            <a:r>
              <a:rPr dirty="0"/>
              <a:t>Theme: user-supplied AANA AI Adoption Roadmap.pptx, visual reference only.</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TIME: 03:00–05:00</a:t>
            </a:r>
          </a:p>
          <a:p>
            <a:endParaRPr dirty="0"/>
          </a:p>
          <a:p>
            <a:r>
              <a:rPr dirty="0"/>
              <a:t>Define dbt as data build tool: a framework for developing, testing and documenting data transformations. A dbt model and a Power BI semantic model are different layers. Expand ELT once: extract, load, transform. Keep ingestion, transformation and serving distinct. In a lakehouse design, dbt can own selected Silver or Gold transformations after data is landed. It need not own every layer. dbt does not automatically ingest SAP, schedule source extraction, or create a Power BI semantic model.</a:t>
            </a:r>
          </a:p>
          <a:p>
            <a:endParaRPr dirty="0"/>
          </a:p>
          <a:p>
            <a:r>
              <a:rPr dirty="0"/>
              <a:t>[Sources]</a:t>
            </a:r>
          </a:p>
          <a:p>
            <a:r>
              <a:rPr dirty="0"/>
              <a:t>https://docs.getdbt.com/docs/introduction</a:t>
            </a:r>
          </a:p>
          <a:p>
            <a:r>
              <a:rPr dirty="0"/>
              <a:t>https://docs.getdbt.com/docs/build/sql-models</a:t>
            </a:r>
          </a:p>
          <a:p>
            <a:r>
              <a:rPr dirty="0"/>
              <a:t>Theme: user-supplied AANA AI Adoption Roadmap.pptx, visual reference only.</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TIME: 05:00 (30 seconds, or skip)</a:t>
            </a:r>
          </a:p>
          <a:p>
            <a:endParaRPr dirty="0"/>
          </a:p>
          <a:p>
            <a:r>
              <a:rPr dirty="0"/>
              <a:t>Vendor-reported adoption figures, checked September 2026. The point for a Microsoft audience: the workflow is the industry default, and Fabric now has first-party adapters (dbt-fabric, dbt-</a:t>
            </a:r>
            <a:r>
              <a:rPr dirty="0" err="1"/>
              <a:t>fabricspark</a:t>
            </a:r>
            <a:r>
              <a:rPr dirty="0"/>
              <a:t>) plus a native dbt job item, so the skills transfer in both directions. Re-verify the figures before presenting.</a:t>
            </a:r>
          </a:p>
          <a:p>
            <a:endParaRPr dirty="0"/>
          </a:p>
          <a:p>
            <a:r>
              <a:rPr dirty="0"/>
              <a:t>[Sources]</a:t>
            </a:r>
          </a:p>
          <a:p>
            <a:r>
              <a:rPr dirty="0"/>
              <a:t>https://learn.microsoft.com/fabric/data-factory/dbt-job-overview</a:t>
            </a:r>
          </a:p>
          <a:p>
            <a:r>
              <a:rPr dirty="0"/>
              <a:t>https://github.com/microsoft/dbt-fabric</a:t>
            </a:r>
          </a:p>
          <a:p>
            <a:r>
              <a:rPr dirty="0"/>
              <a:t>https://github.com/microsoft/dbt-fabricspark</a:t>
            </a:r>
          </a:p>
          <a:p>
            <a:r>
              <a:rPr dirty="0"/>
              <a:t>Theme: user-supplied AANA AI Adoption Roadmap.pptx, visual reference only.</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TIME: 05:00–06:30</a:t>
            </a:r>
          </a:p>
          <a:p>
            <a:endParaRPr dirty="0"/>
          </a:p>
          <a:p>
            <a:r>
              <a:rPr dirty="0"/>
              <a:t>Distinguish where the dbt process runs from where transformation compute runs. A laptop can issue work to SQL Server or Fabric Spark. Moving that process to a build agent changes the host and credentials, not the business SQL. The Core CLI does not need to be installed on the database server.</a:t>
            </a:r>
          </a:p>
          <a:p>
            <a:endParaRPr dirty="0"/>
          </a:p>
          <a:p>
            <a:r>
              <a:rPr dirty="0"/>
              <a:t>[Sources]</a:t>
            </a:r>
          </a:p>
          <a:p>
            <a:r>
              <a:rPr dirty="0"/>
              <a:t>https://docs.getdbt.com/docs/build/sql-models</a:t>
            </a:r>
          </a:p>
          <a:p>
            <a:r>
              <a:rPr dirty="0"/>
              <a:t>https://docs.getdbt.com/docs/deploy/deployments</a:t>
            </a:r>
          </a:p>
          <a:p>
            <a:r>
              <a:rPr dirty="0"/>
              <a:t>Theme: user-supplied AANA AI Adoption Roadmap.pptx, visual reference only.</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TIME: Appendix</a:t>
            </a:r>
          </a:p>
          <a:p>
            <a:endParaRPr dirty="0"/>
          </a:p>
          <a:p>
            <a:r>
              <a:rPr dirty="0"/>
              <a:t>Avoid conflating the open-source Core project with a paid managed service or assuming every Python adapter runs in Fusion. The teaching project intentionally targets Core. Discuss commercial options only if asked; no pricing claims are made.</a:t>
            </a:r>
          </a:p>
          <a:p>
            <a:endParaRPr dirty="0"/>
          </a:p>
          <a:p>
            <a:r>
              <a:rPr dirty="0"/>
              <a:t>[Sources]</a:t>
            </a:r>
          </a:p>
          <a:p>
            <a:r>
              <a:rPr dirty="0"/>
              <a:t>https://docs.getdbt.com/docs/introduction</a:t>
            </a:r>
          </a:p>
          <a:p>
            <a:r>
              <a:rPr dirty="0"/>
              <a:t>https://docs.getdbt.com/docs/dbt/supported-features</a:t>
            </a:r>
          </a:p>
          <a:p>
            <a:r>
              <a:rPr dirty="0"/>
              <a:t>Theme: user-supplied AANA AI Adoption Roadmap.pptx, visual reference only.</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TIME: 06:30–07:15</a:t>
            </a:r>
          </a:p>
          <a:p>
            <a:endParaRPr/>
          </a:p>
          <a:p>
            <a:r>
              <a:t>Eight words, one screen. Use the project's own examples: stg_orders is a model, raw_orders.csv is a seed that lands in the raw schema, source('ecom', 'raw_orders') is how the staging model reads it, ref('orders') is how customers reads the orders mart. Today's raw tables are seeds loaded once and then declared as sources — that is the shape a real project has, with ingestion replacing the seed. One profiles.yml holds three targets; the target, not the model, picks the adapter.</a:t>
            </a:r>
          </a:p>
          <a:p>
            <a:endParaRPr/>
          </a:p>
          <a:p>
            <a:r>
              <a:t>[Sources]</a:t>
            </a:r>
          </a:p>
          <a:p>
            <a:r>
              <a:t>https://docs.getdbt.com/docs/build/sources</a:t>
            </a:r>
          </a:p>
          <a:p>
            <a:r>
              <a:t>https://docs.getdbt.com/docs/core/connect-data-platform/profiles.yml</a:t>
            </a:r>
          </a:p>
          <a:p>
            <a:r>
              <a:t>Theme: user-supplied AANA AI Adoption Roadmap.pptx, visual reference only.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TIME: 06:30–08:00</a:t>
            </a:r>
          </a:p>
          <a:p>
            <a:endParaRPr dirty="0"/>
          </a:p>
          <a:p>
            <a:r>
              <a:rPr dirty="0"/>
              <a:t>Preview the project tree, but defer terminal execution. The </a:t>
            </a:r>
            <a:r>
              <a:rPr dirty="0" err="1"/>
              <a:t>Jaffle</a:t>
            </a:r>
            <a:r>
              <a:rPr dirty="0"/>
              <a:t> Shop project has six raw CSVs (seeds), six staging views and six marts; the order branch (</a:t>
            </a:r>
            <a:r>
              <a:rPr dirty="0" err="1"/>
              <a:t>stg_orders</a:t>
            </a:r>
            <a:r>
              <a:rPr dirty="0"/>
              <a:t> → </a:t>
            </a:r>
            <a:r>
              <a:rPr dirty="0" err="1"/>
              <a:t>order_items</a:t>
            </a:r>
            <a:r>
              <a:rPr dirty="0"/>
              <a:t> → orders → customers) is the one we follow all hour. Seeds stand in for ingestion: they are loaded once per engine and declared as sources. Explain that the YAML filename can vary; </a:t>
            </a:r>
            <a:r>
              <a:rPr dirty="0" err="1"/>
              <a:t>dbt_project.yml</a:t>
            </a:r>
            <a:r>
              <a:rPr dirty="0"/>
              <a:t> is special. Distinguish the project from the installed adapter.</a:t>
            </a:r>
          </a:p>
          <a:p>
            <a:endParaRPr dirty="0"/>
          </a:p>
          <a:p>
            <a:r>
              <a:rPr dirty="0"/>
              <a:t>[Sources]</a:t>
            </a:r>
          </a:p>
          <a:p>
            <a:r>
              <a:rPr dirty="0"/>
              <a:t>https://docs.getdbt.com/docs/build/sql-models</a:t>
            </a:r>
          </a:p>
          <a:p>
            <a:r>
              <a:rPr dirty="0"/>
              <a:t>https://docs.getdbt.com/docs/build/data-tests</a:t>
            </a:r>
          </a:p>
          <a:p>
            <a:r>
              <a:rPr dirty="0"/>
              <a:t>https://github.com/dbt-labs/jaffle-shop</a:t>
            </a:r>
          </a:p>
          <a:p>
            <a:r>
              <a:rPr dirty="0"/>
              <a:t>Theme: user-supplied AANA AI Adoption Roadmap.pptx, visual reference only.</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TIME: 08:00–10:00</a:t>
            </a:r>
          </a:p>
          <a:p>
            <a:endParaRPr/>
          </a:p>
          <a:p>
            <a:r>
              <a:t>Introduce DAG as directed acyclic graph, then say dependency graph thereafter. Show source() and ref() in one line each: staging models read the raw tables through source('ecom', …); marts read other models through ref(). cents_to_dollars is a project macro — mention it, do not explain Jinja yet. In the actual graph five source branches join at order_items and orders; this slide follows only the order branch. A seed becomes a source node only because __sources.yml declares it.</a:t>
            </a:r>
          </a:p>
          <a:p>
            <a:endParaRPr/>
          </a:p>
          <a:p>
            <a:r>
              <a:t>[Sources]</a:t>
            </a:r>
          </a:p>
          <a:p>
            <a:r>
              <a:t>https://docs.getdbt.com/reference/dbt-jinja-functions/ref</a:t>
            </a:r>
          </a:p>
          <a:p>
            <a:r>
              <a:t>https://docs.getdbt.com/docs/build/sources</a:t>
            </a:r>
          </a:p>
          <a:p>
            <a:r>
              <a:t>Theme: user-supplied AANA AI Adoption Roadmap.pptx, visual reference only.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TIME: 19:00–22:00</a:t>
            </a:r>
          </a:p>
          <a:p>
            <a:endParaRPr dirty="0"/>
          </a:p>
          <a:p>
            <a:r>
              <a:rPr dirty="0"/>
              <a:t>A model is logical SQL; materialization is the build strategy. Our project defaults to views for staging and tables for marts on all three engines, set once in </a:t>
            </a:r>
            <a:r>
              <a:rPr dirty="0" err="1"/>
              <a:t>dbt_project.yml</a:t>
            </a:r>
            <a:r>
              <a:rPr dirty="0"/>
              <a:t>. A table-to-view switch on </a:t>
            </a:r>
            <a:r>
              <a:rPr dirty="0" err="1"/>
              <a:t>stg_orders</a:t>
            </a:r>
            <a:r>
              <a:rPr dirty="0"/>
              <a:t> is a good optional ten-second edit. Ephemeral embeds SQL in consumers; </a:t>
            </a:r>
            <a:r>
              <a:rPr dirty="0" err="1"/>
              <a:t>materialized_view</a:t>
            </a:r>
            <a:r>
              <a:rPr dirty="0"/>
              <a:t> and friends are adapter-dependent. Incremental is not automatic CDC and should not be the first live demo.</a:t>
            </a:r>
          </a:p>
          <a:p>
            <a:endParaRPr dirty="0"/>
          </a:p>
          <a:p>
            <a:r>
              <a:rPr dirty="0"/>
              <a:t>[Sources]</a:t>
            </a:r>
          </a:p>
          <a:p>
            <a:r>
              <a:rPr dirty="0"/>
              <a:t>https://docs.getdbt.com/docs/build/materializations</a:t>
            </a:r>
          </a:p>
          <a:p>
            <a:r>
              <a:rPr dirty="0"/>
              <a:t>https://docs.getdbt.com/docs/build/incremental-models</a:t>
            </a:r>
          </a:p>
          <a:p>
            <a:r>
              <a:rPr dirty="0"/>
              <a:t>Theme: user-supplied AANA AI Adoption Roadmap.pptx, visual reference only.</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TIME: 08:00–10:00 (shared with slide 9)</a:t>
            </a:r>
          </a:p>
          <a:p>
            <a:endParaRPr/>
          </a:p>
          <a:p>
            <a:r>
              <a:t>Read the graph left to right: sources, staging, marts, with tests hanging off the model they check. The reconciliation test sits on stg_orders — the earliest point where cents and dollars can be confused. In the full project five source branches join at order_items and orders; this slide follows only the order and customer branches. Selection syntax: +customers builds everything customers needs; stg_orders+ rebuilds everything that depends on stg_orders — that is the Demo 2 command.</a:t>
            </a:r>
          </a:p>
          <a:p>
            <a:endParaRPr/>
          </a:p>
          <a:p>
            <a:r>
              <a:t>[Sources]</a:t>
            </a:r>
          </a:p>
          <a:p>
            <a:r>
              <a:t>https://docs.getdbt.com/reference/node-selection/syntax</a:t>
            </a:r>
          </a:p>
          <a:p>
            <a:r>
              <a:t>https://docs.getdbt.com/docs/build/jinja-macros</a:t>
            </a:r>
          </a:p>
          <a:p>
            <a:r>
              <a:t>Theme: user-supplied AANA AI Adoption Roadmap.pptx, visual reference only.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TIME: 22:00–24:00 (shared with slide 12)</a:t>
            </a:r>
          </a:p>
          <a:p>
            <a:endParaRPr/>
          </a:p>
          <a:p>
            <a:r>
              <a:t>Walk the real customers.yml: the description states the grain and the new/returning rule; customer_id gets not_null and unique; customer_type gets accepted_values; the model-level expression_is_true reconciles pretax + tax = spend. The same file feeds the docs site in Demo 3, so a reviewer sees the SELECT, the expectation and the documentation in one pull request.</a:t>
            </a:r>
          </a:p>
          <a:p>
            <a:endParaRPr/>
          </a:p>
          <a:p>
            <a:r>
              <a:t>[Sources]</a:t>
            </a:r>
          </a:p>
          <a:p>
            <a:r>
              <a:t>https://docs.getdbt.com/reference/resource-properties/data-tests</a:t>
            </a:r>
          </a:p>
          <a:p>
            <a:r>
              <a:t>https://github.com/dbt-labs/dbt-utils</a:t>
            </a:r>
          </a:p>
          <a:p>
            <a:r>
              <a:t>Theme: user-supplied AANA AI Adoption Roadmap.pptx, visual reference only.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TIME: 22:00–24:00</a:t>
            </a:r>
          </a:p>
          <a:p>
            <a:endParaRPr dirty="0"/>
          </a:p>
          <a:p>
            <a:r>
              <a:rPr dirty="0"/>
              <a:t>Our demo uses unique, </a:t>
            </a:r>
            <a:r>
              <a:rPr dirty="0" err="1"/>
              <a:t>not_null</a:t>
            </a:r>
            <a:r>
              <a:rPr dirty="0"/>
              <a:t>, </a:t>
            </a:r>
            <a:r>
              <a:rPr dirty="0" err="1"/>
              <a:t>accepted_values</a:t>
            </a:r>
            <a:r>
              <a:rPr dirty="0"/>
              <a:t>, relationships and </a:t>
            </a:r>
            <a:r>
              <a:rPr dirty="0" err="1"/>
              <a:t>dbt_utils.expression_is_true</a:t>
            </a:r>
            <a:r>
              <a:rPr dirty="0"/>
              <a:t>, plus three unit tests from the upstream project. Ask which test would catch a duplicate key and which would catch the cents-versus-dollars slip we cause in Demo 2. Data tests are queries over built data; unit tests use controlled inputs to check model logic. Note the arguments: key — dbt 1.10+ syntax for generic test parameters.</a:t>
            </a:r>
          </a:p>
          <a:p>
            <a:endParaRPr dirty="0"/>
          </a:p>
          <a:p>
            <a:r>
              <a:rPr dirty="0"/>
              <a:t>[Sources]</a:t>
            </a:r>
          </a:p>
          <a:p>
            <a:r>
              <a:rPr dirty="0"/>
              <a:t>https://docs.getdbt.com/docs/build/data-tests</a:t>
            </a:r>
          </a:p>
          <a:p>
            <a:r>
              <a:rPr dirty="0"/>
              <a:t>https://docs.getdbt.com/docs/build/unit-tests</a:t>
            </a:r>
          </a:p>
          <a:p>
            <a:r>
              <a:rPr dirty="0"/>
              <a:t>Theme: user-supplied AANA AI Adoption Roadmap.pptx, visual reference only.</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TIME: 10:00–19:00</a:t>
            </a:r>
          </a:p>
          <a:p>
            <a:endParaRPr dirty="0"/>
          </a:p>
          <a:p>
            <a:r>
              <a:rPr dirty="0"/>
              <a:t>Demo 1 in docs/runbook.md. Fabric Warehouse: .</a:t>
            </a:r>
            <a:r>
              <a:rPr dirty="0" err="1"/>
              <a:t>venv</a:t>
            </a:r>
            <a:r>
              <a:rPr dirty="0"/>
              <a:t>-warehouse, dbt build (default target). The raw tables were seeded before the talk; dbt build touches models and tests only, because seeds are disabled unless </a:t>
            </a:r>
            <a:r>
              <a:rPr dirty="0" err="1"/>
              <a:t>load_source_data</a:t>
            </a:r>
            <a:r>
              <a:rPr dirty="0"/>
              <a:t> is set. Show __</a:t>
            </a:r>
            <a:r>
              <a:rPr dirty="0" err="1"/>
              <a:t>sources.yml</a:t>
            </a:r>
            <a:r>
              <a:rPr dirty="0"/>
              <a:t>, </a:t>
            </a:r>
            <a:r>
              <a:rPr dirty="0" err="1"/>
              <a:t>stg_orders.sql</a:t>
            </a:r>
            <a:r>
              <a:rPr dirty="0"/>
              <a:t> and </a:t>
            </a:r>
            <a:r>
              <a:rPr dirty="0" err="1"/>
              <a:t>customers.yml</a:t>
            </a:r>
            <a:r>
              <a:rPr dirty="0"/>
              <a:t>, then run dbt build after explaining the command (48 nodes, about one to two minutes). Open target/compiled/</a:t>
            </a:r>
            <a:r>
              <a:rPr dirty="0" err="1"/>
              <a:t>jaffle_shop</a:t>
            </a:r>
            <a:r>
              <a:rPr dirty="0"/>
              <a:t>/models/marts/</a:t>
            </a:r>
            <a:r>
              <a:rPr dirty="0" err="1"/>
              <a:t>customers.sql</a:t>
            </a:r>
            <a:r>
              <a:rPr dirty="0"/>
              <a:t> for the resolved names. Query: select </a:t>
            </a:r>
            <a:r>
              <a:rPr dirty="0" err="1"/>
              <a:t>customer_type</a:t>
            </a:r>
            <a:r>
              <a:rPr dirty="0"/>
              <a:t>, count(*), sum(</a:t>
            </a:r>
            <a:r>
              <a:rPr dirty="0" err="1"/>
              <a:t>lifetime_spend</a:t>
            </a:r>
            <a:r>
              <a:rPr dirty="0"/>
              <a:t>) from </a:t>
            </a:r>
            <a:r>
              <a:rPr dirty="0" err="1"/>
              <a:t>jaffle_shop.customers</a:t>
            </a:r>
            <a:r>
              <a:rPr dirty="0"/>
              <a:t> group by </a:t>
            </a:r>
            <a:r>
              <a:rPr dirty="0" err="1"/>
              <a:t>customer_type</a:t>
            </a:r>
            <a:r>
              <a:rPr dirty="0"/>
              <a:t> — expected new 6 / 113.48, returning 929 / 671,311.89, total 935 / 671,425.37. Ask the audience why only 6 customers are 'new' (a year of data, regulars). Keep code readable; spend no live time installing tools.</a:t>
            </a:r>
          </a:p>
          <a:p>
            <a:endParaRPr dirty="0"/>
          </a:p>
          <a:p>
            <a:r>
              <a:rPr dirty="0"/>
              <a:t>[Sources]</a:t>
            </a:r>
          </a:p>
          <a:p>
            <a:r>
              <a:rPr dirty="0"/>
              <a:t>https://github.com/aboerger/getting-started-with-dbt (docs/runbook.md)</a:t>
            </a:r>
          </a:p>
          <a:p>
            <a:r>
              <a:rPr dirty="0"/>
              <a:t>Theme: user-supplied AANA AI Adoption Roadmap.pptx, visual reference only.</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TIME: 24:00–33:00</a:t>
            </a:r>
          </a:p>
          <a:p>
            <a:endParaRPr dirty="0"/>
          </a:p>
          <a:p>
            <a:r>
              <a:rPr dirty="0"/>
              <a:t>Demo 2. Ask for a prediction first: tax in cents makes </a:t>
            </a:r>
            <a:r>
              <a:rPr dirty="0" err="1"/>
              <a:t>lifetime_spend</a:t>
            </a:r>
            <a:r>
              <a:rPr dirty="0"/>
              <a:t> several times too large and no single row looks wrong. Run tools\scenario.ps1 break (it edits one line of </a:t>
            </a:r>
            <a:r>
              <a:rPr dirty="0" err="1"/>
              <a:t>stg_orders.sql</a:t>
            </a:r>
            <a:r>
              <a:rPr dirty="0"/>
              <a:t> so </a:t>
            </a:r>
            <a:r>
              <a:rPr dirty="0" err="1"/>
              <a:t>tax_paid</a:t>
            </a:r>
            <a:r>
              <a:rPr dirty="0"/>
              <a:t> no longer goes through </a:t>
            </a:r>
            <a:r>
              <a:rPr dirty="0" err="1"/>
              <a:t>cents_to_dollars</a:t>
            </a:r>
            <a:r>
              <a:rPr dirty="0"/>
              <a:t>), show the diff in Git, then dbt build --select </a:t>
            </a:r>
            <a:r>
              <a:rPr dirty="0" err="1"/>
              <a:t>stg_orders</a:t>
            </a:r>
            <a:r>
              <a:rPr dirty="0"/>
              <a:t>+. The reconciliation test </a:t>
            </a:r>
            <a:r>
              <a:rPr dirty="0" err="1"/>
              <a:t>order_total</a:t>
            </a:r>
            <a:r>
              <a:rPr dirty="0"/>
              <a:t> - </a:t>
            </a:r>
            <a:r>
              <a:rPr dirty="0" err="1"/>
              <a:t>tax_paid</a:t>
            </a:r>
            <a:r>
              <a:rPr dirty="0"/>
              <a:t> = subtotal fails for every row; the three downstream marts, their tests and unit tests are skipped; the previously built tables still exist and still hold correct numbers. Open the compiled test SQL under target/compiled and </a:t>
            </a:r>
            <a:r>
              <a:rPr dirty="0" err="1"/>
              <a:t>run_results.json</a:t>
            </a:r>
            <a:r>
              <a:rPr dirty="0"/>
              <a:t>. Repair with tools\scenario.ps1 reset (a git checkout), rebuild, see the green recovery. If time remains, break </a:t>
            </a:r>
            <a:r>
              <a:rPr dirty="0" err="1"/>
              <a:t>accepted_values</a:t>
            </a:r>
            <a:r>
              <a:rPr dirty="0"/>
              <a:t> instead by returning 'Returning' from </a:t>
            </a:r>
            <a:r>
              <a:rPr dirty="0" err="1"/>
              <a:t>customers.sql</a:t>
            </a:r>
            <a:r>
              <a:rPr dirty="0"/>
              <a:t>; do not sacrifice the recovery step.</a:t>
            </a:r>
          </a:p>
          <a:p>
            <a:endParaRPr dirty="0"/>
          </a:p>
          <a:p>
            <a:r>
              <a:rPr dirty="0"/>
              <a:t>[Sources]</a:t>
            </a:r>
          </a:p>
          <a:p>
            <a:r>
              <a:rPr dirty="0"/>
              <a:t>https://github.com/aboerger/getting-started-with-dbt (tools/scenario.ps1, docs/runbook.md)</a:t>
            </a:r>
          </a:p>
          <a:p>
            <a:r>
              <a:rPr dirty="0"/>
              <a:t>Theme: user-supplied AANA AI Adoption Roadmap.pptx, visual reference only.</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TIME: 33:00–35:00</a:t>
            </a:r>
          </a:p>
          <a:p>
            <a:endParaRPr dirty="0"/>
          </a:p>
          <a:p>
            <a:r>
              <a:rPr dirty="0"/>
              <a:t>A successful build is not proof that every business rule is correct. Data tests are not database constraints and do not prevent later writes. dbt build is not a whole-project transaction or a universal publish gate. To hide invalid data from readers, use isolated build targets and a deliberate promotion mechanism. The failure demo is in a sandbox.</a:t>
            </a:r>
          </a:p>
          <a:p>
            <a:endParaRPr dirty="0"/>
          </a:p>
          <a:p>
            <a:r>
              <a:rPr dirty="0"/>
              <a:t>[Sources]</a:t>
            </a:r>
          </a:p>
          <a:p>
            <a:r>
              <a:rPr dirty="0"/>
              <a:t>https://docs.getdbt.com/docs/build/data-tests</a:t>
            </a:r>
          </a:p>
          <a:p>
            <a:r>
              <a:rPr dirty="0"/>
              <a:t>https://docs.getdbt.com/reference/commands/build</a:t>
            </a:r>
          </a:p>
          <a:p>
            <a:r>
              <a:rPr dirty="0"/>
              <a:t>Theme: user-supplied AANA AI Adoption Roadmap.pptx, visual reference only.</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TIME: 35:00–39:00</a:t>
            </a:r>
          </a:p>
          <a:p>
            <a:endParaRPr dirty="0"/>
          </a:p>
          <a:p>
            <a:r>
              <a:rPr dirty="0"/>
              <a:t>Demo 3. Open the locally generated dbt docs (generate them before the talk: dbt docs generate; dbt docs serve --port 8080), find customers, read the description and columns, open the lineage graph and expand upstream: five sources, five staging views, </a:t>
            </a:r>
            <a:r>
              <a:rPr dirty="0" err="1"/>
              <a:t>order_items</a:t>
            </a:r>
            <a:r>
              <a:rPr dirty="0"/>
              <a:t>, orders. Then show dbt ls --select +customers and </a:t>
            </a:r>
            <a:r>
              <a:rPr dirty="0" err="1"/>
              <a:t>stg_orders</a:t>
            </a:r>
            <a:r>
              <a:rPr dirty="0"/>
              <a:t>+. Ask which model must change if the definition of a returning customer changes (</a:t>
            </a:r>
            <a:r>
              <a:rPr dirty="0" err="1"/>
              <a:t>customers.sql</a:t>
            </a:r>
            <a:r>
              <a:rPr dirty="0"/>
              <a:t> only, and its YAML). Do not regenerate docs on a slow connection if the rehearsed copy is already open. Show real generated docs, not a screenshot.</a:t>
            </a:r>
          </a:p>
          <a:p>
            <a:endParaRPr dirty="0"/>
          </a:p>
          <a:p>
            <a:r>
              <a:rPr dirty="0"/>
              <a:t>[Sources]</a:t>
            </a:r>
          </a:p>
          <a:p>
            <a:r>
              <a:rPr dirty="0"/>
              <a:t>https://docs.getdbt.com/reference/commands/cmd-docs</a:t>
            </a:r>
          </a:p>
          <a:p>
            <a:r>
              <a:rPr dirty="0"/>
              <a:t>https://docs.getdbt.com/reference/node-selection/syntax</a:t>
            </a:r>
          </a:p>
          <a:p>
            <a:r>
              <a:rPr dirty="0"/>
              <a:t>Theme: user-supplied AANA AI Adoption Roadmap.pptx, visual reference only.</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TIME: 42:00–44:00</a:t>
            </a:r>
          </a:p>
          <a:p>
            <a:endParaRPr dirty="0"/>
          </a:p>
          <a:p>
            <a:r>
              <a:rPr dirty="0"/>
              <a:t>Keep platform branding subordinate to the adapter mapping. The Fabric adapters are Microsoft-maintained; dbt-</a:t>
            </a:r>
            <a:r>
              <a:rPr dirty="0" err="1"/>
              <a:t>sqlserver</a:t>
            </a:r>
            <a:r>
              <a:rPr dirty="0"/>
              <a:t> is community-maintained (dbt-</a:t>
            </a:r>
            <a:r>
              <a:rPr dirty="0" err="1"/>
              <a:t>msft</a:t>
            </a:r>
            <a:r>
              <a:rPr dirty="0"/>
              <a:t>). dbt-fabric 1.10+ uses the </a:t>
            </a:r>
            <a:r>
              <a:rPr dirty="0" err="1"/>
              <a:t>mssql</a:t>
            </a:r>
            <a:r>
              <a:rPr dirty="0"/>
              <a:t>-python driver, so no ODBC driver install; dbt-</a:t>
            </a:r>
            <a:r>
              <a:rPr dirty="0" err="1"/>
              <a:t>sqlserver</a:t>
            </a:r>
            <a:r>
              <a:rPr dirty="0"/>
              <a:t> still defaults to </a:t>
            </a:r>
            <a:r>
              <a:rPr dirty="0" err="1"/>
              <a:t>pyodbc</a:t>
            </a:r>
            <a:r>
              <a:rPr dirty="0"/>
              <a:t> and ODBC Driver 18. Fabric SQL database is Azure SQL technology: dbt-</a:t>
            </a:r>
            <a:r>
              <a:rPr dirty="0" err="1"/>
              <a:t>sqlserver</a:t>
            </a:r>
            <a:r>
              <a:rPr dirty="0"/>
              <a:t> connects and builds our project in rehearsal, but the adapter pages do not certify it — say so. This training uses Core; availability in hosted dbt or Fusion is a separate question. Do not use the Lakehouse SQL analytics endpoint for table-building dbt workloads.</a:t>
            </a:r>
          </a:p>
          <a:p>
            <a:endParaRPr dirty="0"/>
          </a:p>
          <a:p>
            <a:r>
              <a:rPr dirty="0"/>
              <a:t>[Sources]</a:t>
            </a:r>
          </a:p>
          <a:p>
            <a:r>
              <a:rPr dirty="0"/>
              <a:t>https://docs.getdbt.com/docs/core/connect-data-platform/fabric-setup</a:t>
            </a:r>
          </a:p>
          <a:p>
            <a:r>
              <a:rPr dirty="0"/>
              <a:t>https://docs.getdbt.com/docs/core/connect-data-platform/fabricspark-setup</a:t>
            </a:r>
          </a:p>
          <a:p>
            <a:r>
              <a:rPr dirty="0"/>
              <a:t>https://docs.getdbt.com/docs/core/connect-data-platform/mssql-setup</a:t>
            </a:r>
          </a:p>
          <a:p>
            <a:r>
              <a:rPr dirty="0"/>
              <a:t>https://pypi.org/project/dbt-fabric/</a:t>
            </a:r>
          </a:p>
          <a:p>
            <a:r>
              <a:rPr dirty="0"/>
              <a:t>https://pypi.org/project/dbt-fabricspark/</a:t>
            </a:r>
          </a:p>
          <a:p>
            <a:r>
              <a:rPr dirty="0"/>
              <a:t>https://pypi.org/project/dbt-sqlserver/</a:t>
            </a:r>
          </a:p>
          <a:p>
            <a:r>
              <a:rPr dirty="0"/>
              <a:t>Theme: user-supplied AANA AI Adoption Roadmap.pptx, visual reference only.</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TIME: 39:00–42:00</a:t>
            </a:r>
          </a:p>
          <a:p>
            <a:endParaRPr/>
          </a:p>
          <a:p>
            <a:r>
              <a:t>The portability claim is workflow and design reuse, not arbitrary SQL translation. The upstream Jaffle Shop used Postgres habits (group by 1, bare boolean columns); porting it to T-SQL took explicit group-by columns and two tiny dispatch macros, to_bool and is_true, next to the upstream cents_to_dollars. Show cents_to_dollars.sql: one macro, one default body, one fabric/sqlserver body. The raw tables are loaded into each engine independently; changing targets does not transfer data. Packages and macros also have support boundaries.</a:t>
            </a:r>
          </a:p>
          <a:p>
            <a:endParaRPr/>
          </a:p>
          <a:p>
            <a:r>
              <a:t>[Sources]</a:t>
            </a:r>
          </a:p>
          <a:p>
            <a:r>
              <a:t>https://docs.getdbt.com/reference/dbt-jinja-functions/dispatch</a:t>
            </a:r>
          </a:p>
          <a:p>
            <a:r>
              <a:t>https://docs.getdbt.com/reference/dbt-jinja-functions/cross-database-macros</a:t>
            </a:r>
          </a:p>
          <a:p>
            <a:r>
              <a:t>Theme: user-supplied AANA AI Adoption Roadmap.pptx, visual reference only.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TIME: 44:00–49:00</a:t>
            </a:r>
          </a:p>
          <a:p>
            <a:endParaRPr dirty="0"/>
          </a:p>
          <a:p>
            <a:r>
              <a:rPr dirty="0"/>
              <a:t>Demo 4. Switch to .</a:t>
            </a:r>
            <a:r>
              <a:rPr dirty="0" err="1"/>
              <a:t>venv</a:t>
            </a:r>
            <a:r>
              <a:rPr dirty="0"/>
              <a:t>-lakehouse and run dbt build --select customers --target lakehouse (measured 1 min 57 s). Do not run the full project live: every Spark statement costs ~20 s over Livy, so 48 nodes take 7.5 min even with 4 threads - run it before the talk and use that as the recording. The profile's lakehouse output points at </a:t>
            </a:r>
            <a:r>
              <a:rPr dirty="0" err="1"/>
              <a:t>LH_Jaffle_Shop</a:t>
            </a:r>
            <a:r>
              <a:rPr dirty="0"/>
              <a:t> (schema-enabled, schema </a:t>
            </a:r>
            <a:r>
              <a:rPr dirty="0" err="1"/>
              <a:t>jaffle_shop</a:t>
            </a:r>
            <a:r>
              <a:rPr dirty="0"/>
              <a:t>). Show the same model files, then the compiled </a:t>
            </a:r>
            <a:r>
              <a:rPr dirty="0" err="1"/>
              <a:t>customers.sql</a:t>
            </a:r>
            <a:r>
              <a:rPr dirty="0"/>
              <a:t> side by side with the Warehouse version: backticks vs brackets, coalesce(..., false) vs cast(... as bit), decimal vs numeric. Query the Delta table in a notebook or the SQL endpoint: 6 new, 929 returning, total 671,425.37. Use the recording if the session is not ready within 20 seconds. Be explicit that the raw tables were loaded into the Lakehouse separately (CSV upload, Load to table) and that the SQL was designed to be compatible.</a:t>
            </a:r>
          </a:p>
          <a:p>
            <a:endParaRPr dirty="0"/>
          </a:p>
          <a:p>
            <a:r>
              <a:rPr dirty="0"/>
              <a:t>[Sources]</a:t>
            </a:r>
          </a:p>
          <a:p>
            <a:r>
              <a:rPr dirty="0"/>
              <a:t>https://docs.getdbt.com/docs/core/connect-data-platform/fabricspark-setup</a:t>
            </a:r>
          </a:p>
          <a:p>
            <a:r>
              <a:rPr dirty="0"/>
              <a:t>https://github.com/aboerger/getting-started-with-dbt (</a:t>
            </a:r>
            <a:r>
              <a:rPr dirty="0" err="1"/>
              <a:t>jaffle_shop</a:t>
            </a:r>
            <a:r>
              <a:rPr dirty="0"/>
              <a:t>/</a:t>
            </a:r>
            <a:r>
              <a:rPr dirty="0" err="1"/>
              <a:t>profiles.yml</a:t>
            </a:r>
            <a:r>
              <a:rPr dirty="0"/>
              <a:t>)</a:t>
            </a:r>
          </a:p>
          <a:p>
            <a:r>
              <a:rPr dirty="0"/>
              <a:t>Theme: user-supplied AANA AI Adoption Roadmap.pptx, visual reference only.</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TIME: 49:00–51:00</a:t>
            </a:r>
          </a:p>
          <a:p>
            <a:endParaRPr dirty="0"/>
          </a:p>
          <a:p>
            <a:r>
              <a:rPr dirty="0"/>
              <a:t>For the team, connect the example to dbt over curated Lakehouse data. Use type </a:t>
            </a:r>
            <a:r>
              <a:rPr dirty="0" err="1"/>
              <a:t>fabricspark</a:t>
            </a:r>
            <a:r>
              <a:rPr dirty="0"/>
              <a:t> and method </a:t>
            </a:r>
            <a:r>
              <a:rPr dirty="0" err="1"/>
              <a:t>livy</a:t>
            </a:r>
            <a:r>
              <a:rPr dirty="0"/>
              <a:t> for the demonstrated path. Schema-enabled profile uses lakehouse name plus a separate schema; schema-less profiles use the lakehouse name as schema. Newer releases expose more connection modes; those are version-specific extensions. Do not promise starter-pool hits or fixed startup time.</a:t>
            </a:r>
          </a:p>
          <a:p>
            <a:endParaRPr dirty="0"/>
          </a:p>
          <a:p>
            <a:r>
              <a:rPr dirty="0"/>
              <a:t>[Sources]</a:t>
            </a:r>
          </a:p>
          <a:p>
            <a:r>
              <a:rPr dirty="0"/>
              <a:t>https://docs.getdbt.com/docs/local/connect-data-platform/fabricspark-setup</a:t>
            </a:r>
          </a:p>
          <a:p>
            <a:r>
              <a:rPr dirty="0"/>
              <a:t>https://github.com/microsoft/dbt-fabricspark/blob/main/README.md</a:t>
            </a:r>
          </a:p>
          <a:p>
            <a:r>
              <a:rPr dirty="0"/>
              <a:t>https://pypi.org/project/dbt-fabricspark/</a:t>
            </a:r>
          </a:p>
          <a:p>
            <a:r>
              <a:rPr dirty="0"/>
              <a:t>Theme: user-supplied AANA AI Adoption Roadmap.pptx, visual reference only.</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TIME: 49:00–51:00</a:t>
            </a:r>
          </a:p>
          <a:p>
            <a:endParaRPr dirty="0"/>
          </a:p>
          <a:p>
            <a:r>
              <a:rPr dirty="0"/>
              <a:t>For the team, connect the example to dbt over curated Lakehouse data. Use type </a:t>
            </a:r>
            <a:r>
              <a:rPr dirty="0" err="1"/>
              <a:t>fabricspark</a:t>
            </a:r>
            <a:r>
              <a:rPr dirty="0"/>
              <a:t> and method </a:t>
            </a:r>
            <a:r>
              <a:rPr dirty="0" err="1"/>
              <a:t>livy</a:t>
            </a:r>
            <a:r>
              <a:rPr dirty="0"/>
              <a:t> for the demonstrated path. Schema-enabled profile uses lakehouse name plus a separate schema; schema-less profiles use the lakehouse name as schema. Newer releases expose more connection modes; those are version-specific extensions. Do not promise starter-pool hits or fixed startup time.</a:t>
            </a:r>
          </a:p>
          <a:p>
            <a:endParaRPr dirty="0"/>
          </a:p>
          <a:p>
            <a:r>
              <a:rPr dirty="0"/>
              <a:t>[Sources]</a:t>
            </a:r>
          </a:p>
          <a:p>
            <a:r>
              <a:rPr dirty="0"/>
              <a:t>https://docs.getdbt.com/docs/local/connect-data-platform/fabricspark-setup</a:t>
            </a:r>
          </a:p>
          <a:p>
            <a:r>
              <a:rPr dirty="0"/>
              <a:t>https://github.com/microsoft/dbt-fabricspark/blob/main/README.md</a:t>
            </a:r>
          </a:p>
          <a:p>
            <a:r>
              <a:rPr dirty="0"/>
              <a:t>https://pypi.org/project/dbt-fabricspark/</a:t>
            </a:r>
          </a:p>
          <a:p>
            <a:r>
              <a:rPr dirty="0"/>
              <a:t>Theme: user-supplied AANA AI Adoption Roadmap.pptx, visual reference only.</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TIME: optional, ~4 minutes taken from the discussion slot</a:t>
            </a:r>
          </a:p>
          <a:p>
            <a:endParaRPr dirty="0"/>
          </a:p>
          <a:p>
            <a:r>
              <a:rPr dirty="0"/>
              <a:t>Demo 5. Fabric SQL database is Azure SQL Database technology inside Fabric; dbt-</a:t>
            </a:r>
            <a:r>
              <a:rPr dirty="0" err="1"/>
              <a:t>sqlserver</a:t>
            </a:r>
            <a:r>
              <a:rPr dirty="0"/>
              <a:t> connects with Entra (CLI) authentication. Switch to .</a:t>
            </a:r>
            <a:r>
              <a:rPr dirty="0" err="1"/>
              <a:t>venv-sqldb</a:t>
            </a:r>
            <a:r>
              <a:rPr dirty="0"/>
              <a:t>, run dbt debug --target </a:t>
            </a:r>
            <a:r>
              <a:rPr dirty="0" err="1"/>
              <a:t>sqldb</a:t>
            </a:r>
            <a:r>
              <a:rPr dirty="0"/>
              <a:t>, then dbt build --target </a:t>
            </a:r>
            <a:r>
              <a:rPr dirty="0" err="1"/>
              <a:t>sqldb</a:t>
            </a:r>
            <a:r>
              <a:rPr dirty="0"/>
              <a:t>: the same 935 customers, 61,948 orders and 671,425.37 total. Be explicit that the adapter targets Azure SQL and is not certified for Fabric SQL database — evaluate, don't promise. Where it would run for real: the Fabric dbt job's Azure SQL adapter with a service principal, or the Azure DevOps pipeline. If skipped, the story still stands with two engines.</a:t>
            </a:r>
          </a:p>
          <a:p>
            <a:endParaRPr dirty="0"/>
          </a:p>
          <a:p>
            <a:r>
              <a:rPr dirty="0"/>
              <a:t>[Sources]</a:t>
            </a:r>
          </a:p>
          <a:p>
            <a:r>
              <a:rPr dirty="0"/>
              <a:t>https://docs.getdbt.com/docs/core/connect-data-platform/mssql-setup</a:t>
            </a:r>
          </a:p>
          <a:p>
            <a:r>
              <a:rPr dirty="0"/>
              <a:t>https://learn.microsoft.com/fabric/database/sql/overview</a:t>
            </a:r>
          </a:p>
          <a:p>
            <a:r>
              <a:rPr dirty="0"/>
              <a:t>Theme: user-supplied AANA AI Adoption Roadmap.pptx, visual reference only.</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TIME: 51:00–53:00</a:t>
            </a:r>
          </a:p>
          <a:p>
            <a:endParaRPr dirty="0"/>
          </a:p>
          <a:p>
            <a:r>
              <a:rPr dirty="0"/>
              <a:t>Examples: a Microsoft-hosted Azure DevOps agent (Fabric is public; self-hosted only for on-prem targets); the Fabric dbt job pulling the same GitHub folder; </a:t>
            </a:r>
            <a:r>
              <a:rPr dirty="0" err="1"/>
              <a:t>NB_dbt_Runner</a:t>
            </a:r>
            <a:r>
              <a:rPr dirty="0"/>
              <a:t>, a Python notebook that runs the same project against any of the three targets; an Airflow task or container where available. These are alternative hosts, not four more live demos — show a finished pipeline run and the notebook output if time allows. Ingestion should complete before transformation; downstream refresh should depend on successful validation. Archive manifest and </a:t>
            </a:r>
            <a:r>
              <a:rPr dirty="0" err="1"/>
              <a:t>run_results</a:t>
            </a:r>
            <a:r>
              <a:rPr dirty="0"/>
              <a:t> per run. A Git merge is not itself a data refresh.</a:t>
            </a:r>
          </a:p>
          <a:p>
            <a:endParaRPr dirty="0"/>
          </a:p>
          <a:p>
            <a:r>
              <a:rPr dirty="0"/>
              <a:t>[Sources]</a:t>
            </a:r>
          </a:p>
          <a:p>
            <a:r>
              <a:rPr dirty="0"/>
              <a:t>https://docs.getdbt.com/docs/deploy/deployments</a:t>
            </a:r>
          </a:p>
          <a:p>
            <a:r>
              <a:rPr dirty="0"/>
              <a:t>https://docs.getdbt.com/reference/artifacts/dbt-artifacts</a:t>
            </a:r>
          </a:p>
          <a:p>
            <a:r>
              <a:rPr dirty="0"/>
              <a:t>https://github.com/aboerger/getting-started-with-dbt (azure-</a:t>
            </a:r>
            <a:r>
              <a:rPr dirty="0" err="1"/>
              <a:t>pipelines.yml</a:t>
            </a:r>
            <a:r>
              <a:rPr dirty="0"/>
              <a:t>, workspace/</a:t>
            </a:r>
            <a:r>
              <a:rPr dirty="0" err="1"/>
              <a:t>NB_dbt_Runner.Notebook</a:t>
            </a:r>
            <a:r>
              <a:rPr dirty="0"/>
              <a:t>)</a:t>
            </a:r>
          </a:p>
          <a:p>
            <a:r>
              <a:rPr dirty="0"/>
              <a:t>Theme: user-supplied AANA AI Adoption Roadmap.pptx, visual reference only.</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TIME: 53:00 (one minute, or appendix)</a:t>
            </a:r>
          </a:p>
          <a:p>
            <a:endParaRPr dirty="0"/>
          </a:p>
          <a:p>
            <a:r>
              <a:rPr dirty="0"/>
              <a:t>Facts checked September 2026 on learn.microsoft.com: runtime v1.0 is dbt Core 1.11 with dbt-fabric 1.10.0, dbt-</a:t>
            </a:r>
            <a:r>
              <a:rPr dirty="0" err="1"/>
              <a:t>fabricspark</a:t>
            </a:r>
            <a:r>
              <a:rPr dirty="0"/>
              <a:t> 1.12.2, dbt-</a:t>
            </a:r>
            <a:r>
              <a:rPr dirty="0" err="1"/>
              <a:t>sqlserver</a:t>
            </a:r>
            <a:r>
              <a:rPr dirty="0"/>
              <a:t> 1.9.1, dbt-</a:t>
            </a:r>
            <a:r>
              <a:rPr dirty="0" err="1"/>
              <a:t>postgres</a:t>
            </a:r>
            <a:r>
              <a:rPr dirty="0"/>
              <a:t> and dbt-snowflake; Lakehouse support and a Data Factory dbt job activity exist; projects can be uploaded, started from the </a:t>
            </a:r>
            <a:r>
              <a:rPr dirty="0" err="1"/>
              <a:t>Jaffle</a:t>
            </a:r>
            <a:r>
              <a:rPr dirty="0"/>
              <a:t> Shop sample, or pulled from a GitHub repository (classic PAT, branch, read-only in the UI). No build caching, no state/defer, docs not rendered in Fabric. Our three </a:t>
            </a:r>
            <a:r>
              <a:rPr dirty="0" err="1"/>
              <a:t>DBT_Jaffle_Shop</a:t>
            </a:r>
            <a:r>
              <a:rPr dirty="0"/>
              <a:t>_* jobs pull the </a:t>
            </a:r>
            <a:r>
              <a:rPr dirty="0" err="1"/>
              <a:t>jaffle_shop</a:t>
            </a:r>
            <a:r>
              <a:rPr dirty="0"/>
              <a:t> folder of this repository on every run. Preview features move — re-check before presenting.</a:t>
            </a:r>
          </a:p>
          <a:p>
            <a:endParaRPr dirty="0"/>
          </a:p>
          <a:p>
            <a:r>
              <a:rPr dirty="0"/>
              <a:t>[Sources]</a:t>
            </a:r>
          </a:p>
          <a:p>
            <a:r>
              <a:rPr dirty="0"/>
              <a:t>https://learn.microsoft.com/fabric/data-factory/dbt-job-overview</a:t>
            </a:r>
          </a:p>
          <a:p>
            <a:r>
              <a:rPr dirty="0"/>
              <a:t>https://learn.microsoft.com/fabric/data-factory/dbt-job-configure</a:t>
            </a:r>
          </a:p>
          <a:p>
            <a:r>
              <a:rPr dirty="0"/>
              <a:t>https://learn.microsoft.com/fabric/data-factory/dbt-run-github</a:t>
            </a:r>
          </a:p>
          <a:p>
            <a:r>
              <a:rPr dirty="0"/>
              <a:t>https://learn.microsoft.com/fabric/data-factory/dbt-job-activity</a:t>
            </a:r>
          </a:p>
          <a:p>
            <a:r>
              <a:rPr dirty="0"/>
              <a:t>Theme: user-supplied AANA AI Adoption Roadmap.pptx, visual reference only.</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TIME: 53:00–55:00</a:t>
            </a:r>
          </a:p>
          <a:p>
            <a:endParaRPr/>
          </a:p>
          <a:p>
            <a:r>
              <a:t>Return to the opening: one shared workflow helps the next change feel less risky. You do not have to replace every notebook or stored procedure. Ask attendees to choose one painful transformation rather than propose a platform migration. For the internal team, nominate an existing Gold mart as a pilot. For Columbus, choose the backend they already operate.</a:t>
            </a:r>
          </a:p>
          <a:p>
            <a:endParaRPr/>
          </a:p>
          <a:p>
            <a:r>
              <a:t>[Sources]</a:t>
            </a:r>
          </a:p>
          <a:p>
            <a:r>
              <a:t>Original teaching scenario and synthetic demo data.</a:t>
            </a:r>
          </a:p>
          <a:p>
            <a:r>
              <a:t>Theme: user-supplied AANA AI Adoption Roadmap.pptx, visual reference only.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TIME: Appendix</a:t>
            </a:r>
          </a:p>
          <a:p>
            <a:endParaRPr dirty="0"/>
          </a:p>
          <a:p>
            <a:r>
              <a:rPr dirty="0"/>
              <a:t>Optional directions after the first successful project. A dbt snapshot is not a backup and does not capture changes that happen and revert between observations. Incremental design requires correctness before speed. Selective state-based CI and defer are follow-up topics, not prerequisites for today.</a:t>
            </a:r>
          </a:p>
          <a:p>
            <a:endParaRPr dirty="0"/>
          </a:p>
          <a:p>
            <a:r>
              <a:rPr dirty="0"/>
              <a:t>[Sources]</a:t>
            </a:r>
          </a:p>
          <a:p>
            <a:r>
              <a:rPr dirty="0"/>
              <a:t>https://docs.getdbt.com/docs/build/unit-tests</a:t>
            </a:r>
          </a:p>
          <a:p>
            <a:r>
              <a:rPr dirty="0"/>
              <a:t>https://docs.getdbt.com/docs/build/jinja-macros</a:t>
            </a:r>
          </a:p>
          <a:p>
            <a:r>
              <a:rPr dirty="0"/>
              <a:t>https://docs.getdbt.com/docs/build/incremental-models</a:t>
            </a:r>
          </a:p>
          <a:p>
            <a:r>
              <a:rPr dirty="0"/>
              <a:t>https://docs.getdbt.com/docs/build/snapshots</a:t>
            </a:r>
          </a:p>
          <a:p>
            <a:r>
              <a:rPr dirty="0"/>
              <a:t>Theme: user-supplied AANA AI Adoption Roadmap.pptx, visual reference only.</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TIME: 55:00–60:00</a:t>
            </a:r>
          </a:p>
          <a:p>
            <a:endParaRPr dirty="0"/>
          </a:p>
          <a:p>
            <a:r>
              <a:rPr dirty="0"/>
              <a:t>Protect five minutes for questions. If the room is quiet, ask: Where does the dbt process run? Does ref copy data between systems? What remains after a failing build? What would you test first? Answer: on a client or runner; no; existing objects can remain; choose an assertion tied to the grain or business rule.</a:t>
            </a:r>
          </a:p>
          <a:p>
            <a:endParaRPr dirty="0"/>
          </a:p>
          <a:p>
            <a:r>
              <a:rPr dirty="0"/>
              <a:t>[Sources]</a:t>
            </a:r>
          </a:p>
          <a:p>
            <a:r>
              <a:rPr dirty="0"/>
              <a:t>Original teaching scenario and synthetic demo data.</a:t>
            </a:r>
          </a:p>
          <a:p>
            <a:r>
              <a:rPr dirty="0"/>
              <a:t>Theme: user-supplied AANA AI Adoption Roadmap.pptx, visual reference only.</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TIME: Appendix</a:t>
            </a:r>
          </a:p>
          <a:p>
            <a:endParaRPr/>
          </a:p>
          <a:p>
            <a:r>
              <a:t>Clickable full references are in the instructor guide. Sources for claims throughout the deck are included in speaker notes. The demo runbook contains project setup, expected outputs and recovery steps.</a:t>
            </a:r>
          </a:p>
          <a:p>
            <a:endParaRPr/>
          </a:p>
          <a:p>
            <a:r>
              <a:t>[Sources]</a:t>
            </a:r>
          </a:p>
          <a:p>
            <a:r>
              <a:t>https://docs.getdbt.com/docs/introduction</a:t>
            </a:r>
          </a:p>
          <a:p>
            <a:r>
              <a:t>https://docs.getdbt.com/docs/build/sql-models</a:t>
            </a:r>
          </a:p>
          <a:p>
            <a:r>
              <a:t>https://docs.getdbt.com/docs/build/data-tests</a:t>
            </a:r>
          </a:p>
          <a:p>
            <a:r>
              <a:t>https://docs.getdbt.com/docs/local/connect-data-platform/mssql-setup</a:t>
            </a:r>
          </a:p>
          <a:p>
            <a:r>
              <a:t>https://github.com/microsoft/dbt-fabricspark/blob/main/README.md</a:t>
            </a:r>
          </a:p>
          <a:p>
            <a:r>
              <a:t>Theme: user-supplied AANA AI Adoption Roadmap.pptx, visual reference only.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12" name="Picture 12"/>
          <p:cNvPicPr>
            <a:picLocks noChangeAspect="1"/>
          </p:cNvPicPr>
          <p:nvPr/>
        </p:nvPicPr>
        <p:blipFill>
          <a:blip r:embed="rId2"/>
          <a:stretch>
            <a:fillRect/>
          </a:stretch>
        </p:blipFill>
        <p:spPr>
          <a:xfrm>
            <a:off x="14950254" y="8719163"/>
            <a:ext cx="3337746" cy="1570704"/>
          </a:xfrm>
          <a:prstGeom prst="rect">
            <a:avLst/>
          </a:prstGeom>
        </p:spPr>
      </p:pic>
      <p:sp>
        <p:nvSpPr>
          <p:cNvPr id="7" name="Flowchart: Manual Input 6">
            <a:extLst>
              <a:ext uri="{FF2B5EF4-FFF2-40B4-BE49-F238E27FC236}">
                <a16:creationId xmlns:a16="http://schemas.microsoft.com/office/drawing/2014/main" id="{3B689832-1BE6-455B-9143-C25E691CC452}"/>
              </a:ext>
            </a:extLst>
          </p:cNvPr>
          <p:cNvSpPr>
            <a:spLocks noGrp="1"/>
          </p:cNvSpPr>
          <p:nvPr/>
        </p:nvSpPr>
        <p:spPr>
          <a:xfrm rot="10800000">
            <a:off x="154860" y="176980"/>
            <a:ext cx="17965502" cy="7549700"/>
          </a:xfrm>
          <a:prstGeom prst="flowChartManualInpu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700"/>
          </a:p>
        </p:txBody>
      </p:sp>
      <p:sp>
        <p:nvSpPr>
          <p:cNvPr id="2" name="Title 1">
            <a:extLst>
              <a:ext uri="{FF2B5EF4-FFF2-40B4-BE49-F238E27FC236}">
                <a16:creationId xmlns:a16="http://schemas.microsoft.com/office/drawing/2014/main" id="{8C32F236-F7CF-4D11-A9B2-5193ED350E45}"/>
              </a:ext>
            </a:extLst>
          </p:cNvPr>
          <p:cNvSpPr>
            <a:spLocks noGrp="1"/>
          </p:cNvSpPr>
          <p:nvPr>
            <p:ph type="ctrTitle"/>
          </p:nvPr>
        </p:nvSpPr>
        <p:spPr>
          <a:xfrm>
            <a:off x="515427" y="659507"/>
            <a:ext cx="16515275" cy="1579106"/>
          </a:xfrm>
          <a:prstGeom prst="rect">
            <a:avLst/>
          </a:prstGeom>
        </p:spPr>
        <p:txBody>
          <a:bodyPr anchor="ctr">
            <a:normAutofit/>
          </a:bodyPr>
          <a:lstStyle>
            <a:lvl1pPr algn="l">
              <a:buNone/>
              <a:defRPr sz="6601" b="1">
                <a:solidFill>
                  <a:schemeClr val="bg1"/>
                </a:solidFill>
              </a:defRPr>
            </a:lvl1pPr>
          </a:lstStyle>
          <a:p>
            <a:r>
              <a:t>Click to edit Master title style</a:t>
            </a:r>
          </a:p>
        </p:txBody>
      </p:sp>
      <p:sp>
        <p:nvSpPr>
          <p:cNvPr id="3" name="Subtitle 2">
            <a:extLst>
              <a:ext uri="{FF2B5EF4-FFF2-40B4-BE49-F238E27FC236}">
                <a16:creationId xmlns:a16="http://schemas.microsoft.com/office/drawing/2014/main" id="{F97B5331-17B4-42D5-B235-ACA210666A8D}"/>
              </a:ext>
            </a:extLst>
          </p:cNvPr>
          <p:cNvSpPr>
            <a:spLocks noGrp="1"/>
          </p:cNvSpPr>
          <p:nvPr>
            <p:ph type="subTitle" idx="1"/>
          </p:nvPr>
        </p:nvSpPr>
        <p:spPr>
          <a:xfrm>
            <a:off x="515426" y="2489126"/>
            <a:ext cx="13716000" cy="2285597"/>
          </a:xfrm>
        </p:spPr>
        <p:txBody>
          <a:bodyPr anchor="t">
            <a:normAutofit/>
          </a:bodyPr>
          <a:lstStyle>
            <a:lvl1pPr marL="0" indent="0" algn="l">
              <a:buNone/>
              <a:defRPr sz="4201">
                <a:solidFill>
                  <a:schemeClr val="bg1"/>
                </a:solidFill>
              </a:defRPr>
            </a:lvl1pPr>
            <a:lvl2pPr marL="685809" indent="0" algn="ctr">
              <a:buNone/>
              <a:defRPr sz="3001"/>
            </a:lvl2pPr>
            <a:lvl3pPr marL="1371617" indent="0" algn="ctr">
              <a:buNone/>
              <a:defRPr sz="2700"/>
            </a:lvl3pPr>
            <a:lvl4pPr marL="2057427" indent="0" algn="ctr">
              <a:buNone/>
              <a:defRPr sz="2400"/>
            </a:lvl4pPr>
            <a:lvl5pPr marL="2743234" indent="0" algn="ctr">
              <a:buNone/>
              <a:defRPr sz="2400"/>
            </a:lvl5pPr>
            <a:lvl6pPr marL="3429044" indent="0" algn="ctr">
              <a:buNone/>
              <a:defRPr sz="2400"/>
            </a:lvl6pPr>
            <a:lvl7pPr marL="4114851" indent="0" algn="ctr">
              <a:buNone/>
              <a:defRPr sz="2400"/>
            </a:lvl7pPr>
            <a:lvl8pPr marL="4800661" indent="0" algn="ctr">
              <a:buNone/>
              <a:defRPr sz="2400"/>
            </a:lvl8pPr>
            <a:lvl9pPr marL="5486469" indent="0" algn="ctr">
              <a:buNone/>
              <a:defRPr sz="2400"/>
            </a:lvl9pPr>
          </a:lstStyle>
          <a:p>
            <a:r>
              <a:t>Click to edit Master subtitle style</a:t>
            </a:r>
          </a:p>
        </p:txBody>
      </p:sp>
      <p:sp>
        <p:nvSpPr>
          <p:cNvPr id="4" name="Date Placeholder 3">
            <a:extLst>
              <a:ext uri="{FF2B5EF4-FFF2-40B4-BE49-F238E27FC236}">
                <a16:creationId xmlns:a16="http://schemas.microsoft.com/office/drawing/2014/main" id="{FFC25FF9-C87E-4144-B699-B32E0C6B9929}"/>
              </a:ext>
            </a:extLst>
          </p:cNvPr>
          <p:cNvSpPr>
            <a:spLocks noGrp="1"/>
          </p:cNvSpPr>
          <p:nvPr>
            <p:ph type="dt" idx="10"/>
          </p:nvPr>
        </p:nvSpPr>
        <p:spPr/>
        <p:txBody>
          <a:bodyPr/>
          <a:lstStyle/>
          <a:p>
            <a:fld id="{C6FD3620-A33D-4624-9CAB-9F02D195D2C5}" type="datetime1">
              <a:t>9/10/2026</a:t>
            </a:fld>
            <a:endParaRPr/>
          </a:p>
        </p:txBody>
      </p:sp>
      <p:sp>
        <p:nvSpPr>
          <p:cNvPr id="5" name="Footer Placeholder 4">
            <a:extLst>
              <a:ext uri="{FF2B5EF4-FFF2-40B4-BE49-F238E27FC236}">
                <a16:creationId xmlns:a16="http://schemas.microsoft.com/office/drawing/2014/main" id="{49D87D4C-F4CE-468C-9006-6CBEA76C6DA4}"/>
              </a:ext>
            </a:extLst>
          </p:cNvPr>
          <p:cNvSpPr>
            <a:spLocks noGrp="1"/>
          </p:cNvSpPr>
          <p:nvPr>
            <p:ph type="ftr" idx="11"/>
          </p:nvPr>
        </p:nvSpPr>
        <p:spPr/>
        <p:txBody>
          <a:bodyPr/>
          <a:lstStyle/>
          <a:p>
            <a:r>
              <a:t>Internal Use Only</a:t>
            </a:r>
          </a:p>
        </p:txBody>
      </p:sp>
      <p:sp>
        <p:nvSpPr>
          <p:cNvPr id="10" name="Straight Connector 9">
            <a:extLst>
              <a:ext uri="{FF2B5EF4-FFF2-40B4-BE49-F238E27FC236}">
                <a16:creationId xmlns:a16="http://schemas.microsoft.com/office/drawing/2014/main" id="{5DF3DF23-1322-4DCD-A6CB-11D178F08A23}"/>
              </a:ext>
            </a:extLst>
          </p:cNvPr>
          <p:cNvSpPr>
            <a:spLocks noGrp="1"/>
          </p:cNvSpPr>
          <p:nvPr/>
        </p:nvSpPr>
        <p:spPr>
          <a:xfrm flipV="1">
            <a:off x="154860" y="6327060"/>
            <a:ext cx="17965502" cy="157070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12" name="Picture 12"/>
          <p:cNvPicPr>
            <a:picLocks noChangeAspect="1"/>
          </p:cNvPicPr>
          <p:nvPr/>
        </p:nvPicPr>
        <p:blipFill>
          <a:blip r:embed="rId2"/>
          <a:stretch>
            <a:fillRect/>
          </a:stretch>
        </p:blipFill>
        <p:spPr>
          <a:xfrm>
            <a:off x="14950254" y="8719163"/>
            <a:ext cx="3337746" cy="1570704"/>
          </a:xfrm>
          <a:prstGeom prst="rect">
            <a:avLst/>
          </a:prstGeom>
        </p:spPr>
      </p:pic>
      <p:sp>
        <p:nvSpPr>
          <p:cNvPr id="7" name="Flowchart: Manual Input 6">
            <a:extLst>
              <a:ext uri="{FF2B5EF4-FFF2-40B4-BE49-F238E27FC236}">
                <a16:creationId xmlns:a16="http://schemas.microsoft.com/office/drawing/2014/main" id="{3B689832-1BE6-455B-9143-C25E691CC452}"/>
              </a:ext>
            </a:extLst>
          </p:cNvPr>
          <p:cNvSpPr>
            <a:spLocks noGrp="1"/>
          </p:cNvSpPr>
          <p:nvPr/>
        </p:nvSpPr>
        <p:spPr>
          <a:xfrm rot="10800000">
            <a:off x="154860" y="176980"/>
            <a:ext cx="17965502" cy="7549700"/>
          </a:xfrm>
          <a:prstGeom prst="flowChartManualInpu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700"/>
          </a:p>
        </p:txBody>
      </p:sp>
      <p:sp>
        <p:nvSpPr>
          <p:cNvPr id="2" name="Title 1">
            <a:extLst>
              <a:ext uri="{FF2B5EF4-FFF2-40B4-BE49-F238E27FC236}">
                <a16:creationId xmlns:a16="http://schemas.microsoft.com/office/drawing/2014/main" id="{8C32F236-F7CF-4D11-A9B2-5193ED350E45}"/>
              </a:ext>
            </a:extLst>
          </p:cNvPr>
          <p:cNvSpPr>
            <a:spLocks noGrp="1"/>
          </p:cNvSpPr>
          <p:nvPr>
            <p:ph type="ctrTitle"/>
          </p:nvPr>
        </p:nvSpPr>
        <p:spPr>
          <a:xfrm>
            <a:off x="515427" y="659507"/>
            <a:ext cx="16515275" cy="1579106"/>
          </a:xfrm>
          <a:prstGeom prst="rect">
            <a:avLst/>
          </a:prstGeom>
        </p:spPr>
        <p:txBody>
          <a:bodyPr anchor="ctr">
            <a:normAutofit/>
          </a:bodyPr>
          <a:lstStyle>
            <a:lvl1pPr algn="l">
              <a:buNone/>
              <a:defRPr sz="6601" b="1">
                <a:solidFill>
                  <a:schemeClr val="bg1"/>
                </a:solidFill>
              </a:defRPr>
            </a:lvl1pPr>
          </a:lstStyle>
          <a:p>
            <a:r>
              <a:t>Click to edit Master title style</a:t>
            </a:r>
          </a:p>
        </p:txBody>
      </p:sp>
      <p:sp>
        <p:nvSpPr>
          <p:cNvPr id="3" name="Subtitle 2">
            <a:extLst>
              <a:ext uri="{FF2B5EF4-FFF2-40B4-BE49-F238E27FC236}">
                <a16:creationId xmlns:a16="http://schemas.microsoft.com/office/drawing/2014/main" id="{F97B5331-17B4-42D5-B235-ACA210666A8D}"/>
              </a:ext>
            </a:extLst>
          </p:cNvPr>
          <p:cNvSpPr>
            <a:spLocks noGrp="1"/>
          </p:cNvSpPr>
          <p:nvPr>
            <p:ph type="subTitle" idx="1"/>
          </p:nvPr>
        </p:nvSpPr>
        <p:spPr>
          <a:xfrm>
            <a:off x="515426" y="2489126"/>
            <a:ext cx="13716000" cy="2285597"/>
          </a:xfrm>
        </p:spPr>
        <p:txBody>
          <a:bodyPr anchor="t">
            <a:normAutofit/>
          </a:bodyPr>
          <a:lstStyle>
            <a:lvl1pPr marL="0" indent="0" algn="l">
              <a:buNone/>
              <a:defRPr sz="4201">
                <a:solidFill>
                  <a:schemeClr val="bg1"/>
                </a:solidFill>
              </a:defRPr>
            </a:lvl1pPr>
            <a:lvl2pPr marL="685809" indent="0" algn="ctr">
              <a:buNone/>
              <a:defRPr sz="3001"/>
            </a:lvl2pPr>
            <a:lvl3pPr marL="1371617" indent="0" algn="ctr">
              <a:buNone/>
              <a:defRPr sz="2700"/>
            </a:lvl3pPr>
            <a:lvl4pPr marL="2057427" indent="0" algn="ctr">
              <a:buNone/>
              <a:defRPr sz="2400"/>
            </a:lvl4pPr>
            <a:lvl5pPr marL="2743234" indent="0" algn="ctr">
              <a:buNone/>
              <a:defRPr sz="2400"/>
            </a:lvl5pPr>
            <a:lvl6pPr marL="3429044" indent="0" algn="ctr">
              <a:buNone/>
              <a:defRPr sz="2400"/>
            </a:lvl6pPr>
            <a:lvl7pPr marL="4114851" indent="0" algn="ctr">
              <a:buNone/>
              <a:defRPr sz="2400"/>
            </a:lvl7pPr>
            <a:lvl8pPr marL="4800661" indent="0" algn="ctr">
              <a:buNone/>
              <a:defRPr sz="2400"/>
            </a:lvl8pPr>
            <a:lvl9pPr marL="5486469" indent="0" algn="ctr">
              <a:buNone/>
              <a:defRPr sz="2400"/>
            </a:lvl9pPr>
          </a:lstStyle>
          <a:p>
            <a:r>
              <a:t>Click to edit Master subtitle style</a:t>
            </a:r>
          </a:p>
        </p:txBody>
      </p:sp>
      <p:sp>
        <p:nvSpPr>
          <p:cNvPr id="4" name="Date Placeholder 3">
            <a:extLst>
              <a:ext uri="{FF2B5EF4-FFF2-40B4-BE49-F238E27FC236}">
                <a16:creationId xmlns:a16="http://schemas.microsoft.com/office/drawing/2014/main" id="{FFC25FF9-C87E-4144-B699-B32E0C6B9929}"/>
              </a:ext>
            </a:extLst>
          </p:cNvPr>
          <p:cNvSpPr>
            <a:spLocks noGrp="1"/>
          </p:cNvSpPr>
          <p:nvPr>
            <p:ph type="dt" idx="10"/>
          </p:nvPr>
        </p:nvSpPr>
        <p:spPr/>
        <p:txBody>
          <a:bodyPr/>
          <a:lstStyle/>
          <a:p>
            <a:fld id="{C6FD3620-A33D-4624-9CAB-9F02D195D2C5}" type="datetime1">
              <a:t>9/10/2026</a:t>
            </a:fld>
            <a:endParaRPr/>
          </a:p>
        </p:txBody>
      </p:sp>
      <p:sp>
        <p:nvSpPr>
          <p:cNvPr id="5" name="Footer Placeholder 4">
            <a:extLst>
              <a:ext uri="{FF2B5EF4-FFF2-40B4-BE49-F238E27FC236}">
                <a16:creationId xmlns:a16="http://schemas.microsoft.com/office/drawing/2014/main" id="{49D87D4C-F4CE-468C-9006-6CBEA76C6DA4}"/>
              </a:ext>
            </a:extLst>
          </p:cNvPr>
          <p:cNvSpPr>
            <a:spLocks noGrp="1"/>
          </p:cNvSpPr>
          <p:nvPr>
            <p:ph type="ftr" idx="11"/>
          </p:nvPr>
        </p:nvSpPr>
        <p:spPr/>
        <p:txBody>
          <a:bodyPr/>
          <a:lstStyle/>
          <a:p>
            <a:r>
              <a:t>Internal Use Only</a:t>
            </a:r>
          </a:p>
        </p:txBody>
      </p:sp>
      <p:sp>
        <p:nvSpPr>
          <p:cNvPr id="10" name="Straight Connector 9">
            <a:extLst>
              <a:ext uri="{FF2B5EF4-FFF2-40B4-BE49-F238E27FC236}">
                <a16:creationId xmlns:a16="http://schemas.microsoft.com/office/drawing/2014/main" id="{5DF3DF23-1322-4DCD-A6CB-11D178F08A23}"/>
              </a:ext>
            </a:extLst>
          </p:cNvPr>
          <p:cNvSpPr>
            <a:spLocks noGrp="1"/>
          </p:cNvSpPr>
          <p:nvPr/>
        </p:nvSpPr>
        <p:spPr>
          <a:xfrm flipV="1">
            <a:off x="154860" y="6327060"/>
            <a:ext cx="17965502" cy="157070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12" name="Picture 12"/>
          <p:cNvPicPr>
            <a:picLocks noChangeAspect="1"/>
          </p:cNvPicPr>
          <p:nvPr/>
        </p:nvPicPr>
        <p:blipFill>
          <a:blip r:embed="rId2"/>
          <a:stretch>
            <a:fillRect/>
          </a:stretch>
        </p:blipFill>
        <p:spPr>
          <a:xfrm>
            <a:off x="14950254" y="8719163"/>
            <a:ext cx="3337746" cy="1570704"/>
          </a:xfrm>
          <a:prstGeom prst="rect">
            <a:avLst/>
          </a:prstGeom>
        </p:spPr>
      </p:pic>
      <p:sp>
        <p:nvSpPr>
          <p:cNvPr id="7" name="Flowchart: Manual Input 6">
            <a:extLst>
              <a:ext uri="{FF2B5EF4-FFF2-40B4-BE49-F238E27FC236}">
                <a16:creationId xmlns:a16="http://schemas.microsoft.com/office/drawing/2014/main" id="{3B689832-1BE6-455B-9143-C25E691CC452}"/>
              </a:ext>
            </a:extLst>
          </p:cNvPr>
          <p:cNvSpPr>
            <a:spLocks noGrp="1"/>
          </p:cNvSpPr>
          <p:nvPr/>
        </p:nvSpPr>
        <p:spPr>
          <a:xfrm rot="10800000">
            <a:off x="154860" y="176980"/>
            <a:ext cx="17965502" cy="7549700"/>
          </a:xfrm>
          <a:prstGeom prst="flowChartManualInpu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700"/>
          </a:p>
        </p:txBody>
      </p:sp>
      <p:sp>
        <p:nvSpPr>
          <p:cNvPr id="2" name="Title 1">
            <a:extLst>
              <a:ext uri="{FF2B5EF4-FFF2-40B4-BE49-F238E27FC236}">
                <a16:creationId xmlns:a16="http://schemas.microsoft.com/office/drawing/2014/main" id="{8C32F236-F7CF-4D11-A9B2-5193ED350E45}"/>
              </a:ext>
            </a:extLst>
          </p:cNvPr>
          <p:cNvSpPr>
            <a:spLocks noGrp="1"/>
          </p:cNvSpPr>
          <p:nvPr>
            <p:ph type="ctrTitle"/>
          </p:nvPr>
        </p:nvSpPr>
        <p:spPr>
          <a:xfrm>
            <a:off x="515427" y="659507"/>
            <a:ext cx="16515275" cy="1579106"/>
          </a:xfrm>
          <a:prstGeom prst="rect">
            <a:avLst/>
          </a:prstGeom>
        </p:spPr>
        <p:txBody>
          <a:bodyPr anchor="ctr">
            <a:normAutofit/>
          </a:bodyPr>
          <a:lstStyle>
            <a:lvl1pPr algn="l">
              <a:buNone/>
              <a:defRPr sz="6601" b="1">
                <a:solidFill>
                  <a:schemeClr val="bg1"/>
                </a:solidFill>
              </a:defRPr>
            </a:lvl1pPr>
          </a:lstStyle>
          <a:p>
            <a:r>
              <a:t>Click to edit Master title style</a:t>
            </a:r>
          </a:p>
        </p:txBody>
      </p:sp>
      <p:sp>
        <p:nvSpPr>
          <p:cNvPr id="3" name="Subtitle 2">
            <a:extLst>
              <a:ext uri="{FF2B5EF4-FFF2-40B4-BE49-F238E27FC236}">
                <a16:creationId xmlns:a16="http://schemas.microsoft.com/office/drawing/2014/main" id="{F97B5331-17B4-42D5-B235-ACA210666A8D}"/>
              </a:ext>
            </a:extLst>
          </p:cNvPr>
          <p:cNvSpPr>
            <a:spLocks noGrp="1"/>
          </p:cNvSpPr>
          <p:nvPr>
            <p:ph type="subTitle" idx="1"/>
          </p:nvPr>
        </p:nvSpPr>
        <p:spPr>
          <a:xfrm>
            <a:off x="515426" y="2489126"/>
            <a:ext cx="13716000" cy="2285597"/>
          </a:xfrm>
        </p:spPr>
        <p:txBody>
          <a:bodyPr anchor="t">
            <a:normAutofit/>
          </a:bodyPr>
          <a:lstStyle>
            <a:lvl1pPr marL="0" indent="0" algn="l">
              <a:buNone/>
              <a:defRPr sz="4201">
                <a:solidFill>
                  <a:schemeClr val="bg1"/>
                </a:solidFill>
              </a:defRPr>
            </a:lvl1pPr>
            <a:lvl2pPr marL="685809" indent="0" algn="ctr">
              <a:buNone/>
              <a:defRPr sz="3001"/>
            </a:lvl2pPr>
            <a:lvl3pPr marL="1371617" indent="0" algn="ctr">
              <a:buNone/>
              <a:defRPr sz="2700"/>
            </a:lvl3pPr>
            <a:lvl4pPr marL="2057427" indent="0" algn="ctr">
              <a:buNone/>
              <a:defRPr sz="2400"/>
            </a:lvl4pPr>
            <a:lvl5pPr marL="2743234" indent="0" algn="ctr">
              <a:buNone/>
              <a:defRPr sz="2400"/>
            </a:lvl5pPr>
            <a:lvl6pPr marL="3429044" indent="0" algn="ctr">
              <a:buNone/>
              <a:defRPr sz="2400"/>
            </a:lvl6pPr>
            <a:lvl7pPr marL="4114851" indent="0" algn="ctr">
              <a:buNone/>
              <a:defRPr sz="2400"/>
            </a:lvl7pPr>
            <a:lvl8pPr marL="4800661" indent="0" algn="ctr">
              <a:buNone/>
              <a:defRPr sz="2400"/>
            </a:lvl8pPr>
            <a:lvl9pPr marL="5486469" indent="0" algn="ctr">
              <a:buNone/>
              <a:defRPr sz="2400"/>
            </a:lvl9pPr>
          </a:lstStyle>
          <a:p>
            <a:r>
              <a:t>Click to edit Master subtitle style</a:t>
            </a:r>
          </a:p>
        </p:txBody>
      </p:sp>
      <p:sp>
        <p:nvSpPr>
          <p:cNvPr id="4" name="Date Placeholder 3">
            <a:extLst>
              <a:ext uri="{FF2B5EF4-FFF2-40B4-BE49-F238E27FC236}">
                <a16:creationId xmlns:a16="http://schemas.microsoft.com/office/drawing/2014/main" id="{FFC25FF9-C87E-4144-B699-B32E0C6B9929}"/>
              </a:ext>
            </a:extLst>
          </p:cNvPr>
          <p:cNvSpPr>
            <a:spLocks noGrp="1"/>
          </p:cNvSpPr>
          <p:nvPr>
            <p:ph type="dt" idx="10"/>
          </p:nvPr>
        </p:nvSpPr>
        <p:spPr/>
        <p:txBody>
          <a:bodyPr/>
          <a:lstStyle/>
          <a:p>
            <a:fld id="{C6FD3620-A33D-4624-9CAB-9F02D195D2C5}" type="datetime1">
              <a:t>9/10/2026</a:t>
            </a:fld>
            <a:endParaRPr/>
          </a:p>
        </p:txBody>
      </p:sp>
      <p:sp>
        <p:nvSpPr>
          <p:cNvPr id="5" name="Footer Placeholder 4">
            <a:extLst>
              <a:ext uri="{FF2B5EF4-FFF2-40B4-BE49-F238E27FC236}">
                <a16:creationId xmlns:a16="http://schemas.microsoft.com/office/drawing/2014/main" id="{49D87D4C-F4CE-468C-9006-6CBEA76C6DA4}"/>
              </a:ext>
            </a:extLst>
          </p:cNvPr>
          <p:cNvSpPr>
            <a:spLocks noGrp="1"/>
          </p:cNvSpPr>
          <p:nvPr>
            <p:ph type="ftr" idx="11"/>
          </p:nvPr>
        </p:nvSpPr>
        <p:spPr/>
        <p:txBody>
          <a:bodyPr/>
          <a:lstStyle/>
          <a:p>
            <a:r>
              <a:t>Internal Use Only</a:t>
            </a:r>
          </a:p>
        </p:txBody>
      </p:sp>
      <p:sp>
        <p:nvSpPr>
          <p:cNvPr id="10" name="Straight Connector 9">
            <a:extLst>
              <a:ext uri="{FF2B5EF4-FFF2-40B4-BE49-F238E27FC236}">
                <a16:creationId xmlns:a16="http://schemas.microsoft.com/office/drawing/2014/main" id="{5DF3DF23-1322-4DCD-A6CB-11D178F08A23}"/>
              </a:ext>
            </a:extLst>
          </p:cNvPr>
          <p:cNvSpPr>
            <a:spLocks noGrp="1"/>
          </p:cNvSpPr>
          <p:nvPr/>
        </p:nvSpPr>
        <p:spPr>
          <a:xfrm flipV="1">
            <a:off x="154860" y="6327060"/>
            <a:ext cx="17965502" cy="157070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12" name="Picture 12"/>
          <p:cNvPicPr>
            <a:picLocks noChangeAspect="1"/>
          </p:cNvPicPr>
          <p:nvPr/>
        </p:nvPicPr>
        <p:blipFill>
          <a:blip r:embed="rId2"/>
          <a:stretch>
            <a:fillRect/>
          </a:stretch>
        </p:blipFill>
        <p:spPr>
          <a:xfrm>
            <a:off x="14950254" y="8719163"/>
            <a:ext cx="3337746" cy="1570704"/>
          </a:xfrm>
          <a:prstGeom prst="rect">
            <a:avLst/>
          </a:prstGeom>
        </p:spPr>
      </p:pic>
      <p:sp>
        <p:nvSpPr>
          <p:cNvPr id="7" name="Flowchart: Manual Input 6">
            <a:extLst>
              <a:ext uri="{FF2B5EF4-FFF2-40B4-BE49-F238E27FC236}">
                <a16:creationId xmlns:a16="http://schemas.microsoft.com/office/drawing/2014/main" id="{3B689832-1BE6-455B-9143-C25E691CC452}"/>
              </a:ext>
            </a:extLst>
          </p:cNvPr>
          <p:cNvSpPr>
            <a:spLocks noGrp="1"/>
          </p:cNvSpPr>
          <p:nvPr/>
        </p:nvSpPr>
        <p:spPr>
          <a:xfrm rot="10800000">
            <a:off x="154860" y="176980"/>
            <a:ext cx="17965502" cy="7549700"/>
          </a:xfrm>
          <a:prstGeom prst="flowChartManualInpu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700"/>
          </a:p>
        </p:txBody>
      </p:sp>
      <p:sp>
        <p:nvSpPr>
          <p:cNvPr id="2" name="Title 1">
            <a:extLst>
              <a:ext uri="{FF2B5EF4-FFF2-40B4-BE49-F238E27FC236}">
                <a16:creationId xmlns:a16="http://schemas.microsoft.com/office/drawing/2014/main" id="{8C32F236-F7CF-4D11-A9B2-5193ED350E45}"/>
              </a:ext>
            </a:extLst>
          </p:cNvPr>
          <p:cNvSpPr>
            <a:spLocks noGrp="1"/>
          </p:cNvSpPr>
          <p:nvPr>
            <p:ph type="ctrTitle"/>
          </p:nvPr>
        </p:nvSpPr>
        <p:spPr>
          <a:xfrm>
            <a:off x="515427" y="659507"/>
            <a:ext cx="16515275" cy="1579106"/>
          </a:xfrm>
          <a:prstGeom prst="rect">
            <a:avLst/>
          </a:prstGeom>
        </p:spPr>
        <p:txBody>
          <a:bodyPr anchor="ctr">
            <a:normAutofit/>
          </a:bodyPr>
          <a:lstStyle>
            <a:lvl1pPr algn="l">
              <a:buNone/>
              <a:defRPr sz="6601" b="1">
                <a:solidFill>
                  <a:schemeClr val="bg1"/>
                </a:solidFill>
              </a:defRPr>
            </a:lvl1pPr>
          </a:lstStyle>
          <a:p>
            <a:r>
              <a:t>Click to edit Master title style</a:t>
            </a:r>
          </a:p>
        </p:txBody>
      </p:sp>
      <p:sp>
        <p:nvSpPr>
          <p:cNvPr id="3" name="Subtitle 2">
            <a:extLst>
              <a:ext uri="{FF2B5EF4-FFF2-40B4-BE49-F238E27FC236}">
                <a16:creationId xmlns:a16="http://schemas.microsoft.com/office/drawing/2014/main" id="{F97B5331-17B4-42D5-B235-ACA210666A8D}"/>
              </a:ext>
            </a:extLst>
          </p:cNvPr>
          <p:cNvSpPr>
            <a:spLocks noGrp="1"/>
          </p:cNvSpPr>
          <p:nvPr>
            <p:ph type="subTitle" idx="1"/>
          </p:nvPr>
        </p:nvSpPr>
        <p:spPr>
          <a:xfrm>
            <a:off x="515426" y="2489126"/>
            <a:ext cx="13716000" cy="2285597"/>
          </a:xfrm>
        </p:spPr>
        <p:txBody>
          <a:bodyPr anchor="t">
            <a:normAutofit/>
          </a:bodyPr>
          <a:lstStyle>
            <a:lvl1pPr marL="0" indent="0" algn="l">
              <a:buNone/>
              <a:defRPr sz="4201">
                <a:solidFill>
                  <a:schemeClr val="bg1"/>
                </a:solidFill>
              </a:defRPr>
            </a:lvl1pPr>
            <a:lvl2pPr marL="685809" indent="0" algn="ctr">
              <a:buNone/>
              <a:defRPr sz="3001"/>
            </a:lvl2pPr>
            <a:lvl3pPr marL="1371617" indent="0" algn="ctr">
              <a:buNone/>
              <a:defRPr sz="2700"/>
            </a:lvl3pPr>
            <a:lvl4pPr marL="2057427" indent="0" algn="ctr">
              <a:buNone/>
              <a:defRPr sz="2400"/>
            </a:lvl4pPr>
            <a:lvl5pPr marL="2743234" indent="0" algn="ctr">
              <a:buNone/>
              <a:defRPr sz="2400"/>
            </a:lvl5pPr>
            <a:lvl6pPr marL="3429044" indent="0" algn="ctr">
              <a:buNone/>
              <a:defRPr sz="2400"/>
            </a:lvl6pPr>
            <a:lvl7pPr marL="4114851" indent="0" algn="ctr">
              <a:buNone/>
              <a:defRPr sz="2400"/>
            </a:lvl7pPr>
            <a:lvl8pPr marL="4800661" indent="0" algn="ctr">
              <a:buNone/>
              <a:defRPr sz="2400"/>
            </a:lvl8pPr>
            <a:lvl9pPr marL="5486469" indent="0" algn="ctr">
              <a:buNone/>
              <a:defRPr sz="2400"/>
            </a:lvl9pPr>
          </a:lstStyle>
          <a:p>
            <a:r>
              <a:t>Click to edit Master subtitle style</a:t>
            </a:r>
          </a:p>
        </p:txBody>
      </p:sp>
      <p:sp>
        <p:nvSpPr>
          <p:cNvPr id="4" name="Date Placeholder 3">
            <a:extLst>
              <a:ext uri="{FF2B5EF4-FFF2-40B4-BE49-F238E27FC236}">
                <a16:creationId xmlns:a16="http://schemas.microsoft.com/office/drawing/2014/main" id="{FFC25FF9-C87E-4144-B699-B32E0C6B9929}"/>
              </a:ext>
            </a:extLst>
          </p:cNvPr>
          <p:cNvSpPr>
            <a:spLocks noGrp="1"/>
          </p:cNvSpPr>
          <p:nvPr>
            <p:ph type="dt" idx="10"/>
          </p:nvPr>
        </p:nvSpPr>
        <p:spPr/>
        <p:txBody>
          <a:bodyPr/>
          <a:lstStyle/>
          <a:p>
            <a:fld id="{C6FD3620-A33D-4624-9CAB-9F02D195D2C5}" type="datetime1">
              <a:t>9/10/2026</a:t>
            </a:fld>
            <a:endParaRPr/>
          </a:p>
        </p:txBody>
      </p:sp>
      <p:sp>
        <p:nvSpPr>
          <p:cNvPr id="5" name="Footer Placeholder 4">
            <a:extLst>
              <a:ext uri="{FF2B5EF4-FFF2-40B4-BE49-F238E27FC236}">
                <a16:creationId xmlns:a16="http://schemas.microsoft.com/office/drawing/2014/main" id="{49D87D4C-F4CE-468C-9006-6CBEA76C6DA4}"/>
              </a:ext>
            </a:extLst>
          </p:cNvPr>
          <p:cNvSpPr>
            <a:spLocks noGrp="1"/>
          </p:cNvSpPr>
          <p:nvPr>
            <p:ph type="ftr" idx="11"/>
          </p:nvPr>
        </p:nvSpPr>
        <p:spPr/>
        <p:txBody>
          <a:bodyPr/>
          <a:lstStyle/>
          <a:p>
            <a:r>
              <a:t>Internal Use Only</a:t>
            </a:r>
          </a:p>
        </p:txBody>
      </p:sp>
      <p:sp>
        <p:nvSpPr>
          <p:cNvPr id="10" name="Straight Connector 9">
            <a:extLst>
              <a:ext uri="{FF2B5EF4-FFF2-40B4-BE49-F238E27FC236}">
                <a16:creationId xmlns:a16="http://schemas.microsoft.com/office/drawing/2014/main" id="{5DF3DF23-1322-4DCD-A6CB-11D178F08A23}"/>
              </a:ext>
            </a:extLst>
          </p:cNvPr>
          <p:cNvSpPr>
            <a:spLocks noGrp="1"/>
          </p:cNvSpPr>
          <p:nvPr/>
        </p:nvSpPr>
        <p:spPr>
          <a:xfrm flipV="1">
            <a:off x="154860" y="6327060"/>
            <a:ext cx="17965502" cy="157070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12" name="Picture 12"/>
          <p:cNvPicPr>
            <a:picLocks noChangeAspect="1"/>
          </p:cNvPicPr>
          <p:nvPr/>
        </p:nvPicPr>
        <p:blipFill>
          <a:blip r:embed="rId2"/>
          <a:stretch>
            <a:fillRect/>
          </a:stretch>
        </p:blipFill>
        <p:spPr>
          <a:xfrm>
            <a:off x="14950254" y="8719163"/>
            <a:ext cx="3337746" cy="1570704"/>
          </a:xfrm>
          <a:prstGeom prst="rect">
            <a:avLst/>
          </a:prstGeom>
        </p:spPr>
      </p:pic>
      <p:sp>
        <p:nvSpPr>
          <p:cNvPr id="7" name="Flowchart: Manual Input 6">
            <a:extLst>
              <a:ext uri="{FF2B5EF4-FFF2-40B4-BE49-F238E27FC236}">
                <a16:creationId xmlns:a16="http://schemas.microsoft.com/office/drawing/2014/main" id="{3B689832-1BE6-455B-9143-C25E691CC452}"/>
              </a:ext>
            </a:extLst>
          </p:cNvPr>
          <p:cNvSpPr>
            <a:spLocks noGrp="1"/>
          </p:cNvSpPr>
          <p:nvPr/>
        </p:nvSpPr>
        <p:spPr>
          <a:xfrm rot="10800000">
            <a:off x="154860" y="176980"/>
            <a:ext cx="17965502" cy="7549700"/>
          </a:xfrm>
          <a:prstGeom prst="flowChartManualInpu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700"/>
          </a:p>
        </p:txBody>
      </p:sp>
      <p:sp>
        <p:nvSpPr>
          <p:cNvPr id="2" name="Title 1">
            <a:extLst>
              <a:ext uri="{FF2B5EF4-FFF2-40B4-BE49-F238E27FC236}">
                <a16:creationId xmlns:a16="http://schemas.microsoft.com/office/drawing/2014/main" id="{8C32F236-F7CF-4D11-A9B2-5193ED350E45}"/>
              </a:ext>
            </a:extLst>
          </p:cNvPr>
          <p:cNvSpPr>
            <a:spLocks noGrp="1"/>
          </p:cNvSpPr>
          <p:nvPr>
            <p:ph type="ctrTitle"/>
          </p:nvPr>
        </p:nvSpPr>
        <p:spPr>
          <a:xfrm>
            <a:off x="515427" y="659507"/>
            <a:ext cx="16515275" cy="1579106"/>
          </a:xfrm>
          <a:prstGeom prst="rect">
            <a:avLst/>
          </a:prstGeom>
        </p:spPr>
        <p:txBody>
          <a:bodyPr anchor="ctr">
            <a:normAutofit/>
          </a:bodyPr>
          <a:lstStyle>
            <a:lvl1pPr algn="l">
              <a:buNone/>
              <a:defRPr sz="6601" b="1">
                <a:solidFill>
                  <a:schemeClr val="bg1"/>
                </a:solidFill>
              </a:defRPr>
            </a:lvl1pPr>
          </a:lstStyle>
          <a:p>
            <a:r>
              <a:t>Click to edit Master title style</a:t>
            </a:r>
          </a:p>
        </p:txBody>
      </p:sp>
      <p:sp>
        <p:nvSpPr>
          <p:cNvPr id="3" name="Subtitle 2">
            <a:extLst>
              <a:ext uri="{FF2B5EF4-FFF2-40B4-BE49-F238E27FC236}">
                <a16:creationId xmlns:a16="http://schemas.microsoft.com/office/drawing/2014/main" id="{F97B5331-17B4-42D5-B235-ACA210666A8D}"/>
              </a:ext>
            </a:extLst>
          </p:cNvPr>
          <p:cNvSpPr>
            <a:spLocks noGrp="1"/>
          </p:cNvSpPr>
          <p:nvPr>
            <p:ph type="subTitle" idx="1"/>
          </p:nvPr>
        </p:nvSpPr>
        <p:spPr>
          <a:xfrm>
            <a:off x="515426" y="2489126"/>
            <a:ext cx="13716000" cy="2285597"/>
          </a:xfrm>
        </p:spPr>
        <p:txBody>
          <a:bodyPr anchor="t">
            <a:normAutofit/>
          </a:bodyPr>
          <a:lstStyle>
            <a:lvl1pPr marL="0" indent="0" algn="l">
              <a:buNone/>
              <a:defRPr sz="4201">
                <a:solidFill>
                  <a:schemeClr val="bg1"/>
                </a:solidFill>
              </a:defRPr>
            </a:lvl1pPr>
            <a:lvl2pPr marL="685809" indent="0" algn="ctr">
              <a:buNone/>
              <a:defRPr sz="3001"/>
            </a:lvl2pPr>
            <a:lvl3pPr marL="1371617" indent="0" algn="ctr">
              <a:buNone/>
              <a:defRPr sz="2700"/>
            </a:lvl3pPr>
            <a:lvl4pPr marL="2057427" indent="0" algn="ctr">
              <a:buNone/>
              <a:defRPr sz="2400"/>
            </a:lvl4pPr>
            <a:lvl5pPr marL="2743234" indent="0" algn="ctr">
              <a:buNone/>
              <a:defRPr sz="2400"/>
            </a:lvl5pPr>
            <a:lvl6pPr marL="3429044" indent="0" algn="ctr">
              <a:buNone/>
              <a:defRPr sz="2400"/>
            </a:lvl6pPr>
            <a:lvl7pPr marL="4114851" indent="0" algn="ctr">
              <a:buNone/>
              <a:defRPr sz="2400"/>
            </a:lvl7pPr>
            <a:lvl8pPr marL="4800661" indent="0" algn="ctr">
              <a:buNone/>
              <a:defRPr sz="2400"/>
            </a:lvl8pPr>
            <a:lvl9pPr marL="5486469" indent="0" algn="ctr">
              <a:buNone/>
              <a:defRPr sz="2400"/>
            </a:lvl9pPr>
          </a:lstStyle>
          <a:p>
            <a:r>
              <a:t>Click to edit Master subtitle style</a:t>
            </a:r>
          </a:p>
        </p:txBody>
      </p:sp>
      <p:sp>
        <p:nvSpPr>
          <p:cNvPr id="4" name="Date Placeholder 3">
            <a:extLst>
              <a:ext uri="{FF2B5EF4-FFF2-40B4-BE49-F238E27FC236}">
                <a16:creationId xmlns:a16="http://schemas.microsoft.com/office/drawing/2014/main" id="{FFC25FF9-C87E-4144-B699-B32E0C6B9929}"/>
              </a:ext>
            </a:extLst>
          </p:cNvPr>
          <p:cNvSpPr>
            <a:spLocks noGrp="1"/>
          </p:cNvSpPr>
          <p:nvPr>
            <p:ph type="dt" idx="10"/>
          </p:nvPr>
        </p:nvSpPr>
        <p:spPr/>
        <p:txBody>
          <a:bodyPr/>
          <a:lstStyle/>
          <a:p>
            <a:fld id="{C6FD3620-A33D-4624-9CAB-9F02D195D2C5}" type="datetime1">
              <a:t>9/10/2026</a:t>
            </a:fld>
            <a:endParaRPr/>
          </a:p>
        </p:txBody>
      </p:sp>
      <p:sp>
        <p:nvSpPr>
          <p:cNvPr id="5" name="Footer Placeholder 4">
            <a:extLst>
              <a:ext uri="{FF2B5EF4-FFF2-40B4-BE49-F238E27FC236}">
                <a16:creationId xmlns:a16="http://schemas.microsoft.com/office/drawing/2014/main" id="{49D87D4C-F4CE-468C-9006-6CBEA76C6DA4}"/>
              </a:ext>
            </a:extLst>
          </p:cNvPr>
          <p:cNvSpPr>
            <a:spLocks noGrp="1"/>
          </p:cNvSpPr>
          <p:nvPr>
            <p:ph type="ftr" idx="11"/>
          </p:nvPr>
        </p:nvSpPr>
        <p:spPr/>
        <p:txBody>
          <a:bodyPr/>
          <a:lstStyle/>
          <a:p>
            <a:r>
              <a:t>Internal Use Only</a:t>
            </a:r>
          </a:p>
        </p:txBody>
      </p:sp>
      <p:sp>
        <p:nvSpPr>
          <p:cNvPr id="10" name="Straight Connector 9">
            <a:extLst>
              <a:ext uri="{FF2B5EF4-FFF2-40B4-BE49-F238E27FC236}">
                <a16:creationId xmlns:a16="http://schemas.microsoft.com/office/drawing/2014/main" id="{5DF3DF23-1322-4DCD-A6CB-11D178F08A23}"/>
              </a:ext>
            </a:extLst>
          </p:cNvPr>
          <p:cNvSpPr>
            <a:spLocks noGrp="1"/>
          </p:cNvSpPr>
          <p:nvPr/>
        </p:nvSpPr>
        <p:spPr>
          <a:xfrm flipV="1">
            <a:off x="154860" y="6327060"/>
            <a:ext cx="17965502" cy="157070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12" name="Picture 12"/>
          <p:cNvPicPr>
            <a:picLocks noChangeAspect="1"/>
          </p:cNvPicPr>
          <p:nvPr/>
        </p:nvPicPr>
        <p:blipFill>
          <a:blip r:embed="rId2"/>
          <a:stretch>
            <a:fillRect/>
          </a:stretch>
        </p:blipFill>
        <p:spPr>
          <a:xfrm>
            <a:off x="14950254" y="8719163"/>
            <a:ext cx="3337746" cy="1570704"/>
          </a:xfrm>
          <a:prstGeom prst="rect">
            <a:avLst/>
          </a:prstGeom>
        </p:spPr>
      </p:pic>
      <p:sp>
        <p:nvSpPr>
          <p:cNvPr id="7" name="Flowchart: Manual Input 6">
            <a:extLst>
              <a:ext uri="{FF2B5EF4-FFF2-40B4-BE49-F238E27FC236}">
                <a16:creationId xmlns:a16="http://schemas.microsoft.com/office/drawing/2014/main" id="{3B689832-1BE6-455B-9143-C25E691CC452}"/>
              </a:ext>
            </a:extLst>
          </p:cNvPr>
          <p:cNvSpPr>
            <a:spLocks noGrp="1"/>
          </p:cNvSpPr>
          <p:nvPr/>
        </p:nvSpPr>
        <p:spPr>
          <a:xfrm rot="10800000">
            <a:off x="154860" y="176980"/>
            <a:ext cx="17965502" cy="7549700"/>
          </a:xfrm>
          <a:prstGeom prst="flowChartManualInpu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700"/>
          </a:p>
        </p:txBody>
      </p:sp>
      <p:sp>
        <p:nvSpPr>
          <p:cNvPr id="2" name="Title 1">
            <a:extLst>
              <a:ext uri="{FF2B5EF4-FFF2-40B4-BE49-F238E27FC236}">
                <a16:creationId xmlns:a16="http://schemas.microsoft.com/office/drawing/2014/main" id="{8C32F236-F7CF-4D11-A9B2-5193ED350E45}"/>
              </a:ext>
            </a:extLst>
          </p:cNvPr>
          <p:cNvSpPr>
            <a:spLocks noGrp="1"/>
          </p:cNvSpPr>
          <p:nvPr>
            <p:ph type="ctrTitle"/>
          </p:nvPr>
        </p:nvSpPr>
        <p:spPr>
          <a:xfrm>
            <a:off x="515427" y="659507"/>
            <a:ext cx="16515275" cy="1579106"/>
          </a:xfrm>
          <a:prstGeom prst="rect">
            <a:avLst/>
          </a:prstGeom>
        </p:spPr>
        <p:txBody>
          <a:bodyPr anchor="ctr">
            <a:normAutofit/>
          </a:bodyPr>
          <a:lstStyle>
            <a:lvl1pPr algn="l">
              <a:buNone/>
              <a:defRPr sz="6601" b="1">
                <a:solidFill>
                  <a:schemeClr val="bg1"/>
                </a:solidFill>
              </a:defRPr>
            </a:lvl1pPr>
          </a:lstStyle>
          <a:p>
            <a:r>
              <a:t>Click to edit Master title style</a:t>
            </a:r>
          </a:p>
        </p:txBody>
      </p:sp>
      <p:sp>
        <p:nvSpPr>
          <p:cNvPr id="3" name="Subtitle 2">
            <a:extLst>
              <a:ext uri="{FF2B5EF4-FFF2-40B4-BE49-F238E27FC236}">
                <a16:creationId xmlns:a16="http://schemas.microsoft.com/office/drawing/2014/main" id="{F97B5331-17B4-42D5-B235-ACA210666A8D}"/>
              </a:ext>
            </a:extLst>
          </p:cNvPr>
          <p:cNvSpPr>
            <a:spLocks noGrp="1"/>
          </p:cNvSpPr>
          <p:nvPr>
            <p:ph type="subTitle" idx="1"/>
          </p:nvPr>
        </p:nvSpPr>
        <p:spPr>
          <a:xfrm>
            <a:off x="515426" y="2489126"/>
            <a:ext cx="13716000" cy="2285597"/>
          </a:xfrm>
        </p:spPr>
        <p:txBody>
          <a:bodyPr anchor="t">
            <a:normAutofit/>
          </a:bodyPr>
          <a:lstStyle>
            <a:lvl1pPr marL="0" indent="0" algn="l">
              <a:buNone/>
              <a:defRPr sz="4201">
                <a:solidFill>
                  <a:schemeClr val="bg1"/>
                </a:solidFill>
              </a:defRPr>
            </a:lvl1pPr>
            <a:lvl2pPr marL="685809" indent="0" algn="ctr">
              <a:buNone/>
              <a:defRPr sz="3001"/>
            </a:lvl2pPr>
            <a:lvl3pPr marL="1371617" indent="0" algn="ctr">
              <a:buNone/>
              <a:defRPr sz="2700"/>
            </a:lvl3pPr>
            <a:lvl4pPr marL="2057427" indent="0" algn="ctr">
              <a:buNone/>
              <a:defRPr sz="2400"/>
            </a:lvl4pPr>
            <a:lvl5pPr marL="2743234" indent="0" algn="ctr">
              <a:buNone/>
              <a:defRPr sz="2400"/>
            </a:lvl5pPr>
            <a:lvl6pPr marL="3429044" indent="0" algn="ctr">
              <a:buNone/>
              <a:defRPr sz="2400"/>
            </a:lvl6pPr>
            <a:lvl7pPr marL="4114851" indent="0" algn="ctr">
              <a:buNone/>
              <a:defRPr sz="2400"/>
            </a:lvl7pPr>
            <a:lvl8pPr marL="4800661" indent="0" algn="ctr">
              <a:buNone/>
              <a:defRPr sz="2400"/>
            </a:lvl8pPr>
            <a:lvl9pPr marL="5486469" indent="0" algn="ctr">
              <a:buNone/>
              <a:defRPr sz="2400"/>
            </a:lvl9pPr>
          </a:lstStyle>
          <a:p>
            <a:r>
              <a:t>Click to edit Master subtitle style</a:t>
            </a:r>
          </a:p>
        </p:txBody>
      </p:sp>
      <p:sp>
        <p:nvSpPr>
          <p:cNvPr id="4" name="Date Placeholder 3">
            <a:extLst>
              <a:ext uri="{FF2B5EF4-FFF2-40B4-BE49-F238E27FC236}">
                <a16:creationId xmlns:a16="http://schemas.microsoft.com/office/drawing/2014/main" id="{FFC25FF9-C87E-4144-B699-B32E0C6B9929}"/>
              </a:ext>
            </a:extLst>
          </p:cNvPr>
          <p:cNvSpPr>
            <a:spLocks noGrp="1"/>
          </p:cNvSpPr>
          <p:nvPr>
            <p:ph type="dt" idx="10"/>
          </p:nvPr>
        </p:nvSpPr>
        <p:spPr/>
        <p:txBody>
          <a:bodyPr/>
          <a:lstStyle/>
          <a:p>
            <a:fld id="{C6FD3620-A33D-4624-9CAB-9F02D195D2C5}" type="datetime1">
              <a:t>9/10/2026</a:t>
            </a:fld>
            <a:endParaRPr/>
          </a:p>
        </p:txBody>
      </p:sp>
      <p:sp>
        <p:nvSpPr>
          <p:cNvPr id="5" name="Footer Placeholder 4">
            <a:extLst>
              <a:ext uri="{FF2B5EF4-FFF2-40B4-BE49-F238E27FC236}">
                <a16:creationId xmlns:a16="http://schemas.microsoft.com/office/drawing/2014/main" id="{49D87D4C-F4CE-468C-9006-6CBEA76C6DA4}"/>
              </a:ext>
            </a:extLst>
          </p:cNvPr>
          <p:cNvSpPr>
            <a:spLocks noGrp="1"/>
          </p:cNvSpPr>
          <p:nvPr>
            <p:ph type="ftr" idx="11"/>
          </p:nvPr>
        </p:nvSpPr>
        <p:spPr/>
        <p:txBody>
          <a:bodyPr/>
          <a:lstStyle/>
          <a:p>
            <a:r>
              <a:t>Internal Use Only</a:t>
            </a:r>
          </a:p>
        </p:txBody>
      </p:sp>
      <p:sp>
        <p:nvSpPr>
          <p:cNvPr id="10" name="Straight Connector 9">
            <a:extLst>
              <a:ext uri="{FF2B5EF4-FFF2-40B4-BE49-F238E27FC236}">
                <a16:creationId xmlns:a16="http://schemas.microsoft.com/office/drawing/2014/main" id="{5DF3DF23-1322-4DCD-A6CB-11D178F08A23}"/>
              </a:ext>
            </a:extLst>
          </p:cNvPr>
          <p:cNvSpPr>
            <a:spLocks noGrp="1"/>
          </p:cNvSpPr>
          <p:nvPr/>
        </p:nvSpPr>
        <p:spPr>
          <a:xfrm flipV="1">
            <a:off x="154860" y="6327060"/>
            <a:ext cx="17965502" cy="157070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12" name="Picture 12"/>
          <p:cNvPicPr>
            <a:picLocks noChangeAspect="1"/>
          </p:cNvPicPr>
          <p:nvPr/>
        </p:nvPicPr>
        <p:blipFill>
          <a:blip r:embed="rId2"/>
          <a:stretch>
            <a:fillRect/>
          </a:stretch>
        </p:blipFill>
        <p:spPr>
          <a:xfrm>
            <a:off x="14950254" y="8719163"/>
            <a:ext cx="3337746" cy="1570704"/>
          </a:xfrm>
          <a:prstGeom prst="rect">
            <a:avLst/>
          </a:prstGeom>
        </p:spPr>
      </p:pic>
      <p:sp>
        <p:nvSpPr>
          <p:cNvPr id="7" name="Flowchart: Manual Input 6">
            <a:extLst>
              <a:ext uri="{FF2B5EF4-FFF2-40B4-BE49-F238E27FC236}">
                <a16:creationId xmlns:a16="http://schemas.microsoft.com/office/drawing/2014/main" id="{3B689832-1BE6-455B-9143-C25E691CC452}"/>
              </a:ext>
            </a:extLst>
          </p:cNvPr>
          <p:cNvSpPr>
            <a:spLocks noGrp="1"/>
          </p:cNvSpPr>
          <p:nvPr/>
        </p:nvSpPr>
        <p:spPr>
          <a:xfrm rot="10800000">
            <a:off x="154860" y="176980"/>
            <a:ext cx="17965502" cy="7549700"/>
          </a:xfrm>
          <a:prstGeom prst="flowChartManualInpu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700"/>
          </a:p>
        </p:txBody>
      </p:sp>
      <p:sp>
        <p:nvSpPr>
          <p:cNvPr id="2" name="Title 1">
            <a:extLst>
              <a:ext uri="{FF2B5EF4-FFF2-40B4-BE49-F238E27FC236}">
                <a16:creationId xmlns:a16="http://schemas.microsoft.com/office/drawing/2014/main" id="{8C32F236-F7CF-4D11-A9B2-5193ED350E45}"/>
              </a:ext>
            </a:extLst>
          </p:cNvPr>
          <p:cNvSpPr>
            <a:spLocks noGrp="1"/>
          </p:cNvSpPr>
          <p:nvPr>
            <p:ph type="ctrTitle"/>
          </p:nvPr>
        </p:nvSpPr>
        <p:spPr>
          <a:xfrm>
            <a:off x="515427" y="659507"/>
            <a:ext cx="16515275" cy="1579106"/>
          </a:xfrm>
          <a:prstGeom prst="rect">
            <a:avLst/>
          </a:prstGeom>
        </p:spPr>
        <p:txBody>
          <a:bodyPr anchor="ctr">
            <a:normAutofit/>
          </a:bodyPr>
          <a:lstStyle>
            <a:lvl1pPr algn="l">
              <a:buNone/>
              <a:defRPr sz="6601" b="1">
                <a:solidFill>
                  <a:schemeClr val="bg1"/>
                </a:solidFill>
              </a:defRPr>
            </a:lvl1pPr>
          </a:lstStyle>
          <a:p>
            <a:r>
              <a:t>Click to edit Master title style</a:t>
            </a:r>
          </a:p>
        </p:txBody>
      </p:sp>
      <p:sp>
        <p:nvSpPr>
          <p:cNvPr id="3" name="Subtitle 2">
            <a:extLst>
              <a:ext uri="{FF2B5EF4-FFF2-40B4-BE49-F238E27FC236}">
                <a16:creationId xmlns:a16="http://schemas.microsoft.com/office/drawing/2014/main" id="{F97B5331-17B4-42D5-B235-ACA210666A8D}"/>
              </a:ext>
            </a:extLst>
          </p:cNvPr>
          <p:cNvSpPr>
            <a:spLocks noGrp="1"/>
          </p:cNvSpPr>
          <p:nvPr>
            <p:ph type="subTitle" idx="1"/>
          </p:nvPr>
        </p:nvSpPr>
        <p:spPr>
          <a:xfrm>
            <a:off x="515426" y="2489126"/>
            <a:ext cx="13716000" cy="2285597"/>
          </a:xfrm>
        </p:spPr>
        <p:txBody>
          <a:bodyPr anchor="t">
            <a:normAutofit/>
          </a:bodyPr>
          <a:lstStyle>
            <a:lvl1pPr marL="0" indent="0" algn="l">
              <a:buNone/>
              <a:defRPr sz="4201">
                <a:solidFill>
                  <a:schemeClr val="bg1"/>
                </a:solidFill>
              </a:defRPr>
            </a:lvl1pPr>
            <a:lvl2pPr marL="685809" indent="0" algn="ctr">
              <a:buNone/>
              <a:defRPr sz="3001"/>
            </a:lvl2pPr>
            <a:lvl3pPr marL="1371617" indent="0" algn="ctr">
              <a:buNone/>
              <a:defRPr sz="2700"/>
            </a:lvl3pPr>
            <a:lvl4pPr marL="2057427" indent="0" algn="ctr">
              <a:buNone/>
              <a:defRPr sz="2400"/>
            </a:lvl4pPr>
            <a:lvl5pPr marL="2743234" indent="0" algn="ctr">
              <a:buNone/>
              <a:defRPr sz="2400"/>
            </a:lvl5pPr>
            <a:lvl6pPr marL="3429044" indent="0" algn="ctr">
              <a:buNone/>
              <a:defRPr sz="2400"/>
            </a:lvl6pPr>
            <a:lvl7pPr marL="4114851" indent="0" algn="ctr">
              <a:buNone/>
              <a:defRPr sz="2400"/>
            </a:lvl7pPr>
            <a:lvl8pPr marL="4800661" indent="0" algn="ctr">
              <a:buNone/>
              <a:defRPr sz="2400"/>
            </a:lvl8pPr>
            <a:lvl9pPr marL="5486469" indent="0" algn="ctr">
              <a:buNone/>
              <a:defRPr sz="2400"/>
            </a:lvl9pPr>
          </a:lstStyle>
          <a:p>
            <a:r>
              <a:t>Click to edit Master subtitle style</a:t>
            </a:r>
          </a:p>
        </p:txBody>
      </p:sp>
      <p:sp>
        <p:nvSpPr>
          <p:cNvPr id="4" name="Date Placeholder 3">
            <a:extLst>
              <a:ext uri="{FF2B5EF4-FFF2-40B4-BE49-F238E27FC236}">
                <a16:creationId xmlns:a16="http://schemas.microsoft.com/office/drawing/2014/main" id="{FFC25FF9-C87E-4144-B699-B32E0C6B9929}"/>
              </a:ext>
            </a:extLst>
          </p:cNvPr>
          <p:cNvSpPr>
            <a:spLocks noGrp="1"/>
          </p:cNvSpPr>
          <p:nvPr>
            <p:ph type="dt" idx="10"/>
          </p:nvPr>
        </p:nvSpPr>
        <p:spPr/>
        <p:txBody>
          <a:bodyPr/>
          <a:lstStyle/>
          <a:p>
            <a:fld id="{C6FD3620-A33D-4624-9CAB-9F02D195D2C5}" type="datetime1">
              <a:t>9/10/2026</a:t>
            </a:fld>
            <a:endParaRPr/>
          </a:p>
        </p:txBody>
      </p:sp>
      <p:sp>
        <p:nvSpPr>
          <p:cNvPr id="5" name="Footer Placeholder 4">
            <a:extLst>
              <a:ext uri="{FF2B5EF4-FFF2-40B4-BE49-F238E27FC236}">
                <a16:creationId xmlns:a16="http://schemas.microsoft.com/office/drawing/2014/main" id="{49D87D4C-F4CE-468C-9006-6CBEA76C6DA4}"/>
              </a:ext>
            </a:extLst>
          </p:cNvPr>
          <p:cNvSpPr>
            <a:spLocks noGrp="1"/>
          </p:cNvSpPr>
          <p:nvPr>
            <p:ph type="ftr" idx="11"/>
          </p:nvPr>
        </p:nvSpPr>
        <p:spPr/>
        <p:txBody>
          <a:bodyPr/>
          <a:lstStyle/>
          <a:p>
            <a:r>
              <a:t>Internal Use Only</a:t>
            </a:r>
          </a:p>
        </p:txBody>
      </p:sp>
      <p:sp>
        <p:nvSpPr>
          <p:cNvPr id="10" name="Straight Connector 9">
            <a:extLst>
              <a:ext uri="{FF2B5EF4-FFF2-40B4-BE49-F238E27FC236}">
                <a16:creationId xmlns:a16="http://schemas.microsoft.com/office/drawing/2014/main" id="{5DF3DF23-1322-4DCD-A6CB-11D178F08A23}"/>
              </a:ext>
            </a:extLst>
          </p:cNvPr>
          <p:cNvSpPr>
            <a:spLocks noGrp="1"/>
          </p:cNvSpPr>
          <p:nvPr/>
        </p:nvSpPr>
        <p:spPr>
          <a:xfrm flipV="1">
            <a:off x="154860" y="6327060"/>
            <a:ext cx="17965502" cy="157070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12" name="Picture 12"/>
          <p:cNvPicPr>
            <a:picLocks noChangeAspect="1"/>
          </p:cNvPicPr>
          <p:nvPr/>
        </p:nvPicPr>
        <p:blipFill>
          <a:blip r:embed="rId2"/>
          <a:stretch>
            <a:fillRect/>
          </a:stretch>
        </p:blipFill>
        <p:spPr>
          <a:xfrm>
            <a:off x="14950254" y="8719163"/>
            <a:ext cx="3337746" cy="1570704"/>
          </a:xfrm>
          <a:prstGeom prst="rect">
            <a:avLst/>
          </a:prstGeom>
        </p:spPr>
      </p:pic>
      <p:sp>
        <p:nvSpPr>
          <p:cNvPr id="7" name="Flowchart: Manual Input 6">
            <a:extLst>
              <a:ext uri="{FF2B5EF4-FFF2-40B4-BE49-F238E27FC236}">
                <a16:creationId xmlns:a16="http://schemas.microsoft.com/office/drawing/2014/main" id="{3B689832-1BE6-455B-9143-C25E691CC452}"/>
              </a:ext>
            </a:extLst>
          </p:cNvPr>
          <p:cNvSpPr>
            <a:spLocks noGrp="1"/>
          </p:cNvSpPr>
          <p:nvPr/>
        </p:nvSpPr>
        <p:spPr>
          <a:xfrm rot="10800000">
            <a:off x="154860" y="176980"/>
            <a:ext cx="17965502" cy="7549700"/>
          </a:xfrm>
          <a:prstGeom prst="flowChartManualInpu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700"/>
          </a:p>
        </p:txBody>
      </p:sp>
      <p:sp>
        <p:nvSpPr>
          <p:cNvPr id="2" name="Title 1">
            <a:extLst>
              <a:ext uri="{FF2B5EF4-FFF2-40B4-BE49-F238E27FC236}">
                <a16:creationId xmlns:a16="http://schemas.microsoft.com/office/drawing/2014/main" id="{8C32F236-F7CF-4D11-A9B2-5193ED350E45}"/>
              </a:ext>
            </a:extLst>
          </p:cNvPr>
          <p:cNvSpPr>
            <a:spLocks noGrp="1"/>
          </p:cNvSpPr>
          <p:nvPr>
            <p:ph type="ctrTitle"/>
          </p:nvPr>
        </p:nvSpPr>
        <p:spPr>
          <a:xfrm>
            <a:off x="515427" y="659507"/>
            <a:ext cx="16515275" cy="1579106"/>
          </a:xfrm>
          <a:prstGeom prst="rect">
            <a:avLst/>
          </a:prstGeom>
        </p:spPr>
        <p:txBody>
          <a:bodyPr anchor="ctr">
            <a:normAutofit/>
          </a:bodyPr>
          <a:lstStyle>
            <a:lvl1pPr algn="l">
              <a:buNone/>
              <a:defRPr sz="6601" b="1">
                <a:solidFill>
                  <a:schemeClr val="bg1"/>
                </a:solidFill>
              </a:defRPr>
            </a:lvl1pPr>
          </a:lstStyle>
          <a:p>
            <a:r>
              <a:t>Click to edit Master title style</a:t>
            </a:r>
          </a:p>
        </p:txBody>
      </p:sp>
      <p:sp>
        <p:nvSpPr>
          <p:cNvPr id="3" name="Subtitle 2">
            <a:extLst>
              <a:ext uri="{FF2B5EF4-FFF2-40B4-BE49-F238E27FC236}">
                <a16:creationId xmlns:a16="http://schemas.microsoft.com/office/drawing/2014/main" id="{F97B5331-17B4-42D5-B235-ACA210666A8D}"/>
              </a:ext>
            </a:extLst>
          </p:cNvPr>
          <p:cNvSpPr>
            <a:spLocks noGrp="1"/>
          </p:cNvSpPr>
          <p:nvPr>
            <p:ph type="subTitle" idx="1"/>
          </p:nvPr>
        </p:nvSpPr>
        <p:spPr>
          <a:xfrm>
            <a:off x="515426" y="2489126"/>
            <a:ext cx="13716000" cy="2285597"/>
          </a:xfrm>
        </p:spPr>
        <p:txBody>
          <a:bodyPr anchor="t">
            <a:normAutofit/>
          </a:bodyPr>
          <a:lstStyle>
            <a:lvl1pPr marL="0" indent="0" algn="l">
              <a:buNone/>
              <a:defRPr sz="4201">
                <a:solidFill>
                  <a:schemeClr val="bg1"/>
                </a:solidFill>
              </a:defRPr>
            </a:lvl1pPr>
            <a:lvl2pPr marL="685809" indent="0" algn="ctr">
              <a:buNone/>
              <a:defRPr sz="3001"/>
            </a:lvl2pPr>
            <a:lvl3pPr marL="1371617" indent="0" algn="ctr">
              <a:buNone/>
              <a:defRPr sz="2700"/>
            </a:lvl3pPr>
            <a:lvl4pPr marL="2057427" indent="0" algn="ctr">
              <a:buNone/>
              <a:defRPr sz="2400"/>
            </a:lvl4pPr>
            <a:lvl5pPr marL="2743234" indent="0" algn="ctr">
              <a:buNone/>
              <a:defRPr sz="2400"/>
            </a:lvl5pPr>
            <a:lvl6pPr marL="3429044" indent="0" algn="ctr">
              <a:buNone/>
              <a:defRPr sz="2400"/>
            </a:lvl6pPr>
            <a:lvl7pPr marL="4114851" indent="0" algn="ctr">
              <a:buNone/>
              <a:defRPr sz="2400"/>
            </a:lvl7pPr>
            <a:lvl8pPr marL="4800661" indent="0" algn="ctr">
              <a:buNone/>
              <a:defRPr sz="2400"/>
            </a:lvl8pPr>
            <a:lvl9pPr marL="5486469" indent="0" algn="ctr">
              <a:buNone/>
              <a:defRPr sz="2400"/>
            </a:lvl9pPr>
          </a:lstStyle>
          <a:p>
            <a:r>
              <a:t>Click to edit Master subtitle style</a:t>
            </a:r>
          </a:p>
        </p:txBody>
      </p:sp>
      <p:sp>
        <p:nvSpPr>
          <p:cNvPr id="4" name="Date Placeholder 3">
            <a:extLst>
              <a:ext uri="{FF2B5EF4-FFF2-40B4-BE49-F238E27FC236}">
                <a16:creationId xmlns:a16="http://schemas.microsoft.com/office/drawing/2014/main" id="{FFC25FF9-C87E-4144-B699-B32E0C6B9929}"/>
              </a:ext>
            </a:extLst>
          </p:cNvPr>
          <p:cNvSpPr>
            <a:spLocks noGrp="1"/>
          </p:cNvSpPr>
          <p:nvPr>
            <p:ph type="dt" idx="10"/>
          </p:nvPr>
        </p:nvSpPr>
        <p:spPr/>
        <p:txBody>
          <a:bodyPr/>
          <a:lstStyle/>
          <a:p>
            <a:fld id="{C6FD3620-A33D-4624-9CAB-9F02D195D2C5}" type="datetime1">
              <a:t>9/10/2026</a:t>
            </a:fld>
            <a:endParaRPr/>
          </a:p>
        </p:txBody>
      </p:sp>
      <p:sp>
        <p:nvSpPr>
          <p:cNvPr id="5" name="Footer Placeholder 4">
            <a:extLst>
              <a:ext uri="{FF2B5EF4-FFF2-40B4-BE49-F238E27FC236}">
                <a16:creationId xmlns:a16="http://schemas.microsoft.com/office/drawing/2014/main" id="{49D87D4C-F4CE-468C-9006-6CBEA76C6DA4}"/>
              </a:ext>
            </a:extLst>
          </p:cNvPr>
          <p:cNvSpPr>
            <a:spLocks noGrp="1"/>
          </p:cNvSpPr>
          <p:nvPr>
            <p:ph type="ftr" idx="11"/>
          </p:nvPr>
        </p:nvSpPr>
        <p:spPr/>
        <p:txBody>
          <a:bodyPr/>
          <a:lstStyle/>
          <a:p>
            <a:r>
              <a:t>Internal Use Only</a:t>
            </a:r>
          </a:p>
        </p:txBody>
      </p:sp>
      <p:sp>
        <p:nvSpPr>
          <p:cNvPr id="10" name="Straight Connector 9">
            <a:extLst>
              <a:ext uri="{FF2B5EF4-FFF2-40B4-BE49-F238E27FC236}">
                <a16:creationId xmlns:a16="http://schemas.microsoft.com/office/drawing/2014/main" id="{5DF3DF23-1322-4DCD-A6CB-11D178F08A23}"/>
              </a:ext>
            </a:extLst>
          </p:cNvPr>
          <p:cNvSpPr>
            <a:spLocks noGrp="1"/>
          </p:cNvSpPr>
          <p:nvPr/>
        </p:nvSpPr>
        <p:spPr>
          <a:xfrm flipV="1">
            <a:off x="154860" y="6327060"/>
            <a:ext cx="17965502" cy="157070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12" name="Picture 12"/>
          <p:cNvPicPr>
            <a:picLocks noChangeAspect="1"/>
          </p:cNvPicPr>
          <p:nvPr/>
        </p:nvPicPr>
        <p:blipFill>
          <a:blip r:embed="rId2"/>
          <a:stretch>
            <a:fillRect/>
          </a:stretch>
        </p:blipFill>
        <p:spPr>
          <a:xfrm>
            <a:off x="14950254" y="8719163"/>
            <a:ext cx="3337746" cy="1570704"/>
          </a:xfrm>
          <a:prstGeom prst="rect">
            <a:avLst/>
          </a:prstGeom>
        </p:spPr>
      </p:pic>
      <p:sp>
        <p:nvSpPr>
          <p:cNvPr id="7" name="Flowchart: Manual Input 6">
            <a:extLst>
              <a:ext uri="{FF2B5EF4-FFF2-40B4-BE49-F238E27FC236}">
                <a16:creationId xmlns:a16="http://schemas.microsoft.com/office/drawing/2014/main" id="{3B689832-1BE6-455B-9143-C25E691CC452}"/>
              </a:ext>
            </a:extLst>
          </p:cNvPr>
          <p:cNvSpPr>
            <a:spLocks noGrp="1"/>
          </p:cNvSpPr>
          <p:nvPr/>
        </p:nvSpPr>
        <p:spPr>
          <a:xfrm rot="10800000">
            <a:off x="154860" y="176980"/>
            <a:ext cx="17965502" cy="7549700"/>
          </a:xfrm>
          <a:prstGeom prst="flowChartManualInpu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700"/>
          </a:p>
        </p:txBody>
      </p:sp>
      <p:sp>
        <p:nvSpPr>
          <p:cNvPr id="2" name="Title 1">
            <a:extLst>
              <a:ext uri="{FF2B5EF4-FFF2-40B4-BE49-F238E27FC236}">
                <a16:creationId xmlns:a16="http://schemas.microsoft.com/office/drawing/2014/main" id="{8C32F236-F7CF-4D11-A9B2-5193ED350E45}"/>
              </a:ext>
            </a:extLst>
          </p:cNvPr>
          <p:cNvSpPr>
            <a:spLocks noGrp="1"/>
          </p:cNvSpPr>
          <p:nvPr>
            <p:ph type="ctrTitle"/>
          </p:nvPr>
        </p:nvSpPr>
        <p:spPr>
          <a:xfrm>
            <a:off x="515427" y="659507"/>
            <a:ext cx="16515275" cy="1579106"/>
          </a:xfrm>
          <a:prstGeom prst="rect">
            <a:avLst/>
          </a:prstGeom>
        </p:spPr>
        <p:txBody>
          <a:bodyPr anchor="ctr">
            <a:normAutofit/>
          </a:bodyPr>
          <a:lstStyle>
            <a:lvl1pPr algn="l">
              <a:buNone/>
              <a:defRPr sz="6601" b="1">
                <a:solidFill>
                  <a:schemeClr val="bg1"/>
                </a:solidFill>
              </a:defRPr>
            </a:lvl1pPr>
          </a:lstStyle>
          <a:p>
            <a:r>
              <a:t>Click to edit Master title style</a:t>
            </a:r>
          </a:p>
        </p:txBody>
      </p:sp>
      <p:sp>
        <p:nvSpPr>
          <p:cNvPr id="3" name="Subtitle 2">
            <a:extLst>
              <a:ext uri="{FF2B5EF4-FFF2-40B4-BE49-F238E27FC236}">
                <a16:creationId xmlns:a16="http://schemas.microsoft.com/office/drawing/2014/main" id="{F97B5331-17B4-42D5-B235-ACA210666A8D}"/>
              </a:ext>
            </a:extLst>
          </p:cNvPr>
          <p:cNvSpPr>
            <a:spLocks noGrp="1"/>
          </p:cNvSpPr>
          <p:nvPr>
            <p:ph type="subTitle" idx="1"/>
          </p:nvPr>
        </p:nvSpPr>
        <p:spPr>
          <a:xfrm>
            <a:off x="515426" y="2489126"/>
            <a:ext cx="13716000" cy="2285597"/>
          </a:xfrm>
        </p:spPr>
        <p:txBody>
          <a:bodyPr anchor="t">
            <a:normAutofit/>
          </a:bodyPr>
          <a:lstStyle>
            <a:lvl1pPr marL="0" indent="0" algn="l">
              <a:buNone/>
              <a:defRPr sz="4201">
                <a:solidFill>
                  <a:schemeClr val="bg1"/>
                </a:solidFill>
              </a:defRPr>
            </a:lvl1pPr>
            <a:lvl2pPr marL="685809" indent="0" algn="ctr">
              <a:buNone/>
              <a:defRPr sz="3001"/>
            </a:lvl2pPr>
            <a:lvl3pPr marL="1371617" indent="0" algn="ctr">
              <a:buNone/>
              <a:defRPr sz="2700"/>
            </a:lvl3pPr>
            <a:lvl4pPr marL="2057427" indent="0" algn="ctr">
              <a:buNone/>
              <a:defRPr sz="2400"/>
            </a:lvl4pPr>
            <a:lvl5pPr marL="2743234" indent="0" algn="ctr">
              <a:buNone/>
              <a:defRPr sz="2400"/>
            </a:lvl5pPr>
            <a:lvl6pPr marL="3429044" indent="0" algn="ctr">
              <a:buNone/>
              <a:defRPr sz="2400"/>
            </a:lvl6pPr>
            <a:lvl7pPr marL="4114851" indent="0" algn="ctr">
              <a:buNone/>
              <a:defRPr sz="2400"/>
            </a:lvl7pPr>
            <a:lvl8pPr marL="4800661" indent="0" algn="ctr">
              <a:buNone/>
              <a:defRPr sz="2400"/>
            </a:lvl8pPr>
            <a:lvl9pPr marL="5486469" indent="0" algn="ctr">
              <a:buNone/>
              <a:defRPr sz="2400"/>
            </a:lvl9pPr>
          </a:lstStyle>
          <a:p>
            <a:r>
              <a:t>Click to edit Master subtitle style</a:t>
            </a:r>
          </a:p>
        </p:txBody>
      </p:sp>
      <p:sp>
        <p:nvSpPr>
          <p:cNvPr id="4" name="Date Placeholder 3">
            <a:extLst>
              <a:ext uri="{FF2B5EF4-FFF2-40B4-BE49-F238E27FC236}">
                <a16:creationId xmlns:a16="http://schemas.microsoft.com/office/drawing/2014/main" id="{FFC25FF9-C87E-4144-B699-B32E0C6B9929}"/>
              </a:ext>
            </a:extLst>
          </p:cNvPr>
          <p:cNvSpPr>
            <a:spLocks noGrp="1"/>
          </p:cNvSpPr>
          <p:nvPr>
            <p:ph type="dt" idx="10"/>
          </p:nvPr>
        </p:nvSpPr>
        <p:spPr/>
        <p:txBody>
          <a:bodyPr/>
          <a:lstStyle/>
          <a:p>
            <a:fld id="{C6FD3620-A33D-4624-9CAB-9F02D195D2C5}" type="datetime1">
              <a:t>9/10/2026</a:t>
            </a:fld>
            <a:endParaRPr/>
          </a:p>
        </p:txBody>
      </p:sp>
      <p:sp>
        <p:nvSpPr>
          <p:cNvPr id="5" name="Footer Placeholder 4">
            <a:extLst>
              <a:ext uri="{FF2B5EF4-FFF2-40B4-BE49-F238E27FC236}">
                <a16:creationId xmlns:a16="http://schemas.microsoft.com/office/drawing/2014/main" id="{49D87D4C-F4CE-468C-9006-6CBEA76C6DA4}"/>
              </a:ext>
            </a:extLst>
          </p:cNvPr>
          <p:cNvSpPr>
            <a:spLocks noGrp="1"/>
          </p:cNvSpPr>
          <p:nvPr>
            <p:ph type="ftr" idx="11"/>
          </p:nvPr>
        </p:nvSpPr>
        <p:spPr/>
        <p:txBody>
          <a:bodyPr/>
          <a:lstStyle/>
          <a:p>
            <a:r>
              <a:t>Internal Use Only</a:t>
            </a:r>
          </a:p>
        </p:txBody>
      </p:sp>
      <p:sp>
        <p:nvSpPr>
          <p:cNvPr id="10" name="Straight Connector 9">
            <a:extLst>
              <a:ext uri="{FF2B5EF4-FFF2-40B4-BE49-F238E27FC236}">
                <a16:creationId xmlns:a16="http://schemas.microsoft.com/office/drawing/2014/main" id="{5DF3DF23-1322-4DCD-A6CB-11D178F08A23}"/>
              </a:ext>
            </a:extLst>
          </p:cNvPr>
          <p:cNvSpPr>
            <a:spLocks noGrp="1"/>
          </p:cNvSpPr>
          <p:nvPr/>
        </p:nvSpPr>
        <p:spPr>
          <a:xfrm flipV="1">
            <a:off x="154860" y="6327060"/>
            <a:ext cx="17965502" cy="157070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12" name="Picture 12"/>
          <p:cNvPicPr>
            <a:picLocks noChangeAspect="1"/>
          </p:cNvPicPr>
          <p:nvPr/>
        </p:nvPicPr>
        <p:blipFill>
          <a:blip r:embed="rId2"/>
          <a:stretch>
            <a:fillRect/>
          </a:stretch>
        </p:blipFill>
        <p:spPr>
          <a:xfrm>
            <a:off x="14950254" y="8719163"/>
            <a:ext cx="3337746" cy="1570704"/>
          </a:xfrm>
          <a:prstGeom prst="rect">
            <a:avLst/>
          </a:prstGeom>
        </p:spPr>
      </p:pic>
      <p:sp>
        <p:nvSpPr>
          <p:cNvPr id="7" name="Flowchart: Manual Input 6">
            <a:extLst>
              <a:ext uri="{FF2B5EF4-FFF2-40B4-BE49-F238E27FC236}">
                <a16:creationId xmlns:a16="http://schemas.microsoft.com/office/drawing/2014/main" id="{3B689832-1BE6-455B-9143-C25E691CC452}"/>
              </a:ext>
            </a:extLst>
          </p:cNvPr>
          <p:cNvSpPr>
            <a:spLocks noGrp="1"/>
          </p:cNvSpPr>
          <p:nvPr/>
        </p:nvSpPr>
        <p:spPr>
          <a:xfrm rot="10800000">
            <a:off x="154860" y="176980"/>
            <a:ext cx="17965502" cy="7549700"/>
          </a:xfrm>
          <a:prstGeom prst="flowChartManualInpu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700"/>
          </a:p>
        </p:txBody>
      </p:sp>
      <p:sp>
        <p:nvSpPr>
          <p:cNvPr id="2" name="Title 1">
            <a:extLst>
              <a:ext uri="{FF2B5EF4-FFF2-40B4-BE49-F238E27FC236}">
                <a16:creationId xmlns:a16="http://schemas.microsoft.com/office/drawing/2014/main" id="{8C32F236-F7CF-4D11-A9B2-5193ED350E45}"/>
              </a:ext>
            </a:extLst>
          </p:cNvPr>
          <p:cNvSpPr>
            <a:spLocks noGrp="1"/>
          </p:cNvSpPr>
          <p:nvPr>
            <p:ph type="ctrTitle"/>
          </p:nvPr>
        </p:nvSpPr>
        <p:spPr>
          <a:xfrm>
            <a:off x="515427" y="659507"/>
            <a:ext cx="16515275" cy="1579106"/>
          </a:xfrm>
          <a:prstGeom prst="rect">
            <a:avLst/>
          </a:prstGeom>
        </p:spPr>
        <p:txBody>
          <a:bodyPr anchor="ctr">
            <a:normAutofit/>
          </a:bodyPr>
          <a:lstStyle>
            <a:lvl1pPr algn="l">
              <a:buNone/>
              <a:defRPr sz="6601" b="1">
                <a:solidFill>
                  <a:schemeClr val="bg1"/>
                </a:solidFill>
              </a:defRPr>
            </a:lvl1pPr>
          </a:lstStyle>
          <a:p>
            <a:r>
              <a:t>Click to edit Master title style</a:t>
            </a:r>
          </a:p>
        </p:txBody>
      </p:sp>
      <p:sp>
        <p:nvSpPr>
          <p:cNvPr id="3" name="Subtitle 2">
            <a:extLst>
              <a:ext uri="{FF2B5EF4-FFF2-40B4-BE49-F238E27FC236}">
                <a16:creationId xmlns:a16="http://schemas.microsoft.com/office/drawing/2014/main" id="{F97B5331-17B4-42D5-B235-ACA210666A8D}"/>
              </a:ext>
            </a:extLst>
          </p:cNvPr>
          <p:cNvSpPr>
            <a:spLocks noGrp="1"/>
          </p:cNvSpPr>
          <p:nvPr>
            <p:ph type="subTitle" idx="1"/>
          </p:nvPr>
        </p:nvSpPr>
        <p:spPr>
          <a:xfrm>
            <a:off x="515426" y="2489126"/>
            <a:ext cx="13716000" cy="2285597"/>
          </a:xfrm>
        </p:spPr>
        <p:txBody>
          <a:bodyPr anchor="t">
            <a:normAutofit/>
          </a:bodyPr>
          <a:lstStyle>
            <a:lvl1pPr marL="0" indent="0" algn="l">
              <a:buNone/>
              <a:defRPr sz="4201">
                <a:solidFill>
                  <a:schemeClr val="bg1"/>
                </a:solidFill>
              </a:defRPr>
            </a:lvl1pPr>
            <a:lvl2pPr marL="685809" indent="0" algn="ctr">
              <a:buNone/>
              <a:defRPr sz="3001"/>
            </a:lvl2pPr>
            <a:lvl3pPr marL="1371617" indent="0" algn="ctr">
              <a:buNone/>
              <a:defRPr sz="2700"/>
            </a:lvl3pPr>
            <a:lvl4pPr marL="2057427" indent="0" algn="ctr">
              <a:buNone/>
              <a:defRPr sz="2400"/>
            </a:lvl4pPr>
            <a:lvl5pPr marL="2743234" indent="0" algn="ctr">
              <a:buNone/>
              <a:defRPr sz="2400"/>
            </a:lvl5pPr>
            <a:lvl6pPr marL="3429044" indent="0" algn="ctr">
              <a:buNone/>
              <a:defRPr sz="2400"/>
            </a:lvl6pPr>
            <a:lvl7pPr marL="4114851" indent="0" algn="ctr">
              <a:buNone/>
              <a:defRPr sz="2400"/>
            </a:lvl7pPr>
            <a:lvl8pPr marL="4800661" indent="0" algn="ctr">
              <a:buNone/>
              <a:defRPr sz="2400"/>
            </a:lvl8pPr>
            <a:lvl9pPr marL="5486469" indent="0" algn="ctr">
              <a:buNone/>
              <a:defRPr sz="2400"/>
            </a:lvl9pPr>
          </a:lstStyle>
          <a:p>
            <a:r>
              <a:t>Click to edit Master subtitle style</a:t>
            </a:r>
          </a:p>
        </p:txBody>
      </p:sp>
      <p:sp>
        <p:nvSpPr>
          <p:cNvPr id="4" name="Date Placeholder 3">
            <a:extLst>
              <a:ext uri="{FF2B5EF4-FFF2-40B4-BE49-F238E27FC236}">
                <a16:creationId xmlns:a16="http://schemas.microsoft.com/office/drawing/2014/main" id="{FFC25FF9-C87E-4144-B699-B32E0C6B9929}"/>
              </a:ext>
            </a:extLst>
          </p:cNvPr>
          <p:cNvSpPr>
            <a:spLocks noGrp="1"/>
          </p:cNvSpPr>
          <p:nvPr>
            <p:ph type="dt" idx="10"/>
          </p:nvPr>
        </p:nvSpPr>
        <p:spPr/>
        <p:txBody>
          <a:bodyPr/>
          <a:lstStyle/>
          <a:p>
            <a:fld id="{C6FD3620-A33D-4624-9CAB-9F02D195D2C5}" type="datetime1">
              <a:t>9/10/2026</a:t>
            </a:fld>
            <a:endParaRPr/>
          </a:p>
        </p:txBody>
      </p:sp>
      <p:sp>
        <p:nvSpPr>
          <p:cNvPr id="5" name="Footer Placeholder 4">
            <a:extLst>
              <a:ext uri="{FF2B5EF4-FFF2-40B4-BE49-F238E27FC236}">
                <a16:creationId xmlns:a16="http://schemas.microsoft.com/office/drawing/2014/main" id="{49D87D4C-F4CE-468C-9006-6CBEA76C6DA4}"/>
              </a:ext>
            </a:extLst>
          </p:cNvPr>
          <p:cNvSpPr>
            <a:spLocks noGrp="1"/>
          </p:cNvSpPr>
          <p:nvPr>
            <p:ph type="ftr" idx="11"/>
          </p:nvPr>
        </p:nvSpPr>
        <p:spPr/>
        <p:txBody>
          <a:bodyPr/>
          <a:lstStyle/>
          <a:p>
            <a:r>
              <a:t>Internal Use Only</a:t>
            </a:r>
          </a:p>
        </p:txBody>
      </p:sp>
      <p:sp>
        <p:nvSpPr>
          <p:cNvPr id="10" name="Straight Connector 9">
            <a:extLst>
              <a:ext uri="{FF2B5EF4-FFF2-40B4-BE49-F238E27FC236}">
                <a16:creationId xmlns:a16="http://schemas.microsoft.com/office/drawing/2014/main" id="{5DF3DF23-1322-4DCD-A6CB-11D178F08A23}"/>
              </a:ext>
            </a:extLst>
          </p:cNvPr>
          <p:cNvSpPr>
            <a:spLocks noGrp="1"/>
          </p:cNvSpPr>
          <p:nvPr/>
        </p:nvSpPr>
        <p:spPr>
          <a:xfrm flipV="1">
            <a:off x="154860" y="6327060"/>
            <a:ext cx="17965502" cy="157070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12" name="Picture 12"/>
          <p:cNvPicPr>
            <a:picLocks noChangeAspect="1"/>
          </p:cNvPicPr>
          <p:nvPr/>
        </p:nvPicPr>
        <p:blipFill>
          <a:blip r:embed="rId2"/>
          <a:stretch>
            <a:fillRect/>
          </a:stretch>
        </p:blipFill>
        <p:spPr>
          <a:xfrm>
            <a:off x="14950254" y="8719163"/>
            <a:ext cx="3337746" cy="1570704"/>
          </a:xfrm>
          <a:prstGeom prst="rect">
            <a:avLst/>
          </a:prstGeom>
        </p:spPr>
      </p:pic>
      <p:sp>
        <p:nvSpPr>
          <p:cNvPr id="7" name="Flowchart: Manual Input 6">
            <a:extLst>
              <a:ext uri="{FF2B5EF4-FFF2-40B4-BE49-F238E27FC236}">
                <a16:creationId xmlns:a16="http://schemas.microsoft.com/office/drawing/2014/main" id="{3B689832-1BE6-455B-9143-C25E691CC452}"/>
              </a:ext>
            </a:extLst>
          </p:cNvPr>
          <p:cNvSpPr>
            <a:spLocks noGrp="1"/>
          </p:cNvSpPr>
          <p:nvPr/>
        </p:nvSpPr>
        <p:spPr>
          <a:xfrm rot="10800000">
            <a:off x="154860" y="176980"/>
            <a:ext cx="17965502" cy="7549700"/>
          </a:xfrm>
          <a:prstGeom prst="flowChartManualInpu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700"/>
          </a:p>
        </p:txBody>
      </p:sp>
      <p:sp>
        <p:nvSpPr>
          <p:cNvPr id="2" name="Title 1">
            <a:extLst>
              <a:ext uri="{FF2B5EF4-FFF2-40B4-BE49-F238E27FC236}">
                <a16:creationId xmlns:a16="http://schemas.microsoft.com/office/drawing/2014/main" id="{8C32F236-F7CF-4D11-A9B2-5193ED350E45}"/>
              </a:ext>
            </a:extLst>
          </p:cNvPr>
          <p:cNvSpPr>
            <a:spLocks noGrp="1"/>
          </p:cNvSpPr>
          <p:nvPr>
            <p:ph type="ctrTitle"/>
          </p:nvPr>
        </p:nvSpPr>
        <p:spPr>
          <a:xfrm>
            <a:off x="515427" y="659507"/>
            <a:ext cx="16515275" cy="1579106"/>
          </a:xfrm>
          <a:prstGeom prst="rect">
            <a:avLst/>
          </a:prstGeom>
        </p:spPr>
        <p:txBody>
          <a:bodyPr anchor="ctr">
            <a:normAutofit/>
          </a:bodyPr>
          <a:lstStyle>
            <a:lvl1pPr algn="l">
              <a:buNone/>
              <a:defRPr sz="6601" b="1">
                <a:solidFill>
                  <a:schemeClr val="bg1"/>
                </a:solidFill>
              </a:defRPr>
            </a:lvl1pPr>
          </a:lstStyle>
          <a:p>
            <a:r>
              <a:t>Click to edit Master title style</a:t>
            </a:r>
          </a:p>
        </p:txBody>
      </p:sp>
      <p:sp>
        <p:nvSpPr>
          <p:cNvPr id="3" name="Subtitle 2">
            <a:extLst>
              <a:ext uri="{FF2B5EF4-FFF2-40B4-BE49-F238E27FC236}">
                <a16:creationId xmlns:a16="http://schemas.microsoft.com/office/drawing/2014/main" id="{F97B5331-17B4-42D5-B235-ACA210666A8D}"/>
              </a:ext>
            </a:extLst>
          </p:cNvPr>
          <p:cNvSpPr>
            <a:spLocks noGrp="1"/>
          </p:cNvSpPr>
          <p:nvPr>
            <p:ph type="subTitle" idx="1"/>
          </p:nvPr>
        </p:nvSpPr>
        <p:spPr>
          <a:xfrm>
            <a:off x="515426" y="2489126"/>
            <a:ext cx="13716000" cy="2285597"/>
          </a:xfrm>
        </p:spPr>
        <p:txBody>
          <a:bodyPr anchor="t">
            <a:normAutofit/>
          </a:bodyPr>
          <a:lstStyle>
            <a:lvl1pPr marL="0" indent="0" algn="l">
              <a:buNone/>
              <a:defRPr sz="4201">
                <a:solidFill>
                  <a:schemeClr val="bg1"/>
                </a:solidFill>
              </a:defRPr>
            </a:lvl1pPr>
            <a:lvl2pPr marL="685809" indent="0" algn="ctr">
              <a:buNone/>
              <a:defRPr sz="3001"/>
            </a:lvl2pPr>
            <a:lvl3pPr marL="1371617" indent="0" algn="ctr">
              <a:buNone/>
              <a:defRPr sz="2700"/>
            </a:lvl3pPr>
            <a:lvl4pPr marL="2057427" indent="0" algn="ctr">
              <a:buNone/>
              <a:defRPr sz="2400"/>
            </a:lvl4pPr>
            <a:lvl5pPr marL="2743234" indent="0" algn="ctr">
              <a:buNone/>
              <a:defRPr sz="2400"/>
            </a:lvl5pPr>
            <a:lvl6pPr marL="3429044" indent="0" algn="ctr">
              <a:buNone/>
              <a:defRPr sz="2400"/>
            </a:lvl6pPr>
            <a:lvl7pPr marL="4114851" indent="0" algn="ctr">
              <a:buNone/>
              <a:defRPr sz="2400"/>
            </a:lvl7pPr>
            <a:lvl8pPr marL="4800661" indent="0" algn="ctr">
              <a:buNone/>
              <a:defRPr sz="2400"/>
            </a:lvl8pPr>
            <a:lvl9pPr marL="5486469" indent="0" algn="ctr">
              <a:buNone/>
              <a:defRPr sz="2400"/>
            </a:lvl9pPr>
          </a:lstStyle>
          <a:p>
            <a:r>
              <a:t>Click to edit Master subtitle style</a:t>
            </a:r>
          </a:p>
        </p:txBody>
      </p:sp>
      <p:sp>
        <p:nvSpPr>
          <p:cNvPr id="4" name="Date Placeholder 3">
            <a:extLst>
              <a:ext uri="{FF2B5EF4-FFF2-40B4-BE49-F238E27FC236}">
                <a16:creationId xmlns:a16="http://schemas.microsoft.com/office/drawing/2014/main" id="{FFC25FF9-C87E-4144-B699-B32E0C6B9929}"/>
              </a:ext>
            </a:extLst>
          </p:cNvPr>
          <p:cNvSpPr>
            <a:spLocks noGrp="1"/>
          </p:cNvSpPr>
          <p:nvPr>
            <p:ph type="dt" idx="10"/>
          </p:nvPr>
        </p:nvSpPr>
        <p:spPr/>
        <p:txBody>
          <a:bodyPr/>
          <a:lstStyle/>
          <a:p>
            <a:fld id="{C6FD3620-A33D-4624-9CAB-9F02D195D2C5}" type="datetime1">
              <a:t>9/10/2026</a:t>
            </a:fld>
            <a:endParaRPr/>
          </a:p>
        </p:txBody>
      </p:sp>
      <p:sp>
        <p:nvSpPr>
          <p:cNvPr id="5" name="Footer Placeholder 4">
            <a:extLst>
              <a:ext uri="{FF2B5EF4-FFF2-40B4-BE49-F238E27FC236}">
                <a16:creationId xmlns:a16="http://schemas.microsoft.com/office/drawing/2014/main" id="{49D87D4C-F4CE-468C-9006-6CBEA76C6DA4}"/>
              </a:ext>
            </a:extLst>
          </p:cNvPr>
          <p:cNvSpPr>
            <a:spLocks noGrp="1"/>
          </p:cNvSpPr>
          <p:nvPr>
            <p:ph type="ftr" idx="11"/>
          </p:nvPr>
        </p:nvSpPr>
        <p:spPr/>
        <p:txBody>
          <a:bodyPr/>
          <a:lstStyle/>
          <a:p>
            <a:r>
              <a:t>Internal Use Only</a:t>
            </a:r>
          </a:p>
        </p:txBody>
      </p:sp>
      <p:sp>
        <p:nvSpPr>
          <p:cNvPr id="10" name="Straight Connector 9">
            <a:extLst>
              <a:ext uri="{FF2B5EF4-FFF2-40B4-BE49-F238E27FC236}">
                <a16:creationId xmlns:a16="http://schemas.microsoft.com/office/drawing/2014/main" id="{5DF3DF23-1322-4DCD-A6CB-11D178F08A23}"/>
              </a:ext>
            </a:extLst>
          </p:cNvPr>
          <p:cNvSpPr>
            <a:spLocks noGrp="1"/>
          </p:cNvSpPr>
          <p:nvPr/>
        </p:nvSpPr>
        <p:spPr>
          <a:xfrm flipV="1">
            <a:off x="154860" y="6327060"/>
            <a:ext cx="17965502" cy="157070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12" name="Picture 12"/>
          <p:cNvPicPr>
            <a:picLocks noChangeAspect="1"/>
          </p:cNvPicPr>
          <p:nvPr/>
        </p:nvPicPr>
        <p:blipFill>
          <a:blip r:embed="rId2"/>
          <a:stretch>
            <a:fillRect/>
          </a:stretch>
        </p:blipFill>
        <p:spPr>
          <a:xfrm>
            <a:off x="14950254" y="8719163"/>
            <a:ext cx="3337746" cy="1570704"/>
          </a:xfrm>
          <a:prstGeom prst="rect">
            <a:avLst/>
          </a:prstGeom>
        </p:spPr>
      </p:pic>
      <p:sp>
        <p:nvSpPr>
          <p:cNvPr id="7" name="Flowchart: Manual Input 6">
            <a:extLst>
              <a:ext uri="{FF2B5EF4-FFF2-40B4-BE49-F238E27FC236}">
                <a16:creationId xmlns:a16="http://schemas.microsoft.com/office/drawing/2014/main" id="{3B689832-1BE6-455B-9143-C25E691CC452}"/>
              </a:ext>
            </a:extLst>
          </p:cNvPr>
          <p:cNvSpPr>
            <a:spLocks noGrp="1"/>
          </p:cNvSpPr>
          <p:nvPr/>
        </p:nvSpPr>
        <p:spPr>
          <a:xfrm rot="10800000">
            <a:off x="154860" y="176980"/>
            <a:ext cx="17965502" cy="7549700"/>
          </a:xfrm>
          <a:prstGeom prst="flowChartManualInpu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700"/>
          </a:p>
        </p:txBody>
      </p:sp>
      <p:sp>
        <p:nvSpPr>
          <p:cNvPr id="2" name="Title 1">
            <a:extLst>
              <a:ext uri="{FF2B5EF4-FFF2-40B4-BE49-F238E27FC236}">
                <a16:creationId xmlns:a16="http://schemas.microsoft.com/office/drawing/2014/main" id="{8C32F236-F7CF-4D11-A9B2-5193ED350E45}"/>
              </a:ext>
            </a:extLst>
          </p:cNvPr>
          <p:cNvSpPr>
            <a:spLocks noGrp="1"/>
          </p:cNvSpPr>
          <p:nvPr>
            <p:ph type="ctrTitle"/>
          </p:nvPr>
        </p:nvSpPr>
        <p:spPr>
          <a:xfrm>
            <a:off x="515427" y="659507"/>
            <a:ext cx="16515275" cy="1579106"/>
          </a:xfrm>
          <a:prstGeom prst="rect">
            <a:avLst/>
          </a:prstGeom>
        </p:spPr>
        <p:txBody>
          <a:bodyPr anchor="ctr">
            <a:normAutofit/>
          </a:bodyPr>
          <a:lstStyle>
            <a:lvl1pPr algn="l">
              <a:buNone/>
              <a:defRPr sz="6601" b="1">
                <a:solidFill>
                  <a:schemeClr val="bg1"/>
                </a:solidFill>
              </a:defRPr>
            </a:lvl1pPr>
          </a:lstStyle>
          <a:p>
            <a:r>
              <a:t>Click to edit Master title style</a:t>
            </a:r>
          </a:p>
        </p:txBody>
      </p:sp>
      <p:sp>
        <p:nvSpPr>
          <p:cNvPr id="3" name="Subtitle 2">
            <a:extLst>
              <a:ext uri="{FF2B5EF4-FFF2-40B4-BE49-F238E27FC236}">
                <a16:creationId xmlns:a16="http://schemas.microsoft.com/office/drawing/2014/main" id="{F97B5331-17B4-42D5-B235-ACA210666A8D}"/>
              </a:ext>
            </a:extLst>
          </p:cNvPr>
          <p:cNvSpPr>
            <a:spLocks noGrp="1"/>
          </p:cNvSpPr>
          <p:nvPr>
            <p:ph type="subTitle" idx="1"/>
          </p:nvPr>
        </p:nvSpPr>
        <p:spPr>
          <a:xfrm>
            <a:off x="515426" y="2489126"/>
            <a:ext cx="13716000" cy="2285597"/>
          </a:xfrm>
        </p:spPr>
        <p:txBody>
          <a:bodyPr anchor="t">
            <a:normAutofit/>
          </a:bodyPr>
          <a:lstStyle>
            <a:lvl1pPr marL="0" indent="0" algn="l">
              <a:buNone/>
              <a:defRPr sz="4201">
                <a:solidFill>
                  <a:schemeClr val="bg1"/>
                </a:solidFill>
              </a:defRPr>
            </a:lvl1pPr>
            <a:lvl2pPr marL="685809" indent="0" algn="ctr">
              <a:buNone/>
              <a:defRPr sz="3001"/>
            </a:lvl2pPr>
            <a:lvl3pPr marL="1371617" indent="0" algn="ctr">
              <a:buNone/>
              <a:defRPr sz="2700"/>
            </a:lvl3pPr>
            <a:lvl4pPr marL="2057427" indent="0" algn="ctr">
              <a:buNone/>
              <a:defRPr sz="2400"/>
            </a:lvl4pPr>
            <a:lvl5pPr marL="2743234" indent="0" algn="ctr">
              <a:buNone/>
              <a:defRPr sz="2400"/>
            </a:lvl5pPr>
            <a:lvl6pPr marL="3429044" indent="0" algn="ctr">
              <a:buNone/>
              <a:defRPr sz="2400"/>
            </a:lvl6pPr>
            <a:lvl7pPr marL="4114851" indent="0" algn="ctr">
              <a:buNone/>
              <a:defRPr sz="2400"/>
            </a:lvl7pPr>
            <a:lvl8pPr marL="4800661" indent="0" algn="ctr">
              <a:buNone/>
              <a:defRPr sz="2400"/>
            </a:lvl8pPr>
            <a:lvl9pPr marL="5486469" indent="0" algn="ctr">
              <a:buNone/>
              <a:defRPr sz="2400"/>
            </a:lvl9pPr>
          </a:lstStyle>
          <a:p>
            <a:r>
              <a:t>Click to edit Master subtitle style</a:t>
            </a:r>
          </a:p>
        </p:txBody>
      </p:sp>
      <p:sp>
        <p:nvSpPr>
          <p:cNvPr id="4" name="Date Placeholder 3">
            <a:extLst>
              <a:ext uri="{FF2B5EF4-FFF2-40B4-BE49-F238E27FC236}">
                <a16:creationId xmlns:a16="http://schemas.microsoft.com/office/drawing/2014/main" id="{FFC25FF9-C87E-4144-B699-B32E0C6B9929}"/>
              </a:ext>
            </a:extLst>
          </p:cNvPr>
          <p:cNvSpPr>
            <a:spLocks noGrp="1"/>
          </p:cNvSpPr>
          <p:nvPr>
            <p:ph type="dt" idx="10"/>
          </p:nvPr>
        </p:nvSpPr>
        <p:spPr/>
        <p:txBody>
          <a:bodyPr/>
          <a:lstStyle/>
          <a:p>
            <a:fld id="{C6FD3620-A33D-4624-9CAB-9F02D195D2C5}" type="datetime1">
              <a:t>9/10/2026</a:t>
            </a:fld>
            <a:endParaRPr/>
          </a:p>
        </p:txBody>
      </p:sp>
      <p:sp>
        <p:nvSpPr>
          <p:cNvPr id="5" name="Footer Placeholder 4">
            <a:extLst>
              <a:ext uri="{FF2B5EF4-FFF2-40B4-BE49-F238E27FC236}">
                <a16:creationId xmlns:a16="http://schemas.microsoft.com/office/drawing/2014/main" id="{49D87D4C-F4CE-468C-9006-6CBEA76C6DA4}"/>
              </a:ext>
            </a:extLst>
          </p:cNvPr>
          <p:cNvSpPr>
            <a:spLocks noGrp="1"/>
          </p:cNvSpPr>
          <p:nvPr>
            <p:ph type="ftr" idx="11"/>
          </p:nvPr>
        </p:nvSpPr>
        <p:spPr/>
        <p:txBody>
          <a:bodyPr/>
          <a:lstStyle/>
          <a:p>
            <a:r>
              <a:t>Internal Use Only</a:t>
            </a:r>
          </a:p>
        </p:txBody>
      </p:sp>
      <p:sp>
        <p:nvSpPr>
          <p:cNvPr id="10" name="Straight Connector 9">
            <a:extLst>
              <a:ext uri="{FF2B5EF4-FFF2-40B4-BE49-F238E27FC236}">
                <a16:creationId xmlns:a16="http://schemas.microsoft.com/office/drawing/2014/main" id="{5DF3DF23-1322-4DCD-A6CB-11D178F08A23}"/>
              </a:ext>
            </a:extLst>
          </p:cNvPr>
          <p:cNvSpPr>
            <a:spLocks noGrp="1"/>
          </p:cNvSpPr>
          <p:nvPr/>
        </p:nvSpPr>
        <p:spPr>
          <a:xfrm flipV="1">
            <a:off x="154860" y="6327060"/>
            <a:ext cx="17965502" cy="157070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12" name="Picture 12"/>
          <p:cNvPicPr>
            <a:picLocks noChangeAspect="1"/>
          </p:cNvPicPr>
          <p:nvPr/>
        </p:nvPicPr>
        <p:blipFill>
          <a:blip r:embed="rId2"/>
          <a:stretch>
            <a:fillRect/>
          </a:stretch>
        </p:blipFill>
        <p:spPr>
          <a:xfrm>
            <a:off x="14950254" y="8719163"/>
            <a:ext cx="3337746" cy="1570704"/>
          </a:xfrm>
          <a:prstGeom prst="rect">
            <a:avLst/>
          </a:prstGeom>
        </p:spPr>
      </p:pic>
      <p:sp>
        <p:nvSpPr>
          <p:cNvPr id="7" name="Flowchart: Manual Input 6">
            <a:extLst>
              <a:ext uri="{FF2B5EF4-FFF2-40B4-BE49-F238E27FC236}">
                <a16:creationId xmlns:a16="http://schemas.microsoft.com/office/drawing/2014/main" id="{3B689832-1BE6-455B-9143-C25E691CC452}"/>
              </a:ext>
            </a:extLst>
          </p:cNvPr>
          <p:cNvSpPr>
            <a:spLocks noGrp="1"/>
          </p:cNvSpPr>
          <p:nvPr/>
        </p:nvSpPr>
        <p:spPr>
          <a:xfrm rot="10800000">
            <a:off x="154860" y="176980"/>
            <a:ext cx="17965502" cy="7549700"/>
          </a:xfrm>
          <a:prstGeom prst="flowChartManualInpu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700"/>
          </a:p>
        </p:txBody>
      </p:sp>
      <p:sp>
        <p:nvSpPr>
          <p:cNvPr id="2" name="Title 1">
            <a:extLst>
              <a:ext uri="{FF2B5EF4-FFF2-40B4-BE49-F238E27FC236}">
                <a16:creationId xmlns:a16="http://schemas.microsoft.com/office/drawing/2014/main" id="{8C32F236-F7CF-4D11-A9B2-5193ED350E45}"/>
              </a:ext>
            </a:extLst>
          </p:cNvPr>
          <p:cNvSpPr>
            <a:spLocks noGrp="1"/>
          </p:cNvSpPr>
          <p:nvPr>
            <p:ph type="ctrTitle"/>
          </p:nvPr>
        </p:nvSpPr>
        <p:spPr>
          <a:xfrm>
            <a:off x="515427" y="659507"/>
            <a:ext cx="16515275" cy="1579106"/>
          </a:xfrm>
          <a:prstGeom prst="rect">
            <a:avLst/>
          </a:prstGeom>
        </p:spPr>
        <p:txBody>
          <a:bodyPr anchor="ctr">
            <a:normAutofit/>
          </a:bodyPr>
          <a:lstStyle>
            <a:lvl1pPr algn="l">
              <a:buNone/>
              <a:defRPr sz="6601" b="1">
                <a:solidFill>
                  <a:schemeClr val="bg1"/>
                </a:solidFill>
              </a:defRPr>
            </a:lvl1pPr>
          </a:lstStyle>
          <a:p>
            <a:r>
              <a:t>Click to edit Master title style</a:t>
            </a:r>
          </a:p>
        </p:txBody>
      </p:sp>
      <p:sp>
        <p:nvSpPr>
          <p:cNvPr id="3" name="Subtitle 2">
            <a:extLst>
              <a:ext uri="{FF2B5EF4-FFF2-40B4-BE49-F238E27FC236}">
                <a16:creationId xmlns:a16="http://schemas.microsoft.com/office/drawing/2014/main" id="{F97B5331-17B4-42D5-B235-ACA210666A8D}"/>
              </a:ext>
            </a:extLst>
          </p:cNvPr>
          <p:cNvSpPr>
            <a:spLocks noGrp="1"/>
          </p:cNvSpPr>
          <p:nvPr>
            <p:ph type="subTitle" idx="1"/>
          </p:nvPr>
        </p:nvSpPr>
        <p:spPr>
          <a:xfrm>
            <a:off x="515426" y="2489126"/>
            <a:ext cx="13716000" cy="2285597"/>
          </a:xfrm>
        </p:spPr>
        <p:txBody>
          <a:bodyPr anchor="t">
            <a:normAutofit/>
          </a:bodyPr>
          <a:lstStyle>
            <a:lvl1pPr marL="0" indent="0" algn="l">
              <a:buNone/>
              <a:defRPr sz="4201">
                <a:solidFill>
                  <a:schemeClr val="bg1"/>
                </a:solidFill>
              </a:defRPr>
            </a:lvl1pPr>
            <a:lvl2pPr marL="685809" indent="0" algn="ctr">
              <a:buNone/>
              <a:defRPr sz="3001"/>
            </a:lvl2pPr>
            <a:lvl3pPr marL="1371617" indent="0" algn="ctr">
              <a:buNone/>
              <a:defRPr sz="2700"/>
            </a:lvl3pPr>
            <a:lvl4pPr marL="2057427" indent="0" algn="ctr">
              <a:buNone/>
              <a:defRPr sz="2400"/>
            </a:lvl4pPr>
            <a:lvl5pPr marL="2743234" indent="0" algn="ctr">
              <a:buNone/>
              <a:defRPr sz="2400"/>
            </a:lvl5pPr>
            <a:lvl6pPr marL="3429044" indent="0" algn="ctr">
              <a:buNone/>
              <a:defRPr sz="2400"/>
            </a:lvl6pPr>
            <a:lvl7pPr marL="4114851" indent="0" algn="ctr">
              <a:buNone/>
              <a:defRPr sz="2400"/>
            </a:lvl7pPr>
            <a:lvl8pPr marL="4800661" indent="0" algn="ctr">
              <a:buNone/>
              <a:defRPr sz="2400"/>
            </a:lvl8pPr>
            <a:lvl9pPr marL="5486469" indent="0" algn="ctr">
              <a:buNone/>
              <a:defRPr sz="2400"/>
            </a:lvl9pPr>
          </a:lstStyle>
          <a:p>
            <a:r>
              <a:t>Click to edit Master subtitle style</a:t>
            </a:r>
          </a:p>
        </p:txBody>
      </p:sp>
      <p:sp>
        <p:nvSpPr>
          <p:cNvPr id="4" name="Date Placeholder 3">
            <a:extLst>
              <a:ext uri="{FF2B5EF4-FFF2-40B4-BE49-F238E27FC236}">
                <a16:creationId xmlns:a16="http://schemas.microsoft.com/office/drawing/2014/main" id="{FFC25FF9-C87E-4144-B699-B32E0C6B9929}"/>
              </a:ext>
            </a:extLst>
          </p:cNvPr>
          <p:cNvSpPr>
            <a:spLocks noGrp="1"/>
          </p:cNvSpPr>
          <p:nvPr>
            <p:ph type="dt" idx="10"/>
          </p:nvPr>
        </p:nvSpPr>
        <p:spPr/>
        <p:txBody>
          <a:bodyPr/>
          <a:lstStyle/>
          <a:p>
            <a:fld id="{C6FD3620-A33D-4624-9CAB-9F02D195D2C5}" type="datetime1">
              <a:t>9/10/2026</a:t>
            </a:fld>
            <a:endParaRPr/>
          </a:p>
        </p:txBody>
      </p:sp>
      <p:sp>
        <p:nvSpPr>
          <p:cNvPr id="5" name="Footer Placeholder 4">
            <a:extLst>
              <a:ext uri="{FF2B5EF4-FFF2-40B4-BE49-F238E27FC236}">
                <a16:creationId xmlns:a16="http://schemas.microsoft.com/office/drawing/2014/main" id="{49D87D4C-F4CE-468C-9006-6CBEA76C6DA4}"/>
              </a:ext>
            </a:extLst>
          </p:cNvPr>
          <p:cNvSpPr>
            <a:spLocks noGrp="1"/>
          </p:cNvSpPr>
          <p:nvPr>
            <p:ph type="ftr" idx="11"/>
          </p:nvPr>
        </p:nvSpPr>
        <p:spPr/>
        <p:txBody>
          <a:bodyPr/>
          <a:lstStyle/>
          <a:p>
            <a:r>
              <a:t>Internal Use Only</a:t>
            </a:r>
          </a:p>
        </p:txBody>
      </p:sp>
      <p:sp>
        <p:nvSpPr>
          <p:cNvPr id="10" name="Straight Connector 9">
            <a:extLst>
              <a:ext uri="{FF2B5EF4-FFF2-40B4-BE49-F238E27FC236}">
                <a16:creationId xmlns:a16="http://schemas.microsoft.com/office/drawing/2014/main" id="{5DF3DF23-1322-4DCD-A6CB-11D178F08A23}"/>
              </a:ext>
            </a:extLst>
          </p:cNvPr>
          <p:cNvSpPr>
            <a:spLocks noGrp="1"/>
          </p:cNvSpPr>
          <p:nvPr/>
        </p:nvSpPr>
        <p:spPr>
          <a:xfrm flipV="1">
            <a:off x="154860" y="6327060"/>
            <a:ext cx="17965502" cy="157070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12" name="Picture 12"/>
          <p:cNvPicPr>
            <a:picLocks noChangeAspect="1"/>
          </p:cNvPicPr>
          <p:nvPr/>
        </p:nvPicPr>
        <p:blipFill>
          <a:blip r:embed="rId2"/>
          <a:stretch>
            <a:fillRect/>
          </a:stretch>
        </p:blipFill>
        <p:spPr>
          <a:xfrm>
            <a:off x="14950254" y="8719163"/>
            <a:ext cx="3337746" cy="1570704"/>
          </a:xfrm>
          <a:prstGeom prst="rect">
            <a:avLst/>
          </a:prstGeom>
        </p:spPr>
      </p:pic>
      <p:sp>
        <p:nvSpPr>
          <p:cNvPr id="7" name="Flowchart: Manual Input 6">
            <a:extLst>
              <a:ext uri="{FF2B5EF4-FFF2-40B4-BE49-F238E27FC236}">
                <a16:creationId xmlns:a16="http://schemas.microsoft.com/office/drawing/2014/main" id="{3B689832-1BE6-455B-9143-C25E691CC452}"/>
              </a:ext>
            </a:extLst>
          </p:cNvPr>
          <p:cNvSpPr>
            <a:spLocks noGrp="1"/>
          </p:cNvSpPr>
          <p:nvPr/>
        </p:nvSpPr>
        <p:spPr>
          <a:xfrm rot="10800000">
            <a:off x="154860" y="176980"/>
            <a:ext cx="17965502" cy="7549700"/>
          </a:xfrm>
          <a:prstGeom prst="flowChartManualInpu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700"/>
          </a:p>
        </p:txBody>
      </p:sp>
      <p:sp>
        <p:nvSpPr>
          <p:cNvPr id="2" name="Title 1">
            <a:extLst>
              <a:ext uri="{FF2B5EF4-FFF2-40B4-BE49-F238E27FC236}">
                <a16:creationId xmlns:a16="http://schemas.microsoft.com/office/drawing/2014/main" id="{8C32F236-F7CF-4D11-A9B2-5193ED350E45}"/>
              </a:ext>
            </a:extLst>
          </p:cNvPr>
          <p:cNvSpPr>
            <a:spLocks noGrp="1"/>
          </p:cNvSpPr>
          <p:nvPr>
            <p:ph type="ctrTitle"/>
          </p:nvPr>
        </p:nvSpPr>
        <p:spPr>
          <a:xfrm>
            <a:off x="515427" y="659507"/>
            <a:ext cx="16515275" cy="1579106"/>
          </a:xfrm>
          <a:prstGeom prst="rect">
            <a:avLst/>
          </a:prstGeom>
        </p:spPr>
        <p:txBody>
          <a:bodyPr anchor="ctr">
            <a:normAutofit/>
          </a:bodyPr>
          <a:lstStyle>
            <a:lvl1pPr algn="l">
              <a:buNone/>
              <a:defRPr sz="6601" b="1">
                <a:solidFill>
                  <a:schemeClr val="bg1"/>
                </a:solidFill>
              </a:defRPr>
            </a:lvl1pPr>
          </a:lstStyle>
          <a:p>
            <a:r>
              <a:t>Click to edit Master title style</a:t>
            </a:r>
          </a:p>
        </p:txBody>
      </p:sp>
      <p:sp>
        <p:nvSpPr>
          <p:cNvPr id="3" name="Subtitle 2">
            <a:extLst>
              <a:ext uri="{FF2B5EF4-FFF2-40B4-BE49-F238E27FC236}">
                <a16:creationId xmlns:a16="http://schemas.microsoft.com/office/drawing/2014/main" id="{F97B5331-17B4-42D5-B235-ACA210666A8D}"/>
              </a:ext>
            </a:extLst>
          </p:cNvPr>
          <p:cNvSpPr>
            <a:spLocks noGrp="1"/>
          </p:cNvSpPr>
          <p:nvPr>
            <p:ph type="subTitle" idx="1"/>
          </p:nvPr>
        </p:nvSpPr>
        <p:spPr>
          <a:xfrm>
            <a:off x="515426" y="2489126"/>
            <a:ext cx="13716000" cy="2285597"/>
          </a:xfrm>
        </p:spPr>
        <p:txBody>
          <a:bodyPr anchor="t">
            <a:normAutofit/>
          </a:bodyPr>
          <a:lstStyle>
            <a:lvl1pPr marL="0" indent="0" algn="l">
              <a:buNone/>
              <a:defRPr sz="4201">
                <a:solidFill>
                  <a:schemeClr val="bg1"/>
                </a:solidFill>
              </a:defRPr>
            </a:lvl1pPr>
            <a:lvl2pPr marL="685809" indent="0" algn="ctr">
              <a:buNone/>
              <a:defRPr sz="3001"/>
            </a:lvl2pPr>
            <a:lvl3pPr marL="1371617" indent="0" algn="ctr">
              <a:buNone/>
              <a:defRPr sz="2700"/>
            </a:lvl3pPr>
            <a:lvl4pPr marL="2057427" indent="0" algn="ctr">
              <a:buNone/>
              <a:defRPr sz="2400"/>
            </a:lvl4pPr>
            <a:lvl5pPr marL="2743234" indent="0" algn="ctr">
              <a:buNone/>
              <a:defRPr sz="2400"/>
            </a:lvl5pPr>
            <a:lvl6pPr marL="3429044" indent="0" algn="ctr">
              <a:buNone/>
              <a:defRPr sz="2400"/>
            </a:lvl6pPr>
            <a:lvl7pPr marL="4114851" indent="0" algn="ctr">
              <a:buNone/>
              <a:defRPr sz="2400"/>
            </a:lvl7pPr>
            <a:lvl8pPr marL="4800661" indent="0" algn="ctr">
              <a:buNone/>
              <a:defRPr sz="2400"/>
            </a:lvl8pPr>
            <a:lvl9pPr marL="5486469" indent="0" algn="ctr">
              <a:buNone/>
              <a:defRPr sz="2400"/>
            </a:lvl9pPr>
          </a:lstStyle>
          <a:p>
            <a:r>
              <a:t>Click to edit Master subtitle style</a:t>
            </a:r>
          </a:p>
        </p:txBody>
      </p:sp>
      <p:sp>
        <p:nvSpPr>
          <p:cNvPr id="4" name="Date Placeholder 3">
            <a:extLst>
              <a:ext uri="{FF2B5EF4-FFF2-40B4-BE49-F238E27FC236}">
                <a16:creationId xmlns:a16="http://schemas.microsoft.com/office/drawing/2014/main" id="{FFC25FF9-C87E-4144-B699-B32E0C6B9929}"/>
              </a:ext>
            </a:extLst>
          </p:cNvPr>
          <p:cNvSpPr>
            <a:spLocks noGrp="1"/>
          </p:cNvSpPr>
          <p:nvPr>
            <p:ph type="dt" idx="10"/>
          </p:nvPr>
        </p:nvSpPr>
        <p:spPr/>
        <p:txBody>
          <a:bodyPr/>
          <a:lstStyle/>
          <a:p>
            <a:fld id="{C6FD3620-A33D-4624-9CAB-9F02D195D2C5}" type="datetime1">
              <a:t>9/10/2026</a:t>
            </a:fld>
            <a:endParaRPr/>
          </a:p>
        </p:txBody>
      </p:sp>
      <p:sp>
        <p:nvSpPr>
          <p:cNvPr id="5" name="Footer Placeholder 4">
            <a:extLst>
              <a:ext uri="{FF2B5EF4-FFF2-40B4-BE49-F238E27FC236}">
                <a16:creationId xmlns:a16="http://schemas.microsoft.com/office/drawing/2014/main" id="{49D87D4C-F4CE-468C-9006-6CBEA76C6DA4}"/>
              </a:ext>
            </a:extLst>
          </p:cNvPr>
          <p:cNvSpPr>
            <a:spLocks noGrp="1"/>
          </p:cNvSpPr>
          <p:nvPr>
            <p:ph type="ftr" idx="11"/>
          </p:nvPr>
        </p:nvSpPr>
        <p:spPr/>
        <p:txBody>
          <a:bodyPr/>
          <a:lstStyle/>
          <a:p>
            <a:r>
              <a:t>Internal Use Only</a:t>
            </a:r>
          </a:p>
        </p:txBody>
      </p:sp>
      <p:sp>
        <p:nvSpPr>
          <p:cNvPr id="10" name="Straight Connector 9">
            <a:extLst>
              <a:ext uri="{FF2B5EF4-FFF2-40B4-BE49-F238E27FC236}">
                <a16:creationId xmlns:a16="http://schemas.microsoft.com/office/drawing/2014/main" id="{5DF3DF23-1322-4DCD-A6CB-11D178F08A23}"/>
              </a:ext>
            </a:extLst>
          </p:cNvPr>
          <p:cNvSpPr>
            <a:spLocks noGrp="1"/>
          </p:cNvSpPr>
          <p:nvPr/>
        </p:nvSpPr>
        <p:spPr>
          <a:xfrm flipV="1">
            <a:off x="154860" y="6327060"/>
            <a:ext cx="17965502" cy="157070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12" name="Picture 12"/>
          <p:cNvPicPr>
            <a:picLocks noChangeAspect="1"/>
          </p:cNvPicPr>
          <p:nvPr/>
        </p:nvPicPr>
        <p:blipFill>
          <a:blip r:embed="rId2"/>
          <a:stretch>
            <a:fillRect/>
          </a:stretch>
        </p:blipFill>
        <p:spPr>
          <a:xfrm>
            <a:off x="14950254" y="8719163"/>
            <a:ext cx="3337746" cy="1570704"/>
          </a:xfrm>
          <a:prstGeom prst="rect">
            <a:avLst/>
          </a:prstGeom>
        </p:spPr>
      </p:pic>
      <p:sp>
        <p:nvSpPr>
          <p:cNvPr id="7" name="Flowchart: Manual Input 6">
            <a:extLst>
              <a:ext uri="{FF2B5EF4-FFF2-40B4-BE49-F238E27FC236}">
                <a16:creationId xmlns:a16="http://schemas.microsoft.com/office/drawing/2014/main" id="{3B689832-1BE6-455B-9143-C25E691CC452}"/>
              </a:ext>
            </a:extLst>
          </p:cNvPr>
          <p:cNvSpPr>
            <a:spLocks noGrp="1"/>
          </p:cNvSpPr>
          <p:nvPr/>
        </p:nvSpPr>
        <p:spPr>
          <a:xfrm rot="10800000">
            <a:off x="154860" y="176980"/>
            <a:ext cx="17965502" cy="7549700"/>
          </a:xfrm>
          <a:prstGeom prst="flowChartManualInpu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700"/>
          </a:p>
        </p:txBody>
      </p:sp>
      <p:sp>
        <p:nvSpPr>
          <p:cNvPr id="2" name="Title 1">
            <a:extLst>
              <a:ext uri="{FF2B5EF4-FFF2-40B4-BE49-F238E27FC236}">
                <a16:creationId xmlns:a16="http://schemas.microsoft.com/office/drawing/2014/main" id="{8C32F236-F7CF-4D11-A9B2-5193ED350E45}"/>
              </a:ext>
            </a:extLst>
          </p:cNvPr>
          <p:cNvSpPr>
            <a:spLocks noGrp="1"/>
          </p:cNvSpPr>
          <p:nvPr>
            <p:ph type="ctrTitle"/>
          </p:nvPr>
        </p:nvSpPr>
        <p:spPr>
          <a:xfrm>
            <a:off x="515427" y="659507"/>
            <a:ext cx="16515275" cy="1579106"/>
          </a:xfrm>
          <a:prstGeom prst="rect">
            <a:avLst/>
          </a:prstGeom>
        </p:spPr>
        <p:txBody>
          <a:bodyPr anchor="ctr">
            <a:normAutofit/>
          </a:bodyPr>
          <a:lstStyle>
            <a:lvl1pPr algn="l">
              <a:buNone/>
              <a:defRPr sz="6601" b="1">
                <a:solidFill>
                  <a:schemeClr val="bg1"/>
                </a:solidFill>
              </a:defRPr>
            </a:lvl1pPr>
          </a:lstStyle>
          <a:p>
            <a:r>
              <a:t>Click to edit Master title style</a:t>
            </a:r>
          </a:p>
        </p:txBody>
      </p:sp>
      <p:sp>
        <p:nvSpPr>
          <p:cNvPr id="3" name="Subtitle 2">
            <a:extLst>
              <a:ext uri="{FF2B5EF4-FFF2-40B4-BE49-F238E27FC236}">
                <a16:creationId xmlns:a16="http://schemas.microsoft.com/office/drawing/2014/main" id="{F97B5331-17B4-42D5-B235-ACA210666A8D}"/>
              </a:ext>
            </a:extLst>
          </p:cNvPr>
          <p:cNvSpPr>
            <a:spLocks noGrp="1"/>
          </p:cNvSpPr>
          <p:nvPr>
            <p:ph type="subTitle" idx="1"/>
          </p:nvPr>
        </p:nvSpPr>
        <p:spPr>
          <a:xfrm>
            <a:off x="515426" y="2489126"/>
            <a:ext cx="13716000" cy="2285597"/>
          </a:xfrm>
        </p:spPr>
        <p:txBody>
          <a:bodyPr anchor="t">
            <a:normAutofit/>
          </a:bodyPr>
          <a:lstStyle>
            <a:lvl1pPr marL="0" indent="0" algn="l">
              <a:buNone/>
              <a:defRPr sz="4201">
                <a:solidFill>
                  <a:schemeClr val="bg1"/>
                </a:solidFill>
              </a:defRPr>
            </a:lvl1pPr>
            <a:lvl2pPr marL="685809" indent="0" algn="ctr">
              <a:buNone/>
              <a:defRPr sz="3001"/>
            </a:lvl2pPr>
            <a:lvl3pPr marL="1371617" indent="0" algn="ctr">
              <a:buNone/>
              <a:defRPr sz="2700"/>
            </a:lvl3pPr>
            <a:lvl4pPr marL="2057427" indent="0" algn="ctr">
              <a:buNone/>
              <a:defRPr sz="2400"/>
            </a:lvl4pPr>
            <a:lvl5pPr marL="2743234" indent="0" algn="ctr">
              <a:buNone/>
              <a:defRPr sz="2400"/>
            </a:lvl5pPr>
            <a:lvl6pPr marL="3429044" indent="0" algn="ctr">
              <a:buNone/>
              <a:defRPr sz="2400"/>
            </a:lvl6pPr>
            <a:lvl7pPr marL="4114851" indent="0" algn="ctr">
              <a:buNone/>
              <a:defRPr sz="2400"/>
            </a:lvl7pPr>
            <a:lvl8pPr marL="4800661" indent="0" algn="ctr">
              <a:buNone/>
              <a:defRPr sz="2400"/>
            </a:lvl8pPr>
            <a:lvl9pPr marL="5486469" indent="0" algn="ctr">
              <a:buNone/>
              <a:defRPr sz="2400"/>
            </a:lvl9pPr>
          </a:lstStyle>
          <a:p>
            <a:r>
              <a:t>Click to edit Master subtitle style</a:t>
            </a:r>
          </a:p>
        </p:txBody>
      </p:sp>
      <p:sp>
        <p:nvSpPr>
          <p:cNvPr id="4" name="Date Placeholder 3">
            <a:extLst>
              <a:ext uri="{FF2B5EF4-FFF2-40B4-BE49-F238E27FC236}">
                <a16:creationId xmlns:a16="http://schemas.microsoft.com/office/drawing/2014/main" id="{FFC25FF9-C87E-4144-B699-B32E0C6B9929}"/>
              </a:ext>
            </a:extLst>
          </p:cNvPr>
          <p:cNvSpPr>
            <a:spLocks noGrp="1"/>
          </p:cNvSpPr>
          <p:nvPr>
            <p:ph type="dt" idx="10"/>
          </p:nvPr>
        </p:nvSpPr>
        <p:spPr/>
        <p:txBody>
          <a:bodyPr/>
          <a:lstStyle/>
          <a:p>
            <a:fld id="{C6FD3620-A33D-4624-9CAB-9F02D195D2C5}" type="datetime1">
              <a:t>9/10/2026</a:t>
            </a:fld>
            <a:endParaRPr/>
          </a:p>
        </p:txBody>
      </p:sp>
      <p:sp>
        <p:nvSpPr>
          <p:cNvPr id="5" name="Footer Placeholder 4">
            <a:extLst>
              <a:ext uri="{FF2B5EF4-FFF2-40B4-BE49-F238E27FC236}">
                <a16:creationId xmlns:a16="http://schemas.microsoft.com/office/drawing/2014/main" id="{49D87D4C-F4CE-468C-9006-6CBEA76C6DA4}"/>
              </a:ext>
            </a:extLst>
          </p:cNvPr>
          <p:cNvSpPr>
            <a:spLocks noGrp="1"/>
          </p:cNvSpPr>
          <p:nvPr>
            <p:ph type="ftr" idx="11"/>
          </p:nvPr>
        </p:nvSpPr>
        <p:spPr/>
        <p:txBody>
          <a:bodyPr/>
          <a:lstStyle/>
          <a:p>
            <a:r>
              <a:t>Internal Use Only</a:t>
            </a:r>
          </a:p>
        </p:txBody>
      </p:sp>
      <p:sp>
        <p:nvSpPr>
          <p:cNvPr id="10" name="Straight Connector 9">
            <a:extLst>
              <a:ext uri="{FF2B5EF4-FFF2-40B4-BE49-F238E27FC236}">
                <a16:creationId xmlns:a16="http://schemas.microsoft.com/office/drawing/2014/main" id="{5DF3DF23-1322-4DCD-A6CB-11D178F08A23}"/>
              </a:ext>
            </a:extLst>
          </p:cNvPr>
          <p:cNvSpPr>
            <a:spLocks noGrp="1"/>
          </p:cNvSpPr>
          <p:nvPr/>
        </p:nvSpPr>
        <p:spPr>
          <a:xfrm flipV="1">
            <a:off x="154860" y="6327060"/>
            <a:ext cx="17965502" cy="157070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2" r:id="rId2"/>
    <p:sldLayoutId id="2147483665" r:id="rId3"/>
    <p:sldLayoutId id="2147483664" r:id="rId4"/>
    <p:sldLayoutId id="2147483663" r:id="rId5"/>
    <p:sldLayoutId id="2147483662" r:id="rId6"/>
    <p:sldLayoutId id="2147483661" r:id="rId7"/>
    <p:sldLayoutId id="2147483660" r:id="rId8"/>
    <p:sldLayoutId id="2147483659" r:id="rId9"/>
    <p:sldLayoutId id="2147483658" r:id="rId10"/>
    <p:sldLayoutId id="2147483657" r:id="rId11"/>
    <p:sldLayoutId id="2147483656" r:id="rId12"/>
    <p:sldLayoutId id="2147483655" r:id="rId13"/>
    <p:sldLayoutId id="2147483654" r:id="rId14"/>
    <p:sldLayoutId id="2147483653" r:id="rId15"/>
    <p:sldLayoutId id="2147483651" r:id="rId16"/>
  </p:sldLayoutIdLst>
  <p:hf sldNum="0" hdr="0" ftr="0" dt="0"/>
  <p:txStyles>
    <p:titleStyle>
      <a:lvl1pPr algn="ctr" defTabSz="914411">
        <a:spcBef>
          <a:spcPct val="0"/>
        </a:spcBef>
        <a:buNone/>
        <a:defRPr sz="4400" kern="1200">
          <a:solidFill>
            <a:schemeClr val="tx1"/>
          </a:solidFill>
          <a:latin typeface="+mj-lt"/>
          <a:ea typeface="+mj-lt"/>
          <a:cs typeface="+mj-lt"/>
        </a:defRPr>
      </a:lvl1pPr>
    </p:titleStyle>
    <p:bodyStyle>
      <a:lvl1pPr marL="342904" indent="-342904" algn="l" defTabSz="914411">
        <a:spcBef>
          <a:spcPct val="20000"/>
        </a:spcBef>
        <a:buFont typeface="Arial"/>
        <a:buChar char="•"/>
        <a:defRPr sz="3200" kern="1200">
          <a:solidFill>
            <a:schemeClr val="tx1"/>
          </a:solidFill>
          <a:latin typeface="+mn-lt"/>
          <a:ea typeface="+mn-lt"/>
          <a:cs typeface="+mn-lt"/>
        </a:defRPr>
      </a:lvl1pPr>
      <a:lvl2pPr marL="742959" indent="-285753" algn="l" defTabSz="914411">
        <a:spcBef>
          <a:spcPct val="20000"/>
        </a:spcBef>
        <a:buFont typeface="Arial"/>
        <a:buChar char="–"/>
        <a:defRPr sz="2800" kern="1200">
          <a:solidFill>
            <a:schemeClr val="tx1"/>
          </a:solidFill>
          <a:latin typeface="+mn-lt"/>
          <a:ea typeface="+mn-lt"/>
          <a:cs typeface="+mn-lt"/>
        </a:defRPr>
      </a:lvl2pPr>
      <a:lvl3pPr marL="1143015" indent="-228604" algn="l" defTabSz="914411">
        <a:spcBef>
          <a:spcPct val="20000"/>
        </a:spcBef>
        <a:buFont typeface="Arial"/>
        <a:buChar char="•"/>
        <a:defRPr sz="2400" kern="1200">
          <a:solidFill>
            <a:schemeClr val="tx1"/>
          </a:solidFill>
          <a:latin typeface="+mn-lt"/>
          <a:ea typeface="+mn-lt"/>
          <a:cs typeface="+mn-lt"/>
        </a:defRPr>
      </a:lvl3pPr>
      <a:lvl4pPr marL="1600221" indent="-228604" algn="l" defTabSz="914411">
        <a:spcBef>
          <a:spcPct val="20000"/>
        </a:spcBef>
        <a:buFont typeface="Arial"/>
        <a:buChar char="–"/>
        <a:defRPr sz="2000" kern="1200">
          <a:solidFill>
            <a:schemeClr val="tx1"/>
          </a:solidFill>
          <a:latin typeface="+mn-lt"/>
          <a:ea typeface="+mn-lt"/>
          <a:cs typeface="+mn-lt"/>
        </a:defRPr>
      </a:lvl4pPr>
      <a:lvl5pPr marL="2057427" indent="-228604" algn="l" defTabSz="914411">
        <a:spcBef>
          <a:spcPct val="20000"/>
        </a:spcBef>
        <a:buFont typeface="Arial"/>
        <a:buChar char="»"/>
        <a:defRPr sz="2000" kern="1200">
          <a:solidFill>
            <a:schemeClr val="tx1"/>
          </a:solidFill>
          <a:latin typeface="+mn-lt"/>
          <a:ea typeface="+mn-lt"/>
          <a:cs typeface="+mn-lt"/>
        </a:defRPr>
      </a:lvl5pPr>
      <a:lvl6pPr marL="2514632" indent="-228604" algn="l" defTabSz="914411">
        <a:spcBef>
          <a:spcPct val="20000"/>
        </a:spcBef>
        <a:buFont typeface="Arial"/>
        <a:buChar char="•"/>
        <a:defRPr sz="2000" kern="1200">
          <a:solidFill>
            <a:schemeClr val="tx1"/>
          </a:solidFill>
          <a:latin typeface="+mn-lt"/>
          <a:ea typeface="+mn-lt"/>
          <a:cs typeface="+mn-lt"/>
        </a:defRPr>
      </a:lvl6pPr>
      <a:lvl7pPr marL="2971838" indent="-228604" algn="l" defTabSz="914411">
        <a:spcBef>
          <a:spcPct val="20000"/>
        </a:spcBef>
        <a:buFont typeface="Arial"/>
        <a:buChar char="•"/>
        <a:defRPr sz="2000" kern="1200">
          <a:solidFill>
            <a:schemeClr val="tx1"/>
          </a:solidFill>
          <a:latin typeface="+mn-lt"/>
          <a:ea typeface="+mn-lt"/>
          <a:cs typeface="+mn-lt"/>
        </a:defRPr>
      </a:lvl7pPr>
      <a:lvl8pPr marL="3429044" indent="-228604" algn="l" defTabSz="914411">
        <a:spcBef>
          <a:spcPct val="20000"/>
        </a:spcBef>
        <a:buFont typeface="Arial"/>
        <a:buChar char="•"/>
        <a:defRPr sz="2000" kern="1200">
          <a:solidFill>
            <a:schemeClr val="tx1"/>
          </a:solidFill>
          <a:latin typeface="+mn-lt"/>
          <a:ea typeface="+mn-lt"/>
          <a:cs typeface="+mn-lt"/>
        </a:defRPr>
      </a:lvl8pPr>
      <a:lvl9pPr marL="3886249" indent="-228604" algn="l" defTabSz="914411">
        <a:spcBef>
          <a:spcPct val="20000"/>
        </a:spcBef>
        <a:buFont typeface="Arial"/>
        <a:buChar char="•"/>
        <a:defRPr sz="2000" kern="1200">
          <a:solidFill>
            <a:schemeClr val="tx1"/>
          </a:solidFill>
          <a:latin typeface="+mn-lt"/>
          <a:ea typeface="+mn-lt"/>
          <a:cs typeface="+mn-lt"/>
        </a:defRPr>
      </a:lvl9pPr>
    </p:bodyStyle>
    <p:otherStyle>
      <a:lvl1pPr marL="0" algn="l" defTabSz="914411">
        <a:buNone/>
        <a:defRPr sz="1801" kern="1200">
          <a:solidFill>
            <a:schemeClr val="tx1"/>
          </a:solidFill>
          <a:latin typeface="+mn-lt"/>
          <a:ea typeface="+mn-lt"/>
          <a:cs typeface="+mn-lt"/>
        </a:defRPr>
      </a:lvl1pPr>
      <a:lvl2pPr marL="457206" algn="l" defTabSz="914411">
        <a:buNone/>
        <a:defRPr sz="1801" kern="1200">
          <a:solidFill>
            <a:schemeClr val="tx1"/>
          </a:solidFill>
          <a:latin typeface="+mn-lt"/>
          <a:ea typeface="+mn-lt"/>
          <a:cs typeface="+mn-lt"/>
        </a:defRPr>
      </a:lvl2pPr>
      <a:lvl3pPr marL="914411" algn="l" defTabSz="914411">
        <a:buNone/>
        <a:defRPr sz="1801" kern="1200">
          <a:solidFill>
            <a:schemeClr val="tx1"/>
          </a:solidFill>
          <a:latin typeface="+mn-lt"/>
          <a:ea typeface="+mn-lt"/>
          <a:cs typeface="+mn-lt"/>
        </a:defRPr>
      </a:lvl3pPr>
      <a:lvl4pPr marL="1371617" algn="l" defTabSz="914411">
        <a:buNone/>
        <a:defRPr sz="1801" kern="1200">
          <a:solidFill>
            <a:schemeClr val="tx1"/>
          </a:solidFill>
          <a:latin typeface="+mn-lt"/>
          <a:ea typeface="+mn-lt"/>
          <a:cs typeface="+mn-lt"/>
        </a:defRPr>
      </a:lvl4pPr>
      <a:lvl5pPr marL="1828823" algn="l" defTabSz="914411">
        <a:buNone/>
        <a:defRPr sz="1801" kern="1200">
          <a:solidFill>
            <a:schemeClr val="tx1"/>
          </a:solidFill>
          <a:latin typeface="+mn-lt"/>
          <a:ea typeface="+mn-lt"/>
          <a:cs typeface="+mn-lt"/>
        </a:defRPr>
      </a:lvl5pPr>
      <a:lvl6pPr marL="2286029" algn="l" defTabSz="914411">
        <a:buNone/>
        <a:defRPr sz="1801" kern="1200">
          <a:solidFill>
            <a:schemeClr val="tx1"/>
          </a:solidFill>
          <a:latin typeface="+mn-lt"/>
          <a:ea typeface="+mn-lt"/>
          <a:cs typeface="+mn-lt"/>
        </a:defRPr>
      </a:lvl6pPr>
      <a:lvl7pPr marL="2743234" algn="l" defTabSz="914411">
        <a:buNone/>
        <a:defRPr sz="1801" kern="1200">
          <a:solidFill>
            <a:schemeClr val="tx1"/>
          </a:solidFill>
          <a:latin typeface="+mn-lt"/>
          <a:ea typeface="+mn-lt"/>
          <a:cs typeface="+mn-lt"/>
        </a:defRPr>
      </a:lvl7pPr>
      <a:lvl8pPr marL="3200440" algn="l" defTabSz="914411">
        <a:buNone/>
        <a:defRPr sz="1801" kern="1200">
          <a:solidFill>
            <a:schemeClr val="tx1"/>
          </a:solidFill>
          <a:latin typeface="+mn-lt"/>
          <a:ea typeface="+mn-lt"/>
          <a:cs typeface="+mn-lt"/>
        </a:defRPr>
      </a:lvl8pPr>
      <a:lvl9pPr marL="3657646" algn="l" defTabSz="914411">
        <a:buNone/>
        <a:defRPr sz="1801"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hyperlink" Target="https://www.rakirahman.me/dbt-fabric-spark/" TargetMode="Externa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1">
            <a:extLst>
              <a:ext uri="{FF2B5EF4-FFF2-40B4-BE49-F238E27FC236}">
                <a16:creationId xmlns:a16="http://schemas.microsoft.com/office/drawing/2014/main" id="{FCBE5CFD-AA44-147D-C540-625AA8679015}"/>
              </a:ext>
            </a:extLst>
          </p:cNvPr>
          <p:cNvSpPr>
            <a:spLocks noGrp="1"/>
          </p:cNvSpPr>
          <p:nvPr/>
        </p:nvSpPr>
        <p:spPr>
          <a:xfrm>
            <a:off x="676836" y="695273"/>
            <a:ext cx="14878050" cy="421929"/>
          </a:xfrm>
          <a:prstGeom prst="rect">
            <a:avLst/>
          </a:prstGeom>
          <a:noFill/>
        </p:spPr>
        <p:txBody>
          <a:bodyPr wrap="square" lIns="25401" tIns="25401" rIns="25401" bIns="25401" anchor="t">
            <a:normAutofit/>
          </a:bodyPr>
          <a:lstStyle/>
          <a:p>
            <a:pPr>
              <a:lnSpc>
                <a:spcPct val="118529"/>
              </a:lnSpc>
              <a:buNone/>
            </a:pPr>
            <a:r>
              <a:rPr lang="en-US" sz="1950" b="1" spc="468" dirty="0">
                <a:solidFill>
                  <a:srgbClr val="B6BFC4"/>
                </a:solidFill>
                <a:latin typeface="Frutiger"/>
              </a:rPr>
              <a:t>SQL AS SOFTWARE</a:t>
            </a:r>
            <a:endParaRPr sz="1950" dirty="0"/>
          </a:p>
        </p:txBody>
      </p:sp>
      <p:sp>
        <p:nvSpPr>
          <p:cNvPr id="11" name="Text 2">
            <a:extLst>
              <a:ext uri="{FF2B5EF4-FFF2-40B4-BE49-F238E27FC236}">
                <a16:creationId xmlns:a16="http://schemas.microsoft.com/office/drawing/2014/main" id="{5E64D667-2173-6C87-52B3-C25550804019}"/>
              </a:ext>
            </a:extLst>
          </p:cNvPr>
          <p:cNvSpPr>
            <a:spLocks noGrp="1"/>
          </p:cNvSpPr>
          <p:nvPr/>
        </p:nvSpPr>
        <p:spPr>
          <a:xfrm>
            <a:off x="676836" y="1326750"/>
            <a:ext cx="13931266" cy="1979413"/>
          </a:xfrm>
          <a:prstGeom prst="rect">
            <a:avLst/>
          </a:prstGeom>
          <a:noFill/>
        </p:spPr>
        <p:txBody>
          <a:bodyPr wrap="square" lIns="25401" tIns="25401" rIns="25401" bIns="25401" anchor="t">
            <a:normAutofit/>
          </a:bodyPr>
          <a:lstStyle/>
          <a:p>
            <a:pPr>
              <a:lnSpc>
                <a:spcPct val="73324"/>
              </a:lnSpc>
              <a:buNone/>
            </a:pPr>
            <a:r>
              <a:rPr lang="en-US" sz="7801" b="1" spc="-156" dirty="0">
                <a:solidFill>
                  <a:srgbClr val="FFFFFF"/>
                </a:solidFill>
                <a:latin typeface="Frutiger"/>
                <a:ea typeface="Frutiger"/>
                <a:cs typeface="Frutiger"/>
              </a:rPr>
              <a:t>Getting Started with dbt</a:t>
            </a:r>
            <a:endParaRPr sz="7801" dirty="0"/>
          </a:p>
        </p:txBody>
      </p:sp>
      <p:sp>
        <p:nvSpPr>
          <p:cNvPr id="13" name="Text 3">
            <a:extLst>
              <a:ext uri="{FF2B5EF4-FFF2-40B4-BE49-F238E27FC236}">
                <a16:creationId xmlns:a16="http://schemas.microsoft.com/office/drawing/2014/main" id="{449F7921-3772-DAF8-CB0A-17FCA37E8CD4}"/>
              </a:ext>
            </a:extLst>
          </p:cNvPr>
          <p:cNvSpPr>
            <a:spLocks noGrp="1"/>
          </p:cNvSpPr>
          <p:nvPr/>
        </p:nvSpPr>
        <p:spPr>
          <a:xfrm>
            <a:off x="676836" y="3515713"/>
            <a:ext cx="14878050" cy="483840"/>
          </a:xfrm>
          <a:prstGeom prst="rect">
            <a:avLst/>
          </a:prstGeom>
          <a:noFill/>
        </p:spPr>
        <p:txBody>
          <a:bodyPr wrap="square" lIns="25401" tIns="25401" rIns="25401" bIns="25401" anchor="t">
            <a:normAutofit/>
          </a:bodyPr>
          <a:lstStyle/>
          <a:p>
            <a:pPr>
              <a:lnSpc>
                <a:spcPct val="104000"/>
              </a:lnSpc>
              <a:buNone/>
            </a:pPr>
            <a:endParaRPr sz="2700" dirty="0"/>
          </a:p>
        </p:txBody>
      </p:sp>
    </p:spTree>
    <p:extLst>
      <p:ext uri="{BB962C8B-B14F-4D97-AF65-F5344CB8AC3E}">
        <p14:creationId xmlns:p14="http://schemas.microsoft.com/office/powerpoint/2010/main" val="3684364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93E82FA-F122-E77F-ACCB-7FB186578A6F}"/>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AFCD68C1-C4B3-D287-EA52-9DA8DCEF36A9}"/>
              </a:ext>
            </a:extLst>
          </p:cNvPr>
          <p:cNvSpPr>
            <a:spLocks noGrp="1"/>
          </p:cNvSpPr>
          <p:nvPr/>
        </p:nvSpPr>
        <p:spPr>
          <a:xfrm>
            <a:off x="838201" y="963812"/>
            <a:ext cx="15240000" cy="640407"/>
          </a:xfrm>
          <a:prstGeom prst="rect">
            <a:avLst/>
          </a:prstGeom>
          <a:noFill/>
        </p:spPr>
        <p:txBody>
          <a:bodyPr wrap="square" lIns="25401" tIns="25401" rIns="25401" bIns="25401" anchor="t">
            <a:normAutofit/>
          </a:bodyPr>
          <a:lstStyle/>
          <a:p>
            <a:pPr>
              <a:lnSpc>
                <a:spcPct val="79050"/>
              </a:lnSpc>
              <a:buNone/>
            </a:pPr>
            <a:r>
              <a:rPr lang="en-US" sz="4651" b="1" spc="-69" dirty="0">
                <a:solidFill>
                  <a:srgbClr val="001F6B"/>
                </a:solidFill>
                <a:latin typeface="Frutiger"/>
                <a:ea typeface="Frutiger"/>
                <a:cs typeface="Frutiger"/>
              </a:rPr>
              <a:t>Let’s talk about the “T” in ETL</a:t>
            </a:r>
            <a:endParaRPr sz="4651" dirty="0"/>
          </a:p>
        </p:txBody>
      </p:sp>
      <p:pic>
        <p:nvPicPr>
          <p:cNvPr id="32" name="Image 0">
            <a:extLst>
              <a:ext uri="{FF2B5EF4-FFF2-40B4-BE49-F238E27FC236}">
                <a16:creationId xmlns:a16="http://schemas.microsoft.com/office/drawing/2014/main" id="{DDCFDE7A-6EC8-6008-B4C0-A668BCC1EB58}"/>
              </a:ext>
            </a:extLst>
          </p:cNvPr>
          <p:cNvPicPr>
            <a:picLocks noChangeAspect="1"/>
          </p:cNvPicPr>
          <p:nvPr/>
        </p:nvPicPr>
        <p:blipFill>
          <a:blip r:embed="rId3"/>
          <a:srcRect t="-5" b="-5"/>
          <a:stretch/>
        </p:blipFill>
        <p:spPr>
          <a:xfrm>
            <a:off x="16412620" y="571500"/>
            <a:ext cx="1037182" cy="514350"/>
          </a:xfrm>
          <a:prstGeom prst="rect">
            <a:avLst/>
          </a:prstGeom>
        </p:spPr>
      </p:pic>
      <p:sp>
        <p:nvSpPr>
          <p:cNvPr id="5" name="Shape 2">
            <a:extLst>
              <a:ext uri="{FF2B5EF4-FFF2-40B4-BE49-F238E27FC236}">
                <a16:creationId xmlns:a16="http://schemas.microsoft.com/office/drawing/2014/main" id="{E58DF355-B0C4-A8EA-129B-DCF70F72DBBB}"/>
              </a:ext>
            </a:extLst>
          </p:cNvPr>
          <p:cNvSpPr>
            <a:spLocks noGrp="1"/>
          </p:cNvSpPr>
          <p:nvPr/>
        </p:nvSpPr>
        <p:spPr>
          <a:xfrm>
            <a:off x="838202" y="1813769"/>
            <a:ext cx="16611600" cy="28574"/>
          </a:xfrm>
          <a:prstGeom prst="rect">
            <a:avLst/>
          </a:prstGeom>
          <a:solidFill>
            <a:srgbClr val="FF0000"/>
          </a:solidFill>
        </p:spPr>
        <p:txBody>
          <a:bodyPr/>
          <a:lstStyle/>
          <a:p>
            <a:endParaRPr sz="1801"/>
          </a:p>
        </p:txBody>
      </p:sp>
      <p:sp>
        <p:nvSpPr>
          <p:cNvPr id="6" name="Shape 3">
            <a:extLst>
              <a:ext uri="{FF2B5EF4-FFF2-40B4-BE49-F238E27FC236}">
                <a16:creationId xmlns:a16="http://schemas.microsoft.com/office/drawing/2014/main" id="{30F6C847-24C0-96F8-CA2F-7D290D240B97}"/>
              </a:ext>
            </a:extLst>
          </p:cNvPr>
          <p:cNvSpPr>
            <a:spLocks noGrp="1"/>
          </p:cNvSpPr>
          <p:nvPr/>
        </p:nvSpPr>
        <p:spPr>
          <a:xfrm>
            <a:off x="838202" y="1880445"/>
            <a:ext cx="16611600" cy="28574"/>
          </a:xfrm>
          <a:prstGeom prst="rect">
            <a:avLst/>
          </a:prstGeom>
          <a:solidFill>
            <a:srgbClr val="3649A8"/>
          </a:solidFill>
        </p:spPr>
        <p:txBody>
          <a:bodyPr/>
          <a:lstStyle/>
          <a:p>
            <a:endParaRPr sz="1801"/>
          </a:p>
        </p:txBody>
      </p:sp>
      <p:sp>
        <p:nvSpPr>
          <p:cNvPr id="25" name="Shape 22">
            <a:extLst>
              <a:ext uri="{FF2B5EF4-FFF2-40B4-BE49-F238E27FC236}">
                <a16:creationId xmlns:a16="http://schemas.microsoft.com/office/drawing/2014/main" id="{75D15460-099C-9D19-F470-6613C84DAA7F}"/>
              </a:ext>
            </a:extLst>
          </p:cNvPr>
          <p:cNvSpPr>
            <a:spLocks noGrp="1"/>
          </p:cNvSpPr>
          <p:nvPr/>
        </p:nvSpPr>
        <p:spPr>
          <a:xfrm>
            <a:off x="838202" y="9294615"/>
            <a:ext cx="16611600" cy="9525"/>
          </a:xfrm>
          <a:prstGeom prst="rect">
            <a:avLst/>
          </a:prstGeom>
          <a:solidFill>
            <a:srgbClr val="E2E7EB"/>
          </a:solidFill>
        </p:spPr>
        <p:txBody>
          <a:bodyPr/>
          <a:lstStyle/>
          <a:p>
            <a:endParaRPr sz="1801"/>
          </a:p>
        </p:txBody>
      </p:sp>
      <p:sp>
        <p:nvSpPr>
          <p:cNvPr id="26" name="Text 23">
            <a:extLst>
              <a:ext uri="{FF2B5EF4-FFF2-40B4-BE49-F238E27FC236}">
                <a16:creationId xmlns:a16="http://schemas.microsoft.com/office/drawing/2014/main" id="{983CFE46-6549-B85A-A267-94B8E0E66A26}"/>
              </a:ext>
            </a:extLst>
          </p:cNvPr>
          <p:cNvSpPr>
            <a:spLocks noGrp="1"/>
          </p:cNvSpPr>
          <p:nvPr/>
        </p:nvSpPr>
        <p:spPr>
          <a:xfrm>
            <a:off x="838201" y="9513691"/>
            <a:ext cx="7461945" cy="392311"/>
          </a:xfrm>
          <a:prstGeom prst="rect">
            <a:avLst/>
          </a:prstGeom>
          <a:noFill/>
        </p:spPr>
        <p:txBody>
          <a:bodyPr wrap="square" lIns="25401" tIns="25401" rIns="25401" bIns="25401" anchor="t">
            <a:normAutofit/>
          </a:bodyPr>
          <a:lstStyle/>
          <a:p>
            <a:pPr>
              <a:lnSpc>
                <a:spcPct val="124000"/>
              </a:lnSpc>
              <a:buNone/>
            </a:pPr>
            <a:r>
              <a:rPr sz="1801" dirty="0">
                <a:solidFill>
                  <a:srgbClr val="667780"/>
                </a:solidFill>
                <a:latin typeface="Frutiger"/>
                <a:ea typeface="Frutiger"/>
                <a:cs typeface="Frutiger"/>
              </a:rPr>
              <a:t>Getting started with dbt</a:t>
            </a:r>
            <a:endParaRPr sz="1801" dirty="0"/>
          </a:p>
        </p:txBody>
      </p:sp>
      <p:sp>
        <p:nvSpPr>
          <p:cNvPr id="28" name="Text 25">
            <a:extLst>
              <a:ext uri="{FF2B5EF4-FFF2-40B4-BE49-F238E27FC236}">
                <a16:creationId xmlns:a16="http://schemas.microsoft.com/office/drawing/2014/main" id="{70F6327D-CB3E-271F-145A-465D182EB1D7}"/>
              </a:ext>
            </a:extLst>
          </p:cNvPr>
          <p:cNvSpPr>
            <a:spLocks noGrp="1"/>
          </p:cNvSpPr>
          <p:nvPr/>
        </p:nvSpPr>
        <p:spPr>
          <a:xfrm>
            <a:off x="9987856" y="9513691"/>
            <a:ext cx="7461945" cy="392311"/>
          </a:xfrm>
          <a:prstGeom prst="rect">
            <a:avLst/>
          </a:prstGeom>
          <a:noFill/>
        </p:spPr>
        <p:txBody>
          <a:bodyPr wrap="square" lIns="25401" tIns="25401" rIns="25401" bIns="25401" anchor="t">
            <a:normAutofit/>
          </a:bodyPr>
          <a:lstStyle/>
          <a:p>
            <a:pPr algn="r">
              <a:lnSpc>
                <a:spcPct val="124000"/>
              </a:lnSpc>
              <a:buNone/>
            </a:pPr>
            <a:r>
              <a:rPr sz="1801">
                <a:solidFill>
                  <a:srgbClr val="667780"/>
                </a:solidFill>
                <a:latin typeface="Frutiger"/>
                <a:ea typeface="Frutiger"/>
                <a:cs typeface="Frutiger"/>
              </a:rPr>
              <a:t>02</a:t>
            </a:r>
            <a:endParaRPr sz="1801"/>
          </a:p>
        </p:txBody>
      </p:sp>
      <p:pic>
        <p:nvPicPr>
          <p:cNvPr id="13" name="Picture 12">
            <a:extLst>
              <a:ext uri="{FF2B5EF4-FFF2-40B4-BE49-F238E27FC236}">
                <a16:creationId xmlns:a16="http://schemas.microsoft.com/office/drawing/2014/main" id="{CD7CF6E0-7C62-8DA2-688F-120FDA9BF600}"/>
              </a:ext>
            </a:extLst>
          </p:cNvPr>
          <p:cNvPicPr>
            <a:picLocks noChangeAspect="1"/>
          </p:cNvPicPr>
          <p:nvPr/>
        </p:nvPicPr>
        <p:blipFill>
          <a:blip r:embed="rId4"/>
          <a:stretch>
            <a:fillRect/>
          </a:stretch>
        </p:blipFill>
        <p:spPr>
          <a:xfrm>
            <a:off x="4404651" y="4306273"/>
            <a:ext cx="9478698" cy="2067213"/>
          </a:xfrm>
          <a:prstGeom prst="rect">
            <a:avLst/>
          </a:prstGeom>
        </p:spPr>
      </p:pic>
    </p:spTree>
    <p:extLst>
      <p:ext uri="{BB962C8B-B14F-4D97-AF65-F5344CB8AC3E}">
        <p14:creationId xmlns:p14="http://schemas.microsoft.com/office/powerpoint/2010/main" val="1751436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7E6AE-5564-4ABE-D532-B89B2E72CE7D}"/>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48789F14-EC98-7177-8A84-53EF0FFB64FE}"/>
              </a:ext>
            </a:extLst>
          </p:cNvPr>
          <p:cNvSpPr>
            <a:spLocks noGrp="1"/>
          </p:cNvSpPr>
          <p:nvPr/>
        </p:nvSpPr>
        <p:spPr>
          <a:xfrm>
            <a:off x="838201" y="963812"/>
            <a:ext cx="15240000" cy="640407"/>
          </a:xfrm>
          <a:prstGeom prst="rect">
            <a:avLst/>
          </a:prstGeom>
          <a:noFill/>
        </p:spPr>
        <p:txBody>
          <a:bodyPr wrap="square" lIns="25401" tIns="25401" rIns="25401" bIns="25401" anchor="t">
            <a:normAutofit/>
          </a:bodyPr>
          <a:lstStyle/>
          <a:p>
            <a:pPr>
              <a:lnSpc>
                <a:spcPct val="79050"/>
              </a:lnSpc>
              <a:buNone/>
            </a:pPr>
            <a:r>
              <a:rPr lang="en-US" sz="4651" b="1" spc="-69" dirty="0">
                <a:solidFill>
                  <a:srgbClr val="001F6B"/>
                </a:solidFill>
                <a:latin typeface="Frutiger"/>
                <a:ea typeface="Frutiger"/>
                <a:cs typeface="Frutiger"/>
              </a:rPr>
              <a:t>Let’s talk about the “T” in ETL</a:t>
            </a:r>
            <a:endParaRPr sz="4651" dirty="0"/>
          </a:p>
        </p:txBody>
      </p:sp>
      <p:pic>
        <p:nvPicPr>
          <p:cNvPr id="32" name="Image 0">
            <a:extLst>
              <a:ext uri="{FF2B5EF4-FFF2-40B4-BE49-F238E27FC236}">
                <a16:creationId xmlns:a16="http://schemas.microsoft.com/office/drawing/2014/main" id="{F60C5718-4C01-4042-C855-A6DA215887F4}"/>
              </a:ext>
            </a:extLst>
          </p:cNvPr>
          <p:cNvPicPr>
            <a:picLocks noChangeAspect="1"/>
          </p:cNvPicPr>
          <p:nvPr/>
        </p:nvPicPr>
        <p:blipFill>
          <a:blip r:embed="rId3"/>
          <a:srcRect t="-5" b="-5"/>
          <a:stretch/>
        </p:blipFill>
        <p:spPr>
          <a:xfrm>
            <a:off x="16412620" y="571500"/>
            <a:ext cx="1037182" cy="514350"/>
          </a:xfrm>
          <a:prstGeom prst="rect">
            <a:avLst/>
          </a:prstGeom>
        </p:spPr>
      </p:pic>
      <p:sp>
        <p:nvSpPr>
          <p:cNvPr id="5" name="Shape 2">
            <a:extLst>
              <a:ext uri="{FF2B5EF4-FFF2-40B4-BE49-F238E27FC236}">
                <a16:creationId xmlns:a16="http://schemas.microsoft.com/office/drawing/2014/main" id="{038816ED-D99A-7ED9-7B1A-CBE9AEB72F17}"/>
              </a:ext>
            </a:extLst>
          </p:cNvPr>
          <p:cNvSpPr>
            <a:spLocks noGrp="1"/>
          </p:cNvSpPr>
          <p:nvPr/>
        </p:nvSpPr>
        <p:spPr>
          <a:xfrm>
            <a:off x="838202" y="1813769"/>
            <a:ext cx="16611600" cy="28574"/>
          </a:xfrm>
          <a:prstGeom prst="rect">
            <a:avLst/>
          </a:prstGeom>
          <a:solidFill>
            <a:srgbClr val="FF0000"/>
          </a:solidFill>
        </p:spPr>
        <p:txBody>
          <a:bodyPr/>
          <a:lstStyle/>
          <a:p>
            <a:endParaRPr sz="1801"/>
          </a:p>
        </p:txBody>
      </p:sp>
      <p:sp>
        <p:nvSpPr>
          <p:cNvPr id="6" name="Shape 3">
            <a:extLst>
              <a:ext uri="{FF2B5EF4-FFF2-40B4-BE49-F238E27FC236}">
                <a16:creationId xmlns:a16="http://schemas.microsoft.com/office/drawing/2014/main" id="{1454D4E8-6D5E-43CA-01C7-FFF8FD8CCE63}"/>
              </a:ext>
            </a:extLst>
          </p:cNvPr>
          <p:cNvSpPr>
            <a:spLocks noGrp="1"/>
          </p:cNvSpPr>
          <p:nvPr/>
        </p:nvSpPr>
        <p:spPr>
          <a:xfrm>
            <a:off x="838202" y="1880445"/>
            <a:ext cx="16611600" cy="28574"/>
          </a:xfrm>
          <a:prstGeom prst="rect">
            <a:avLst/>
          </a:prstGeom>
          <a:solidFill>
            <a:srgbClr val="3649A8"/>
          </a:solidFill>
        </p:spPr>
        <p:txBody>
          <a:bodyPr/>
          <a:lstStyle/>
          <a:p>
            <a:endParaRPr sz="1801"/>
          </a:p>
        </p:txBody>
      </p:sp>
      <p:sp>
        <p:nvSpPr>
          <p:cNvPr id="25" name="Shape 22">
            <a:extLst>
              <a:ext uri="{FF2B5EF4-FFF2-40B4-BE49-F238E27FC236}">
                <a16:creationId xmlns:a16="http://schemas.microsoft.com/office/drawing/2014/main" id="{DF0DFECA-29FD-BD7F-2862-F3A01C34CF66}"/>
              </a:ext>
            </a:extLst>
          </p:cNvPr>
          <p:cNvSpPr>
            <a:spLocks noGrp="1"/>
          </p:cNvSpPr>
          <p:nvPr/>
        </p:nvSpPr>
        <p:spPr>
          <a:xfrm>
            <a:off x="838202" y="9294615"/>
            <a:ext cx="16611600" cy="9525"/>
          </a:xfrm>
          <a:prstGeom prst="rect">
            <a:avLst/>
          </a:prstGeom>
          <a:solidFill>
            <a:srgbClr val="E2E7EB"/>
          </a:solidFill>
        </p:spPr>
        <p:txBody>
          <a:bodyPr/>
          <a:lstStyle/>
          <a:p>
            <a:endParaRPr sz="1801"/>
          </a:p>
        </p:txBody>
      </p:sp>
      <p:sp>
        <p:nvSpPr>
          <p:cNvPr id="26" name="Text 23">
            <a:extLst>
              <a:ext uri="{FF2B5EF4-FFF2-40B4-BE49-F238E27FC236}">
                <a16:creationId xmlns:a16="http://schemas.microsoft.com/office/drawing/2014/main" id="{79846A0F-947E-F9B8-90DD-B95F68D53A2E}"/>
              </a:ext>
            </a:extLst>
          </p:cNvPr>
          <p:cNvSpPr>
            <a:spLocks noGrp="1"/>
          </p:cNvSpPr>
          <p:nvPr/>
        </p:nvSpPr>
        <p:spPr>
          <a:xfrm>
            <a:off x="838201" y="9513691"/>
            <a:ext cx="7461945" cy="392311"/>
          </a:xfrm>
          <a:prstGeom prst="rect">
            <a:avLst/>
          </a:prstGeom>
          <a:noFill/>
        </p:spPr>
        <p:txBody>
          <a:bodyPr wrap="square" lIns="25401" tIns="25401" rIns="25401" bIns="25401" anchor="t">
            <a:normAutofit/>
          </a:bodyPr>
          <a:lstStyle/>
          <a:p>
            <a:pPr>
              <a:lnSpc>
                <a:spcPct val="124000"/>
              </a:lnSpc>
              <a:buNone/>
            </a:pPr>
            <a:r>
              <a:rPr sz="1801" dirty="0">
                <a:solidFill>
                  <a:srgbClr val="667780"/>
                </a:solidFill>
                <a:latin typeface="Frutiger"/>
                <a:ea typeface="Frutiger"/>
                <a:cs typeface="Frutiger"/>
              </a:rPr>
              <a:t>Getting started with dbt</a:t>
            </a:r>
            <a:endParaRPr sz="1801" dirty="0"/>
          </a:p>
        </p:txBody>
      </p:sp>
      <p:sp>
        <p:nvSpPr>
          <p:cNvPr id="28" name="Text 25">
            <a:extLst>
              <a:ext uri="{FF2B5EF4-FFF2-40B4-BE49-F238E27FC236}">
                <a16:creationId xmlns:a16="http://schemas.microsoft.com/office/drawing/2014/main" id="{A7CD8673-44CD-08D2-7C12-B33DF5C28B4F}"/>
              </a:ext>
            </a:extLst>
          </p:cNvPr>
          <p:cNvSpPr>
            <a:spLocks noGrp="1"/>
          </p:cNvSpPr>
          <p:nvPr/>
        </p:nvSpPr>
        <p:spPr>
          <a:xfrm>
            <a:off x="9987856" y="9513691"/>
            <a:ext cx="7461945" cy="392311"/>
          </a:xfrm>
          <a:prstGeom prst="rect">
            <a:avLst/>
          </a:prstGeom>
          <a:noFill/>
        </p:spPr>
        <p:txBody>
          <a:bodyPr wrap="square" lIns="25401" tIns="25401" rIns="25401" bIns="25401" anchor="t">
            <a:normAutofit/>
          </a:bodyPr>
          <a:lstStyle/>
          <a:p>
            <a:pPr algn="r">
              <a:lnSpc>
                <a:spcPct val="124000"/>
              </a:lnSpc>
              <a:buNone/>
            </a:pPr>
            <a:r>
              <a:rPr sz="1801">
                <a:solidFill>
                  <a:srgbClr val="667780"/>
                </a:solidFill>
                <a:latin typeface="Frutiger"/>
                <a:ea typeface="Frutiger"/>
                <a:cs typeface="Frutiger"/>
              </a:rPr>
              <a:t>02</a:t>
            </a:r>
            <a:endParaRPr sz="1801"/>
          </a:p>
        </p:txBody>
      </p:sp>
      <p:pic>
        <p:nvPicPr>
          <p:cNvPr id="4" name="Picture 3">
            <a:extLst>
              <a:ext uri="{FF2B5EF4-FFF2-40B4-BE49-F238E27FC236}">
                <a16:creationId xmlns:a16="http://schemas.microsoft.com/office/drawing/2014/main" id="{34DE3A1D-9A8A-9894-4523-87E86E2B445A}"/>
              </a:ext>
            </a:extLst>
          </p:cNvPr>
          <p:cNvPicPr>
            <a:picLocks noChangeAspect="1"/>
          </p:cNvPicPr>
          <p:nvPr/>
        </p:nvPicPr>
        <p:blipFill>
          <a:blip r:embed="rId4"/>
          <a:stretch>
            <a:fillRect/>
          </a:stretch>
        </p:blipFill>
        <p:spPr>
          <a:xfrm>
            <a:off x="2202773" y="3254376"/>
            <a:ext cx="13875428" cy="5218855"/>
          </a:xfrm>
          <a:prstGeom prst="rect">
            <a:avLst/>
          </a:prstGeom>
        </p:spPr>
      </p:pic>
    </p:spTree>
    <p:extLst>
      <p:ext uri="{BB962C8B-B14F-4D97-AF65-F5344CB8AC3E}">
        <p14:creationId xmlns:p14="http://schemas.microsoft.com/office/powerpoint/2010/main" val="1008811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08D52DE-9952-9094-E4F1-D026DDFD1D30}"/>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8EFF445C-53B7-5958-4F6F-DE77D7E282F3}"/>
              </a:ext>
            </a:extLst>
          </p:cNvPr>
          <p:cNvSpPr>
            <a:spLocks noGrp="1"/>
          </p:cNvSpPr>
          <p:nvPr/>
        </p:nvSpPr>
        <p:spPr>
          <a:xfrm>
            <a:off x="838201" y="963812"/>
            <a:ext cx="15240000" cy="640407"/>
          </a:xfrm>
          <a:prstGeom prst="rect">
            <a:avLst/>
          </a:prstGeom>
          <a:noFill/>
        </p:spPr>
        <p:txBody>
          <a:bodyPr wrap="square" lIns="25401" tIns="25401" rIns="25401" bIns="25401" anchor="t">
            <a:normAutofit/>
          </a:bodyPr>
          <a:lstStyle/>
          <a:p>
            <a:pPr>
              <a:lnSpc>
                <a:spcPct val="79050"/>
              </a:lnSpc>
              <a:buNone/>
            </a:pPr>
            <a:r>
              <a:rPr lang="en-US" sz="4651" b="1" spc="-69" dirty="0">
                <a:solidFill>
                  <a:srgbClr val="001F6B"/>
                </a:solidFill>
                <a:latin typeface="Frutiger"/>
              </a:rPr>
              <a:t>dbt</a:t>
            </a:r>
            <a:endParaRPr sz="4651" dirty="0"/>
          </a:p>
        </p:txBody>
      </p:sp>
      <p:pic>
        <p:nvPicPr>
          <p:cNvPr id="32" name="Image 0">
            <a:extLst>
              <a:ext uri="{FF2B5EF4-FFF2-40B4-BE49-F238E27FC236}">
                <a16:creationId xmlns:a16="http://schemas.microsoft.com/office/drawing/2014/main" id="{3D1D2A6F-EFAE-760D-C749-691C4CA3E183}"/>
              </a:ext>
            </a:extLst>
          </p:cNvPr>
          <p:cNvPicPr>
            <a:picLocks noChangeAspect="1"/>
          </p:cNvPicPr>
          <p:nvPr/>
        </p:nvPicPr>
        <p:blipFill>
          <a:blip r:embed="rId3"/>
          <a:srcRect t="-5" b="-5"/>
          <a:stretch/>
        </p:blipFill>
        <p:spPr>
          <a:xfrm>
            <a:off x="16412620" y="571500"/>
            <a:ext cx="1037182" cy="514350"/>
          </a:xfrm>
          <a:prstGeom prst="rect">
            <a:avLst/>
          </a:prstGeom>
        </p:spPr>
      </p:pic>
      <p:sp>
        <p:nvSpPr>
          <p:cNvPr id="5" name="Shape 2">
            <a:extLst>
              <a:ext uri="{FF2B5EF4-FFF2-40B4-BE49-F238E27FC236}">
                <a16:creationId xmlns:a16="http://schemas.microsoft.com/office/drawing/2014/main" id="{53C84759-2B38-04DE-17D0-9C034B82E6A6}"/>
              </a:ext>
            </a:extLst>
          </p:cNvPr>
          <p:cNvSpPr>
            <a:spLocks noGrp="1"/>
          </p:cNvSpPr>
          <p:nvPr/>
        </p:nvSpPr>
        <p:spPr>
          <a:xfrm>
            <a:off x="838202" y="1813769"/>
            <a:ext cx="16611600" cy="28574"/>
          </a:xfrm>
          <a:prstGeom prst="rect">
            <a:avLst/>
          </a:prstGeom>
          <a:solidFill>
            <a:srgbClr val="FF0000"/>
          </a:solidFill>
        </p:spPr>
        <p:txBody>
          <a:bodyPr/>
          <a:lstStyle/>
          <a:p>
            <a:endParaRPr sz="1801"/>
          </a:p>
        </p:txBody>
      </p:sp>
      <p:sp>
        <p:nvSpPr>
          <p:cNvPr id="6" name="Shape 3">
            <a:extLst>
              <a:ext uri="{FF2B5EF4-FFF2-40B4-BE49-F238E27FC236}">
                <a16:creationId xmlns:a16="http://schemas.microsoft.com/office/drawing/2014/main" id="{A4E7B062-B8E1-C6F2-13E4-D61F225C1742}"/>
              </a:ext>
            </a:extLst>
          </p:cNvPr>
          <p:cNvSpPr>
            <a:spLocks noGrp="1"/>
          </p:cNvSpPr>
          <p:nvPr/>
        </p:nvSpPr>
        <p:spPr>
          <a:xfrm>
            <a:off x="838202" y="1880445"/>
            <a:ext cx="16611600" cy="28574"/>
          </a:xfrm>
          <a:prstGeom prst="rect">
            <a:avLst/>
          </a:prstGeom>
          <a:solidFill>
            <a:srgbClr val="3649A8"/>
          </a:solidFill>
        </p:spPr>
        <p:txBody>
          <a:bodyPr/>
          <a:lstStyle/>
          <a:p>
            <a:endParaRPr sz="1801"/>
          </a:p>
        </p:txBody>
      </p:sp>
      <p:sp>
        <p:nvSpPr>
          <p:cNvPr id="25" name="Shape 22">
            <a:extLst>
              <a:ext uri="{FF2B5EF4-FFF2-40B4-BE49-F238E27FC236}">
                <a16:creationId xmlns:a16="http://schemas.microsoft.com/office/drawing/2014/main" id="{815F249A-B13E-40E5-A397-9A9F6039BABB}"/>
              </a:ext>
            </a:extLst>
          </p:cNvPr>
          <p:cNvSpPr>
            <a:spLocks noGrp="1"/>
          </p:cNvSpPr>
          <p:nvPr/>
        </p:nvSpPr>
        <p:spPr>
          <a:xfrm>
            <a:off x="838202" y="9294615"/>
            <a:ext cx="16611600" cy="9525"/>
          </a:xfrm>
          <a:prstGeom prst="rect">
            <a:avLst/>
          </a:prstGeom>
          <a:solidFill>
            <a:srgbClr val="E2E7EB"/>
          </a:solidFill>
        </p:spPr>
        <p:txBody>
          <a:bodyPr/>
          <a:lstStyle/>
          <a:p>
            <a:endParaRPr sz="1801"/>
          </a:p>
        </p:txBody>
      </p:sp>
      <p:sp>
        <p:nvSpPr>
          <p:cNvPr id="26" name="Text 23">
            <a:extLst>
              <a:ext uri="{FF2B5EF4-FFF2-40B4-BE49-F238E27FC236}">
                <a16:creationId xmlns:a16="http://schemas.microsoft.com/office/drawing/2014/main" id="{58F99BB4-D9D4-9CE4-8E26-6B87761DC795}"/>
              </a:ext>
            </a:extLst>
          </p:cNvPr>
          <p:cNvSpPr>
            <a:spLocks noGrp="1"/>
          </p:cNvSpPr>
          <p:nvPr/>
        </p:nvSpPr>
        <p:spPr>
          <a:xfrm>
            <a:off x="838201" y="9513691"/>
            <a:ext cx="7461945" cy="392311"/>
          </a:xfrm>
          <a:prstGeom prst="rect">
            <a:avLst/>
          </a:prstGeom>
          <a:noFill/>
        </p:spPr>
        <p:txBody>
          <a:bodyPr wrap="square" lIns="25401" tIns="25401" rIns="25401" bIns="25401" anchor="t">
            <a:normAutofit/>
          </a:bodyPr>
          <a:lstStyle/>
          <a:p>
            <a:pPr>
              <a:lnSpc>
                <a:spcPct val="124000"/>
              </a:lnSpc>
              <a:buNone/>
            </a:pPr>
            <a:r>
              <a:rPr sz="1801" dirty="0">
                <a:solidFill>
                  <a:srgbClr val="667780"/>
                </a:solidFill>
                <a:latin typeface="Frutiger"/>
                <a:ea typeface="Frutiger"/>
                <a:cs typeface="Frutiger"/>
              </a:rPr>
              <a:t>Getting started with dbt</a:t>
            </a:r>
            <a:endParaRPr sz="1801" dirty="0"/>
          </a:p>
        </p:txBody>
      </p:sp>
      <p:sp>
        <p:nvSpPr>
          <p:cNvPr id="28" name="Text 25">
            <a:extLst>
              <a:ext uri="{FF2B5EF4-FFF2-40B4-BE49-F238E27FC236}">
                <a16:creationId xmlns:a16="http://schemas.microsoft.com/office/drawing/2014/main" id="{80D29234-308C-F0E3-559D-8408BE11F73B}"/>
              </a:ext>
            </a:extLst>
          </p:cNvPr>
          <p:cNvSpPr>
            <a:spLocks noGrp="1"/>
          </p:cNvSpPr>
          <p:nvPr/>
        </p:nvSpPr>
        <p:spPr>
          <a:xfrm>
            <a:off x="9987856" y="9513691"/>
            <a:ext cx="7461945" cy="392311"/>
          </a:xfrm>
          <a:prstGeom prst="rect">
            <a:avLst/>
          </a:prstGeom>
          <a:noFill/>
        </p:spPr>
        <p:txBody>
          <a:bodyPr wrap="square" lIns="25401" tIns="25401" rIns="25401" bIns="25401" anchor="t">
            <a:normAutofit/>
          </a:bodyPr>
          <a:lstStyle/>
          <a:p>
            <a:pPr algn="r">
              <a:lnSpc>
                <a:spcPct val="124000"/>
              </a:lnSpc>
              <a:buNone/>
            </a:pPr>
            <a:r>
              <a:rPr sz="1801">
                <a:solidFill>
                  <a:srgbClr val="667780"/>
                </a:solidFill>
                <a:latin typeface="Frutiger"/>
                <a:ea typeface="Frutiger"/>
                <a:cs typeface="Frutiger"/>
              </a:rPr>
              <a:t>02</a:t>
            </a:r>
            <a:endParaRPr sz="1801"/>
          </a:p>
        </p:txBody>
      </p:sp>
      <p:pic>
        <p:nvPicPr>
          <p:cNvPr id="4" name="Picture 3" descr="Thank you dbt">
            <a:extLst>
              <a:ext uri="{FF2B5EF4-FFF2-40B4-BE49-F238E27FC236}">
                <a16:creationId xmlns:a16="http://schemas.microsoft.com/office/drawing/2014/main" id="{60FC9F5C-419F-89EE-5116-A27BB5EDE9F4}"/>
              </a:ext>
            </a:extLst>
          </p:cNvPr>
          <p:cNvPicPr>
            <a:picLocks noChangeAspect="1"/>
          </p:cNvPicPr>
          <p:nvPr/>
        </p:nvPicPr>
        <p:blipFill>
          <a:blip r:embed="rId4"/>
          <a:stretch>
            <a:fillRect/>
          </a:stretch>
        </p:blipFill>
        <p:spPr>
          <a:xfrm>
            <a:off x="2698861" y="2251102"/>
            <a:ext cx="12890277" cy="5446142"/>
          </a:xfrm>
          <a:prstGeom prst="rect">
            <a:avLst/>
          </a:prstGeom>
        </p:spPr>
      </p:pic>
      <p:sp>
        <p:nvSpPr>
          <p:cNvPr id="8" name="TextBox 7">
            <a:extLst>
              <a:ext uri="{FF2B5EF4-FFF2-40B4-BE49-F238E27FC236}">
                <a16:creationId xmlns:a16="http://schemas.microsoft.com/office/drawing/2014/main" id="{430E0341-1217-FEBE-DF5F-8233EE566311}"/>
              </a:ext>
            </a:extLst>
          </p:cNvPr>
          <p:cNvSpPr txBox="1"/>
          <p:nvPr/>
        </p:nvSpPr>
        <p:spPr>
          <a:xfrm>
            <a:off x="5797549" y="8066457"/>
            <a:ext cx="6692899" cy="461665"/>
          </a:xfrm>
          <a:prstGeom prst="rect">
            <a:avLst/>
          </a:prstGeom>
          <a:noFill/>
        </p:spPr>
        <p:txBody>
          <a:bodyPr wrap="square">
            <a:spAutoFit/>
          </a:bodyPr>
          <a:lstStyle/>
          <a:p>
            <a:r>
              <a:rPr lang="en-US" sz="2400" dirty="0">
                <a:hlinkClick r:id="rId5"/>
              </a:rPr>
              <a:t>dbt with Fabric Spark in Production | Raki Rahman</a:t>
            </a:r>
            <a:endParaRPr lang="en-US" sz="2400" dirty="0"/>
          </a:p>
        </p:txBody>
      </p:sp>
    </p:spTree>
    <p:extLst>
      <p:ext uri="{BB962C8B-B14F-4D97-AF65-F5344CB8AC3E}">
        <p14:creationId xmlns:p14="http://schemas.microsoft.com/office/powerpoint/2010/main" val="1342387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4EC90D35-304A-4ED8-BF67-87162AFBE388}"/>
              </a:ext>
            </a:extLst>
          </p:cNvPr>
          <p:cNvSpPr>
            <a:spLocks noGrp="1"/>
          </p:cNvSpPr>
          <p:nvPr/>
        </p:nvSpPr>
        <p:spPr>
          <a:xfrm>
            <a:off x="838201" y="963812"/>
            <a:ext cx="15240000" cy="640407"/>
          </a:xfrm>
          <a:prstGeom prst="rect">
            <a:avLst/>
          </a:prstGeom>
          <a:noFill/>
        </p:spPr>
        <p:txBody>
          <a:bodyPr wrap="square" lIns="25401" tIns="25401" rIns="25401" bIns="25401" anchor="t">
            <a:normAutofit/>
          </a:bodyPr>
          <a:lstStyle/>
          <a:p>
            <a:pPr>
              <a:lnSpc>
                <a:spcPct val="79050"/>
              </a:lnSpc>
              <a:buNone/>
            </a:pPr>
            <a:r>
              <a:rPr lang="en-US" sz="4651" b="1" spc="-69" dirty="0">
                <a:solidFill>
                  <a:srgbClr val="001F6B"/>
                </a:solidFill>
                <a:latin typeface="Frutiger"/>
                <a:ea typeface="Frutiger"/>
                <a:cs typeface="Frutiger"/>
              </a:rPr>
              <a:t>The problem</a:t>
            </a:r>
            <a:endParaRPr sz="4651" dirty="0"/>
          </a:p>
        </p:txBody>
      </p:sp>
      <p:pic>
        <p:nvPicPr>
          <p:cNvPr id="32" name="Image 0"/>
          <p:cNvPicPr>
            <a:picLocks noChangeAspect="1"/>
          </p:cNvPicPr>
          <p:nvPr/>
        </p:nvPicPr>
        <p:blipFill>
          <a:blip r:embed="rId3"/>
          <a:srcRect t="-5" b="-5"/>
          <a:stretch/>
        </p:blipFill>
        <p:spPr>
          <a:xfrm>
            <a:off x="16412620" y="571500"/>
            <a:ext cx="1037182" cy="514350"/>
          </a:xfrm>
          <a:prstGeom prst="rect">
            <a:avLst/>
          </a:prstGeom>
        </p:spPr>
      </p:pic>
      <p:sp>
        <p:nvSpPr>
          <p:cNvPr id="5" name="Shape 2">
            <a:extLst>
              <a:ext uri="{FF2B5EF4-FFF2-40B4-BE49-F238E27FC236}">
                <a16:creationId xmlns:a16="http://schemas.microsoft.com/office/drawing/2014/main" id="{619AE5D7-7CB4-4BEA-BB3F-D06573D3768F}"/>
              </a:ext>
            </a:extLst>
          </p:cNvPr>
          <p:cNvSpPr>
            <a:spLocks noGrp="1"/>
          </p:cNvSpPr>
          <p:nvPr/>
        </p:nvSpPr>
        <p:spPr>
          <a:xfrm>
            <a:off x="838202" y="1813769"/>
            <a:ext cx="16611600" cy="28574"/>
          </a:xfrm>
          <a:prstGeom prst="rect">
            <a:avLst/>
          </a:prstGeom>
          <a:solidFill>
            <a:srgbClr val="FF0000"/>
          </a:solidFill>
        </p:spPr>
        <p:txBody>
          <a:bodyPr/>
          <a:lstStyle/>
          <a:p>
            <a:endParaRPr sz="1801"/>
          </a:p>
        </p:txBody>
      </p:sp>
      <p:sp>
        <p:nvSpPr>
          <p:cNvPr id="6" name="Shape 3">
            <a:extLst>
              <a:ext uri="{FF2B5EF4-FFF2-40B4-BE49-F238E27FC236}">
                <a16:creationId xmlns:a16="http://schemas.microsoft.com/office/drawing/2014/main" id="{4913CC0E-0FDB-4091-96BC-623E005C1433}"/>
              </a:ext>
            </a:extLst>
          </p:cNvPr>
          <p:cNvSpPr>
            <a:spLocks noGrp="1"/>
          </p:cNvSpPr>
          <p:nvPr/>
        </p:nvSpPr>
        <p:spPr>
          <a:xfrm>
            <a:off x="838202" y="1880445"/>
            <a:ext cx="16611600" cy="28574"/>
          </a:xfrm>
          <a:prstGeom prst="rect">
            <a:avLst/>
          </a:prstGeom>
          <a:solidFill>
            <a:srgbClr val="3649A8"/>
          </a:solidFill>
        </p:spPr>
        <p:txBody>
          <a:bodyPr/>
          <a:lstStyle/>
          <a:p>
            <a:endParaRPr sz="1801"/>
          </a:p>
        </p:txBody>
      </p:sp>
      <p:sp>
        <p:nvSpPr>
          <p:cNvPr id="25" name="Shape 22">
            <a:extLst>
              <a:ext uri="{FF2B5EF4-FFF2-40B4-BE49-F238E27FC236}">
                <a16:creationId xmlns:a16="http://schemas.microsoft.com/office/drawing/2014/main" id="{B765AE01-8B3A-4F2B-9234-E1B2735FE6D0}"/>
              </a:ext>
            </a:extLst>
          </p:cNvPr>
          <p:cNvSpPr>
            <a:spLocks noGrp="1"/>
          </p:cNvSpPr>
          <p:nvPr/>
        </p:nvSpPr>
        <p:spPr>
          <a:xfrm>
            <a:off x="838202" y="9294615"/>
            <a:ext cx="16611600" cy="9525"/>
          </a:xfrm>
          <a:prstGeom prst="rect">
            <a:avLst/>
          </a:prstGeom>
          <a:solidFill>
            <a:srgbClr val="E2E7EB"/>
          </a:solidFill>
        </p:spPr>
        <p:txBody>
          <a:bodyPr/>
          <a:lstStyle/>
          <a:p>
            <a:endParaRPr sz="1801"/>
          </a:p>
        </p:txBody>
      </p:sp>
      <p:sp>
        <p:nvSpPr>
          <p:cNvPr id="26" name="Text 23">
            <a:extLst>
              <a:ext uri="{FF2B5EF4-FFF2-40B4-BE49-F238E27FC236}">
                <a16:creationId xmlns:a16="http://schemas.microsoft.com/office/drawing/2014/main" id="{5C5AFE6D-27B1-4C09-BBBE-19FE36BD27C8}"/>
              </a:ext>
            </a:extLst>
          </p:cNvPr>
          <p:cNvSpPr>
            <a:spLocks noGrp="1"/>
          </p:cNvSpPr>
          <p:nvPr/>
        </p:nvSpPr>
        <p:spPr>
          <a:xfrm>
            <a:off x="838201" y="9513691"/>
            <a:ext cx="7461945" cy="392311"/>
          </a:xfrm>
          <a:prstGeom prst="rect">
            <a:avLst/>
          </a:prstGeom>
          <a:noFill/>
        </p:spPr>
        <p:txBody>
          <a:bodyPr wrap="square" lIns="25401" tIns="25401" rIns="25401" bIns="25401" anchor="t">
            <a:normAutofit/>
          </a:bodyPr>
          <a:lstStyle/>
          <a:p>
            <a:pPr>
              <a:lnSpc>
                <a:spcPct val="124000"/>
              </a:lnSpc>
              <a:buNone/>
            </a:pPr>
            <a:r>
              <a:rPr sz="1801" dirty="0">
                <a:solidFill>
                  <a:srgbClr val="667780"/>
                </a:solidFill>
                <a:latin typeface="Frutiger"/>
                <a:ea typeface="Frutiger"/>
                <a:cs typeface="Frutiger"/>
              </a:rPr>
              <a:t>Getting started with dbt</a:t>
            </a:r>
            <a:endParaRPr sz="1801" dirty="0"/>
          </a:p>
        </p:txBody>
      </p:sp>
      <p:sp>
        <p:nvSpPr>
          <p:cNvPr id="28" name="Text 25">
            <a:extLst>
              <a:ext uri="{FF2B5EF4-FFF2-40B4-BE49-F238E27FC236}">
                <a16:creationId xmlns:a16="http://schemas.microsoft.com/office/drawing/2014/main" id="{E1A6A13E-D079-4787-BA2C-26179E45E0AB}"/>
              </a:ext>
            </a:extLst>
          </p:cNvPr>
          <p:cNvSpPr>
            <a:spLocks noGrp="1"/>
          </p:cNvSpPr>
          <p:nvPr/>
        </p:nvSpPr>
        <p:spPr>
          <a:xfrm>
            <a:off x="9987856" y="9513691"/>
            <a:ext cx="7461945" cy="392311"/>
          </a:xfrm>
          <a:prstGeom prst="rect">
            <a:avLst/>
          </a:prstGeom>
          <a:noFill/>
        </p:spPr>
        <p:txBody>
          <a:bodyPr wrap="square" lIns="25401" tIns="25401" rIns="25401" bIns="25401" anchor="t">
            <a:normAutofit/>
          </a:bodyPr>
          <a:lstStyle/>
          <a:p>
            <a:pPr algn="r">
              <a:lnSpc>
                <a:spcPct val="124000"/>
              </a:lnSpc>
              <a:buNone/>
            </a:pPr>
            <a:r>
              <a:rPr sz="1801">
                <a:solidFill>
                  <a:srgbClr val="667780"/>
                </a:solidFill>
                <a:latin typeface="Frutiger"/>
                <a:ea typeface="Frutiger"/>
                <a:cs typeface="Frutiger"/>
              </a:rPr>
              <a:t>02</a:t>
            </a:r>
            <a:endParaRPr sz="1801"/>
          </a:p>
        </p:txBody>
      </p:sp>
      <p:sp>
        <p:nvSpPr>
          <p:cNvPr id="100" name="Shape 100"/>
          <p:cNvSpPr/>
          <p:nvPr/>
        </p:nvSpPr>
        <p:spPr>
          <a:xfrm>
            <a:off x="838200" y="2413000"/>
            <a:ext cx="4978400" cy="1905000"/>
          </a:xfrm>
          <a:prstGeom prst="rect">
            <a:avLst/>
          </a:prstGeom>
          <a:solidFill>
            <a:srgbClr val="F4F6FA"/>
          </a:solidFill>
          <a:ln>
            <a:noFill/>
          </a:ln>
        </p:spPr>
        <p:txBody>
          <a:bodyPr wrap="square" lIns="101600" tIns="101600" rIns="101600" bIns="101600" anchor="t">
            <a:normAutofit/>
          </a:bodyPr>
          <a:lstStyle/>
          <a:p>
            <a:endParaRPr lang="en-US" dirty="0"/>
          </a:p>
        </p:txBody>
      </p:sp>
      <p:sp>
        <p:nvSpPr>
          <p:cNvPr id="101" name="Shape 101"/>
          <p:cNvSpPr/>
          <p:nvPr/>
        </p:nvSpPr>
        <p:spPr>
          <a:xfrm>
            <a:off x="838200" y="2413000"/>
            <a:ext cx="4978400" cy="76200"/>
          </a:xfrm>
          <a:prstGeom prst="rect">
            <a:avLst/>
          </a:prstGeom>
          <a:solidFill>
            <a:srgbClr val="8E9DC5"/>
          </a:solidFill>
          <a:ln>
            <a:noFill/>
          </a:ln>
        </p:spPr>
        <p:txBody>
          <a:bodyPr wrap="square" lIns="101600" tIns="101600" rIns="101600" bIns="101600" anchor="t">
            <a:normAutofit fontScale="25000" lnSpcReduction="20000"/>
          </a:bodyPr>
          <a:lstStyle/>
          <a:p>
            <a:endParaRPr lang="en-US"/>
          </a:p>
        </p:txBody>
      </p:sp>
      <p:sp>
        <p:nvSpPr>
          <p:cNvPr id="102" name="Shape 102"/>
          <p:cNvSpPr/>
          <p:nvPr/>
        </p:nvSpPr>
        <p:spPr>
          <a:xfrm>
            <a:off x="1092200" y="2692400"/>
            <a:ext cx="4470400" cy="1524000"/>
          </a:xfrm>
          <a:prstGeom prst="rect">
            <a:avLst/>
          </a:prstGeom>
          <a:noFill/>
          <a:ln>
            <a:noFill/>
          </a:ln>
        </p:spPr>
        <p:txBody>
          <a:bodyPr wrap="square" lIns="0" tIns="0" rIns="0" bIns="0" anchor="t">
            <a:normAutofit/>
          </a:bodyPr>
          <a:lstStyle/>
          <a:p>
            <a:pPr>
              <a:buNone/>
            </a:pPr>
            <a:r>
              <a:rPr lang="en-US" sz="2400" b="1" dirty="0">
                <a:solidFill>
                  <a:srgbClr val="001F6B"/>
                </a:solidFill>
                <a:latin typeface="Frutiger"/>
                <a:cs typeface="Frutiger"/>
              </a:rPr>
              <a:t>One query</a:t>
            </a:r>
          </a:p>
          <a:p>
            <a:pPr>
              <a:lnSpc>
                <a:spcPct val="108000"/>
              </a:lnSpc>
              <a:spcBef>
                <a:spcPts val="600"/>
              </a:spcBef>
              <a:buNone/>
            </a:pPr>
            <a:r>
              <a:rPr lang="en-US" sz="2000" dirty="0">
                <a:solidFill>
                  <a:srgbClr val="364750"/>
                </a:solidFill>
                <a:latin typeface="Frutiger"/>
                <a:cs typeface="Frutiger"/>
              </a:rPr>
              <a:t>A single SELECT.</a:t>
            </a:r>
          </a:p>
        </p:txBody>
      </p:sp>
      <p:cxnSp>
        <p:nvCxnSpPr>
          <p:cNvPr id="120" name="Line 120"/>
          <p:cNvCxnSpPr/>
          <p:nvPr/>
        </p:nvCxnSpPr>
        <p:spPr>
          <a:xfrm>
            <a:off x="5943600" y="3365500"/>
            <a:ext cx="584200" cy="0"/>
          </a:xfrm>
          <a:prstGeom prst="line">
            <a:avLst/>
          </a:prstGeom>
          <a:ln w="25400">
            <a:solidFill>
              <a:srgbClr val="667780"/>
            </a:solidFill>
            <a:tailEnd type="triangle" w="med" len="med"/>
          </a:ln>
        </p:spPr>
      </p:cxnSp>
      <p:sp>
        <p:nvSpPr>
          <p:cNvPr id="103" name="Shape 103"/>
          <p:cNvSpPr/>
          <p:nvPr/>
        </p:nvSpPr>
        <p:spPr>
          <a:xfrm>
            <a:off x="6654800" y="2413000"/>
            <a:ext cx="4978400" cy="1905000"/>
          </a:xfrm>
          <a:prstGeom prst="rect">
            <a:avLst/>
          </a:prstGeom>
          <a:solidFill>
            <a:srgbClr val="F4F6FA"/>
          </a:solidFill>
          <a:ln>
            <a:noFill/>
          </a:ln>
        </p:spPr>
        <p:txBody>
          <a:bodyPr wrap="square" lIns="101600" tIns="101600" rIns="101600" bIns="101600" anchor="t">
            <a:normAutofit/>
          </a:bodyPr>
          <a:lstStyle/>
          <a:p>
            <a:endParaRPr lang="en-US"/>
          </a:p>
        </p:txBody>
      </p:sp>
      <p:sp>
        <p:nvSpPr>
          <p:cNvPr id="104" name="Shape 104"/>
          <p:cNvSpPr/>
          <p:nvPr/>
        </p:nvSpPr>
        <p:spPr>
          <a:xfrm>
            <a:off x="6654800" y="2413000"/>
            <a:ext cx="4978400" cy="76200"/>
          </a:xfrm>
          <a:prstGeom prst="rect">
            <a:avLst/>
          </a:prstGeom>
          <a:solidFill>
            <a:srgbClr val="001F6B"/>
          </a:solidFill>
          <a:ln>
            <a:noFill/>
          </a:ln>
        </p:spPr>
        <p:txBody>
          <a:bodyPr wrap="square" lIns="101600" tIns="101600" rIns="101600" bIns="101600" anchor="t">
            <a:normAutofit fontScale="25000" lnSpcReduction="20000"/>
          </a:bodyPr>
          <a:lstStyle/>
          <a:p>
            <a:endParaRPr lang="en-US"/>
          </a:p>
        </p:txBody>
      </p:sp>
      <p:sp>
        <p:nvSpPr>
          <p:cNvPr id="105" name="Shape 105"/>
          <p:cNvSpPr/>
          <p:nvPr/>
        </p:nvSpPr>
        <p:spPr>
          <a:xfrm>
            <a:off x="6908800" y="2692400"/>
            <a:ext cx="4470400" cy="1524000"/>
          </a:xfrm>
          <a:prstGeom prst="rect">
            <a:avLst/>
          </a:prstGeom>
          <a:noFill/>
          <a:ln>
            <a:noFill/>
          </a:ln>
        </p:spPr>
        <p:txBody>
          <a:bodyPr wrap="square" lIns="0" tIns="0" rIns="0" bIns="0" anchor="t">
            <a:normAutofit/>
          </a:bodyPr>
          <a:lstStyle/>
          <a:p>
            <a:pPr>
              <a:buNone/>
            </a:pPr>
            <a:r>
              <a:rPr lang="en-US" sz="2400" b="1" dirty="0">
                <a:solidFill>
                  <a:srgbClr val="001F6B"/>
                </a:solidFill>
                <a:latin typeface="Frutiger"/>
                <a:cs typeface="Frutiger"/>
              </a:rPr>
              <a:t>A web of scripts</a:t>
            </a:r>
          </a:p>
          <a:p>
            <a:pPr>
              <a:lnSpc>
                <a:spcPct val="108000"/>
              </a:lnSpc>
              <a:spcBef>
                <a:spcPts val="600"/>
              </a:spcBef>
              <a:buNone/>
            </a:pPr>
            <a:r>
              <a:rPr lang="en-US" sz="2000" dirty="0">
                <a:solidFill>
                  <a:srgbClr val="364750"/>
                </a:solidFill>
                <a:latin typeface="Frutiger"/>
                <a:cs typeface="Frutiger"/>
              </a:rPr>
              <a:t>Procedures, views and notebooks maintained by several people. </a:t>
            </a:r>
          </a:p>
        </p:txBody>
      </p:sp>
      <p:cxnSp>
        <p:nvCxnSpPr>
          <p:cNvPr id="121" name="Line 121"/>
          <p:cNvCxnSpPr/>
          <p:nvPr/>
        </p:nvCxnSpPr>
        <p:spPr>
          <a:xfrm>
            <a:off x="11760200" y="3365500"/>
            <a:ext cx="584200" cy="0"/>
          </a:xfrm>
          <a:prstGeom prst="line">
            <a:avLst/>
          </a:prstGeom>
          <a:ln w="25400">
            <a:solidFill>
              <a:srgbClr val="667780"/>
            </a:solidFill>
            <a:tailEnd type="triangle" w="med" len="med"/>
          </a:ln>
        </p:spPr>
      </p:cxnSp>
      <p:sp>
        <p:nvSpPr>
          <p:cNvPr id="106" name="Shape 106"/>
          <p:cNvSpPr/>
          <p:nvPr/>
        </p:nvSpPr>
        <p:spPr>
          <a:xfrm>
            <a:off x="12471400" y="2413000"/>
            <a:ext cx="4978400" cy="1905000"/>
          </a:xfrm>
          <a:prstGeom prst="rect">
            <a:avLst/>
          </a:prstGeom>
          <a:solidFill>
            <a:srgbClr val="F4F6FA"/>
          </a:solidFill>
          <a:ln>
            <a:noFill/>
          </a:ln>
        </p:spPr>
        <p:txBody>
          <a:bodyPr wrap="square" lIns="101600" tIns="101600" rIns="101600" bIns="101600" anchor="t">
            <a:normAutofit/>
          </a:bodyPr>
          <a:lstStyle/>
          <a:p>
            <a:endParaRPr lang="en-US"/>
          </a:p>
        </p:txBody>
      </p:sp>
      <p:sp>
        <p:nvSpPr>
          <p:cNvPr id="107" name="Shape 107"/>
          <p:cNvSpPr/>
          <p:nvPr/>
        </p:nvSpPr>
        <p:spPr>
          <a:xfrm>
            <a:off x="12471400" y="2413000"/>
            <a:ext cx="4978400" cy="76200"/>
          </a:xfrm>
          <a:prstGeom prst="rect">
            <a:avLst/>
          </a:prstGeom>
          <a:solidFill>
            <a:srgbClr val="E40046"/>
          </a:solidFill>
          <a:ln>
            <a:noFill/>
          </a:ln>
        </p:spPr>
        <p:txBody>
          <a:bodyPr wrap="square" lIns="101600" tIns="101600" rIns="101600" bIns="101600" anchor="t">
            <a:normAutofit fontScale="25000" lnSpcReduction="20000"/>
          </a:bodyPr>
          <a:lstStyle/>
          <a:p>
            <a:endParaRPr lang="en-US"/>
          </a:p>
        </p:txBody>
      </p:sp>
      <p:sp>
        <p:nvSpPr>
          <p:cNvPr id="108" name="Shape 108"/>
          <p:cNvSpPr/>
          <p:nvPr/>
        </p:nvSpPr>
        <p:spPr>
          <a:xfrm>
            <a:off x="12725400" y="2692400"/>
            <a:ext cx="4470400" cy="1524000"/>
          </a:xfrm>
          <a:prstGeom prst="rect">
            <a:avLst/>
          </a:prstGeom>
          <a:noFill/>
          <a:ln>
            <a:noFill/>
          </a:ln>
        </p:spPr>
        <p:txBody>
          <a:bodyPr wrap="square" lIns="0" tIns="0" rIns="0" bIns="0" anchor="t">
            <a:normAutofit/>
          </a:bodyPr>
          <a:lstStyle/>
          <a:p>
            <a:pPr>
              <a:buNone/>
            </a:pPr>
            <a:r>
              <a:rPr lang="en-US" sz="2400" b="1" dirty="0">
                <a:solidFill>
                  <a:srgbClr val="001F6B"/>
                </a:solidFill>
                <a:latin typeface="Frutiger"/>
                <a:cs typeface="Frutiger"/>
              </a:rPr>
              <a:t>A codebase</a:t>
            </a:r>
          </a:p>
          <a:p>
            <a:pPr>
              <a:lnSpc>
                <a:spcPct val="108000"/>
              </a:lnSpc>
              <a:spcBef>
                <a:spcPts val="600"/>
              </a:spcBef>
              <a:buNone/>
            </a:pPr>
            <a:r>
              <a:rPr lang="en-US" sz="2000" dirty="0">
                <a:solidFill>
                  <a:srgbClr val="364750"/>
                </a:solidFill>
                <a:latin typeface="Frutiger"/>
                <a:cs typeface="Frutiger"/>
              </a:rPr>
              <a:t>Transformations, tests, documentation, version control. This is where dbt fits.</a:t>
            </a:r>
          </a:p>
        </p:txBody>
      </p:sp>
      <p:sp>
        <p:nvSpPr>
          <p:cNvPr id="130" name="Shape 130"/>
          <p:cNvSpPr/>
          <p:nvPr/>
        </p:nvSpPr>
        <p:spPr>
          <a:xfrm>
            <a:off x="838200" y="4724400"/>
            <a:ext cx="16611600" cy="431800"/>
          </a:xfrm>
          <a:prstGeom prst="rect">
            <a:avLst/>
          </a:prstGeom>
          <a:noFill/>
          <a:ln>
            <a:noFill/>
          </a:ln>
        </p:spPr>
        <p:txBody>
          <a:bodyPr wrap="square" lIns="0" tIns="0" rIns="0" bIns="0" anchor="t">
            <a:normAutofit/>
          </a:bodyPr>
          <a:lstStyle/>
          <a:p>
            <a:pPr>
              <a:buNone/>
            </a:pPr>
            <a:r>
              <a:rPr lang="en-US" sz="2200" b="1" dirty="0">
                <a:solidFill>
                  <a:srgbClr val="001F6B"/>
                </a:solidFill>
                <a:latin typeface="Frutiger"/>
                <a:cs typeface="Frutiger"/>
              </a:rPr>
              <a:t>Common challenges for transforming data</a:t>
            </a:r>
          </a:p>
        </p:txBody>
      </p:sp>
      <p:sp>
        <p:nvSpPr>
          <p:cNvPr id="140" name="Shape 140"/>
          <p:cNvSpPr/>
          <p:nvPr/>
        </p:nvSpPr>
        <p:spPr>
          <a:xfrm>
            <a:off x="838200" y="5334000"/>
            <a:ext cx="8178800" cy="17272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a:p>
        </p:txBody>
      </p:sp>
      <p:sp>
        <p:nvSpPr>
          <p:cNvPr id="141" name="Shape 141"/>
          <p:cNvSpPr/>
          <p:nvPr/>
        </p:nvSpPr>
        <p:spPr>
          <a:xfrm>
            <a:off x="1066800" y="5613400"/>
            <a:ext cx="431800" cy="431800"/>
          </a:xfrm>
          <a:prstGeom prst="ellipse">
            <a:avLst/>
          </a:prstGeom>
          <a:solidFill>
            <a:srgbClr val="E40046"/>
          </a:solidFill>
          <a:ln>
            <a:noFill/>
          </a:ln>
        </p:spPr>
        <p:txBody>
          <a:bodyPr wrap="square" lIns="0" tIns="0" rIns="0" bIns="0" anchor="ctr">
            <a:normAutofit/>
          </a:bodyPr>
          <a:lstStyle/>
          <a:p>
            <a:pPr algn="ctr">
              <a:buNone/>
            </a:pPr>
            <a:r>
              <a:rPr lang="en-US" sz="2000" b="1" dirty="0">
                <a:solidFill>
                  <a:srgbClr val="FFFFFF"/>
                </a:solidFill>
                <a:latin typeface="Frutiger"/>
                <a:cs typeface="Frutiger"/>
              </a:rPr>
              <a:t>?</a:t>
            </a:r>
          </a:p>
        </p:txBody>
      </p:sp>
      <p:sp>
        <p:nvSpPr>
          <p:cNvPr id="142" name="Shape 142"/>
          <p:cNvSpPr/>
          <p:nvPr/>
        </p:nvSpPr>
        <p:spPr>
          <a:xfrm>
            <a:off x="1727200" y="5537200"/>
            <a:ext cx="7035800" cy="1422400"/>
          </a:xfrm>
          <a:prstGeom prst="rect">
            <a:avLst/>
          </a:prstGeom>
          <a:noFill/>
          <a:ln>
            <a:noFill/>
          </a:ln>
        </p:spPr>
        <p:txBody>
          <a:bodyPr wrap="square" lIns="0" tIns="0" rIns="0" bIns="0" anchor="t">
            <a:normAutofit/>
          </a:bodyPr>
          <a:lstStyle/>
          <a:p>
            <a:pPr>
              <a:buNone/>
            </a:pPr>
            <a:r>
              <a:rPr lang="en-US" sz="2200" b="1" dirty="0">
                <a:solidFill>
                  <a:srgbClr val="001F6B"/>
                </a:solidFill>
                <a:latin typeface="Frutiger"/>
                <a:cs typeface="Frutiger"/>
              </a:rPr>
              <a:t>What must run first?</a:t>
            </a:r>
          </a:p>
          <a:p>
            <a:pPr>
              <a:lnSpc>
                <a:spcPct val="106000"/>
              </a:lnSpc>
              <a:spcBef>
                <a:spcPts val="600"/>
              </a:spcBef>
              <a:buNone/>
            </a:pPr>
            <a:r>
              <a:rPr lang="en-US" sz="1900" dirty="0">
                <a:solidFill>
                  <a:srgbClr val="364750"/>
                </a:solidFill>
                <a:latin typeface="Frutiger"/>
                <a:cs typeface="Frutiger"/>
              </a:rPr>
              <a:t>Execution order lives in ten pipelines, a PowerShell script, or someone's head.</a:t>
            </a:r>
          </a:p>
        </p:txBody>
      </p:sp>
      <p:sp>
        <p:nvSpPr>
          <p:cNvPr id="143" name="Shape 143"/>
          <p:cNvSpPr/>
          <p:nvPr/>
        </p:nvSpPr>
        <p:spPr>
          <a:xfrm>
            <a:off x="9271000" y="5334000"/>
            <a:ext cx="8178800" cy="17272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a:p>
        </p:txBody>
      </p:sp>
      <p:sp>
        <p:nvSpPr>
          <p:cNvPr id="144" name="Shape 144"/>
          <p:cNvSpPr/>
          <p:nvPr/>
        </p:nvSpPr>
        <p:spPr>
          <a:xfrm>
            <a:off x="9499600" y="5613400"/>
            <a:ext cx="431800" cy="431800"/>
          </a:xfrm>
          <a:prstGeom prst="ellipse">
            <a:avLst/>
          </a:prstGeom>
          <a:solidFill>
            <a:srgbClr val="E40046"/>
          </a:solidFill>
          <a:ln>
            <a:noFill/>
          </a:ln>
        </p:spPr>
        <p:txBody>
          <a:bodyPr wrap="square" lIns="0" tIns="0" rIns="0" bIns="0" anchor="ctr">
            <a:normAutofit/>
          </a:bodyPr>
          <a:lstStyle/>
          <a:p>
            <a:pPr algn="ctr">
              <a:buNone/>
            </a:pPr>
            <a:r>
              <a:rPr lang="en-US" sz="2000" b="1" dirty="0">
                <a:solidFill>
                  <a:srgbClr val="FFFFFF"/>
                </a:solidFill>
                <a:latin typeface="Frutiger"/>
                <a:cs typeface="Frutiger"/>
              </a:rPr>
              <a:t>?</a:t>
            </a:r>
          </a:p>
        </p:txBody>
      </p:sp>
      <p:sp>
        <p:nvSpPr>
          <p:cNvPr id="145" name="Shape 145"/>
          <p:cNvSpPr/>
          <p:nvPr/>
        </p:nvSpPr>
        <p:spPr>
          <a:xfrm>
            <a:off x="10160000" y="5537200"/>
            <a:ext cx="7035800" cy="1422400"/>
          </a:xfrm>
          <a:prstGeom prst="rect">
            <a:avLst/>
          </a:prstGeom>
          <a:noFill/>
          <a:ln>
            <a:noFill/>
          </a:ln>
        </p:spPr>
        <p:txBody>
          <a:bodyPr wrap="square" lIns="0" tIns="0" rIns="0" bIns="0" anchor="t">
            <a:normAutofit/>
          </a:bodyPr>
          <a:lstStyle/>
          <a:p>
            <a:pPr>
              <a:buNone/>
            </a:pPr>
            <a:r>
              <a:rPr lang="en-US" sz="2200" b="1" dirty="0">
                <a:solidFill>
                  <a:srgbClr val="001F6B"/>
                </a:solidFill>
                <a:latin typeface="Frutiger"/>
                <a:cs typeface="Frutiger"/>
              </a:rPr>
              <a:t>How do we visualize dependencies?</a:t>
            </a:r>
          </a:p>
          <a:p>
            <a:pPr>
              <a:lnSpc>
                <a:spcPct val="106000"/>
              </a:lnSpc>
              <a:spcBef>
                <a:spcPts val="600"/>
              </a:spcBef>
              <a:buNone/>
            </a:pPr>
            <a:r>
              <a:rPr lang="en-US" sz="1900" dirty="0">
                <a:solidFill>
                  <a:srgbClr val="364750"/>
                </a:solidFill>
                <a:latin typeface="Frutiger"/>
                <a:cs typeface="Frutiger"/>
              </a:rPr>
              <a:t>Finding downstream reports means searching code and asking around.</a:t>
            </a:r>
          </a:p>
        </p:txBody>
      </p:sp>
      <p:sp>
        <p:nvSpPr>
          <p:cNvPr id="146" name="Shape 146"/>
          <p:cNvSpPr/>
          <p:nvPr/>
        </p:nvSpPr>
        <p:spPr>
          <a:xfrm>
            <a:off x="838200" y="7264400"/>
            <a:ext cx="8178800" cy="17272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a:p>
        </p:txBody>
      </p:sp>
      <p:sp>
        <p:nvSpPr>
          <p:cNvPr id="147" name="Shape 147"/>
          <p:cNvSpPr/>
          <p:nvPr/>
        </p:nvSpPr>
        <p:spPr>
          <a:xfrm>
            <a:off x="1066800" y="7543800"/>
            <a:ext cx="431800" cy="431800"/>
          </a:xfrm>
          <a:prstGeom prst="ellipse">
            <a:avLst/>
          </a:prstGeom>
          <a:solidFill>
            <a:srgbClr val="E40046"/>
          </a:solidFill>
          <a:ln>
            <a:noFill/>
          </a:ln>
        </p:spPr>
        <p:txBody>
          <a:bodyPr wrap="square" lIns="0" tIns="0" rIns="0" bIns="0" anchor="ctr">
            <a:normAutofit/>
          </a:bodyPr>
          <a:lstStyle/>
          <a:p>
            <a:pPr algn="ctr">
              <a:buNone/>
            </a:pPr>
            <a:r>
              <a:rPr lang="en-US" sz="2000" b="1" dirty="0">
                <a:solidFill>
                  <a:srgbClr val="FFFFFF"/>
                </a:solidFill>
                <a:latin typeface="Frutiger"/>
                <a:cs typeface="Frutiger"/>
              </a:rPr>
              <a:t>?</a:t>
            </a:r>
          </a:p>
        </p:txBody>
      </p:sp>
      <p:sp>
        <p:nvSpPr>
          <p:cNvPr id="148" name="Shape 148"/>
          <p:cNvSpPr/>
          <p:nvPr/>
        </p:nvSpPr>
        <p:spPr>
          <a:xfrm>
            <a:off x="1727200" y="7467600"/>
            <a:ext cx="7035800" cy="1422400"/>
          </a:xfrm>
          <a:prstGeom prst="rect">
            <a:avLst/>
          </a:prstGeom>
          <a:noFill/>
          <a:ln>
            <a:noFill/>
          </a:ln>
        </p:spPr>
        <p:txBody>
          <a:bodyPr wrap="square" lIns="0" tIns="0" rIns="0" bIns="0" anchor="t">
            <a:normAutofit/>
          </a:bodyPr>
          <a:lstStyle/>
          <a:p>
            <a:pPr>
              <a:buNone/>
            </a:pPr>
            <a:r>
              <a:rPr lang="en-US" sz="2200" b="1" dirty="0">
                <a:solidFill>
                  <a:srgbClr val="001F6B"/>
                </a:solidFill>
                <a:latin typeface="Frutiger"/>
                <a:cs typeface="Frutiger"/>
              </a:rPr>
              <a:t>How to we run tests?</a:t>
            </a:r>
          </a:p>
          <a:p>
            <a:pPr>
              <a:lnSpc>
                <a:spcPct val="106000"/>
              </a:lnSpc>
              <a:spcBef>
                <a:spcPts val="600"/>
              </a:spcBef>
              <a:buNone/>
            </a:pPr>
            <a:r>
              <a:rPr lang="en-US" sz="1900" dirty="0">
                <a:solidFill>
                  <a:srgbClr val="364750"/>
                </a:solidFill>
                <a:latin typeface="Frutiger"/>
                <a:cs typeface="Frutiger"/>
              </a:rPr>
              <a:t>Uniqueness, valid statuses and reconciled totals are checked by hand, if at all.</a:t>
            </a:r>
          </a:p>
        </p:txBody>
      </p:sp>
      <p:sp>
        <p:nvSpPr>
          <p:cNvPr id="149" name="Shape 149"/>
          <p:cNvSpPr/>
          <p:nvPr/>
        </p:nvSpPr>
        <p:spPr>
          <a:xfrm>
            <a:off x="9271000" y="7264400"/>
            <a:ext cx="8178800" cy="17272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a:p>
        </p:txBody>
      </p:sp>
      <p:sp>
        <p:nvSpPr>
          <p:cNvPr id="150" name="Shape 150"/>
          <p:cNvSpPr/>
          <p:nvPr/>
        </p:nvSpPr>
        <p:spPr>
          <a:xfrm>
            <a:off x="9499600" y="7543800"/>
            <a:ext cx="431800" cy="431800"/>
          </a:xfrm>
          <a:prstGeom prst="ellipse">
            <a:avLst/>
          </a:prstGeom>
          <a:solidFill>
            <a:srgbClr val="E40046"/>
          </a:solidFill>
          <a:ln>
            <a:noFill/>
          </a:ln>
        </p:spPr>
        <p:txBody>
          <a:bodyPr wrap="square" lIns="0" tIns="0" rIns="0" bIns="0" anchor="ctr">
            <a:normAutofit/>
          </a:bodyPr>
          <a:lstStyle/>
          <a:p>
            <a:pPr algn="ctr">
              <a:buNone/>
            </a:pPr>
            <a:r>
              <a:rPr lang="en-US" sz="2000" b="1" dirty="0">
                <a:solidFill>
                  <a:srgbClr val="FFFFFF"/>
                </a:solidFill>
                <a:latin typeface="Frutiger"/>
                <a:cs typeface="Frutiger"/>
              </a:rPr>
              <a:t>?</a:t>
            </a:r>
          </a:p>
        </p:txBody>
      </p:sp>
      <p:sp>
        <p:nvSpPr>
          <p:cNvPr id="151" name="Shape 151"/>
          <p:cNvSpPr/>
          <p:nvPr/>
        </p:nvSpPr>
        <p:spPr>
          <a:xfrm>
            <a:off x="10160000" y="7467600"/>
            <a:ext cx="7035800" cy="1422400"/>
          </a:xfrm>
          <a:prstGeom prst="rect">
            <a:avLst/>
          </a:prstGeom>
          <a:noFill/>
          <a:ln>
            <a:noFill/>
          </a:ln>
        </p:spPr>
        <p:txBody>
          <a:bodyPr wrap="square" lIns="0" tIns="0" rIns="0" bIns="0" anchor="t">
            <a:normAutofit/>
          </a:bodyPr>
          <a:lstStyle/>
          <a:p>
            <a:pPr>
              <a:buNone/>
            </a:pPr>
            <a:r>
              <a:rPr lang="en-US" sz="2200" b="1" dirty="0">
                <a:solidFill>
                  <a:srgbClr val="001F6B"/>
                </a:solidFill>
                <a:latin typeface="Frutiger"/>
                <a:cs typeface="Frutiger"/>
              </a:rPr>
              <a:t>Where is the documentation for this table?</a:t>
            </a:r>
          </a:p>
          <a:p>
            <a:pPr>
              <a:lnSpc>
                <a:spcPct val="106000"/>
              </a:lnSpc>
              <a:spcBef>
                <a:spcPts val="600"/>
              </a:spcBef>
              <a:buNone/>
            </a:pPr>
            <a:r>
              <a:rPr lang="en-US" sz="1900" dirty="0">
                <a:solidFill>
                  <a:srgbClr val="364750"/>
                </a:solidFill>
                <a:latin typeface="Frutiger"/>
                <a:cs typeface="Frutiger"/>
              </a:rPr>
              <a:t>Grain, inclusion rules and units are documented somewhere else, or nowhere.</a:t>
            </a:r>
          </a:p>
        </p:txBody>
      </p:sp>
    </p:spTree>
    <p:extLst>
      <p:ext uri="{BB962C8B-B14F-4D97-AF65-F5344CB8AC3E}">
        <p14:creationId xmlns:p14="http://schemas.microsoft.com/office/powerpoint/2010/main" val="1017227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454A5393-1907-4275-B9E9-C410BF0DBCDF}"/>
              </a:ext>
            </a:extLst>
          </p:cNvPr>
          <p:cNvSpPr>
            <a:spLocks noGrp="1"/>
          </p:cNvSpPr>
          <p:nvPr/>
        </p:nvSpPr>
        <p:spPr>
          <a:xfrm>
            <a:off x="838201" y="963812"/>
            <a:ext cx="15240000" cy="640407"/>
          </a:xfrm>
          <a:prstGeom prst="rect">
            <a:avLst/>
          </a:prstGeom>
          <a:noFill/>
        </p:spPr>
        <p:txBody>
          <a:bodyPr wrap="square" lIns="25401" tIns="25401" rIns="25401" bIns="25401" anchor="t">
            <a:normAutofit/>
          </a:bodyPr>
          <a:lstStyle/>
          <a:p>
            <a:pPr>
              <a:lnSpc>
                <a:spcPct val="79050"/>
              </a:lnSpc>
              <a:buNone/>
            </a:pPr>
            <a:r>
              <a:rPr lang="en-US" sz="4651" b="1" spc="-69" dirty="0">
                <a:solidFill>
                  <a:srgbClr val="001F6B"/>
                </a:solidFill>
                <a:latin typeface="Frutiger"/>
                <a:ea typeface="Frutiger"/>
                <a:cs typeface="Frutiger"/>
              </a:rPr>
              <a:t>What is dbt?</a:t>
            </a:r>
            <a:endParaRPr sz="4651" dirty="0"/>
          </a:p>
        </p:txBody>
      </p:sp>
      <p:pic>
        <p:nvPicPr>
          <p:cNvPr id="30" name="Image 0"/>
          <p:cNvPicPr>
            <a:picLocks noChangeAspect="1"/>
          </p:cNvPicPr>
          <p:nvPr/>
        </p:nvPicPr>
        <p:blipFill>
          <a:blip r:embed="rId3"/>
          <a:srcRect t="-5" b="-5"/>
          <a:stretch/>
        </p:blipFill>
        <p:spPr>
          <a:xfrm>
            <a:off x="16412620" y="571500"/>
            <a:ext cx="1037182" cy="514350"/>
          </a:xfrm>
          <a:prstGeom prst="rect">
            <a:avLst/>
          </a:prstGeom>
        </p:spPr>
      </p:pic>
      <p:sp>
        <p:nvSpPr>
          <p:cNvPr id="5" name="Shape 2">
            <a:extLst>
              <a:ext uri="{FF2B5EF4-FFF2-40B4-BE49-F238E27FC236}">
                <a16:creationId xmlns:a16="http://schemas.microsoft.com/office/drawing/2014/main" id="{96506226-AB52-43FB-ABA8-E1F967B1C350}"/>
              </a:ext>
            </a:extLst>
          </p:cNvPr>
          <p:cNvSpPr>
            <a:spLocks noGrp="1"/>
          </p:cNvSpPr>
          <p:nvPr/>
        </p:nvSpPr>
        <p:spPr>
          <a:xfrm>
            <a:off x="838202" y="1813769"/>
            <a:ext cx="16611600" cy="28574"/>
          </a:xfrm>
          <a:prstGeom prst="rect">
            <a:avLst/>
          </a:prstGeom>
          <a:solidFill>
            <a:srgbClr val="FF0000"/>
          </a:solidFill>
        </p:spPr>
        <p:txBody>
          <a:bodyPr/>
          <a:lstStyle/>
          <a:p>
            <a:endParaRPr sz="1801"/>
          </a:p>
        </p:txBody>
      </p:sp>
      <p:sp>
        <p:nvSpPr>
          <p:cNvPr id="6" name="Shape 3">
            <a:extLst>
              <a:ext uri="{FF2B5EF4-FFF2-40B4-BE49-F238E27FC236}">
                <a16:creationId xmlns:a16="http://schemas.microsoft.com/office/drawing/2014/main" id="{B53C8AF0-E782-40B7-9807-7A9BA9D5C057}"/>
              </a:ext>
            </a:extLst>
          </p:cNvPr>
          <p:cNvSpPr>
            <a:spLocks noGrp="1"/>
          </p:cNvSpPr>
          <p:nvPr/>
        </p:nvSpPr>
        <p:spPr>
          <a:xfrm>
            <a:off x="838202" y="1880445"/>
            <a:ext cx="16611600" cy="28574"/>
          </a:xfrm>
          <a:prstGeom prst="rect">
            <a:avLst/>
          </a:prstGeom>
          <a:solidFill>
            <a:srgbClr val="3649A8"/>
          </a:solidFill>
        </p:spPr>
        <p:txBody>
          <a:bodyPr/>
          <a:lstStyle/>
          <a:p>
            <a:endParaRPr sz="1801"/>
          </a:p>
        </p:txBody>
      </p:sp>
      <p:sp>
        <p:nvSpPr>
          <p:cNvPr id="23" name="Shape 20">
            <a:extLst>
              <a:ext uri="{FF2B5EF4-FFF2-40B4-BE49-F238E27FC236}">
                <a16:creationId xmlns:a16="http://schemas.microsoft.com/office/drawing/2014/main" id="{986EBE02-E6C2-4A57-82D2-230CA7D18A38}"/>
              </a:ext>
            </a:extLst>
          </p:cNvPr>
          <p:cNvSpPr>
            <a:spLocks noGrp="1"/>
          </p:cNvSpPr>
          <p:nvPr/>
        </p:nvSpPr>
        <p:spPr>
          <a:xfrm>
            <a:off x="838202" y="9294615"/>
            <a:ext cx="16611600" cy="9525"/>
          </a:xfrm>
          <a:prstGeom prst="rect">
            <a:avLst/>
          </a:prstGeom>
          <a:solidFill>
            <a:srgbClr val="E2E7EB"/>
          </a:solidFill>
        </p:spPr>
        <p:txBody>
          <a:bodyPr/>
          <a:lstStyle/>
          <a:p>
            <a:endParaRPr sz="1801"/>
          </a:p>
        </p:txBody>
      </p:sp>
      <p:sp>
        <p:nvSpPr>
          <p:cNvPr id="24" name="Text 21">
            <a:extLst>
              <a:ext uri="{FF2B5EF4-FFF2-40B4-BE49-F238E27FC236}">
                <a16:creationId xmlns:a16="http://schemas.microsoft.com/office/drawing/2014/main" id="{81383D1B-3B45-4C05-9C8A-439B28F8A2D2}"/>
              </a:ext>
            </a:extLst>
          </p:cNvPr>
          <p:cNvSpPr>
            <a:spLocks noGrp="1"/>
          </p:cNvSpPr>
          <p:nvPr/>
        </p:nvSpPr>
        <p:spPr>
          <a:xfrm>
            <a:off x="838201" y="9513691"/>
            <a:ext cx="7461945" cy="392311"/>
          </a:xfrm>
          <a:prstGeom prst="rect">
            <a:avLst/>
          </a:prstGeom>
          <a:noFill/>
        </p:spPr>
        <p:txBody>
          <a:bodyPr wrap="square" lIns="25401" tIns="25401" rIns="25401" bIns="25401" anchor="t">
            <a:normAutofit/>
          </a:bodyPr>
          <a:lstStyle/>
          <a:p>
            <a:pPr>
              <a:lnSpc>
                <a:spcPct val="124000"/>
              </a:lnSpc>
              <a:buNone/>
            </a:pPr>
            <a:r>
              <a:rPr sz="1801" dirty="0">
                <a:solidFill>
                  <a:srgbClr val="667780"/>
                </a:solidFill>
                <a:latin typeface="Frutiger"/>
                <a:ea typeface="Frutiger"/>
                <a:cs typeface="Frutiger"/>
              </a:rPr>
              <a:t>Getting started with dbt</a:t>
            </a:r>
            <a:endParaRPr sz="1801" dirty="0"/>
          </a:p>
        </p:txBody>
      </p:sp>
      <p:sp>
        <p:nvSpPr>
          <p:cNvPr id="26" name="Text 23">
            <a:extLst>
              <a:ext uri="{FF2B5EF4-FFF2-40B4-BE49-F238E27FC236}">
                <a16:creationId xmlns:a16="http://schemas.microsoft.com/office/drawing/2014/main" id="{57053F5A-4F41-40B1-B3CE-278E9D4C84A8}"/>
              </a:ext>
            </a:extLst>
          </p:cNvPr>
          <p:cNvSpPr>
            <a:spLocks noGrp="1"/>
          </p:cNvSpPr>
          <p:nvPr/>
        </p:nvSpPr>
        <p:spPr>
          <a:xfrm>
            <a:off x="9987856" y="9513691"/>
            <a:ext cx="7461945" cy="392311"/>
          </a:xfrm>
          <a:prstGeom prst="rect">
            <a:avLst/>
          </a:prstGeom>
          <a:noFill/>
        </p:spPr>
        <p:txBody>
          <a:bodyPr wrap="square" lIns="25401" tIns="25401" rIns="25401" bIns="25401" anchor="t">
            <a:normAutofit/>
          </a:bodyPr>
          <a:lstStyle/>
          <a:p>
            <a:pPr algn="r">
              <a:lnSpc>
                <a:spcPct val="124000"/>
              </a:lnSpc>
              <a:buNone/>
            </a:pPr>
            <a:r>
              <a:rPr sz="1801">
                <a:solidFill>
                  <a:srgbClr val="667780"/>
                </a:solidFill>
                <a:latin typeface="Frutiger"/>
                <a:ea typeface="Frutiger"/>
                <a:cs typeface="Frutiger"/>
              </a:rPr>
              <a:t>03</a:t>
            </a:r>
            <a:endParaRPr sz="1801"/>
          </a:p>
        </p:txBody>
      </p:sp>
      <p:sp>
        <p:nvSpPr>
          <p:cNvPr id="100" name="Shape 100"/>
          <p:cNvSpPr/>
          <p:nvPr/>
        </p:nvSpPr>
        <p:spPr>
          <a:xfrm>
            <a:off x="838200" y="2336800"/>
            <a:ext cx="16611600" cy="736600"/>
          </a:xfrm>
          <a:prstGeom prst="rect">
            <a:avLst/>
          </a:prstGeom>
          <a:solidFill>
            <a:srgbClr val="001F6B"/>
          </a:solidFill>
          <a:ln>
            <a:noFill/>
          </a:ln>
        </p:spPr>
        <p:txBody>
          <a:bodyPr wrap="square" lIns="228600" tIns="50800" rIns="228600" bIns="50800" anchor="ctr">
            <a:normAutofit lnSpcReduction="10000"/>
          </a:bodyPr>
          <a:lstStyle/>
          <a:p>
            <a:pPr>
              <a:buNone/>
            </a:pPr>
            <a:r>
              <a:rPr lang="en-US" sz="2200" b="1" dirty="0">
                <a:solidFill>
                  <a:srgbClr val="FFFFFF"/>
                </a:solidFill>
                <a:latin typeface="Frutiger"/>
                <a:cs typeface="Frutiger"/>
              </a:rPr>
              <a:t>dbt</a:t>
            </a:r>
            <a:r>
              <a:rPr lang="en-US" sz="2000" dirty="0">
                <a:solidFill>
                  <a:srgbClr val="FFFFFF"/>
                </a:solidFill>
                <a:latin typeface="Frutiger"/>
                <a:cs typeface="Frutiger"/>
              </a:rPr>
              <a:t>  (data build tool) is a framework for developing, testing and documenting SQL transformations. You write SELECT statements; dbt turns them into database objects, in order, with checks.</a:t>
            </a:r>
          </a:p>
        </p:txBody>
      </p:sp>
      <p:sp>
        <p:nvSpPr>
          <p:cNvPr id="110" name="Shape 110"/>
          <p:cNvSpPr/>
          <p:nvPr/>
        </p:nvSpPr>
        <p:spPr>
          <a:xfrm>
            <a:off x="838200" y="3327400"/>
            <a:ext cx="5080000" cy="1727200"/>
          </a:xfrm>
          <a:prstGeom prst="rect">
            <a:avLst/>
          </a:prstGeom>
          <a:solidFill>
            <a:srgbClr val="F4F6FA"/>
          </a:solidFill>
          <a:ln>
            <a:noFill/>
          </a:ln>
        </p:spPr>
        <p:txBody>
          <a:bodyPr wrap="square" lIns="101600" tIns="101600" rIns="101600" bIns="101600" anchor="t">
            <a:normAutofit/>
          </a:bodyPr>
          <a:lstStyle/>
          <a:p>
            <a:endParaRPr lang="en-US"/>
          </a:p>
        </p:txBody>
      </p:sp>
      <p:sp>
        <p:nvSpPr>
          <p:cNvPr id="111" name="Shape 111"/>
          <p:cNvSpPr/>
          <p:nvPr/>
        </p:nvSpPr>
        <p:spPr>
          <a:xfrm>
            <a:off x="1092200" y="3505200"/>
            <a:ext cx="4572000" cy="1473200"/>
          </a:xfrm>
          <a:prstGeom prst="rect">
            <a:avLst/>
          </a:prstGeom>
          <a:noFill/>
          <a:ln>
            <a:noFill/>
          </a:ln>
        </p:spPr>
        <p:txBody>
          <a:bodyPr wrap="square" lIns="0" tIns="0" rIns="0" bIns="0" anchor="t">
            <a:normAutofit fontScale="92500"/>
          </a:bodyPr>
          <a:lstStyle/>
          <a:p>
            <a:pPr>
              <a:buNone/>
            </a:pPr>
            <a:r>
              <a:rPr lang="en-US" sz="1500" b="1" spc="200" dirty="0">
                <a:solidFill>
                  <a:srgbClr val="E40046"/>
                </a:solidFill>
                <a:latin typeface="Frutiger"/>
                <a:cs typeface="Frutiger"/>
              </a:rPr>
              <a:t>EXTRACT &amp; LOAD</a:t>
            </a:r>
          </a:p>
          <a:p>
            <a:pPr>
              <a:spcBef>
                <a:spcPts val="200"/>
              </a:spcBef>
              <a:buNone/>
            </a:pPr>
            <a:r>
              <a:rPr lang="en-US" sz="2400" b="1" dirty="0">
                <a:solidFill>
                  <a:srgbClr val="001F6B"/>
                </a:solidFill>
                <a:latin typeface="Frutiger"/>
                <a:cs typeface="Frutiger"/>
              </a:rPr>
              <a:t>Your ingestion tools</a:t>
            </a:r>
          </a:p>
          <a:p>
            <a:pPr>
              <a:lnSpc>
                <a:spcPct val="104000"/>
              </a:lnSpc>
              <a:spcBef>
                <a:spcPts val="500"/>
              </a:spcBef>
              <a:buNone/>
            </a:pPr>
            <a:r>
              <a:rPr lang="en-US" sz="2000" dirty="0">
                <a:solidFill>
                  <a:srgbClr val="364750"/>
                </a:solidFill>
                <a:latin typeface="Frutiger"/>
                <a:cs typeface="Frutiger"/>
              </a:rPr>
              <a:t>Data Factory, mirroring, Dataflows, pipelines, notebooks. Get raw data into the data store.</a:t>
            </a:r>
          </a:p>
        </p:txBody>
      </p:sp>
      <p:cxnSp>
        <p:nvCxnSpPr>
          <p:cNvPr id="120" name="Line 120"/>
          <p:cNvCxnSpPr/>
          <p:nvPr/>
        </p:nvCxnSpPr>
        <p:spPr>
          <a:xfrm>
            <a:off x="6019800" y="4191000"/>
            <a:ext cx="482600" cy="0"/>
          </a:xfrm>
          <a:prstGeom prst="line">
            <a:avLst/>
          </a:prstGeom>
          <a:ln w="31750">
            <a:solidFill>
              <a:srgbClr val="667780"/>
            </a:solidFill>
            <a:tailEnd type="triangle" w="med" len="med"/>
          </a:ln>
        </p:spPr>
      </p:cxnSp>
      <p:sp>
        <p:nvSpPr>
          <p:cNvPr id="112" name="Shape 112"/>
          <p:cNvSpPr/>
          <p:nvPr/>
        </p:nvSpPr>
        <p:spPr>
          <a:xfrm>
            <a:off x="6604000" y="3327400"/>
            <a:ext cx="5080000" cy="1727200"/>
          </a:xfrm>
          <a:prstGeom prst="rect">
            <a:avLst/>
          </a:prstGeom>
          <a:solidFill>
            <a:srgbClr val="E40046"/>
          </a:solidFill>
          <a:ln>
            <a:noFill/>
          </a:ln>
        </p:spPr>
        <p:txBody>
          <a:bodyPr wrap="square" lIns="101600" tIns="101600" rIns="101600" bIns="101600" anchor="t">
            <a:normAutofit/>
          </a:bodyPr>
          <a:lstStyle/>
          <a:p>
            <a:endParaRPr lang="en-US"/>
          </a:p>
        </p:txBody>
      </p:sp>
      <p:sp>
        <p:nvSpPr>
          <p:cNvPr id="113" name="Shape 113"/>
          <p:cNvSpPr/>
          <p:nvPr/>
        </p:nvSpPr>
        <p:spPr>
          <a:xfrm>
            <a:off x="6858000" y="3505200"/>
            <a:ext cx="4572000" cy="1473200"/>
          </a:xfrm>
          <a:prstGeom prst="rect">
            <a:avLst/>
          </a:prstGeom>
          <a:noFill/>
          <a:ln>
            <a:noFill/>
          </a:ln>
        </p:spPr>
        <p:txBody>
          <a:bodyPr wrap="square" lIns="0" tIns="0" rIns="0" bIns="0" anchor="t">
            <a:normAutofit fontScale="92500" lnSpcReduction="10000"/>
          </a:bodyPr>
          <a:lstStyle/>
          <a:p>
            <a:pPr>
              <a:buNone/>
            </a:pPr>
            <a:r>
              <a:rPr lang="en-US" sz="1500" b="1" spc="200" dirty="0">
                <a:solidFill>
                  <a:srgbClr val="FFFFFF"/>
                </a:solidFill>
                <a:latin typeface="Frutiger"/>
                <a:cs typeface="Frutiger"/>
              </a:rPr>
              <a:t>TRANSFORM</a:t>
            </a:r>
          </a:p>
          <a:p>
            <a:pPr>
              <a:spcBef>
                <a:spcPts val="200"/>
              </a:spcBef>
              <a:buNone/>
            </a:pPr>
            <a:r>
              <a:rPr lang="en-US" sz="2400" b="1" dirty="0">
                <a:solidFill>
                  <a:srgbClr val="FFFFFF"/>
                </a:solidFill>
                <a:latin typeface="Frutiger"/>
                <a:cs typeface="Frutiger"/>
              </a:rPr>
              <a:t>dbt</a:t>
            </a:r>
          </a:p>
          <a:p>
            <a:pPr>
              <a:lnSpc>
                <a:spcPct val="104000"/>
              </a:lnSpc>
              <a:spcBef>
                <a:spcPts val="500"/>
              </a:spcBef>
              <a:buNone/>
            </a:pPr>
            <a:r>
              <a:rPr lang="en-US" sz="2000" dirty="0">
                <a:solidFill>
                  <a:srgbClr val="FFFFFF"/>
                </a:solidFill>
                <a:latin typeface="Frutiger"/>
                <a:cs typeface="Frutiger"/>
              </a:rPr>
              <a:t>Models, tests and docs over data the engine can already reach: Warehouse, Lakehouse, SQL database.</a:t>
            </a:r>
          </a:p>
        </p:txBody>
      </p:sp>
      <p:cxnSp>
        <p:nvCxnSpPr>
          <p:cNvPr id="121" name="Line 121"/>
          <p:cNvCxnSpPr/>
          <p:nvPr/>
        </p:nvCxnSpPr>
        <p:spPr>
          <a:xfrm>
            <a:off x="11785600" y="4191000"/>
            <a:ext cx="482600" cy="0"/>
          </a:xfrm>
          <a:prstGeom prst="line">
            <a:avLst/>
          </a:prstGeom>
          <a:ln w="31750">
            <a:solidFill>
              <a:srgbClr val="667780"/>
            </a:solidFill>
            <a:tailEnd type="triangle" w="med" len="med"/>
          </a:ln>
        </p:spPr>
      </p:cxnSp>
      <p:sp>
        <p:nvSpPr>
          <p:cNvPr id="114" name="Shape 114"/>
          <p:cNvSpPr/>
          <p:nvPr/>
        </p:nvSpPr>
        <p:spPr>
          <a:xfrm>
            <a:off x="12369800" y="3327400"/>
            <a:ext cx="5080000" cy="1727200"/>
          </a:xfrm>
          <a:prstGeom prst="rect">
            <a:avLst/>
          </a:prstGeom>
          <a:solidFill>
            <a:srgbClr val="F4F6FA"/>
          </a:solidFill>
          <a:ln>
            <a:noFill/>
          </a:ln>
        </p:spPr>
        <p:txBody>
          <a:bodyPr wrap="square" lIns="101600" tIns="101600" rIns="101600" bIns="101600" anchor="t">
            <a:normAutofit/>
          </a:bodyPr>
          <a:lstStyle/>
          <a:p>
            <a:endParaRPr lang="en-US"/>
          </a:p>
        </p:txBody>
      </p:sp>
      <p:sp>
        <p:nvSpPr>
          <p:cNvPr id="115" name="Shape 115"/>
          <p:cNvSpPr/>
          <p:nvPr/>
        </p:nvSpPr>
        <p:spPr>
          <a:xfrm>
            <a:off x="12623800" y="3505200"/>
            <a:ext cx="4572000" cy="1473200"/>
          </a:xfrm>
          <a:prstGeom prst="rect">
            <a:avLst/>
          </a:prstGeom>
          <a:noFill/>
          <a:ln>
            <a:noFill/>
          </a:ln>
        </p:spPr>
        <p:txBody>
          <a:bodyPr wrap="square" lIns="0" tIns="0" rIns="0" bIns="0" anchor="t">
            <a:normAutofit/>
          </a:bodyPr>
          <a:lstStyle/>
          <a:p>
            <a:pPr>
              <a:buNone/>
            </a:pPr>
            <a:r>
              <a:rPr lang="en-US" sz="1500" b="1" spc="200" dirty="0">
                <a:solidFill>
                  <a:srgbClr val="E40046"/>
                </a:solidFill>
                <a:latin typeface="Frutiger"/>
                <a:cs typeface="Frutiger"/>
              </a:rPr>
              <a:t>SERVE</a:t>
            </a:r>
          </a:p>
          <a:p>
            <a:pPr>
              <a:spcBef>
                <a:spcPts val="200"/>
              </a:spcBef>
              <a:buNone/>
            </a:pPr>
            <a:r>
              <a:rPr lang="en-US" sz="2400" b="1" dirty="0">
                <a:solidFill>
                  <a:srgbClr val="001F6B"/>
                </a:solidFill>
                <a:latin typeface="Frutiger"/>
                <a:cs typeface="Frutiger"/>
              </a:rPr>
              <a:t>Semantic model &amp; reports</a:t>
            </a:r>
          </a:p>
          <a:p>
            <a:pPr>
              <a:lnSpc>
                <a:spcPct val="104000"/>
              </a:lnSpc>
              <a:spcBef>
                <a:spcPts val="500"/>
              </a:spcBef>
              <a:buNone/>
            </a:pPr>
            <a:r>
              <a:rPr lang="en-US" sz="2000" dirty="0">
                <a:solidFill>
                  <a:srgbClr val="364750"/>
                </a:solidFill>
                <a:latin typeface="Frutiger"/>
                <a:cs typeface="Frutiger"/>
              </a:rPr>
              <a:t>Power BI, DAX, notebooks, ad-hoc SQL. dbt marts are inputs here — not a replacement.</a:t>
            </a:r>
          </a:p>
        </p:txBody>
      </p:sp>
      <p:sp>
        <p:nvSpPr>
          <p:cNvPr id="130" name="Shape 130"/>
          <p:cNvSpPr/>
          <p:nvPr/>
        </p:nvSpPr>
        <p:spPr>
          <a:xfrm>
            <a:off x="838200" y="5359400"/>
            <a:ext cx="8255000" cy="37592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a:p>
        </p:txBody>
      </p:sp>
      <p:sp>
        <p:nvSpPr>
          <p:cNvPr id="131" name="Shape 131"/>
          <p:cNvSpPr/>
          <p:nvPr/>
        </p:nvSpPr>
        <p:spPr>
          <a:xfrm>
            <a:off x="838200" y="5359400"/>
            <a:ext cx="8255000" cy="584200"/>
          </a:xfrm>
          <a:prstGeom prst="rect">
            <a:avLst/>
          </a:prstGeom>
          <a:solidFill>
            <a:srgbClr val="E6F5EC"/>
          </a:solidFill>
          <a:ln>
            <a:noFill/>
          </a:ln>
        </p:spPr>
        <p:txBody>
          <a:bodyPr wrap="square" lIns="203200" tIns="25400" rIns="203200" bIns="25400" anchor="ctr">
            <a:normAutofit/>
          </a:bodyPr>
          <a:lstStyle/>
          <a:p>
            <a:pPr>
              <a:buNone/>
            </a:pPr>
            <a:r>
              <a:rPr lang="en-US" sz="2000" b="1" dirty="0">
                <a:solidFill>
                  <a:srgbClr val="14703F"/>
                </a:solidFill>
                <a:latin typeface="Frutiger"/>
                <a:cs typeface="Frutiger"/>
              </a:rPr>
              <a:t>dbt does</a:t>
            </a:r>
          </a:p>
        </p:txBody>
      </p:sp>
      <p:sp>
        <p:nvSpPr>
          <p:cNvPr id="132" name="Shape 132"/>
          <p:cNvSpPr/>
          <p:nvPr/>
        </p:nvSpPr>
        <p:spPr>
          <a:xfrm>
            <a:off x="1041400" y="6096000"/>
            <a:ext cx="330200" cy="457200"/>
          </a:xfrm>
          <a:prstGeom prst="rect">
            <a:avLst/>
          </a:prstGeom>
          <a:noFill/>
          <a:ln>
            <a:noFill/>
          </a:ln>
        </p:spPr>
        <p:txBody>
          <a:bodyPr wrap="square" lIns="0" tIns="0" rIns="0" bIns="0" anchor="ctr">
            <a:normAutofit/>
          </a:bodyPr>
          <a:lstStyle/>
          <a:p>
            <a:pPr algn="ctr">
              <a:buNone/>
            </a:pPr>
            <a:r>
              <a:rPr lang="en-US" sz="2100" b="1" dirty="0">
                <a:solidFill>
                  <a:srgbClr val="14703F"/>
                </a:solidFill>
                <a:latin typeface="Frutiger"/>
                <a:cs typeface="Frutiger"/>
              </a:rPr>
              <a:t>✓</a:t>
            </a:r>
          </a:p>
        </p:txBody>
      </p:sp>
      <p:sp>
        <p:nvSpPr>
          <p:cNvPr id="133" name="Shape 133"/>
          <p:cNvSpPr/>
          <p:nvPr/>
        </p:nvSpPr>
        <p:spPr>
          <a:xfrm>
            <a:off x="1447800" y="6096000"/>
            <a:ext cx="7493000" cy="457200"/>
          </a:xfrm>
          <a:prstGeom prst="rect">
            <a:avLst/>
          </a:prstGeom>
          <a:noFill/>
          <a:ln>
            <a:noFill/>
          </a:ln>
        </p:spPr>
        <p:txBody>
          <a:bodyPr wrap="square" lIns="0" tIns="0" rIns="0" bIns="0" anchor="ctr">
            <a:normAutofit/>
          </a:bodyPr>
          <a:lstStyle/>
          <a:p>
            <a:pPr>
              <a:buNone/>
            </a:pPr>
            <a:r>
              <a:rPr lang="en-US" sz="2100" dirty="0">
                <a:solidFill>
                  <a:srgbClr val="364750"/>
                </a:solidFill>
                <a:latin typeface="Frutiger"/>
                <a:cs typeface="Frutiger"/>
              </a:rPr>
              <a:t>Turns each SELECT into a view or table on your engine</a:t>
            </a:r>
          </a:p>
        </p:txBody>
      </p:sp>
      <p:sp>
        <p:nvSpPr>
          <p:cNvPr id="134" name="Shape 134"/>
          <p:cNvSpPr/>
          <p:nvPr/>
        </p:nvSpPr>
        <p:spPr>
          <a:xfrm>
            <a:off x="1041400" y="6692900"/>
            <a:ext cx="330200" cy="457200"/>
          </a:xfrm>
          <a:prstGeom prst="rect">
            <a:avLst/>
          </a:prstGeom>
          <a:noFill/>
          <a:ln>
            <a:noFill/>
          </a:ln>
        </p:spPr>
        <p:txBody>
          <a:bodyPr wrap="square" lIns="0" tIns="0" rIns="0" bIns="0" anchor="ctr">
            <a:normAutofit/>
          </a:bodyPr>
          <a:lstStyle/>
          <a:p>
            <a:pPr algn="ctr">
              <a:buNone/>
            </a:pPr>
            <a:r>
              <a:rPr lang="en-US" sz="2100" b="1" dirty="0">
                <a:solidFill>
                  <a:srgbClr val="14703F"/>
                </a:solidFill>
                <a:latin typeface="Frutiger"/>
                <a:cs typeface="Frutiger"/>
              </a:rPr>
              <a:t>✓</a:t>
            </a:r>
          </a:p>
        </p:txBody>
      </p:sp>
      <p:sp>
        <p:nvSpPr>
          <p:cNvPr id="135" name="Shape 135"/>
          <p:cNvSpPr/>
          <p:nvPr/>
        </p:nvSpPr>
        <p:spPr>
          <a:xfrm>
            <a:off x="1447800" y="6692900"/>
            <a:ext cx="7493000" cy="457200"/>
          </a:xfrm>
          <a:prstGeom prst="rect">
            <a:avLst/>
          </a:prstGeom>
          <a:noFill/>
          <a:ln>
            <a:noFill/>
          </a:ln>
        </p:spPr>
        <p:txBody>
          <a:bodyPr wrap="square" lIns="0" tIns="0" rIns="0" bIns="0" anchor="ctr">
            <a:normAutofit/>
          </a:bodyPr>
          <a:lstStyle/>
          <a:p>
            <a:pPr>
              <a:buNone/>
            </a:pPr>
            <a:r>
              <a:rPr lang="en-US" sz="2100" dirty="0">
                <a:solidFill>
                  <a:srgbClr val="364750"/>
                </a:solidFill>
                <a:latin typeface="Frutiger"/>
                <a:cs typeface="Frutiger"/>
              </a:rPr>
              <a:t>Works out execution order from ref() dependencies</a:t>
            </a:r>
          </a:p>
        </p:txBody>
      </p:sp>
      <p:sp>
        <p:nvSpPr>
          <p:cNvPr id="136" name="Shape 136"/>
          <p:cNvSpPr/>
          <p:nvPr/>
        </p:nvSpPr>
        <p:spPr>
          <a:xfrm>
            <a:off x="1041400" y="7289800"/>
            <a:ext cx="330200" cy="457200"/>
          </a:xfrm>
          <a:prstGeom prst="rect">
            <a:avLst/>
          </a:prstGeom>
          <a:noFill/>
          <a:ln>
            <a:noFill/>
          </a:ln>
        </p:spPr>
        <p:txBody>
          <a:bodyPr wrap="square" lIns="0" tIns="0" rIns="0" bIns="0" anchor="ctr">
            <a:normAutofit/>
          </a:bodyPr>
          <a:lstStyle/>
          <a:p>
            <a:pPr algn="ctr">
              <a:buNone/>
            </a:pPr>
            <a:r>
              <a:rPr lang="en-US" sz="2100" b="1" dirty="0">
                <a:solidFill>
                  <a:srgbClr val="14703F"/>
                </a:solidFill>
                <a:latin typeface="Frutiger"/>
                <a:cs typeface="Frutiger"/>
              </a:rPr>
              <a:t>✓</a:t>
            </a:r>
          </a:p>
        </p:txBody>
      </p:sp>
      <p:sp>
        <p:nvSpPr>
          <p:cNvPr id="137" name="Shape 137"/>
          <p:cNvSpPr/>
          <p:nvPr/>
        </p:nvSpPr>
        <p:spPr>
          <a:xfrm>
            <a:off x="1447800" y="7289800"/>
            <a:ext cx="7493000" cy="457200"/>
          </a:xfrm>
          <a:prstGeom prst="rect">
            <a:avLst/>
          </a:prstGeom>
          <a:noFill/>
          <a:ln>
            <a:noFill/>
          </a:ln>
        </p:spPr>
        <p:txBody>
          <a:bodyPr wrap="square" lIns="0" tIns="0" rIns="0" bIns="0" anchor="ctr">
            <a:normAutofit/>
          </a:bodyPr>
          <a:lstStyle/>
          <a:p>
            <a:pPr>
              <a:buNone/>
            </a:pPr>
            <a:r>
              <a:rPr lang="en-US" sz="2100" dirty="0">
                <a:solidFill>
                  <a:srgbClr val="364750"/>
                </a:solidFill>
                <a:latin typeface="Frutiger"/>
                <a:cs typeface="Frutiger"/>
              </a:rPr>
              <a:t>Runs data tests: unique, not_null, accepted values, custom SQL</a:t>
            </a:r>
          </a:p>
        </p:txBody>
      </p:sp>
      <p:sp>
        <p:nvSpPr>
          <p:cNvPr id="138" name="Shape 138"/>
          <p:cNvSpPr/>
          <p:nvPr/>
        </p:nvSpPr>
        <p:spPr>
          <a:xfrm>
            <a:off x="1041400" y="7886700"/>
            <a:ext cx="330200" cy="457200"/>
          </a:xfrm>
          <a:prstGeom prst="rect">
            <a:avLst/>
          </a:prstGeom>
          <a:noFill/>
          <a:ln>
            <a:noFill/>
          </a:ln>
        </p:spPr>
        <p:txBody>
          <a:bodyPr wrap="square" lIns="0" tIns="0" rIns="0" bIns="0" anchor="ctr">
            <a:normAutofit/>
          </a:bodyPr>
          <a:lstStyle/>
          <a:p>
            <a:pPr algn="ctr">
              <a:buNone/>
            </a:pPr>
            <a:r>
              <a:rPr lang="en-US" sz="2100" b="1" dirty="0">
                <a:solidFill>
                  <a:srgbClr val="14703F"/>
                </a:solidFill>
                <a:latin typeface="Frutiger"/>
                <a:cs typeface="Frutiger"/>
              </a:rPr>
              <a:t>✓</a:t>
            </a:r>
          </a:p>
        </p:txBody>
      </p:sp>
      <p:sp>
        <p:nvSpPr>
          <p:cNvPr id="139" name="Shape 139"/>
          <p:cNvSpPr/>
          <p:nvPr/>
        </p:nvSpPr>
        <p:spPr>
          <a:xfrm>
            <a:off x="1447800" y="7886700"/>
            <a:ext cx="7493000" cy="457200"/>
          </a:xfrm>
          <a:prstGeom prst="rect">
            <a:avLst/>
          </a:prstGeom>
          <a:noFill/>
          <a:ln>
            <a:noFill/>
          </a:ln>
        </p:spPr>
        <p:txBody>
          <a:bodyPr wrap="square" lIns="0" tIns="0" rIns="0" bIns="0" anchor="ctr">
            <a:normAutofit/>
          </a:bodyPr>
          <a:lstStyle/>
          <a:p>
            <a:pPr>
              <a:buNone/>
            </a:pPr>
            <a:r>
              <a:rPr lang="en-US" sz="2100" dirty="0">
                <a:solidFill>
                  <a:srgbClr val="364750"/>
                </a:solidFill>
                <a:latin typeface="Frutiger"/>
                <a:cs typeface="Frutiger"/>
              </a:rPr>
              <a:t>Generates documentation and a lineage graph</a:t>
            </a:r>
          </a:p>
        </p:txBody>
      </p:sp>
      <p:sp>
        <p:nvSpPr>
          <p:cNvPr id="140" name="Shape 140"/>
          <p:cNvSpPr/>
          <p:nvPr/>
        </p:nvSpPr>
        <p:spPr>
          <a:xfrm>
            <a:off x="1041400" y="8483600"/>
            <a:ext cx="330200" cy="457200"/>
          </a:xfrm>
          <a:prstGeom prst="rect">
            <a:avLst/>
          </a:prstGeom>
          <a:noFill/>
          <a:ln>
            <a:noFill/>
          </a:ln>
        </p:spPr>
        <p:txBody>
          <a:bodyPr wrap="square" lIns="0" tIns="0" rIns="0" bIns="0" anchor="ctr">
            <a:normAutofit/>
          </a:bodyPr>
          <a:lstStyle/>
          <a:p>
            <a:pPr algn="ctr">
              <a:buNone/>
            </a:pPr>
            <a:r>
              <a:rPr lang="en-US" sz="2100" b="1" dirty="0">
                <a:solidFill>
                  <a:srgbClr val="14703F"/>
                </a:solidFill>
                <a:latin typeface="Frutiger"/>
                <a:cs typeface="Frutiger"/>
              </a:rPr>
              <a:t>✓</a:t>
            </a:r>
          </a:p>
        </p:txBody>
      </p:sp>
      <p:sp>
        <p:nvSpPr>
          <p:cNvPr id="141" name="Shape 141"/>
          <p:cNvSpPr/>
          <p:nvPr/>
        </p:nvSpPr>
        <p:spPr>
          <a:xfrm>
            <a:off x="1447800" y="8483600"/>
            <a:ext cx="7493000" cy="457200"/>
          </a:xfrm>
          <a:prstGeom prst="rect">
            <a:avLst/>
          </a:prstGeom>
          <a:noFill/>
          <a:ln>
            <a:noFill/>
          </a:ln>
        </p:spPr>
        <p:txBody>
          <a:bodyPr wrap="square" lIns="0" tIns="0" rIns="0" bIns="0" anchor="ctr">
            <a:normAutofit/>
          </a:bodyPr>
          <a:lstStyle/>
          <a:p>
            <a:pPr>
              <a:buNone/>
            </a:pPr>
            <a:r>
              <a:rPr lang="en-US" sz="2100" dirty="0">
                <a:solidFill>
                  <a:srgbClr val="364750"/>
                </a:solidFill>
                <a:latin typeface="Frutiger"/>
                <a:cs typeface="Frutiger"/>
              </a:rPr>
              <a:t>Lives in Git — review, branch, CI like any other code</a:t>
            </a:r>
          </a:p>
        </p:txBody>
      </p:sp>
      <p:sp>
        <p:nvSpPr>
          <p:cNvPr id="150" name="Shape 150"/>
          <p:cNvSpPr/>
          <p:nvPr/>
        </p:nvSpPr>
        <p:spPr>
          <a:xfrm>
            <a:off x="9194800" y="5359400"/>
            <a:ext cx="8255000" cy="37592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dirty="0"/>
          </a:p>
        </p:txBody>
      </p:sp>
      <p:sp>
        <p:nvSpPr>
          <p:cNvPr id="151" name="Shape 151"/>
          <p:cNvSpPr/>
          <p:nvPr/>
        </p:nvSpPr>
        <p:spPr>
          <a:xfrm>
            <a:off x="9194800" y="5359400"/>
            <a:ext cx="8255000" cy="584200"/>
          </a:xfrm>
          <a:prstGeom prst="rect">
            <a:avLst/>
          </a:prstGeom>
          <a:solidFill>
            <a:srgbClr val="FCE8EE"/>
          </a:solidFill>
          <a:ln>
            <a:noFill/>
          </a:ln>
        </p:spPr>
        <p:txBody>
          <a:bodyPr wrap="square" lIns="203200" tIns="25400" rIns="203200" bIns="25400" anchor="ctr">
            <a:normAutofit/>
          </a:bodyPr>
          <a:lstStyle/>
          <a:p>
            <a:pPr>
              <a:buNone/>
            </a:pPr>
            <a:r>
              <a:rPr lang="en-US" sz="2000" b="1" dirty="0">
                <a:solidFill>
                  <a:srgbClr val="E40046"/>
                </a:solidFill>
                <a:latin typeface="Frutiger"/>
                <a:cs typeface="Frutiger"/>
              </a:rPr>
              <a:t>dbt does not</a:t>
            </a:r>
          </a:p>
        </p:txBody>
      </p:sp>
      <p:sp>
        <p:nvSpPr>
          <p:cNvPr id="152" name="Shape 152"/>
          <p:cNvSpPr/>
          <p:nvPr/>
        </p:nvSpPr>
        <p:spPr>
          <a:xfrm>
            <a:off x="9398000" y="6096000"/>
            <a:ext cx="330200" cy="457200"/>
          </a:xfrm>
          <a:prstGeom prst="rect">
            <a:avLst/>
          </a:prstGeom>
          <a:noFill/>
          <a:ln>
            <a:noFill/>
          </a:ln>
        </p:spPr>
        <p:txBody>
          <a:bodyPr wrap="square" lIns="0" tIns="0" rIns="0" bIns="0" anchor="ctr">
            <a:normAutofit/>
          </a:bodyPr>
          <a:lstStyle/>
          <a:p>
            <a:pPr algn="ctr">
              <a:buNone/>
            </a:pPr>
            <a:r>
              <a:rPr lang="en-US" sz="2100" b="1" dirty="0">
                <a:solidFill>
                  <a:srgbClr val="E40046"/>
                </a:solidFill>
                <a:latin typeface="Frutiger"/>
                <a:cs typeface="Frutiger"/>
              </a:rPr>
              <a:t>✕</a:t>
            </a:r>
          </a:p>
        </p:txBody>
      </p:sp>
      <p:sp>
        <p:nvSpPr>
          <p:cNvPr id="153" name="Shape 153"/>
          <p:cNvSpPr/>
          <p:nvPr/>
        </p:nvSpPr>
        <p:spPr>
          <a:xfrm>
            <a:off x="9804400" y="6096000"/>
            <a:ext cx="7493000" cy="457200"/>
          </a:xfrm>
          <a:prstGeom prst="rect">
            <a:avLst/>
          </a:prstGeom>
          <a:noFill/>
          <a:ln>
            <a:noFill/>
          </a:ln>
        </p:spPr>
        <p:txBody>
          <a:bodyPr wrap="square" lIns="0" tIns="0" rIns="0" bIns="0" anchor="ctr">
            <a:normAutofit/>
          </a:bodyPr>
          <a:lstStyle/>
          <a:p>
            <a:pPr>
              <a:buNone/>
            </a:pPr>
            <a:r>
              <a:rPr lang="en-US" sz="2100" dirty="0">
                <a:solidFill>
                  <a:srgbClr val="364750"/>
                </a:solidFill>
                <a:latin typeface="Frutiger"/>
                <a:cs typeface="Frutiger"/>
              </a:rPr>
              <a:t>Extract or load data from source systems</a:t>
            </a:r>
          </a:p>
        </p:txBody>
      </p:sp>
      <p:sp>
        <p:nvSpPr>
          <p:cNvPr id="154" name="Shape 154"/>
          <p:cNvSpPr/>
          <p:nvPr/>
        </p:nvSpPr>
        <p:spPr>
          <a:xfrm>
            <a:off x="9398000" y="6692900"/>
            <a:ext cx="330200" cy="457200"/>
          </a:xfrm>
          <a:prstGeom prst="rect">
            <a:avLst/>
          </a:prstGeom>
          <a:noFill/>
          <a:ln>
            <a:noFill/>
          </a:ln>
        </p:spPr>
        <p:txBody>
          <a:bodyPr wrap="square" lIns="0" tIns="0" rIns="0" bIns="0" anchor="ctr">
            <a:normAutofit/>
          </a:bodyPr>
          <a:lstStyle/>
          <a:p>
            <a:pPr algn="ctr">
              <a:buNone/>
            </a:pPr>
            <a:r>
              <a:rPr lang="en-US" sz="2100" b="1" dirty="0">
                <a:solidFill>
                  <a:srgbClr val="E40046"/>
                </a:solidFill>
                <a:latin typeface="Frutiger"/>
                <a:cs typeface="Frutiger"/>
              </a:rPr>
              <a:t>✕</a:t>
            </a:r>
          </a:p>
        </p:txBody>
      </p:sp>
      <p:sp>
        <p:nvSpPr>
          <p:cNvPr id="155" name="Shape 155"/>
          <p:cNvSpPr/>
          <p:nvPr/>
        </p:nvSpPr>
        <p:spPr>
          <a:xfrm>
            <a:off x="9804400" y="6692900"/>
            <a:ext cx="7493000" cy="457200"/>
          </a:xfrm>
          <a:prstGeom prst="rect">
            <a:avLst/>
          </a:prstGeom>
          <a:noFill/>
          <a:ln>
            <a:noFill/>
          </a:ln>
        </p:spPr>
        <p:txBody>
          <a:bodyPr wrap="square" lIns="0" tIns="0" rIns="0" bIns="0" anchor="ctr">
            <a:normAutofit/>
          </a:bodyPr>
          <a:lstStyle/>
          <a:p>
            <a:pPr>
              <a:buNone/>
            </a:pPr>
            <a:r>
              <a:rPr lang="en-US" sz="2100" dirty="0">
                <a:solidFill>
                  <a:srgbClr val="364750"/>
                </a:solidFill>
                <a:latin typeface="Frutiger"/>
                <a:cs typeface="Frutiger"/>
              </a:rPr>
              <a:t>Schedule itself. Something needs to run dbt.</a:t>
            </a:r>
          </a:p>
        </p:txBody>
      </p:sp>
      <p:sp>
        <p:nvSpPr>
          <p:cNvPr id="156" name="Shape 156"/>
          <p:cNvSpPr/>
          <p:nvPr/>
        </p:nvSpPr>
        <p:spPr>
          <a:xfrm>
            <a:off x="9398000" y="7289800"/>
            <a:ext cx="330200" cy="457200"/>
          </a:xfrm>
          <a:prstGeom prst="rect">
            <a:avLst/>
          </a:prstGeom>
          <a:noFill/>
          <a:ln>
            <a:noFill/>
          </a:ln>
        </p:spPr>
        <p:txBody>
          <a:bodyPr wrap="square" lIns="0" tIns="0" rIns="0" bIns="0" anchor="ctr">
            <a:normAutofit/>
          </a:bodyPr>
          <a:lstStyle/>
          <a:p>
            <a:pPr algn="ctr">
              <a:buNone/>
            </a:pPr>
            <a:r>
              <a:rPr lang="en-US" sz="2100" b="1" dirty="0">
                <a:solidFill>
                  <a:srgbClr val="E40046"/>
                </a:solidFill>
                <a:latin typeface="Frutiger"/>
                <a:cs typeface="Frutiger"/>
              </a:rPr>
              <a:t>✕</a:t>
            </a:r>
          </a:p>
        </p:txBody>
      </p:sp>
      <p:sp>
        <p:nvSpPr>
          <p:cNvPr id="157" name="Shape 157"/>
          <p:cNvSpPr/>
          <p:nvPr/>
        </p:nvSpPr>
        <p:spPr>
          <a:xfrm>
            <a:off x="9804400" y="7289800"/>
            <a:ext cx="7493000" cy="457200"/>
          </a:xfrm>
          <a:prstGeom prst="rect">
            <a:avLst/>
          </a:prstGeom>
          <a:noFill/>
          <a:ln>
            <a:noFill/>
          </a:ln>
        </p:spPr>
        <p:txBody>
          <a:bodyPr wrap="square" lIns="0" tIns="0" rIns="0" bIns="0" anchor="ctr">
            <a:normAutofit/>
          </a:bodyPr>
          <a:lstStyle/>
          <a:p>
            <a:pPr>
              <a:buNone/>
            </a:pPr>
            <a:r>
              <a:rPr lang="en-US" sz="2100" dirty="0">
                <a:solidFill>
                  <a:srgbClr val="364750"/>
                </a:solidFill>
                <a:latin typeface="Frutiger"/>
                <a:cs typeface="Frutiger"/>
              </a:rPr>
              <a:t>Replace the Power BI semantic model or DAX measures</a:t>
            </a:r>
          </a:p>
        </p:txBody>
      </p:sp>
      <p:sp>
        <p:nvSpPr>
          <p:cNvPr id="158" name="Shape 158"/>
          <p:cNvSpPr/>
          <p:nvPr/>
        </p:nvSpPr>
        <p:spPr>
          <a:xfrm>
            <a:off x="9398000" y="7886700"/>
            <a:ext cx="330200" cy="457200"/>
          </a:xfrm>
          <a:prstGeom prst="rect">
            <a:avLst/>
          </a:prstGeom>
          <a:noFill/>
          <a:ln>
            <a:noFill/>
          </a:ln>
        </p:spPr>
        <p:txBody>
          <a:bodyPr wrap="square" lIns="0" tIns="0" rIns="0" bIns="0" anchor="ctr">
            <a:normAutofit/>
          </a:bodyPr>
          <a:lstStyle/>
          <a:p>
            <a:pPr algn="ctr">
              <a:buNone/>
            </a:pPr>
            <a:r>
              <a:rPr lang="en-US" sz="2100" b="1" dirty="0">
                <a:solidFill>
                  <a:srgbClr val="E40046"/>
                </a:solidFill>
                <a:latin typeface="Frutiger"/>
                <a:cs typeface="Frutiger"/>
              </a:rPr>
              <a:t>✕</a:t>
            </a:r>
          </a:p>
        </p:txBody>
      </p:sp>
      <p:sp>
        <p:nvSpPr>
          <p:cNvPr id="159" name="Shape 159"/>
          <p:cNvSpPr/>
          <p:nvPr/>
        </p:nvSpPr>
        <p:spPr>
          <a:xfrm>
            <a:off x="9804400" y="7886700"/>
            <a:ext cx="7493000" cy="457200"/>
          </a:xfrm>
          <a:prstGeom prst="rect">
            <a:avLst/>
          </a:prstGeom>
          <a:noFill/>
          <a:ln>
            <a:noFill/>
          </a:ln>
        </p:spPr>
        <p:txBody>
          <a:bodyPr wrap="square" lIns="0" tIns="0" rIns="0" bIns="0" anchor="ctr">
            <a:normAutofit/>
          </a:bodyPr>
          <a:lstStyle/>
          <a:p>
            <a:pPr>
              <a:buNone/>
            </a:pPr>
            <a:r>
              <a:rPr lang="en-US" sz="2100" dirty="0">
                <a:solidFill>
                  <a:srgbClr val="364750"/>
                </a:solidFill>
                <a:latin typeface="Frutiger"/>
                <a:cs typeface="Frutiger"/>
              </a:rPr>
              <a:t>Make SQL faster by itself. Your preferred engine still does the work.</a:t>
            </a:r>
          </a:p>
        </p:txBody>
      </p:sp>
      <p:sp>
        <p:nvSpPr>
          <p:cNvPr id="160" name="Shape 160"/>
          <p:cNvSpPr/>
          <p:nvPr/>
        </p:nvSpPr>
        <p:spPr>
          <a:xfrm>
            <a:off x="9398000" y="8483600"/>
            <a:ext cx="330200" cy="457200"/>
          </a:xfrm>
          <a:prstGeom prst="rect">
            <a:avLst/>
          </a:prstGeom>
          <a:noFill/>
          <a:ln>
            <a:noFill/>
          </a:ln>
        </p:spPr>
        <p:txBody>
          <a:bodyPr wrap="square" lIns="0" tIns="0" rIns="0" bIns="0" anchor="ctr">
            <a:normAutofit/>
          </a:bodyPr>
          <a:lstStyle/>
          <a:p>
            <a:pPr algn="ctr">
              <a:buNone/>
            </a:pPr>
            <a:r>
              <a:rPr lang="en-US" sz="2100" b="1" dirty="0">
                <a:solidFill>
                  <a:srgbClr val="E40046"/>
                </a:solidFill>
                <a:latin typeface="Frutiger"/>
                <a:cs typeface="Frutiger"/>
              </a:rPr>
              <a:t>✕</a:t>
            </a:r>
          </a:p>
        </p:txBody>
      </p:sp>
      <p:sp>
        <p:nvSpPr>
          <p:cNvPr id="161" name="Shape 161"/>
          <p:cNvSpPr/>
          <p:nvPr/>
        </p:nvSpPr>
        <p:spPr>
          <a:xfrm>
            <a:off x="9804400" y="8483600"/>
            <a:ext cx="7493000" cy="457200"/>
          </a:xfrm>
          <a:prstGeom prst="rect">
            <a:avLst/>
          </a:prstGeom>
          <a:noFill/>
          <a:ln>
            <a:noFill/>
          </a:ln>
        </p:spPr>
        <p:txBody>
          <a:bodyPr wrap="square" lIns="0" tIns="0" rIns="0" bIns="0" anchor="ctr">
            <a:normAutofit/>
          </a:bodyPr>
          <a:lstStyle/>
          <a:p>
            <a:pPr>
              <a:buNone/>
            </a:pPr>
            <a:r>
              <a:rPr lang="en-US" sz="2100" dirty="0">
                <a:solidFill>
                  <a:srgbClr val="364750"/>
                </a:solidFill>
                <a:latin typeface="Frutiger"/>
                <a:cs typeface="Frutiger"/>
              </a:rPr>
              <a:t>Pull data onto your laptop. SQL executes where the data lives.</a:t>
            </a:r>
          </a:p>
        </p:txBody>
      </p:sp>
    </p:spTree>
    <p:extLst>
      <p:ext uri="{BB962C8B-B14F-4D97-AF65-F5344CB8AC3E}">
        <p14:creationId xmlns:p14="http://schemas.microsoft.com/office/powerpoint/2010/main" val="19238081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4EC90D35-304A-4ED8-BF67-87162AFBE388}"/>
              </a:ext>
            </a:extLst>
          </p:cNvPr>
          <p:cNvSpPr>
            <a:spLocks noGrp="1"/>
          </p:cNvSpPr>
          <p:nvPr/>
        </p:nvSpPr>
        <p:spPr>
          <a:xfrm>
            <a:off x="838201" y="963812"/>
            <a:ext cx="15240000" cy="640407"/>
          </a:xfrm>
          <a:prstGeom prst="rect">
            <a:avLst/>
          </a:prstGeom>
          <a:noFill/>
        </p:spPr>
        <p:txBody>
          <a:bodyPr wrap="square" lIns="25401" tIns="25401" rIns="25401" bIns="25401" anchor="t">
            <a:normAutofit/>
          </a:bodyPr>
          <a:lstStyle/>
          <a:p>
            <a:pPr>
              <a:lnSpc>
                <a:spcPct val="79050"/>
              </a:lnSpc>
              <a:buNone/>
            </a:pPr>
            <a:r>
              <a:rPr sz="4651" b="1" spc="-69" dirty="0">
                <a:solidFill>
                  <a:srgbClr val="001F6B"/>
                </a:solidFill>
                <a:latin typeface="Frutiger"/>
                <a:ea typeface="Frutiger"/>
                <a:cs typeface="Frutiger"/>
              </a:rPr>
              <a:t>dbt </a:t>
            </a:r>
            <a:r>
              <a:rPr lang="en-US" sz="4651" b="1" spc="-69" dirty="0">
                <a:solidFill>
                  <a:srgbClr val="001F6B"/>
                </a:solidFill>
                <a:latin typeface="Frutiger"/>
                <a:ea typeface="Frutiger"/>
                <a:cs typeface="Frutiger"/>
              </a:rPr>
              <a:t>has become</a:t>
            </a:r>
            <a:r>
              <a:rPr sz="4651" b="1" spc="-69" dirty="0">
                <a:solidFill>
                  <a:srgbClr val="001F6B"/>
                </a:solidFill>
                <a:latin typeface="Frutiger"/>
                <a:ea typeface="Frutiger"/>
                <a:cs typeface="Frutiger"/>
              </a:rPr>
              <a:t> the default transformation layer everywhere</a:t>
            </a:r>
            <a:endParaRPr sz="4651" dirty="0"/>
          </a:p>
        </p:txBody>
      </p:sp>
      <p:pic>
        <p:nvPicPr>
          <p:cNvPr id="32" name="Image 0"/>
          <p:cNvPicPr>
            <a:picLocks noChangeAspect="1"/>
          </p:cNvPicPr>
          <p:nvPr/>
        </p:nvPicPr>
        <p:blipFill>
          <a:blip r:embed="rId3"/>
          <a:srcRect t="-5" b="-5"/>
          <a:stretch/>
        </p:blipFill>
        <p:spPr>
          <a:xfrm>
            <a:off x="16412620" y="571500"/>
            <a:ext cx="1037182" cy="514350"/>
          </a:xfrm>
          <a:prstGeom prst="rect">
            <a:avLst/>
          </a:prstGeom>
        </p:spPr>
      </p:pic>
      <p:sp>
        <p:nvSpPr>
          <p:cNvPr id="5" name="Shape 2">
            <a:extLst>
              <a:ext uri="{FF2B5EF4-FFF2-40B4-BE49-F238E27FC236}">
                <a16:creationId xmlns:a16="http://schemas.microsoft.com/office/drawing/2014/main" id="{619AE5D7-7CB4-4BEA-BB3F-D06573D3768F}"/>
              </a:ext>
            </a:extLst>
          </p:cNvPr>
          <p:cNvSpPr>
            <a:spLocks noGrp="1"/>
          </p:cNvSpPr>
          <p:nvPr/>
        </p:nvSpPr>
        <p:spPr>
          <a:xfrm>
            <a:off x="838202" y="1813769"/>
            <a:ext cx="16611600" cy="28574"/>
          </a:xfrm>
          <a:prstGeom prst="rect">
            <a:avLst/>
          </a:prstGeom>
          <a:solidFill>
            <a:srgbClr val="FF0000"/>
          </a:solidFill>
        </p:spPr>
        <p:txBody>
          <a:bodyPr/>
          <a:lstStyle/>
          <a:p>
            <a:endParaRPr sz="1801"/>
          </a:p>
        </p:txBody>
      </p:sp>
      <p:sp>
        <p:nvSpPr>
          <p:cNvPr id="6" name="Shape 3">
            <a:extLst>
              <a:ext uri="{FF2B5EF4-FFF2-40B4-BE49-F238E27FC236}">
                <a16:creationId xmlns:a16="http://schemas.microsoft.com/office/drawing/2014/main" id="{4913CC0E-0FDB-4091-96BC-623E005C1433}"/>
              </a:ext>
            </a:extLst>
          </p:cNvPr>
          <p:cNvSpPr>
            <a:spLocks noGrp="1"/>
          </p:cNvSpPr>
          <p:nvPr/>
        </p:nvSpPr>
        <p:spPr>
          <a:xfrm>
            <a:off x="838202" y="1880445"/>
            <a:ext cx="16611600" cy="28574"/>
          </a:xfrm>
          <a:prstGeom prst="rect">
            <a:avLst/>
          </a:prstGeom>
          <a:solidFill>
            <a:srgbClr val="3649A8"/>
          </a:solidFill>
        </p:spPr>
        <p:txBody>
          <a:bodyPr/>
          <a:lstStyle/>
          <a:p>
            <a:endParaRPr sz="1801"/>
          </a:p>
        </p:txBody>
      </p:sp>
      <p:sp>
        <p:nvSpPr>
          <p:cNvPr id="25" name="Shape 22">
            <a:extLst>
              <a:ext uri="{FF2B5EF4-FFF2-40B4-BE49-F238E27FC236}">
                <a16:creationId xmlns:a16="http://schemas.microsoft.com/office/drawing/2014/main" id="{B765AE01-8B3A-4F2B-9234-E1B2735FE6D0}"/>
              </a:ext>
            </a:extLst>
          </p:cNvPr>
          <p:cNvSpPr>
            <a:spLocks noGrp="1"/>
          </p:cNvSpPr>
          <p:nvPr/>
        </p:nvSpPr>
        <p:spPr>
          <a:xfrm>
            <a:off x="838202" y="9294615"/>
            <a:ext cx="16611600" cy="9525"/>
          </a:xfrm>
          <a:prstGeom prst="rect">
            <a:avLst/>
          </a:prstGeom>
          <a:solidFill>
            <a:srgbClr val="E2E7EB"/>
          </a:solidFill>
        </p:spPr>
        <p:txBody>
          <a:bodyPr/>
          <a:lstStyle/>
          <a:p>
            <a:endParaRPr sz="1801"/>
          </a:p>
        </p:txBody>
      </p:sp>
      <p:sp>
        <p:nvSpPr>
          <p:cNvPr id="26" name="Text 23">
            <a:extLst>
              <a:ext uri="{FF2B5EF4-FFF2-40B4-BE49-F238E27FC236}">
                <a16:creationId xmlns:a16="http://schemas.microsoft.com/office/drawing/2014/main" id="{5C5AFE6D-27B1-4C09-BBBE-19FE36BD27C8}"/>
              </a:ext>
            </a:extLst>
          </p:cNvPr>
          <p:cNvSpPr>
            <a:spLocks noGrp="1"/>
          </p:cNvSpPr>
          <p:nvPr/>
        </p:nvSpPr>
        <p:spPr>
          <a:xfrm>
            <a:off x="838201" y="9513691"/>
            <a:ext cx="7461945" cy="392311"/>
          </a:xfrm>
          <a:prstGeom prst="rect">
            <a:avLst/>
          </a:prstGeom>
          <a:noFill/>
        </p:spPr>
        <p:txBody>
          <a:bodyPr wrap="square" lIns="25401" tIns="25401" rIns="25401" bIns="25401" anchor="t">
            <a:normAutofit/>
          </a:bodyPr>
          <a:lstStyle/>
          <a:p>
            <a:pPr>
              <a:lnSpc>
                <a:spcPct val="124000"/>
              </a:lnSpc>
              <a:buNone/>
            </a:pPr>
            <a:r>
              <a:rPr sz="1801" dirty="0">
                <a:solidFill>
                  <a:srgbClr val="667780"/>
                </a:solidFill>
                <a:latin typeface="Frutiger"/>
                <a:ea typeface="Frutiger"/>
                <a:cs typeface="Frutiger"/>
              </a:rPr>
              <a:t>Getting started with dbt</a:t>
            </a:r>
            <a:endParaRPr sz="1801" dirty="0"/>
          </a:p>
        </p:txBody>
      </p:sp>
      <p:sp>
        <p:nvSpPr>
          <p:cNvPr id="28" name="Text 25">
            <a:extLst>
              <a:ext uri="{FF2B5EF4-FFF2-40B4-BE49-F238E27FC236}">
                <a16:creationId xmlns:a16="http://schemas.microsoft.com/office/drawing/2014/main" id="{E1A6A13E-D079-4787-BA2C-26179E45E0AB}"/>
              </a:ext>
            </a:extLst>
          </p:cNvPr>
          <p:cNvSpPr>
            <a:spLocks noGrp="1"/>
          </p:cNvSpPr>
          <p:nvPr/>
        </p:nvSpPr>
        <p:spPr>
          <a:xfrm>
            <a:off x="9987856" y="9513691"/>
            <a:ext cx="7461945" cy="392311"/>
          </a:xfrm>
          <a:prstGeom prst="rect">
            <a:avLst/>
          </a:prstGeom>
          <a:noFill/>
        </p:spPr>
        <p:txBody>
          <a:bodyPr wrap="square" lIns="25401" tIns="25401" rIns="25401" bIns="25401" anchor="t">
            <a:normAutofit/>
          </a:bodyPr>
          <a:lstStyle/>
          <a:p>
            <a:pPr algn="r">
              <a:lnSpc>
                <a:spcPct val="124000"/>
              </a:lnSpc>
              <a:buNone/>
            </a:pPr>
            <a:r>
              <a:rPr lang="en-US" sz="1801">
                <a:solidFill>
                  <a:srgbClr val="667780"/>
                </a:solidFill>
                <a:latin typeface="Frutiger"/>
                <a:ea typeface="Frutiger"/>
                <a:cs typeface="Frutiger"/>
              </a:rPr>
              <a:t>04</a:t>
            </a:r>
            <a:endParaRPr sz="1801"/>
          </a:p>
        </p:txBody>
      </p:sp>
      <p:sp>
        <p:nvSpPr>
          <p:cNvPr id="100" name="Shape 100"/>
          <p:cNvSpPr/>
          <p:nvPr/>
        </p:nvSpPr>
        <p:spPr>
          <a:xfrm>
            <a:off x="838200" y="2362200"/>
            <a:ext cx="3937000" cy="2159000"/>
          </a:xfrm>
          <a:prstGeom prst="rect">
            <a:avLst/>
          </a:prstGeom>
          <a:solidFill>
            <a:srgbClr val="F4F6FA"/>
          </a:solidFill>
          <a:ln>
            <a:noFill/>
          </a:ln>
        </p:spPr>
        <p:txBody>
          <a:bodyPr wrap="square" lIns="101600" tIns="101600" rIns="101600" bIns="101600" anchor="t">
            <a:normAutofit/>
          </a:bodyPr>
          <a:lstStyle/>
          <a:p>
            <a:endParaRPr lang="en-US"/>
          </a:p>
        </p:txBody>
      </p:sp>
      <p:sp>
        <p:nvSpPr>
          <p:cNvPr id="101" name="Shape 101"/>
          <p:cNvSpPr/>
          <p:nvPr/>
        </p:nvSpPr>
        <p:spPr>
          <a:xfrm>
            <a:off x="838200" y="2362200"/>
            <a:ext cx="3937000" cy="76200"/>
          </a:xfrm>
          <a:prstGeom prst="rect">
            <a:avLst/>
          </a:prstGeom>
          <a:solidFill>
            <a:srgbClr val="E40046"/>
          </a:solidFill>
          <a:ln>
            <a:noFill/>
          </a:ln>
        </p:spPr>
        <p:txBody>
          <a:bodyPr wrap="square" lIns="101600" tIns="101600" rIns="101600" bIns="101600" anchor="t">
            <a:normAutofit fontScale="25000" lnSpcReduction="20000"/>
          </a:bodyPr>
          <a:lstStyle/>
          <a:p>
            <a:endParaRPr lang="en-US"/>
          </a:p>
        </p:txBody>
      </p:sp>
      <p:sp>
        <p:nvSpPr>
          <p:cNvPr id="102" name="Shape 102"/>
          <p:cNvSpPr/>
          <p:nvPr/>
        </p:nvSpPr>
        <p:spPr>
          <a:xfrm>
            <a:off x="1066800" y="2616200"/>
            <a:ext cx="3479800" cy="762000"/>
          </a:xfrm>
          <a:prstGeom prst="rect">
            <a:avLst/>
          </a:prstGeom>
          <a:noFill/>
          <a:ln>
            <a:noFill/>
          </a:ln>
        </p:spPr>
        <p:txBody>
          <a:bodyPr wrap="square" lIns="0" tIns="0" rIns="0" bIns="0" anchor="t">
            <a:normAutofit/>
          </a:bodyPr>
          <a:lstStyle/>
          <a:p>
            <a:pPr>
              <a:buNone/>
            </a:pPr>
            <a:r>
              <a:rPr lang="en-US" sz="4000" b="1" dirty="0">
                <a:solidFill>
                  <a:srgbClr val="001F6B"/>
                </a:solidFill>
                <a:latin typeface="Frutiger"/>
                <a:cs typeface="Frutiger"/>
              </a:rPr>
              <a:t>75%+</a:t>
            </a:r>
          </a:p>
        </p:txBody>
      </p:sp>
      <p:sp>
        <p:nvSpPr>
          <p:cNvPr id="103" name="Shape 103"/>
          <p:cNvSpPr/>
          <p:nvPr/>
        </p:nvSpPr>
        <p:spPr>
          <a:xfrm>
            <a:off x="1066800" y="3403600"/>
            <a:ext cx="3479800" cy="1016000"/>
          </a:xfrm>
          <a:prstGeom prst="rect">
            <a:avLst/>
          </a:prstGeom>
          <a:noFill/>
          <a:ln>
            <a:noFill/>
          </a:ln>
        </p:spPr>
        <p:txBody>
          <a:bodyPr wrap="square" lIns="0" tIns="0" rIns="0" bIns="0" anchor="t">
            <a:normAutofit/>
          </a:bodyPr>
          <a:lstStyle/>
          <a:p>
            <a:pPr>
              <a:lnSpc>
                <a:spcPct val="104000"/>
              </a:lnSpc>
              <a:buNone/>
            </a:pPr>
            <a:r>
              <a:rPr lang="en-US" sz="1800" dirty="0">
                <a:solidFill>
                  <a:srgbClr val="364750"/>
                </a:solidFill>
                <a:latin typeface="Frutiger"/>
                <a:cs typeface="Frutiger"/>
              </a:rPr>
              <a:t>of Snowflake customers use dbt</a:t>
            </a:r>
          </a:p>
          <a:p>
            <a:pPr>
              <a:spcBef>
                <a:spcPts val="600"/>
              </a:spcBef>
              <a:buNone/>
            </a:pPr>
            <a:r>
              <a:rPr lang="en-US" sz="1400" i="1" dirty="0">
                <a:solidFill>
                  <a:srgbClr val="667780"/>
                </a:solidFill>
                <a:latin typeface="Frutiger"/>
                <a:cs typeface="Frutiger"/>
              </a:rPr>
              <a:t>dbt Labs / Snowflake Summit, Jun 2026</a:t>
            </a:r>
          </a:p>
        </p:txBody>
      </p:sp>
      <p:sp>
        <p:nvSpPr>
          <p:cNvPr id="104" name="Shape 104"/>
          <p:cNvSpPr/>
          <p:nvPr/>
        </p:nvSpPr>
        <p:spPr>
          <a:xfrm>
            <a:off x="5054600" y="2362200"/>
            <a:ext cx="3937000" cy="2159000"/>
          </a:xfrm>
          <a:prstGeom prst="rect">
            <a:avLst/>
          </a:prstGeom>
          <a:solidFill>
            <a:srgbClr val="F4F6FA"/>
          </a:solidFill>
          <a:ln>
            <a:noFill/>
          </a:ln>
        </p:spPr>
        <p:txBody>
          <a:bodyPr wrap="square" lIns="101600" tIns="101600" rIns="101600" bIns="101600" anchor="t">
            <a:normAutofit/>
          </a:bodyPr>
          <a:lstStyle/>
          <a:p>
            <a:endParaRPr lang="en-US"/>
          </a:p>
        </p:txBody>
      </p:sp>
      <p:sp>
        <p:nvSpPr>
          <p:cNvPr id="105" name="Shape 105"/>
          <p:cNvSpPr/>
          <p:nvPr/>
        </p:nvSpPr>
        <p:spPr>
          <a:xfrm>
            <a:off x="5054600" y="2362200"/>
            <a:ext cx="3937000" cy="76200"/>
          </a:xfrm>
          <a:prstGeom prst="rect">
            <a:avLst/>
          </a:prstGeom>
          <a:solidFill>
            <a:srgbClr val="E40046"/>
          </a:solidFill>
          <a:ln>
            <a:noFill/>
          </a:ln>
        </p:spPr>
        <p:txBody>
          <a:bodyPr wrap="square" lIns="101600" tIns="101600" rIns="101600" bIns="101600" anchor="t">
            <a:normAutofit fontScale="25000" lnSpcReduction="20000"/>
          </a:bodyPr>
          <a:lstStyle/>
          <a:p>
            <a:endParaRPr lang="en-US"/>
          </a:p>
        </p:txBody>
      </p:sp>
      <p:sp>
        <p:nvSpPr>
          <p:cNvPr id="106" name="Shape 106"/>
          <p:cNvSpPr/>
          <p:nvPr/>
        </p:nvSpPr>
        <p:spPr>
          <a:xfrm>
            <a:off x="5283200" y="2616200"/>
            <a:ext cx="3479800" cy="762000"/>
          </a:xfrm>
          <a:prstGeom prst="rect">
            <a:avLst/>
          </a:prstGeom>
          <a:noFill/>
          <a:ln>
            <a:noFill/>
          </a:ln>
        </p:spPr>
        <p:txBody>
          <a:bodyPr wrap="square" lIns="0" tIns="0" rIns="0" bIns="0" anchor="t">
            <a:normAutofit/>
          </a:bodyPr>
          <a:lstStyle/>
          <a:p>
            <a:pPr>
              <a:buNone/>
            </a:pPr>
            <a:r>
              <a:rPr lang="en-US" sz="4000" b="1" dirty="0">
                <a:solidFill>
                  <a:srgbClr val="001F6B"/>
                </a:solidFill>
                <a:latin typeface="Frutiger"/>
                <a:cs typeface="Frutiger"/>
              </a:rPr>
              <a:t>2,900+</a:t>
            </a:r>
          </a:p>
        </p:txBody>
      </p:sp>
      <p:sp>
        <p:nvSpPr>
          <p:cNvPr id="107" name="Shape 107"/>
          <p:cNvSpPr/>
          <p:nvPr/>
        </p:nvSpPr>
        <p:spPr>
          <a:xfrm>
            <a:off x="5283200" y="3403600"/>
            <a:ext cx="3479800" cy="1016000"/>
          </a:xfrm>
          <a:prstGeom prst="rect">
            <a:avLst/>
          </a:prstGeom>
          <a:noFill/>
          <a:ln>
            <a:noFill/>
          </a:ln>
        </p:spPr>
        <p:txBody>
          <a:bodyPr wrap="square" lIns="0" tIns="0" rIns="0" bIns="0" anchor="t">
            <a:normAutofit/>
          </a:bodyPr>
          <a:lstStyle/>
          <a:p>
            <a:pPr>
              <a:lnSpc>
                <a:spcPct val="104000"/>
              </a:lnSpc>
              <a:buNone/>
            </a:pPr>
            <a:r>
              <a:rPr lang="en-US" sz="1800" dirty="0">
                <a:solidFill>
                  <a:srgbClr val="364750"/>
                </a:solidFill>
                <a:latin typeface="Frutiger"/>
                <a:cs typeface="Frutiger"/>
              </a:rPr>
              <a:t>customers running dbt on Databricks</a:t>
            </a:r>
          </a:p>
          <a:p>
            <a:pPr>
              <a:spcBef>
                <a:spcPts val="600"/>
              </a:spcBef>
              <a:buNone/>
            </a:pPr>
            <a:r>
              <a:rPr lang="en-US" sz="1400" i="1" dirty="0">
                <a:solidFill>
                  <a:srgbClr val="667780"/>
                </a:solidFill>
                <a:latin typeface="Frutiger"/>
                <a:cs typeface="Frutiger"/>
              </a:rPr>
              <a:t>Databricks blog, Apr 2026</a:t>
            </a:r>
          </a:p>
        </p:txBody>
      </p:sp>
      <p:sp>
        <p:nvSpPr>
          <p:cNvPr id="108" name="Shape 108"/>
          <p:cNvSpPr/>
          <p:nvPr/>
        </p:nvSpPr>
        <p:spPr>
          <a:xfrm>
            <a:off x="9271000" y="2362200"/>
            <a:ext cx="3937000" cy="2159000"/>
          </a:xfrm>
          <a:prstGeom prst="rect">
            <a:avLst/>
          </a:prstGeom>
          <a:solidFill>
            <a:srgbClr val="F4F6FA"/>
          </a:solidFill>
          <a:ln>
            <a:noFill/>
          </a:ln>
        </p:spPr>
        <p:txBody>
          <a:bodyPr wrap="square" lIns="101600" tIns="101600" rIns="101600" bIns="101600" anchor="t">
            <a:normAutofit/>
          </a:bodyPr>
          <a:lstStyle/>
          <a:p>
            <a:endParaRPr lang="en-US"/>
          </a:p>
        </p:txBody>
      </p:sp>
      <p:sp>
        <p:nvSpPr>
          <p:cNvPr id="109" name="Shape 109"/>
          <p:cNvSpPr/>
          <p:nvPr/>
        </p:nvSpPr>
        <p:spPr>
          <a:xfrm>
            <a:off x="9271000" y="2362200"/>
            <a:ext cx="3937000" cy="76200"/>
          </a:xfrm>
          <a:prstGeom prst="rect">
            <a:avLst/>
          </a:prstGeom>
          <a:solidFill>
            <a:srgbClr val="001F6B"/>
          </a:solidFill>
          <a:ln>
            <a:noFill/>
          </a:ln>
        </p:spPr>
        <p:txBody>
          <a:bodyPr wrap="square" lIns="101600" tIns="101600" rIns="101600" bIns="101600" anchor="t">
            <a:normAutofit fontScale="25000" lnSpcReduction="20000"/>
          </a:bodyPr>
          <a:lstStyle/>
          <a:p>
            <a:endParaRPr lang="en-US"/>
          </a:p>
        </p:txBody>
      </p:sp>
      <p:sp>
        <p:nvSpPr>
          <p:cNvPr id="110" name="Shape 110"/>
          <p:cNvSpPr/>
          <p:nvPr/>
        </p:nvSpPr>
        <p:spPr>
          <a:xfrm>
            <a:off x="9499600" y="2616200"/>
            <a:ext cx="3479800" cy="762000"/>
          </a:xfrm>
          <a:prstGeom prst="rect">
            <a:avLst/>
          </a:prstGeom>
          <a:noFill/>
          <a:ln>
            <a:noFill/>
          </a:ln>
        </p:spPr>
        <p:txBody>
          <a:bodyPr wrap="square" lIns="0" tIns="0" rIns="0" bIns="0" anchor="t">
            <a:normAutofit/>
          </a:bodyPr>
          <a:lstStyle/>
          <a:p>
            <a:pPr>
              <a:buNone/>
            </a:pPr>
            <a:r>
              <a:rPr lang="en-US" sz="4000" b="1" dirty="0">
                <a:solidFill>
                  <a:srgbClr val="001F6B"/>
                </a:solidFill>
                <a:latin typeface="Frutiger"/>
                <a:cs typeface="Frutiger"/>
              </a:rPr>
              <a:t>50,000</a:t>
            </a:r>
          </a:p>
        </p:txBody>
      </p:sp>
      <p:sp>
        <p:nvSpPr>
          <p:cNvPr id="111" name="Shape 111"/>
          <p:cNvSpPr/>
          <p:nvPr/>
        </p:nvSpPr>
        <p:spPr>
          <a:xfrm>
            <a:off x="9499600" y="3403600"/>
            <a:ext cx="3479800" cy="1016000"/>
          </a:xfrm>
          <a:prstGeom prst="rect">
            <a:avLst/>
          </a:prstGeom>
          <a:noFill/>
          <a:ln>
            <a:noFill/>
          </a:ln>
        </p:spPr>
        <p:txBody>
          <a:bodyPr wrap="square" lIns="0" tIns="0" rIns="0" bIns="0" anchor="t">
            <a:normAutofit/>
          </a:bodyPr>
          <a:lstStyle/>
          <a:p>
            <a:pPr>
              <a:lnSpc>
                <a:spcPct val="104000"/>
              </a:lnSpc>
              <a:buNone/>
            </a:pPr>
            <a:r>
              <a:rPr lang="en-US" sz="1800" dirty="0">
                <a:solidFill>
                  <a:srgbClr val="364750"/>
                </a:solidFill>
                <a:latin typeface="Frutiger"/>
                <a:cs typeface="Frutiger"/>
              </a:rPr>
              <a:t>teams run dbt every week; 100k community members</a:t>
            </a:r>
          </a:p>
          <a:p>
            <a:pPr>
              <a:spcBef>
                <a:spcPts val="600"/>
              </a:spcBef>
              <a:buNone/>
            </a:pPr>
            <a:r>
              <a:rPr lang="en-US" sz="1400" i="1" dirty="0">
                <a:solidFill>
                  <a:srgbClr val="667780"/>
                </a:solidFill>
                <a:latin typeface="Frutiger"/>
                <a:cs typeface="Frutiger"/>
              </a:rPr>
              <a:t>dbt Labs, 2025</a:t>
            </a:r>
          </a:p>
        </p:txBody>
      </p:sp>
      <p:sp>
        <p:nvSpPr>
          <p:cNvPr id="112" name="Shape 112"/>
          <p:cNvSpPr/>
          <p:nvPr/>
        </p:nvSpPr>
        <p:spPr>
          <a:xfrm>
            <a:off x="13487400" y="2362200"/>
            <a:ext cx="3937000" cy="2159000"/>
          </a:xfrm>
          <a:prstGeom prst="rect">
            <a:avLst/>
          </a:prstGeom>
          <a:solidFill>
            <a:srgbClr val="F4F6FA"/>
          </a:solidFill>
          <a:ln>
            <a:noFill/>
          </a:ln>
        </p:spPr>
        <p:txBody>
          <a:bodyPr wrap="square" lIns="101600" tIns="101600" rIns="101600" bIns="101600" anchor="t">
            <a:normAutofit/>
          </a:bodyPr>
          <a:lstStyle/>
          <a:p>
            <a:endParaRPr lang="en-US"/>
          </a:p>
        </p:txBody>
      </p:sp>
      <p:sp>
        <p:nvSpPr>
          <p:cNvPr id="113" name="Shape 113"/>
          <p:cNvSpPr/>
          <p:nvPr/>
        </p:nvSpPr>
        <p:spPr>
          <a:xfrm>
            <a:off x="13487400" y="2362200"/>
            <a:ext cx="3937000" cy="76200"/>
          </a:xfrm>
          <a:prstGeom prst="rect">
            <a:avLst/>
          </a:prstGeom>
          <a:solidFill>
            <a:srgbClr val="001F6B"/>
          </a:solidFill>
          <a:ln>
            <a:noFill/>
          </a:ln>
        </p:spPr>
        <p:txBody>
          <a:bodyPr wrap="square" lIns="101600" tIns="101600" rIns="101600" bIns="101600" anchor="t">
            <a:normAutofit fontScale="25000" lnSpcReduction="20000"/>
          </a:bodyPr>
          <a:lstStyle/>
          <a:p>
            <a:endParaRPr lang="en-US"/>
          </a:p>
        </p:txBody>
      </p:sp>
      <p:sp>
        <p:nvSpPr>
          <p:cNvPr id="114" name="Shape 114"/>
          <p:cNvSpPr/>
          <p:nvPr/>
        </p:nvSpPr>
        <p:spPr>
          <a:xfrm>
            <a:off x="13716000" y="2616200"/>
            <a:ext cx="3479800" cy="762000"/>
          </a:xfrm>
          <a:prstGeom prst="rect">
            <a:avLst/>
          </a:prstGeom>
          <a:noFill/>
          <a:ln>
            <a:noFill/>
          </a:ln>
        </p:spPr>
        <p:txBody>
          <a:bodyPr wrap="square" lIns="0" tIns="0" rIns="0" bIns="0" anchor="t">
            <a:normAutofit/>
          </a:bodyPr>
          <a:lstStyle/>
          <a:p>
            <a:pPr>
              <a:buNone/>
            </a:pPr>
            <a:r>
              <a:rPr lang="en-US" sz="4000" b="1" dirty="0">
                <a:solidFill>
                  <a:srgbClr val="001F6B"/>
                </a:solidFill>
                <a:latin typeface="Frutiger"/>
                <a:cs typeface="Frutiger"/>
              </a:rPr>
              <a:t>5,000+</a:t>
            </a:r>
          </a:p>
        </p:txBody>
      </p:sp>
      <p:sp>
        <p:nvSpPr>
          <p:cNvPr id="115" name="Shape 115"/>
          <p:cNvSpPr/>
          <p:nvPr/>
        </p:nvSpPr>
        <p:spPr>
          <a:xfrm>
            <a:off x="13716000" y="3403600"/>
            <a:ext cx="3479800" cy="1016000"/>
          </a:xfrm>
          <a:prstGeom prst="rect">
            <a:avLst/>
          </a:prstGeom>
          <a:noFill/>
          <a:ln>
            <a:noFill/>
          </a:ln>
        </p:spPr>
        <p:txBody>
          <a:bodyPr wrap="square" lIns="0" tIns="0" rIns="0" bIns="0" anchor="t">
            <a:normAutofit/>
          </a:bodyPr>
          <a:lstStyle/>
          <a:p>
            <a:pPr>
              <a:lnSpc>
                <a:spcPct val="104000"/>
              </a:lnSpc>
              <a:buNone/>
            </a:pPr>
            <a:r>
              <a:rPr lang="en-US" sz="1800" dirty="0">
                <a:solidFill>
                  <a:srgbClr val="364750"/>
                </a:solidFill>
                <a:latin typeface="Frutiger"/>
                <a:cs typeface="Frutiger"/>
              </a:rPr>
              <a:t>paying customers · $100M+ ARR (Feb 2025)</a:t>
            </a:r>
          </a:p>
          <a:p>
            <a:pPr>
              <a:spcBef>
                <a:spcPts val="600"/>
              </a:spcBef>
              <a:buNone/>
            </a:pPr>
            <a:r>
              <a:rPr lang="en-US" sz="1400" i="1" dirty="0">
                <a:solidFill>
                  <a:srgbClr val="667780"/>
                </a:solidFill>
                <a:latin typeface="Frutiger"/>
                <a:cs typeface="Frutiger"/>
              </a:rPr>
              <a:t>dbt Labs, 2025</a:t>
            </a:r>
          </a:p>
        </p:txBody>
      </p:sp>
      <p:sp>
        <p:nvSpPr>
          <p:cNvPr id="120" name="Shape 120"/>
          <p:cNvSpPr/>
          <p:nvPr/>
        </p:nvSpPr>
        <p:spPr>
          <a:xfrm>
            <a:off x="838200" y="4826000"/>
            <a:ext cx="16611600" cy="330200"/>
          </a:xfrm>
          <a:prstGeom prst="rect">
            <a:avLst/>
          </a:prstGeom>
          <a:noFill/>
          <a:ln>
            <a:noFill/>
          </a:ln>
        </p:spPr>
        <p:txBody>
          <a:bodyPr wrap="square" lIns="0" tIns="0" rIns="0" bIns="0" anchor="t">
            <a:normAutofit/>
          </a:bodyPr>
          <a:lstStyle/>
          <a:p>
            <a:pPr>
              <a:buNone/>
            </a:pPr>
            <a:r>
              <a:rPr lang="en-US" sz="1400" b="1" spc="200" dirty="0">
                <a:solidFill>
                  <a:srgbClr val="E40046"/>
                </a:solidFill>
                <a:latin typeface="Frutiger"/>
                <a:cs typeface="Frutiger"/>
              </a:rPr>
              <a:t>TIMELINE</a:t>
            </a:r>
          </a:p>
        </p:txBody>
      </p:sp>
      <p:cxnSp>
        <p:nvCxnSpPr>
          <p:cNvPr id="121" name="Line 121"/>
          <p:cNvCxnSpPr/>
          <p:nvPr/>
        </p:nvCxnSpPr>
        <p:spPr>
          <a:xfrm>
            <a:off x="2499360" y="5486400"/>
            <a:ext cx="13289280" cy="0"/>
          </a:xfrm>
          <a:prstGeom prst="line">
            <a:avLst/>
          </a:prstGeom>
          <a:ln w="38100">
            <a:solidFill>
              <a:srgbClr val="8E9DC5"/>
            </a:solidFill>
          </a:ln>
        </p:spPr>
      </p:cxnSp>
      <p:sp>
        <p:nvSpPr>
          <p:cNvPr id="122" name="Shape 122"/>
          <p:cNvSpPr/>
          <p:nvPr/>
        </p:nvSpPr>
        <p:spPr>
          <a:xfrm>
            <a:off x="2385060" y="5372100"/>
            <a:ext cx="228600" cy="228600"/>
          </a:xfrm>
          <a:prstGeom prst="ellipse">
            <a:avLst/>
          </a:prstGeom>
          <a:solidFill>
            <a:srgbClr val="001F6B"/>
          </a:solidFill>
          <a:ln>
            <a:noFill/>
          </a:ln>
        </p:spPr>
        <p:txBody>
          <a:bodyPr wrap="square" lIns="101600" tIns="101600" rIns="101600" bIns="101600" anchor="t">
            <a:normAutofit fontScale="25000" lnSpcReduction="20000"/>
          </a:bodyPr>
          <a:lstStyle/>
          <a:p>
            <a:endParaRPr lang="en-US"/>
          </a:p>
        </p:txBody>
      </p:sp>
      <p:sp>
        <p:nvSpPr>
          <p:cNvPr id="123" name="Shape 123"/>
          <p:cNvSpPr/>
          <p:nvPr/>
        </p:nvSpPr>
        <p:spPr>
          <a:xfrm>
            <a:off x="914400" y="5740400"/>
            <a:ext cx="3169920" cy="1524000"/>
          </a:xfrm>
          <a:prstGeom prst="rect">
            <a:avLst/>
          </a:prstGeom>
          <a:noFill/>
          <a:ln>
            <a:noFill/>
          </a:ln>
        </p:spPr>
        <p:txBody>
          <a:bodyPr wrap="square" lIns="0" tIns="0" rIns="0" bIns="0" anchor="t">
            <a:normAutofit/>
          </a:bodyPr>
          <a:lstStyle/>
          <a:p>
            <a:pPr algn="ctr">
              <a:buNone/>
            </a:pPr>
            <a:r>
              <a:rPr lang="en-US" sz="1900" b="1" dirty="0">
                <a:solidFill>
                  <a:srgbClr val="001F6B"/>
                </a:solidFill>
                <a:latin typeface="Frutiger"/>
                <a:cs typeface="Frutiger"/>
              </a:rPr>
              <a:t>2016</a:t>
            </a:r>
          </a:p>
          <a:p>
            <a:pPr algn="ctr">
              <a:lnSpc>
                <a:spcPct val="104000"/>
              </a:lnSpc>
              <a:spcBef>
                <a:spcPts val="400"/>
              </a:spcBef>
              <a:buNone/>
            </a:pPr>
            <a:r>
              <a:rPr lang="en-US" sz="1600" dirty="0">
                <a:solidFill>
                  <a:srgbClr val="364750"/>
                </a:solidFill>
                <a:latin typeface="Frutiger"/>
                <a:cs typeface="Frutiger"/>
              </a:rPr>
              <a:t>dbt open-sourced — a CLI that compiles SELECTs and runs them in the warehouse</a:t>
            </a:r>
          </a:p>
        </p:txBody>
      </p:sp>
      <p:sp>
        <p:nvSpPr>
          <p:cNvPr id="124" name="Shape 124"/>
          <p:cNvSpPr/>
          <p:nvPr/>
        </p:nvSpPr>
        <p:spPr>
          <a:xfrm>
            <a:off x="5707380" y="5372100"/>
            <a:ext cx="228600" cy="228600"/>
          </a:xfrm>
          <a:prstGeom prst="ellipse">
            <a:avLst/>
          </a:prstGeom>
          <a:solidFill>
            <a:srgbClr val="001F6B"/>
          </a:solidFill>
          <a:ln>
            <a:noFill/>
          </a:ln>
        </p:spPr>
        <p:txBody>
          <a:bodyPr wrap="square" lIns="101600" tIns="101600" rIns="101600" bIns="101600" anchor="t">
            <a:normAutofit fontScale="25000" lnSpcReduction="20000"/>
          </a:bodyPr>
          <a:lstStyle/>
          <a:p>
            <a:endParaRPr lang="en-US"/>
          </a:p>
        </p:txBody>
      </p:sp>
      <p:sp>
        <p:nvSpPr>
          <p:cNvPr id="125" name="Shape 125"/>
          <p:cNvSpPr/>
          <p:nvPr/>
        </p:nvSpPr>
        <p:spPr>
          <a:xfrm>
            <a:off x="4236720" y="5740400"/>
            <a:ext cx="3169920" cy="1524000"/>
          </a:xfrm>
          <a:prstGeom prst="rect">
            <a:avLst/>
          </a:prstGeom>
          <a:noFill/>
          <a:ln>
            <a:noFill/>
          </a:ln>
        </p:spPr>
        <p:txBody>
          <a:bodyPr wrap="square" lIns="0" tIns="0" rIns="0" bIns="0" anchor="t">
            <a:normAutofit/>
          </a:bodyPr>
          <a:lstStyle/>
          <a:p>
            <a:pPr algn="ctr">
              <a:buNone/>
            </a:pPr>
            <a:r>
              <a:rPr lang="en-US" sz="1900" b="1" dirty="0">
                <a:solidFill>
                  <a:srgbClr val="001F6B"/>
                </a:solidFill>
                <a:latin typeface="Frutiger"/>
                <a:cs typeface="Frutiger"/>
              </a:rPr>
              <a:t>2019–22</a:t>
            </a:r>
          </a:p>
          <a:p>
            <a:pPr algn="ctr">
              <a:lnSpc>
                <a:spcPct val="104000"/>
              </a:lnSpc>
              <a:spcBef>
                <a:spcPts val="400"/>
              </a:spcBef>
              <a:buNone/>
            </a:pPr>
            <a:r>
              <a:rPr lang="en-US" sz="1600" dirty="0">
                <a:solidFill>
                  <a:srgbClr val="364750"/>
                </a:solidFill>
                <a:latin typeface="Frutiger"/>
                <a:cs typeface="Frutiger"/>
              </a:rPr>
              <a:t>Standard practice on Snowflake and BigQuery; “analytics engineering” becomes a job title</a:t>
            </a:r>
          </a:p>
        </p:txBody>
      </p:sp>
      <p:sp>
        <p:nvSpPr>
          <p:cNvPr id="126" name="Shape 126"/>
          <p:cNvSpPr/>
          <p:nvPr/>
        </p:nvSpPr>
        <p:spPr>
          <a:xfrm>
            <a:off x="9029700" y="5372100"/>
            <a:ext cx="228600" cy="228600"/>
          </a:xfrm>
          <a:prstGeom prst="ellipse">
            <a:avLst/>
          </a:prstGeom>
          <a:solidFill>
            <a:srgbClr val="001F6B"/>
          </a:solidFill>
          <a:ln>
            <a:noFill/>
          </a:ln>
        </p:spPr>
        <p:txBody>
          <a:bodyPr wrap="square" lIns="101600" tIns="101600" rIns="101600" bIns="101600" anchor="t">
            <a:normAutofit fontScale="25000" lnSpcReduction="20000"/>
          </a:bodyPr>
          <a:lstStyle/>
          <a:p>
            <a:endParaRPr lang="en-US"/>
          </a:p>
        </p:txBody>
      </p:sp>
      <p:sp>
        <p:nvSpPr>
          <p:cNvPr id="127" name="Shape 127"/>
          <p:cNvSpPr/>
          <p:nvPr/>
        </p:nvSpPr>
        <p:spPr>
          <a:xfrm>
            <a:off x="7559040" y="5740400"/>
            <a:ext cx="3169920" cy="1524000"/>
          </a:xfrm>
          <a:prstGeom prst="rect">
            <a:avLst/>
          </a:prstGeom>
          <a:noFill/>
          <a:ln>
            <a:noFill/>
          </a:ln>
        </p:spPr>
        <p:txBody>
          <a:bodyPr wrap="square" lIns="0" tIns="0" rIns="0" bIns="0" anchor="t">
            <a:normAutofit/>
          </a:bodyPr>
          <a:lstStyle/>
          <a:p>
            <a:pPr algn="ctr">
              <a:buNone/>
            </a:pPr>
            <a:r>
              <a:rPr lang="en-US" sz="1900" b="1" dirty="0">
                <a:solidFill>
                  <a:srgbClr val="001F6B"/>
                </a:solidFill>
                <a:latin typeface="Frutiger"/>
                <a:cs typeface="Frutiger"/>
              </a:rPr>
              <a:t>2023–25</a:t>
            </a:r>
          </a:p>
          <a:p>
            <a:pPr algn="ctr">
              <a:lnSpc>
                <a:spcPct val="104000"/>
              </a:lnSpc>
              <a:spcBef>
                <a:spcPts val="400"/>
              </a:spcBef>
              <a:buNone/>
            </a:pPr>
            <a:r>
              <a:rPr lang="en-US" sz="1600" dirty="0">
                <a:solidFill>
                  <a:srgbClr val="364750"/>
                </a:solidFill>
                <a:latin typeface="Frutiger"/>
                <a:cs typeface="Frutiger"/>
              </a:rPr>
              <a:t>Databricks SQL and Redshift teams adopt; Microsoft ships dbt-fabric and dbt-fabricspark</a:t>
            </a:r>
          </a:p>
        </p:txBody>
      </p:sp>
      <p:sp>
        <p:nvSpPr>
          <p:cNvPr id="128" name="Shape 128"/>
          <p:cNvSpPr/>
          <p:nvPr/>
        </p:nvSpPr>
        <p:spPr>
          <a:xfrm>
            <a:off x="12352020" y="5372100"/>
            <a:ext cx="228600" cy="228600"/>
          </a:xfrm>
          <a:prstGeom prst="ellipse">
            <a:avLst/>
          </a:prstGeom>
          <a:solidFill>
            <a:srgbClr val="E40046"/>
          </a:solidFill>
          <a:ln>
            <a:noFill/>
          </a:ln>
        </p:spPr>
        <p:txBody>
          <a:bodyPr wrap="square" lIns="101600" tIns="101600" rIns="101600" bIns="101600" anchor="t">
            <a:normAutofit fontScale="25000" lnSpcReduction="20000"/>
          </a:bodyPr>
          <a:lstStyle/>
          <a:p>
            <a:endParaRPr lang="en-US"/>
          </a:p>
        </p:txBody>
      </p:sp>
      <p:sp>
        <p:nvSpPr>
          <p:cNvPr id="129" name="Shape 129"/>
          <p:cNvSpPr/>
          <p:nvPr/>
        </p:nvSpPr>
        <p:spPr>
          <a:xfrm>
            <a:off x="10881360" y="5740400"/>
            <a:ext cx="3169920" cy="1524000"/>
          </a:xfrm>
          <a:prstGeom prst="rect">
            <a:avLst/>
          </a:prstGeom>
          <a:noFill/>
          <a:ln>
            <a:noFill/>
          </a:ln>
        </p:spPr>
        <p:txBody>
          <a:bodyPr wrap="square" lIns="0" tIns="0" rIns="0" bIns="0" anchor="t">
            <a:normAutofit/>
          </a:bodyPr>
          <a:lstStyle/>
          <a:p>
            <a:pPr algn="ctr">
              <a:buNone/>
            </a:pPr>
            <a:r>
              <a:rPr lang="en-US" sz="1900" b="1" dirty="0">
                <a:solidFill>
                  <a:srgbClr val="001F6B"/>
                </a:solidFill>
                <a:latin typeface="Frutiger"/>
                <a:cs typeface="Frutiger"/>
              </a:rPr>
              <a:t>Oct 2025</a:t>
            </a:r>
          </a:p>
          <a:p>
            <a:pPr algn="ctr">
              <a:lnSpc>
                <a:spcPct val="104000"/>
              </a:lnSpc>
              <a:spcBef>
                <a:spcPts val="400"/>
              </a:spcBef>
              <a:buNone/>
            </a:pPr>
            <a:r>
              <a:rPr lang="en-US" sz="1600" dirty="0">
                <a:solidFill>
                  <a:srgbClr val="364750"/>
                </a:solidFill>
                <a:latin typeface="Frutiger"/>
                <a:cs typeface="Frutiger"/>
              </a:rPr>
              <a:t>Fivetran + dbt Labs merge — ingestion and transformation under one company</a:t>
            </a:r>
          </a:p>
        </p:txBody>
      </p:sp>
      <p:sp>
        <p:nvSpPr>
          <p:cNvPr id="130" name="Shape 130"/>
          <p:cNvSpPr/>
          <p:nvPr/>
        </p:nvSpPr>
        <p:spPr>
          <a:xfrm>
            <a:off x="15674340" y="5372100"/>
            <a:ext cx="228600" cy="228600"/>
          </a:xfrm>
          <a:prstGeom prst="ellipse">
            <a:avLst/>
          </a:prstGeom>
          <a:solidFill>
            <a:srgbClr val="E40046"/>
          </a:solidFill>
          <a:ln>
            <a:noFill/>
          </a:ln>
        </p:spPr>
        <p:txBody>
          <a:bodyPr wrap="square" lIns="101600" tIns="101600" rIns="101600" bIns="101600" anchor="t">
            <a:normAutofit fontScale="25000" lnSpcReduction="20000"/>
          </a:bodyPr>
          <a:lstStyle/>
          <a:p>
            <a:endParaRPr lang="en-US"/>
          </a:p>
        </p:txBody>
      </p:sp>
      <p:sp>
        <p:nvSpPr>
          <p:cNvPr id="131" name="Shape 131"/>
          <p:cNvSpPr/>
          <p:nvPr/>
        </p:nvSpPr>
        <p:spPr>
          <a:xfrm>
            <a:off x="14203680" y="5740400"/>
            <a:ext cx="3169920" cy="1524000"/>
          </a:xfrm>
          <a:prstGeom prst="rect">
            <a:avLst/>
          </a:prstGeom>
          <a:noFill/>
          <a:ln>
            <a:noFill/>
          </a:ln>
        </p:spPr>
        <p:txBody>
          <a:bodyPr wrap="square" lIns="0" tIns="0" rIns="0" bIns="0" anchor="t">
            <a:normAutofit/>
          </a:bodyPr>
          <a:lstStyle/>
          <a:p>
            <a:pPr algn="ctr">
              <a:buNone/>
            </a:pPr>
            <a:r>
              <a:rPr lang="en-US" sz="1900" b="1" dirty="0">
                <a:solidFill>
                  <a:srgbClr val="001F6B"/>
                </a:solidFill>
                <a:latin typeface="Frutiger"/>
                <a:cs typeface="Frutiger"/>
              </a:rPr>
              <a:t>Nov 2025</a:t>
            </a:r>
          </a:p>
          <a:p>
            <a:pPr algn="ctr">
              <a:lnSpc>
                <a:spcPct val="104000"/>
              </a:lnSpc>
              <a:spcBef>
                <a:spcPts val="400"/>
              </a:spcBef>
              <a:buNone/>
            </a:pPr>
            <a:r>
              <a:rPr lang="en-US" sz="1600" dirty="0">
                <a:solidFill>
                  <a:srgbClr val="364750"/>
                </a:solidFill>
                <a:latin typeface="Frutiger"/>
                <a:cs typeface="Frutiger"/>
              </a:rPr>
              <a:t>dbt job becomes a native Fabric item (preview); Fusion engine announced for Fabric in 2026</a:t>
            </a:r>
          </a:p>
        </p:txBody>
      </p:sp>
      <p:sp>
        <p:nvSpPr>
          <p:cNvPr id="140" name="Shape 140"/>
          <p:cNvSpPr/>
          <p:nvPr/>
        </p:nvSpPr>
        <p:spPr>
          <a:xfrm>
            <a:off x="838200" y="7416800"/>
            <a:ext cx="16611600" cy="13716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a:p>
        </p:txBody>
      </p:sp>
      <p:sp>
        <p:nvSpPr>
          <p:cNvPr id="141" name="Shape 141"/>
          <p:cNvSpPr/>
          <p:nvPr/>
        </p:nvSpPr>
        <p:spPr>
          <a:xfrm>
            <a:off x="1092200" y="7518400"/>
            <a:ext cx="16103600" cy="1168400"/>
          </a:xfrm>
          <a:prstGeom prst="rect">
            <a:avLst/>
          </a:prstGeom>
          <a:noFill/>
          <a:ln>
            <a:noFill/>
          </a:ln>
        </p:spPr>
        <p:txBody>
          <a:bodyPr wrap="square" lIns="0" tIns="0" rIns="0" bIns="0" anchor="ctr">
            <a:normAutofit/>
          </a:bodyPr>
          <a:lstStyle/>
          <a:p>
            <a:pPr>
              <a:lnSpc>
                <a:spcPct val="106000"/>
              </a:lnSpc>
              <a:buNone/>
            </a:pPr>
            <a:r>
              <a:rPr lang="en-US" sz="2000" b="1" dirty="0">
                <a:solidFill>
                  <a:srgbClr val="001F6B"/>
                </a:solidFill>
                <a:latin typeface="Frutiger"/>
                <a:cs typeface="Frutiger"/>
              </a:rPr>
              <a:t>Why this matters in a Microsoft shop.  </a:t>
            </a:r>
            <a:r>
              <a:rPr lang="en-US" sz="1800" dirty="0">
                <a:solidFill>
                  <a:srgbClr val="364750"/>
                </a:solidFill>
                <a:latin typeface="Frutiger"/>
                <a:cs typeface="Frutiger"/>
              </a:rPr>
              <a:t>The workflow you learn today is the one Snowflake and Databricks teams have standardized on — so the skills, packages, hiring pool and community answers transfer. Fabric now has first-party adapters and a native dbt job: you no longer choose between “the Microsoft way” and the industry’s default transformation layer.</a:t>
            </a:r>
          </a:p>
        </p:txBody>
      </p:sp>
      <p:sp>
        <p:nvSpPr>
          <p:cNvPr id="142" name="Shape 142"/>
          <p:cNvSpPr/>
          <p:nvPr/>
        </p:nvSpPr>
        <p:spPr>
          <a:xfrm>
            <a:off x="838200" y="8890000"/>
            <a:ext cx="16611600" cy="330200"/>
          </a:xfrm>
          <a:prstGeom prst="rect">
            <a:avLst/>
          </a:prstGeom>
          <a:noFill/>
          <a:ln>
            <a:noFill/>
          </a:ln>
        </p:spPr>
        <p:txBody>
          <a:bodyPr wrap="square" lIns="0" tIns="0" rIns="0" bIns="0" anchor="t">
            <a:normAutofit/>
          </a:bodyPr>
          <a:lstStyle/>
          <a:p>
            <a:pPr>
              <a:buNone/>
            </a:pPr>
            <a:r>
              <a:rPr lang="en-US" sz="1300" i="1" dirty="0">
                <a:solidFill>
                  <a:srgbClr val="667780"/>
                </a:solidFill>
                <a:latin typeface="Frutiger"/>
                <a:cs typeface="Frutiger"/>
              </a:rPr>
              <a:t>Figures are vendor-reported (dbt Labs, Snowflake, Databricks, Microsoft) and were checked September 2026 — re-verify before presenting.</a:t>
            </a:r>
          </a:p>
        </p:txBody>
      </p:sp>
    </p:spTree>
    <p:extLst>
      <p:ext uri="{BB962C8B-B14F-4D97-AF65-F5344CB8AC3E}">
        <p14:creationId xmlns:p14="http://schemas.microsoft.com/office/powerpoint/2010/main" val="39299179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4EC90D35-304A-4ED8-BF67-87162AFBE388}"/>
              </a:ext>
            </a:extLst>
          </p:cNvPr>
          <p:cNvSpPr>
            <a:spLocks noGrp="1"/>
          </p:cNvSpPr>
          <p:nvPr/>
        </p:nvSpPr>
        <p:spPr>
          <a:xfrm>
            <a:off x="838201" y="963812"/>
            <a:ext cx="15240000" cy="640407"/>
          </a:xfrm>
          <a:prstGeom prst="rect">
            <a:avLst/>
          </a:prstGeom>
          <a:noFill/>
        </p:spPr>
        <p:txBody>
          <a:bodyPr wrap="square" lIns="25401" tIns="25401" rIns="25401" bIns="25401" anchor="t">
            <a:normAutofit/>
          </a:bodyPr>
          <a:lstStyle/>
          <a:p>
            <a:pPr>
              <a:lnSpc>
                <a:spcPct val="79050"/>
              </a:lnSpc>
              <a:buNone/>
            </a:pPr>
            <a:r>
              <a:rPr lang="en-US" sz="4651" b="1" spc="-69" dirty="0">
                <a:solidFill>
                  <a:srgbClr val="001F6B"/>
                </a:solidFill>
                <a:latin typeface="Frutiger"/>
              </a:rPr>
              <a:t>dbt execution</a:t>
            </a:r>
            <a:endParaRPr sz="4651" dirty="0"/>
          </a:p>
        </p:txBody>
      </p:sp>
      <p:pic>
        <p:nvPicPr>
          <p:cNvPr id="32" name="Image 0"/>
          <p:cNvPicPr>
            <a:picLocks noChangeAspect="1"/>
          </p:cNvPicPr>
          <p:nvPr/>
        </p:nvPicPr>
        <p:blipFill>
          <a:blip r:embed="rId3"/>
          <a:srcRect t="-5" b="-5"/>
          <a:stretch/>
        </p:blipFill>
        <p:spPr>
          <a:xfrm>
            <a:off x="16412620" y="571500"/>
            <a:ext cx="1037182" cy="514350"/>
          </a:xfrm>
          <a:prstGeom prst="rect">
            <a:avLst/>
          </a:prstGeom>
        </p:spPr>
      </p:pic>
      <p:sp>
        <p:nvSpPr>
          <p:cNvPr id="5" name="Shape 2">
            <a:extLst>
              <a:ext uri="{FF2B5EF4-FFF2-40B4-BE49-F238E27FC236}">
                <a16:creationId xmlns:a16="http://schemas.microsoft.com/office/drawing/2014/main" id="{619AE5D7-7CB4-4BEA-BB3F-D06573D3768F}"/>
              </a:ext>
            </a:extLst>
          </p:cNvPr>
          <p:cNvSpPr>
            <a:spLocks noGrp="1"/>
          </p:cNvSpPr>
          <p:nvPr/>
        </p:nvSpPr>
        <p:spPr>
          <a:xfrm>
            <a:off x="838202" y="1813769"/>
            <a:ext cx="16611600" cy="28574"/>
          </a:xfrm>
          <a:prstGeom prst="rect">
            <a:avLst/>
          </a:prstGeom>
          <a:solidFill>
            <a:srgbClr val="FF0000"/>
          </a:solidFill>
        </p:spPr>
        <p:txBody>
          <a:bodyPr/>
          <a:lstStyle/>
          <a:p>
            <a:endParaRPr sz="1801"/>
          </a:p>
        </p:txBody>
      </p:sp>
      <p:sp>
        <p:nvSpPr>
          <p:cNvPr id="6" name="Shape 3">
            <a:extLst>
              <a:ext uri="{FF2B5EF4-FFF2-40B4-BE49-F238E27FC236}">
                <a16:creationId xmlns:a16="http://schemas.microsoft.com/office/drawing/2014/main" id="{4913CC0E-0FDB-4091-96BC-623E005C1433}"/>
              </a:ext>
            </a:extLst>
          </p:cNvPr>
          <p:cNvSpPr>
            <a:spLocks noGrp="1"/>
          </p:cNvSpPr>
          <p:nvPr/>
        </p:nvSpPr>
        <p:spPr>
          <a:xfrm>
            <a:off x="838202" y="1880445"/>
            <a:ext cx="16611600" cy="28574"/>
          </a:xfrm>
          <a:prstGeom prst="rect">
            <a:avLst/>
          </a:prstGeom>
          <a:solidFill>
            <a:srgbClr val="3649A8"/>
          </a:solidFill>
        </p:spPr>
        <p:txBody>
          <a:bodyPr/>
          <a:lstStyle/>
          <a:p>
            <a:endParaRPr sz="1801"/>
          </a:p>
        </p:txBody>
      </p:sp>
      <p:sp>
        <p:nvSpPr>
          <p:cNvPr id="25" name="Shape 22">
            <a:extLst>
              <a:ext uri="{FF2B5EF4-FFF2-40B4-BE49-F238E27FC236}">
                <a16:creationId xmlns:a16="http://schemas.microsoft.com/office/drawing/2014/main" id="{B765AE01-8B3A-4F2B-9234-E1B2735FE6D0}"/>
              </a:ext>
            </a:extLst>
          </p:cNvPr>
          <p:cNvSpPr>
            <a:spLocks noGrp="1"/>
          </p:cNvSpPr>
          <p:nvPr/>
        </p:nvSpPr>
        <p:spPr>
          <a:xfrm>
            <a:off x="838202" y="9294615"/>
            <a:ext cx="16611600" cy="9525"/>
          </a:xfrm>
          <a:prstGeom prst="rect">
            <a:avLst/>
          </a:prstGeom>
          <a:solidFill>
            <a:srgbClr val="E2E7EB"/>
          </a:solidFill>
        </p:spPr>
        <p:txBody>
          <a:bodyPr/>
          <a:lstStyle/>
          <a:p>
            <a:endParaRPr sz="1801"/>
          </a:p>
        </p:txBody>
      </p:sp>
      <p:sp>
        <p:nvSpPr>
          <p:cNvPr id="26" name="Text 23">
            <a:extLst>
              <a:ext uri="{FF2B5EF4-FFF2-40B4-BE49-F238E27FC236}">
                <a16:creationId xmlns:a16="http://schemas.microsoft.com/office/drawing/2014/main" id="{5C5AFE6D-27B1-4C09-BBBE-19FE36BD27C8}"/>
              </a:ext>
            </a:extLst>
          </p:cNvPr>
          <p:cNvSpPr>
            <a:spLocks noGrp="1"/>
          </p:cNvSpPr>
          <p:nvPr/>
        </p:nvSpPr>
        <p:spPr>
          <a:xfrm>
            <a:off x="838201" y="9513691"/>
            <a:ext cx="7461945" cy="392311"/>
          </a:xfrm>
          <a:prstGeom prst="rect">
            <a:avLst/>
          </a:prstGeom>
          <a:noFill/>
        </p:spPr>
        <p:txBody>
          <a:bodyPr wrap="square" lIns="25401" tIns="25401" rIns="25401" bIns="25401" anchor="t">
            <a:normAutofit/>
          </a:bodyPr>
          <a:lstStyle/>
          <a:p>
            <a:pPr>
              <a:lnSpc>
                <a:spcPct val="124000"/>
              </a:lnSpc>
              <a:buNone/>
            </a:pPr>
            <a:r>
              <a:rPr sz="1801" dirty="0">
                <a:solidFill>
                  <a:srgbClr val="667780"/>
                </a:solidFill>
                <a:latin typeface="Frutiger"/>
                <a:ea typeface="Frutiger"/>
                <a:cs typeface="Frutiger"/>
              </a:rPr>
              <a:t>Getting started with dbt</a:t>
            </a:r>
            <a:endParaRPr sz="1801" dirty="0"/>
          </a:p>
        </p:txBody>
      </p:sp>
      <p:sp>
        <p:nvSpPr>
          <p:cNvPr id="28" name="Text 25">
            <a:extLst>
              <a:ext uri="{FF2B5EF4-FFF2-40B4-BE49-F238E27FC236}">
                <a16:creationId xmlns:a16="http://schemas.microsoft.com/office/drawing/2014/main" id="{E1A6A13E-D079-4787-BA2C-26179E45E0AB}"/>
              </a:ext>
            </a:extLst>
          </p:cNvPr>
          <p:cNvSpPr>
            <a:spLocks noGrp="1"/>
          </p:cNvSpPr>
          <p:nvPr/>
        </p:nvSpPr>
        <p:spPr>
          <a:xfrm>
            <a:off x="9987856" y="9513691"/>
            <a:ext cx="7461945" cy="392311"/>
          </a:xfrm>
          <a:prstGeom prst="rect">
            <a:avLst/>
          </a:prstGeom>
          <a:noFill/>
        </p:spPr>
        <p:txBody>
          <a:bodyPr wrap="square" lIns="25401" tIns="25401" rIns="25401" bIns="25401" anchor="t">
            <a:normAutofit/>
          </a:bodyPr>
          <a:lstStyle/>
          <a:p>
            <a:pPr algn="r">
              <a:lnSpc>
                <a:spcPct val="124000"/>
              </a:lnSpc>
              <a:buNone/>
            </a:pPr>
            <a:r>
              <a:rPr lang="en-US" sz="1801">
                <a:solidFill>
                  <a:srgbClr val="667780"/>
                </a:solidFill>
                <a:latin typeface="Frutiger"/>
                <a:ea typeface="Frutiger"/>
                <a:cs typeface="Frutiger"/>
              </a:rPr>
              <a:t>06</a:t>
            </a:r>
            <a:endParaRPr sz="1801" dirty="0"/>
          </a:p>
        </p:txBody>
      </p:sp>
      <p:sp>
        <p:nvSpPr>
          <p:cNvPr id="100" name="Shape 100"/>
          <p:cNvSpPr/>
          <p:nvPr/>
        </p:nvSpPr>
        <p:spPr>
          <a:xfrm>
            <a:off x="838200" y="2438400"/>
            <a:ext cx="6604000" cy="3327400"/>
          </a:xfrm>
          <a:prstGeom prst="rect">
            <a:avLst/>
          </a:prstGeom>
          <a:solidFill>
            <a:srgbClr val="F4F6FA"/>
          </a:solidFill>
          <a:ln>
            <a:noFill/>
          </a:ln>
        </p:spPr>
        <p:txBody>
          <a:bodyPr wrap="square" lIns="101600" tIns="101600" rIns="101600" bIns="101600" anchor="t">
            <a:normAutofit/>
          </a:bodyPr>
          <a:lstStyle/>
          <a:p>
            <a:endParaRPr lang="en-US"/>
          </a:p>
        </p:txBody>
      </p:sp>
      <p:sp>
        <p:nvSpPr>
          <p:cNvPr id="101" name="Shape 101"/>
          <p:cNvSpPr/>
          <p:nvPr/>
        </p:nvSpPr>
        <p:spPr>
          <a:xfrm>
            <a:off x="838200" y="2438400"/>
            <a:ext cx="6604000" cy="76200"/>
          </a:xfrm>
          <a:prstGeom prst="rect">
            <a:avLst/>
          </a:prstGeom>
          <a:solidFill>
            <a:srgbClr val="001F6B"/>
          </a:solidFill>
          <a:ln>
            <a:noFill/>
          </a:ln>
        </p:spPr>
        <p:txBody>
          <a:bodyPr wrap="square" lIns="101600" tIns="101600" rIns="101600" bIns="101600" anchor="t">
            <a:normAutofit fontScale="25000" lnSpcReduction="20000"/>
          </a:bodyPr>
          <a:lstStyle/>
          <a:p>
            <a:endParaRPr lang="en-US"/>
          </a:p>
        </p:txBody>
      </p:sp>
      <p:sp>
        <p:nvSpPr>
          <p:cNvPr id="102" name="Shape 102"/>
          <p:cNvSpPr/>
          <p:nvPr/>
        </p:nvSpPr>
        <p:spPr>
          <a:xfrm>
            <a:off x="1143000" y="2692400"/>
            <a:ext cx="6096000" cy="2946400"/>
          </a:xfrm>
          <a:prstGeom prst="rect">
            <a:avLst/>
          </a:prstGeom>
          <a:noFill/>
          <a:ln>
            <a:noFill/>
          </a:ln>
        </p:spPr>
        <p:txBody>
          <a:bodyPr wrap="square" lIns="0" tIns="0" rIns="0" bIns="0" anchor="t">
            <a:normAutofit/>
          </a:bodyPr>
          <a:lstStyle/>
          <a:p>
            <a:pPr>
              <a:buNone/>
            </a:pPr>
            <a:r>
              <a:rPr lang="en-US" sz="1500" b="1" spc="200" dirty="0">
                <a:solidFill>
                  <a:srgbClr val="E40046"/>
                </a:solidFill>
                <a:latin typeface="Frutiger"/>
                <a:cs typeface="Frutiger"/>
              </a:rPr>
              <a:t>WHERE THE DBT PROCESS RUNS</a:t>
            </a:r>
          </a:p>
          <a:p>
            <a:pPr>
              <a:spcBef>
                <a:spcPts val="200"/>
              </a:spcBef>
              <a:buNone/>
            </a:pPr>
            <a:r>
              <a:rPr lang="en-US" sz="2800" b="1" dirty="0">
                <a:solidFill>
                  <a:srgbClr val="001F6B"/>
                </a:solidFill>
                <a:latin typeface="Frutiger"/>
                <a:cs typeface="Frutiger"/>
              </a:rPr>
              <a:t>dbt Core (CLI)</a:t>
            </a:r>
          </a:p>
          <a:p>
            <a:pPr>
              <a:spcBef>
                <a:spcPts val="200"/>
              </a:spcBef>
              <a:buNone/>
            </a:pPr>
            <a:r>
              <a:rPr lang="en-US" sz="1900" dirty="0">
                <a:solidFill>
                  <a:srgbClr val="667780"/>
                </a:solidFill>
                <a:latin typeface="Frutiger"/>
                <a:cs typeface="Frutiger"/>
              </a:rPr>
              <a:t>Your laptop · an Azure DevOps agent · a container · a Fabric notebook</a:t>
            </a:r>
          </a:p>
          <a:p>
            <a:pPr marL="279400" indent="-279400">
              <a:lnSpc>
                <a:spcPct val="104000"/>
              </a:lnSpc>
              <a:spcBef>
                <a:spcPts val="700"/>
              </a:spcBef>
              <a:buClr>
                <a:srgbClr val="E40046"/>
              </a:buClr>
              <a:buFont typeface="Arial"/>
              <a:buChar char="•"/>
            </a:pPr>
            <a:r>
              <a:rPr lang="en-US" sz="2000" dirty="0">
                <a:solidFill>
                  <a:srgbClr val="364750"/>
                </a:solidFill>
                <a:latin typeface="Frutiger"/>
                <a:cs typeface="Frutiger"/>
              </a:rPr>
              <a:t>Reads the project files from Git</a:t>
            </a:r>
          </a:p>
          <a:p>
            <a:pPr marL="279400" indent="-279400">
              <a:lnSpc>
                <a:spcPct val="104000"/>
              </a:lnSpc>
              <a:spcBef>
                <a:spcPts val="700"/>
              </a:spcBef>
              <a:buClr>
                <a:srgbClr val="E40046"/>
              </a:buClr>
              <a:buFont typeface="Arial"/>
              <a:buChar char="•"/>
            </a:pPr>
            <a:r>
              <a:rPr lang="en-US" sz="2000" dirty="0">
                <a:solidFill>
                  <a:srgbClr val="364750"/>
                </a:solidFill>
                <a:latin typeface="Frutiger"/>
                <a:cs typeface="Frutiger"/>
              </a:rPr>
              <a:t>Compiles Jinja + ref() into plain SQL</a:t>
            </a:r>
          </a:p>
          <a:p>
            <a:pPr marL="279400" indent="-279400">
              <a:lnSpc>
                <a:spcPct val="104000"/>
              </a:lnSpc>
              <a:spcBef>
                <a:spcPts val="700"/>
              </a:spcBef>
              <a:buClr>
                <a:srgbClr val="E40046"/>
              </a:buClr>
              <a:buFont typeface="Arial"/>
              <a:buChar char="•"/>
            </a:pPr>
            <a:r>
              <a:rPr lang="en-US" sz="2000" dirty="0">
                <a:solidFill>
                  <a:srgbClr val="364750"/>
                </a:solidFill>
                <a:latin typeface="Frutiger"/>
                <a:cs typeface="Frutiger"/>
              </a:rPr>
              <a:t>Sends CREATE / SELECT statements to the engine</a:t>
            </a:r>
          </a:p>
          <a:p>
            <a:pPr marL="279400" indent="-279400">
              <a:lnSpc>
                <a:spcPct val="104000"/>
              </a:lnSpc>
              <a:spcBef>
                <a:spcPts val="700"/>
              </a:spcBef>
              <a:buClr>
                <a:srgbClr val="E40046"/>
              </a:buClr>
              <a:buFont typeface="Arial"/>
              <a:buChar char="•"/>
            </a:pPr>
            <a:r>
              <a:rPr lang="en-US" sz="2000" dirty="0">
                <a:solidFill>
                  <a:srgbClr val="364750"/>
                </a:solidFill>
                <a:latin typeface="Frutiger"/>
                <a:cs typeface="Frutiger"/>
              </a:rPr>
              <a:t>Collects results, runs tests, writes logs and artifacts</a:t>
            </a:r>
          </a:p>
        </p:txBody>
      </p:sp>
      <p:sp>
        <p:nvSpPr>
          <p:cNvPr id="110" name="Shape 110"/>
          <p:cNvSpPr/>
          <p:nvPr/>
        </p:nvSpPr>
        <p:spPr>
          <a:xfrm>
            <a:off x="10845800" y="2438400"/>
            <a:ext cx="6604000" cy="3327400"/>
          </a:xfrm>
          <a:prstGeom prst="rect">
            <a:avLst/>
          </a:prstGeom>
          <a:solidFill>
            <a:srgbClr val="F4F6FA"/>
          </a:solidFill>
          <a:ln>
            <a:noFill/>
          </a:ln>
        </p:spPr>
        <p:txBody>
          <a:bodyPr wrap="square" lIns="101600" tIns="101600" rIns="101600" bIns="101600" anchor="t">
            <a:normAutofit/>
          </a:bodyPr>
          <a:lstStyle/>
          <a:p>
            <a:endParaRPr lang="en-US"/>
          </a:p>
        </p:txBody>
      </p:sp>
      <p:sp>
        <p:nvSpPr>
          <p:cNvPr id="111" name="Shape 111"/>
          <p:cNvSpPr/>
          <p:nvPr/>
        </p:nvSpPr>
        <p:spPr>
          <a:xfrm>
            <a:off x="10845800" y="2438400"/>
            <a:ext cx="6604000" cy="76200"/>
          </a:xfrm>
          <a:prstGeom prst="rect">
            <a:avLst/>
          </a:prstGeom>
          <a:solidFill>
            <a:srgbClr val="E40046"/>
          </a:solidFill>
          <a:ln>
            <a:noFill/>
          </a:ln>
        </p:spPr>
        <p:txBody>
          <a:bodyPr wrap="square" lIns="101600" tIns="101600" rIns="101600" bIns="101600" anchor="t">
            <a:normAutofit fontScale="25000" lnSpcReduction="20000"/>
          </a:bodyPr>
          <a:lstStyle/>
          <a:p>
            <a:endParaRPr lang="en-US"/>
          </a:p>
        </p:txBody>
      </p:sp>
      <p:sp>
        <p:nvSpPr>
          <p:cNvPr id="112" name="Shape 112"/>
          <p:cNvSpPr/>
          <p:nvPr/>
        </p:nvSpPr>
        <p:spPr>
          <a:xfrm>
            <a:off x="11150600" y="2692400"/>
            <a:ext cx="6096000" cy="2946400"/>
          </a:xfrm>
          <a:prstGeom prst="rect">
            <a:avLst/>
          </a:prstGeom>
          <a:noFill/>
          <a:ln>
            <a:noFill/>
          </a:ln>
        </p:spPr>
        <p:txBody>
          <a:bodyPr wrap="square" lIns="0" tIns="0" rIns="0" bIns="0" anchor="t">
            <a:normAutofit/>
          </a:bodyPr>
          <a:lstStyle/>
          <a:p>
            <a:pPr>
              <a:buNone/>
            </a:pPr>
            <a:r>
              <a:rPr lang="en-US" sz="1500" b="1" spc="200" dirty="0">
                <a:solidFill>
                  <a:srgbClr val="E40046"/>
                </a:solidFill>
                <a:latin typeface="Frutiger"/>
                <a:cs typeface="Frutiger"/>
              </a:rPr>
              <a:t>WHERE THE SQL EXECUTES</a:t>
            </a:r>
          </a:p>
          <a:p>
            <a:pPr>
              <a:spcBef>
                <a:spcPts val="200"/>
              </a:spcBef>
              <a:buNone/>
            </a:pPr>
            <a:r>
              <a:rPr lang="en-US" sz="2800" b="1" dirty="0">
                <a:solidFill>
                  <a:srgbClr val="001F6B"/>
                </a:solidFill>
                <a:latin typeface="Frutiger"/>
                <a:cs typeface="Frutiger"/>
              </a:rPr>
              <a:t>Your data platform</a:t>
            </a:r>
          </a:p>
          <a:p>
            <a:pPr>
              <a:spcBef>
                <a:spcPts val="200"/>
              </a:spcBef>
              <a:buNone/>
            </a:pPr>
            <a:r>
              <a:rPr lang="en-US" sz="1900" dirty="0">
                <a:solidFill>
                  <a:srgbClr val="667780"/>
                </a:solidFill>
                <a:latin typeface="Frutiger"/>
                <a:cs typeface="Frutiger"/>
              </a:rPr>
              <a:t>Fabric Warehouse · Fabric Lakehouse (Spark) · Fabric SQL database · Azure SQL / SQL Server</a:t>
            </a:r>
          </a:p>
          <a:p>
            <a:pPr marL="279400" indent="-279400">
              <a:lnSpc>
                <a:spcPct val="104000"/>
              </a:lnSpc>
              <a:spcBef>
                <a:spcPts val="700"/>
              </a:spcBef>
              <a:buClr>
                <a:srgbClr val="E40046"/>
              </a:buClr>
              <a:buFont typeface="Arial"/>
              <a:buChar char="•"/>
            </a:pPr>
            <a:r>
              <a:rPr lang="en-US" sz="2000" dirty="0">
                <a:solidFill>
                  <a:srgbClr val="364750"/>
                </a:solidFill>
                <a:latin typeface="Frutiger"/>
                <a:cs typeface="Frutiger"/>
              </a:rPr>
              <a:t>Runs the compiled SQL where the data already lives</a:t>
            </a:r>
          </a:p>
          <a:p>
            <a:pPr marL="279400" indent="-279400">
              <a:lnSpc>
                <a:spcPct val="104000"/>
              </a:lnSpc>
              <a:spcBef>
                <a:spcPts val="700"/>
              </a:spcBef>
              <a:buClr>
                <a:srgbClr val="E40046"/>
              </a:buClr>
              <a:buFont typeface="Arial"/>
              <a:buChar char="•"/>
            </a:pPr>
            <a:r>
              <a:rPr lang="en-US" sz="2000" dirty="0">
                <a:solidFill>
                  <a:srgbClr val="364750"/>
                </a:solidFill>
                <a:latin typeface="Frutiger"/>
                <a:cs typeface="Frutiger"/>
              </a:rPr>
              <a:t>Builds the views and tables</a:t>
            </a:r>
          </a:p>
          <a:p>
            <a:pPr marL="279400" indent="-279400">
              <a:lnSpc>
                <a:spcPct val="104000"/>
              </a:lnSpc>
              <a:spcBef>
                <a:spcPts val="700"/>
              </a:spcBef>
              <a:buClr>
                <a:srgbClr val="E40046"/>
              </a:buClr>
              <a:buFont typeface="Arial"/>
              <a:buChar char="•"/>
            </a:pPr>
            <a:r>
              <a:rPr lang="en-US" sz="2000" dirty="0">
                <a:solidFill>
                  <a:srgbClr val="364750"/>
                </a:solidFill>
                <a:latin typeface="Frutiger"/>
                <a:cs typeface="Frutiger"/>
              </a:rPr>
              <a:t>Stores the results — nothing is copied to the dbt host</a:t>
            </a:r>
          </a:p>
          <a:p>
            <a:pPr marL="279400" indent="-279400">
              <a:lnSpc>
                <a:spcPct val="104000"/>
              </a:lnSpc>
              <a:spcBef>
                <a:spcPts val="700"/>
              </a:spcBef>
              <a:buClr>
                <a:srgbClr val="E40046"/>
              </a:buClr>
              <a:buFont typeface="Arial"/>
              <a:buChar char="•"/>
            </a:pPr>
            <a:r>
              <a:rPr lang="en-US" sz="2000" dirty="0">
                <a:solidFill>
                  <a:srgbClr val="364750"/>
                </a:solidFill>
                <a:latin typeface="Frutiger"/>
                <a:cs typeface="Frutiger"/>
              </a:rPr>
              <a:t>Does the heavy lifting; dbt does the coordinating</a:t>
            </a:r>
          </a:p>
        </p:txBody>
      </p:sp>
      <p:cxnSp>
        <p:nvCxnSpPr>
          <p:cNvPr id="120" name="Line 120"/>
          <p:cNvCxnSpPr/>
          <p:nvPr/>
        </p:nvCxnSpPr>
        <p:spPr>
          <a:xfrm>
            <a:off x="7569200" y="3975100"/>
            <a:ext cx="3149600" cy="0"/>
          </a:xfrm>
          <a:prstGeom prst="line">
            <a:avLst/>
          </a:prstGeom>
          <a:ln w="38100">
            <a:solidFill>
              <a:srgbClr val="001F6B"/>
            </a:solidFill>
            <a:tailEnd type="triangle" w="med" len="med"/>
          </a:ln>
        </p:spPr>
      </p:cxnSp>
      <p:cxnSp>
        <p:nvCxnSpPr>
          <p:cNvPr id="121" name="Line 121"/>
          <p:cNvCxnSpPr/>
          <p:nvPr/>
        </p:nvCxnSpPr>
        <p:spPr>
          <a:xfrm flipH="1">
            <a:off x="7569200" y="4533900"/>
            <a:ext cx="3149600" cy="0"/>
          </a:xfrm>
          <a:prstGeom prst="line">
            <a:avLst/>
          </a:prstGeom>
          <a:ln w="25400">
            <a:solidFill>
              <a:srgbClr val="667780"/>
            </a:solidFill>
            <a:prstDash val="dash"/>
            <a:tailEnd type="triangle" w="med" len="med"/>
          </a:ln>
        </p:spPr>
      </p:cxnSp>
      <p:sp>
        <p:nvSpPr>
          <p:cNvPr id="122" name="Shape 122"/>
          <p:cNvSpPr/>
          <p:nvPr/>
        </p:nvSpPr>
        <p:spPr>
          <a:xfrm>
            <a:off x="8128000" y="3238500"/>
            <a:ext cx="2032000" cy="533400"/>
          </a:xfrm>
          <a:prstGeom prst="roundRect">
            <a:avLst>
              <a:gd name="adj" fmla="val 50000"/>
            </a:avLst>
          </a:prstGeom>
          <a:solidFill>
            <a:srgbClr val="FFFFFF"/>
          </a:solidFill>
          <a:ln w="19050">
            <a:solidFill>
              <a:srgbClr val="001F6B"/>
            </a:solidFill>
          </a:ln>
        </p:spPr>
        <p:txBody>
          <a:bodyPr wrap="square" lIns="0" tIns="0" rIns="0" bIns="0" anchor="ctr">
            <a:normAutofit/>
          </a:bodyPr>
          <a:lstStyle/>
          <a:p>
            <a:pPr algn="ctr">
              <a:buNone/>
            </a:pPr>
            <a:r>
              <a:rPr lang="en-US" sz="2000" b="1" dirty="0">
                <a:solidFill>
                  <a:srgbClr val="001F6B"/>
                </a:solidFill>
                <a:latin typeface="Frutiger"/>
                <a:cs typeface="Frutiger"/>
              </a:rPr>
              <a:t>adapter</a:t>
            </a:r>
          </a:p>
        </p:txBody>
      </p:sp>
      <p:sp>
        <p:nvSpPr>
          <p:cNvPr id="123" name="Shape 123"/>
          <p:cNvSpPr/>
          <p:nvPr/>
        </p:nvSpPr>
        <p:spPr>
          <a:xfrm>
            <a:off x="7569200" y="4051300"/>
            <a:ext cx="3149600" cy="431800"/>
          </a:xfrm>
          <a:prstGeom prst="rect">
            <a:avLst/>
          </a:prstGeom>
          <a:noFill/>
          <a:ln>
            <a:noFill/>
          </a:ln>
        </p:spPr>
        <p:txBody>
          <a:bodyPr wrap="square" lIns="0" tIns="0" rIns="0" bIns="0" anchor="ctr">
            <a:normAutofit/>
          </a:bodyPr>
          <a:lstStyle/>
          <a:p>
            <a:pPr algn="ctr">
              <a:buNone/>
            </a:pPr>
            <a:r>
              <a:rPr lang="en-US" sz="1800" dirty="0">
                <a:solidFill>
                  <a:srgbClr val="001F6B"/>
                </a:solidFill>
                <a:latin typeface="Frutiger"/>
                <a:cs typeface="Frutiger"/>
              </a:rPr>
              <a:t>compiled SQL  →</a:t>
            </a:r>
          </a:p>
        </p:txBody>
      </p:sp>
      <p:sp>
        <p:nvSpPr>
          <p:cNvPr id="124" name="Shape 124"/>
          <p:cNvSpPr/>
          <p:nvPr/>
        </p:nvSpPr>
        <p:spPr>
          <a:xfrm>
            <a:off x="7569200" y="4610100"/>
            <a:ext cx="3149600" cy="431800"/>
          </a:xfrm>
          <a:prstGeom prst="rect">
            <a:avLst/>
          </a:prstGeom>
          <a:noFill/>
          <a:ln>
            <a:noFill/>
          </a:ln>
        </p:spPr>
        <p:txBody>
          <a:bodyPr wrap="square" lIns="0" tIns="0" rIns="0" bIns="0" anchor="ctr">
            <a:normAutofit/>
          </a:bodyPr>
          <a:lstStyle/>
          <a:p>
            <a:pPr algn="ctr">
              <a:buNone/>
            </a:pPr>
            <a:r>
              <a:rPr lang="en-US" sz="1800" dirty="0">
                <a:solidFill>
                  <a:srgbClr val="667780"/>
                </a:solidFill>
                <a:latin typeface="Frutiger"/>
                <a:cs typeface="Frutiger"/>
              </a:rPr>
              <a:t>←  status, row counts, errors</a:t>
            </a:r>
          </a:p>
        </p:txBody>
      </p:sp>
      <p:sp>
        <p:nvSpPr>
          <p:cNvPr id="130" name="Shape 130"/>
          <p:cNvSpPr/>
          <p:nvPr/>
        </p:nvSpPr>
        <p:spPr>
          <a:xfrm>
            <a:off x="838200" y="6197600"/>
            <a:ext cx="50800" cy="1905000"/>
          </a:xfrm>
          <a:prstGeom prst="rect">
            <a:avLst/>
          </a:prstGeom>
          <a:solidFill>
            <a:srgbClr val="8E9DC5"/>
          </a:solidFill>
          <a:ln>
            <a:noFill/>
          </a:ln>
        </p:spPr>
        <p:txBody>
          <a:bodyPr wrap="square" lIns="101600" tIns="101600" rIns="101600" bIns="101600" anchor="t">
            <a:normAutofit/>
          </a:bodyPr>
          <a:lstStyle/>
          <a:p>
            <a:endParaRPr lang="en-US"/>
          </a:p>
        </p:txBody>
      </p:sp>
      <p:sp>
        <p:nvSpPr>
          <p:cNvPr id="131" name="Shape 131"/>
          <p:cNvSpPr/>
          <p:nvPr/>
        </p:nvSpPr>
        <p:spPr>
          <a:xfrm>
            <a:off x="1092200" y="6197600"/>
            <a:ext cx="5105400" cy="1905000"/>
          </a:xfrm>
          <a:prstGeom prst="rect">
            <a:avLst/>
          </a:prstGeom>
          <a:noFill/>
          <a:ln>
            <a:noFill/>
          </a:ln>
        </p:spPr>
        <p:txBody>
          <a:bodyPr wrap="square" lIns="0" tIns="0" rIns="0" bIns="0" anchor="t">
            <a:normAutofit/>
          </a:bodyPr>
          <a:lstStyle/>
          <a:p>
            <a:pPr>
              <a:buNone/>
            </a:pPr>
            <a:r>
              <a:rPr lang="en-US" sz="2200" b="1" dirty="0">
                <a:solidFill>
                  <a:srgbClr val="001F6B"/>
                </a:solidFill>
                <a:latin typeface="Frutiger"/>
                <a:cs typeface="Frutiger"/>
              </a:rPr>
              <a:t>Data stays put</a:t>
            </a:r>
          </a:p>
          <a:p>
            <a:pPr>
              <a:lnSpc>
                <a:spcPct val="108000"/>
              </a:lnSpc>
              <a:spcBef>
                <a:spcPts val="800"/>
              </a:spcBef>
              <a:buNone/>
            </a:pPr>
            <a:r>
              <a:rPr lang="en-US" sz="2000" dirty="0">
                <a:solidFill>
                  <a:srgbClr val="364750"/>
                </a:solidFill>
                <a:latin typeface="Frutiger"/>
                <a:cs typeface="Frutiger"/>
              </a:rPr>
              <a:t>The dbt host never receives the tables. It sends SQL and reads back status, so a laptop can drive a multi-terabyte Warehouse.</a:t>
            </a:r>
          </a:p>
        </p:txBody>
      </p:sp>
      <p:sp>
        <p:nvSpPr>
          <p:cNvPr id="132" name="Shape 132"/>
          <p:cNvSpPr/>
          <p:nvPr/>
        </p:nvSpPr>
        <p:spPr>
          <a:xfrm>
            <a:off x="6426200" y="6197600"/>
            <a:ext cx="50800" cy="1905000"/>
          </a:xfrm>
          <a:prstGeom prst="rect">
            <a:avLst/>
          </a:prstGeom>
          <a:solidFill>
            <a:srgbClr val="E40046"/>
          </a:solidFill>
          <a:ln>
            <a:noFill/>
          </a:ln>
        </p:spPr>
        <p:txBody>
          <a:bodyPr wrap="square" lIns="101600" tIns="101600" rIns="101600" bIns="101600" anchor="t">
            <a:normAutofit/>
          </a:bodyPr>
          <a:lstStyle/>
          <a:p>
            <a:endParaRPr lang="en-US"/>
          </a:p>
        </p:txBody>
      </p:sp>
      <p:sp>
        <p:nvSpPr>
          <p:cNvPr id="133" name="Shape 133"/>
          <p:cNvSpPr/>
          <p:nvPr/>
        </p:nvSpPr>
        <p:spPr>
          <a:xfrm>
            <a:off x="6680200" y="6197600"/>
            <a:ext cx="5105400" cy="1905000"/>
          </a:xfrm>
          <a:prstGeom prst="rect">
            <a:avLst/>
          </a:prstGeom>
          <a:noFill/>
          <a:ln>
            <a:noFill/>
          </a:ln>
        </p:spPr>
        <p:txBody>
          <a:bodyPr wrap="square" lIns="0" tIns="0" rIns="0" bIns="0" anchor="t">
            <a:normAutofit/>
          </a:bodyPr>
          <a:lstStyle/>
          <a:p>
            <a:pPr>
              <a:buNone/>
            </a:pPr>
            <a:r>
              <a:rPr lang="en-US" sz="2200" b="1" dirty="0">
                <a:solidFill>
                  <a:srgbClr val="001F6B"/>
                </a:solidFill>
                <a:latin typeface="Frutiger"/>
                <a:cs typeface="Frutiger"/>
              </a:rPr>
              <a:t>Move the host, keep the SQL</a:t>
            </a:r>
          </a:p>
          <a:p>
            <a:pPr>
              <a:lnSpc>
                <a:spcPct val="108000"/>
              </a:lnSpc>
              <a:spcBef>
                <a:spcPts val="800"/>
              </a:spcBef>
              <a:buNone/>
            </a:pPr>
            <a:r>
              <a:rPr lang="en-US" sz="2000" dirty="0">
                <a:solidFill>
                  <a:srgbClr val="364750"/>
                </a:solidFill>
                <a:latin typeface="Frutiger"/>
                <a:cs typeface="Frutiger"/>
              </a:rPr>
              <a:t>Going from laptop to build agent changes identity, network and credentials — not one line of model code.</a:t>
            </a:r>
          </a:p>
        </p:txBody>
      </p:sp>
      <p:sp>
        <p:nvSpPr>
          <p:cNvPr id="134" name="Shape 134"/>
          <p:cNvSpPr/>
          <p:nvPr/>
        </p:nvSpPr>
        <p:spPr>
          <a:xfrm>
            <a:off x="12014200" y="6197600"/>
            <a:ext cx="50800" cy="1905000"/>
          </a:xfrm>
          <a:prstGeom prst="rect">
            <a:avLst/>
          </a:prstGeom>
          <a:solidFill>
            <a:srgbClr val="8E9DC5"/>
          </a:solidFill>
          <a:ln>
            <a:noFill/>
          </a:ln>
        </p:spPr>
        <p:txBody>
          <a:bodyPr wrap="square" lIns="101600" tIns="101600" rIns="101600" bIns="101600" anchor="t">
            <a:normAutofit/>
          </a:bodyPr>
          <a:lstStyle/>
          <a:p>
            <a:endParaRPr lang="en-US"/>
          </a:p>
        </p:txBody>
      </p:sp>
      <p:sp>
        <p:nvSpPr>
          <p:cNvPr id="135" name="Shape 135"/>
          <p:cNvSpPr/>
          <p:nvPr/>
        </p:nvSpPr>
        <p:spPr>
          <a:xfrm>
            <a:off x="12268200" y="6197600"/>
            <a:ext cx="5105400" cy="1905000"/>
          </a:xfrm>
          <a:prstGeom prst="rect">
            <a:avLst/>
          </a:prstGeom>
          <a:noFill/>
          <a:ln>
            <a:noFill/>
          </a:ln>
        </p:spPr>
        <p:txBody>
          <a:bodyPr wrap="square" lIns="0" tIns="0" rIns="0" bIns="0" anchor="t">
            <a:normAutofit/>
          </a:bodyPr>
          <a:lstStyle/>
          <a:p>
            <a:pPr>
              <a:buNone/>
            </a:pPr>
            <a:r>
              <a:rPr lang="en-US" sz="2200" b="1" dirty="0">
                <a:solidFill>
                  <a:srgbClr val="001F6B"/>
                </a:solidFill>
                <a:latin typeface="Frutiger"/>
                <a:cs typeface="Frutiger"/>
              </a:rPr>
              <a:t>The adapter is the translator</a:t>
            </a:r>
          </a:p>
          <a:p>
            <a:pPr>
              <a:lnSpc>
                <a:spcPct val="108000"/>
              </a:lnSpc>
              <a:spcBef>
                <a:spcPts val="800"/>
              </a:spcBef>
              <a:buNone/>
            </a:pPr>
            <a:r>
              <a:rPr lang="en-US" sz="2000" dirty="0">
                <a:solidFill>
                  <a:srgbClr val="364750"/>
                </a:solidFill>
                <a:latin typeface="Frutiger"/>
                <a:cs typeface="Frutiger"/>
              </a:rPr>
              <a:t>dbt-fabric, dbt-fabricspark and dbt-sqlserver turn one project into T-SQL or Spark SQL for the target you pick.</a:t>
            </a:r>
          </a:p>
        </p:txBody>
      </p:sp>
    </p:spTree>
    <p:extLst>
      <p:ext uri="{BB962C8B-B14F-4D97-AF65-F5344CB8AC3E}">
        <p14:creationId xmlns:p14="http://schemas.microsoft.com/office/powerpoint/2010/main" val="1383063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4EC90D35-304A-4ED8-BF67-87162AFBE388}"/>
              </a:ext>
            </a:extLst>
          </p:cNvPr>
          <p:cNvSpPr>
            <a:spLocks noGrp="1"/>
          </p:cNvSpPr>
          <p:nvPr/>
        </p:nvSpPr>
        <p:spPr>
          <a:xfrm>
            <a:off x="838201" y="963812"/>
            <a:ext cx="15240000" cy="640407"/>
          </a:xfrm>
          <a:prstGeom prst="rect">
            <a:avLst/>
          </a:prstGeom>
          <a:noFill/>
        </p:spPr>
        <p:txBody>
          <a:bodyPr wrap="square" lIns="25401" tIns="25401" rIns="25401" bIns="25401" anchor="t">
            <a:normAutofit/>
          </a:bodyPr>
          <a:lstStyle/>
          <a:p>
            <a:pPr>
              <a:lnSpc>
                <a:spcPct val="79050"/>
              </a:lnSpc>
              <a:buNone/>
            </a:pPr>
            <a:r>
              <a:rPr sz="4651" b="1" spc="-69" dirty="0">
                <a:solidFill>
                  <a:srgbClr val="001F6B"/>
                </a:solidFill>
                <a:latin typeface="Frutiger"/>
                <a:ea typeface="Frutiger"/>
                <a:cs typeface="Frutiger"/>
              </a:rPr>
              <a:t>dbt Core, adapters and managed options</a:t>
            </a:r>
            <a:endParaRPr sz="4651" dirty="0"/>
          </a:p>
        </p:txBody>
      </p:sp>
      <p:pic>
        <p:nvPicPr>
          <p:cNvPr id="32" name="Image 0"/>
          <p:cNvPicPr>
            <a:picLocks noChangeAspect="1"/>
          </p:cNvPicPr>
          <p:nvPr/>
        </p:nvPicPr>
        <p:blipFill>
          <a:blip r:embed="rId3"/>
          <a:srcRect t="-5" b="-5"/>
          <a:stretch/>
        </p:blipFill>
        <p:spPr>
          <a:xfrm>
            <a:off x="16412620" y="571500"/>
            <a:ext cx="1037182" cy="514350"/>
          </a:xfrm>
          <a:prstGeom prst="rect">
            <a:avLst/>
          </a:prstGeom>
        </p:spPr>
      </p:pic>
      <p:sp>
        <p:nvSpPr>
          <p:cNvPr id="5" name="Shape 2">
            <a:extLst>
              <a:ext uri="{FF2B5EF4-FFF2-40B4-BE49-F238E27FC236}">
                <a16:creationId xmlns:a16="http://schemas.microsoft.com/office/drawing/2014/main" id="{619AE5D7-7CB4-4BEA-BB3F-D06573D3768F}"/>
              </a:ext>
            </a:extLst>
          </p:cNvPr>
          <p:cNvSpPr>
            <a:spLocks noGrp="1"/>
          </p:cNvSpPr>
          <p:nvPr/>
        </p:nvSpPr>
        <p:spPr>
          <a:xfrm>
            <a:off x="838202" y="1813769"/>
            <a:ext cx="16611600" cy="28574"/>
          </a:xfrm>
          <a:prstGeom prst="rect">
            <a:avLst/>
          </a:prstGeom>
          <a:solidFill>
            <a:srgbClr val="FF0000"/>
          </a:solidFill>
        </p:spPr>
        <p:txBody>
          <a:bodyPr/>
          <a:lstStyle/>
          <a:p>
            <a:endParaRPr sz="1801"/>
          </a:p>
        </p:txBody>
      </p:sp>
      <p:sp>
        <p:nvSpPr>
          <p:cNvPr id="6" name="Shape 3">
            <a:extLst>
              <a:ext uri="{FF2B5EF4-FFF2-40B4-BE49-F238E27FC236}">
                <a16:creationId xmlns:a16="http://schemas.microsoft.com/office/drawing/2014/main" id="{4913CC0E-0FDB-4091-96BC-623E005C1433}"/>
              </a:ext>
            </a:extLst>
          </p:cNvPr>
          <p:cNvSpPr>
            <a:spLocks noGrp="1"/>
          </p:cNvSpPr>
          <p:nvPr/>
        </p:nvSpPr>
        <p:spPr>
          <a:xfrm>
            <a:off x="838202" y="1880445"/>
            <a:ext cx="16611600" cy="28574"/>
          </a:xfrm>
          <a:prstGeom prst="rect">
            <a:avLst/>
          </a:prstGeom>
          <a:solidFill>
            <a:srgbClr val="3649A8"/>
          </a:solidFill>
        </p:spPr>
        <p:txBody>
          <a:bodyPr/>
          <a:lstStyle/>
          <a:p>
            <a:endParaRPr sz="1801"/>
          </a:p>
        </p:txBody>
      </p:sp>
      <p:sp>
        <p:nvSpPr>
          <p:cNvPr id="25" name="Shape 22">
            <a:extLst>
              <a:ext uri="{FF2B5EF4-FFF2-40B4-BE49-F238E27FC236}">
                <a16:creationId xmlns:a16="http://schemas.microsoft.com/office/drawing/2014/main" id="{B765AE01-8B3A-4F2B-9234-E1B2735FE6D0}"/>
              </a:ext>
            </a:extLst>
          </p:cNvPr>
          <p:cNvSpPr>
            <a:spLocks noGrp="1"/>
          </p:cNvSpPr>
          <p:nvPr/>
        </p:nvSpPr>
        <p:spPr>
          <a:xfrm>
            <a:off x="838202" y="9294615"/>
            <a:ext cx="16611600" cy="9525"/>
          </a:xfrm>
          <a:prstGeom prst="rect">
            <a:avLst/>
          </a:prstGeom>
          <a:solidFill>
            <a:srgbClr val="E2E7EB"/>
          </a:solidFill>
        </p:spPr>
        <p:txBody>
          <a:bodyPr/>
          <a:lstStyle/>
          <a:p>
            <a:endParaRPr sz="1801"/>
          </a:p>
        </p:txBody>
      </p:sp>
      <p:sp>
        <p:nvSpPr>
          <p:cNvPr id="26" name="Text 23">
            <a:extLst>
              <a:ext uri="{FF2B5EF4-FFF2-40B4-BE49-F238E27FC236}">
                <a16:creationId xmlns:a16="http://schemas.microsoft.com/office/drawing/2014/main" id="{5C5AFE6D-27B1-4C09-BBBE-19FE36BD27C8}"/>
              </a:ext>
            </a:extLst>
          </p:cNvPr>
          <p:cNvSpPr>
            <a:spLocks noGrp="1"/>
          </p:cNvSpPr>
          <p:nvPr/>
        </p:nvSpPr>
        <p:spPr>
          <a:xfrm>
            <a:off x="838201" y="9513691"/>
            <a:ext cx="7461945" cy="392311"/>
          </a:xfrm>
          <a:prstGeom prst="rect">
            <a:avLst/>
          </a:prstGeom>
          <a:noFill/>
        </p:spPr>
        <p:txBody>
          <a:bodyPr wrap="square" lIns="25401" tIns="25401" rIns="25401" bIns="25401" anchor="t">
            <a:normAutofit/>
          </a:bodyPr>
          <a:lstStyle/>
          <a:p>
            <a:pPr>
              <a:lnSpc>
                <a:spcPct val="124000"/>
              </a:lnSpc>
              <a:buNone/>
            </a:pPr>
            <a:r>
              <a:rPr sz="1801" dirty="0">
                <a:solidFill>
                  <a:srgbClr val="667780"/>
                </a:solidFill>
                <a:latin typeface="Frutiger"/>
                <a:ea typeface="Frutiger"/>
                <a:cs typeface="Frutiger"/>
              </a:rPr>
              <a:t>Getting started with dbt</a:t>
            </a:r>
            <a:endParaRPr sz="1801" dirty="0"/>
          </a:p>
        </p:txBody>
      </p:sp>
      <p:sp>
        <p:nvSpPr>
          <p:cNvPr id="28" name="Text 25">
            <a:extLst>
              <a:ext uri="{FF2B5EF4-FFF2-40B4-BE49-F238E27FC236}">
                <a16:creationId xmlns:a16="http://schemas.microsoft.com/office/drawing/2014/main" id="{E1A6A13E-D079-4787-BA2C-26179E45E0AB}"/>
              </a:ext>
            </a:extLst>
          </p:cNvPr>
          <p:cNvSpPr>
            <a:spLocks noGrp="1"/>
          </p:cNvSpPr>
          <p:nvPr/>
        </p:nvSpPr>
        <p:spPr>
          <a:xfrm>
            <a:off x="9987856" y="9513691"/>
            <a:ext cx="7461945" cy="392311"/>
          </a:xfrm>
          <a:prstGeom prst="rect">
            <a:avLst/>
          </a:prstGeom>
          <a:noFill/>
        </p:spPr>
        <p:txBody>
          <a:bodyPr wrap="square" lIns="25401" tIns="25401" rIns="25401" bIns="25401" anchor="t">
            <a:normAutofit/>
          </a:bodyPr>
          <a:lstStyle/>
          <a:p>
            <a:pPr algn="r">
              <a:lnSpc>
                <a:spcPct val="124000"/>
              </a:lnSpc>
              <a:buNone/>
            </a:pPr>
            <a:r>
              <a:rPr lang="en-US" sz="1801">
                <a:solidFill>
                  <a:srgbClr val="667780"/>
                </a:solidFill>
                <a:latin typeface="Frutiger"/>
                <a:ea typeface="Frutiger"/>
                <a:cs typeface="Frutiger"/>
              </a:rPr>
              <a:t>05</a:t>
            </a:r>
            <a:endParaRPr sz="1801"/>
          </a:p>
        </p:txBody>
      </p:sp>
      <p:graphicFrame>
        <p:nvGraphicFramePr>
          <p:cNvPr id="100" name="Table 100"/>
          <p:cNvGraphicFramePr>
            <a:graphicFrameLocks noGrp="1"/>
          </p:cNvGraphicFramePr>
          <p:nvPr/>
        </p:nvGraphicFramePr>
        <p:xfrm>
          <a:off x="838200" y="2362200"/>
          <a:ext cx="16611600" cy="5435600"/>
        </p:xfrm>
        <a:graphic>
          <a:graphicData uri="http://schemas.openxmlformats.org/drawingml/2006/table">
            <a:tbl>
              <a:tblPr/>
              <a:tblGrid>
                <a:gridCol w="2159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175000">
                  <a:extLst>
                    <a:ext uri="{9D8B030D-6E8A-4147-A177-3AD203B41FA5}">
                      <a16:colId xmlns:a16="http://schemas.microsoft.com/office/drawing/2014/main" val="20002"/>
                    </a:ext>
                  </a:extLst>
                </a:gridCol>
                <a:gridCol w="1651000">
                  <a:extLst>
                    <a:ext uri="{9D8B030D-6E8A-4147-A177-3AD203B41FA5}">
                      <a16:colId xmlns:a16="http://schemas.microsoft.com/office/drawing/2014/main" val="20003"/>
                    </a:ext>
                  </a:extLst>
                </a:gridCol>
                <a:gridCol w="5054600">
                  <a:extLst>
                    <a:ext uri="{9D8B030D-6E8A-4147-A177-3AD203B41FA5}">
                      <a16:colId xmlns:a16="http://schemas.microsoft.com/office/drawing/2014/main" val="20004"/>
                    </a:ext>
                  </a:extLst>
                </a:gridCol>
              </a:tblGrid>
              <a:tr h="558800">
                <a:tc>
                  <a:txBody>
                    <a:bodyPr/>
                    <a:lstStyle/>
                    <a:p>
                      <a:pPr algn="l">
                        <a:buNone/>
                      </a:pPr>
                      <a:endParaRP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001F6B"/>
                    </a:solidFill>
                  </a:tcPr>
                </a:tc>
                <a:tc>
                  <a:txBody>
                    <a:bodyPr/>
                    <a:lstStyle/>
                    <a:p>
                      <a:pPr algn="l">
                        <a:buNone/>
                      </a:pPr>
                      <a:r>
                        <a:rPr lang="en-US" sz="1800" b="1" dirty="0">
                          <a:solidFill>
                            <a:srgbClr val="FFFFFF"/>
                          </a:solidFill>
                          <a:latin typeface="Frutiger"/>
                          <a:cs typeface="Frutiger"/>
                        </a:rPr>
                        <a:t>What it is</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001F6B"/>
                    </a:solidFill>
                  </a:tcPr>
                </a:tc>
                <a:tc>
                  <a:txBody>
                    <a:bodyPr/>
                    <a:lstStyle/>
                    <a:p>
                      <a:pPr algn="l">
                        <a:buNone/>
                      </a:pPr>
                      <a:r>
                        <a:rPr lang="en-US" sz="1800" b="1" dirty="0">
                          <a:solidFill>
                            <a:srgbClr val="FFFFFF"/>
                          </a:solidFill>
                          <a:latin typeface="Frutiger"/>
                          <a:cs typeface="Frutiger"/>
                        </a:rPr>
                        <a:t>Who hosts it</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001F6B"/>
                    </a:solidFill>
                  </a:tcPr>
                </a:tc>
                <a:tc>
                  <a:txBody>
                    <a:bodyPr/>
                    <a:lstStyle/>
                    <a:p>
                      <a:pPr algn="l">
                        <a:buNone/>
                      </a:pPr>
                      <a:r>
                        <a:rPr lang="en-US" sz="1800" b="1" dirty="0">
                          <a:solidFill>
                            <a:srgbClr val="FFFFFF"/>
                          </a:solidFill>
                          <a:latin typeface="Frutiger"/>
                          <a:cs typeface="Frutiger"/>
                        </a:rPr>
                        <a:t>Used today?</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001F6B"/>
                    </a:solidFill>
                  </a:tcPr>
                </a:tc>
                <a:tc>
                  <a:txBody>
                    <a:bodyPr/>
                    <a:lstStyle/>
                    <a:p>
                      <a:pPr algn="l">
                        <a:buNone/>
                      </a:pPr>
                      <a:r>
                        <a:rPr lang="en-US" sz="1800" b="1" dirty="0">
                          <a:solidFill>
                            <a:srgbClr val="FFFFFF"/>
                          </a:solidFill>
                          <a:latin typeface="Frutiger"/>
                          <a:cs typeface="Frutiger"/>
                        </a:rPr>
                        <a:t>Keep in mind</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001F6B"/>
                    </a:solidFill>
                  </a:tcPr>
                </a:tc>
                <a:extLst>
                  <a:ext uri="{0D108BD9-81ED-4DB2-BD59-A6C34878D82A}">
                    <a16:rowId xmlns:a16="http://schemas.microsoft.com/office/drawing/2014/main" val="10000"/>
                  </a:ext>
                </a:extLst>
              </a:tr>
              <a:tr h="1219200">
                <a:tc>
                  <a:txBody>
                    <a:bodyPr/>
                    <a:lstStyle/>
                    <a:p>
                      <a:pPr algn="l">
                        <a:buNone/>
                      </a:pPr>
                      <a:r>
                        <a:rPr lang="en-US" sz="1900" b="1" dirty="0">
                          <a:solidFill>
                            <a:srgbClr val="001F6B"/>
                          </a:solidFill>
                          <a:latin typeface="Consolas"/>
                          <a:cs typeface="Consolas"/>
                        </a:rPr>
                        <a:t>dbt Core</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800" dirty="0">
                          <a:solidFill>
                            <a:srgbClr val="364750"/>
                          </a:solidFill>
                          <a:latin typeface="Frutiger"/>
                          <a:cs typeface="Frutiger"/>
                        </a:rPr>
                        <a:t>Open-source CLI: compile, build, test, docs</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800" dirty="0">
                          <a:solidFill>
                            <a:srgbClr val="364750"/>
                          </a:solidFill>
                          <a:latin typeface="Frutiger"/>
                          <a:cs typeface="Frutiger"/>
                        </a:rPr>
                        <a:t>You — laptop, agent, container, notebook</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800" dirty="0">
                          <a:solidFill>
                            <a:srgbClr val="364750"/>
                          </a:solidFill>
                          <a:latin typeface="Frutiger"/>
                          <a:cs typeface="Frutiger"/>
                        </a:rPr>
                        <a:t>Yes — every demo</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800" dirty="0">
                          <a:solidFill>
                            <a:srgbClr val="364750"/>
                          </a:solidFill>
                          <a:latin typeface="Frutiger"/>
                          <a:cs typeface="Frutiger"/>
                        </a:rPr>
                        <a:t>No subscription. You own scheduling, secrets, logs and upgrades.</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extLst>
                  <a:ext uri="{0D108BD9-81ED-4DB2-BD59-A6C34878D82A}">
                    <a16:rowId xmlns:a16="http://schemas.microsoft.com/office/drawing/2014/main" val="10001"/>
                  </a:ext>
                </a:extLst>
              </a:tr>
              <a:tr h="1219200">
                <a:tc>
                  <a:txBody>
                    <a:bodyPr/>
                    <a:lstStyle/>
                    <a:p>
                      <a:pPr algn="l">
                        <a:buNone/>
                      </a:pPr>
                      <a:r>
                        <a:rPr lang="en-US" sz="1900" b="1" dirty="0">
                          <a:solidFill>
                            <a:srgbClr val="001F6B"/>
                          </a:solidFill>
                          <a:latin typeface="Consolas"/>
                          <a:cs typeface="Consolas"/>
                        </a:rPr>
                        <a:t>Adapters</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800" dirty="0">
                          <a:solidFill>
                            <a:srgbClr val="364750"/>
                          </a:solidFill>
                          <a:latin typeface="Frutiger"/>
                          <a:cs typeface="Frutiger"/>
                        </a:rPr>
                        <a:t>Python packages that translate dbt to a platform: dbt-fabric, dbt-fabricspark, dbt-sqlserver</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800" dirty="0">
                          <a:solidFill>
                            <a:srgbClr val="364750"/>
                          </a:solidFill>
                          <a:latin typeface="Frutiger"/>
                          <a:cs typeface="Frutiger"/>
                        </a:rPr>
                        <a:t>Installed alongside Core</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800" dirty="0">
                          <a:solidFill>
                            <a:srgbClr val="364750"/>
                          </a:solidFill>
                          <a:latin typeface="Frutiger"/>
                          <a:cs typeface="Frutiger"/>
                        </a:rPr>
                        <a:t>Yes</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800" dirty="0">
                          <a:solidFill>
                            <a:srgbClr val="364750"/>
                          </a:solidFill>
                          <a:latin typeface="Frutiger"/>
                          <a:cs typeface="Frutiger"/>
                        </a:rPr>
                        <a:t>Each has its own version, maintainer and feature matrix. Pin them.</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extLst>
                  <a:ext uri="{0D108BD9-81ED-4DB2-BD59-A6C34878D82A}">
                    <a16:rowId xmlns:a16="http://schemas.microsoft.com/office/drawing/2014/main" val="10002"/>
                  </a:ext>
                </a:extLst>
              </a:tr>
              <a:tr h="1219200">
                <a:tc>
                  <a:txBody>
                    <a:bodyPr/>
                    <a:lstStyle/>
                    <a:p>
                      <a:pPr algn="l">
                        <a:buNone/>
                      </a:pPr>
                      <a:r>
                        <a:rPr lang="en-US" sz="1900" b="1" dirty="0">
                          <a:solidFill>
                            <a:srgbClr val="001F6B"/>
                          </a:solidFill>
                          <a:latin typeface="Consolas"/>
                          <a:cs typeface="Consolas"/>
                        </a:rPr>
                        <a:t>Managed dbt</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800" dirty="0">
                          <a:solidFill>
                            <a:srgbClr val="364750"/>
                          </a:solidFill>
                          <a:latin typeface="Frutiger"/>
                          <a:cs typeface="Frutiger"/>
                        </a:rPr>
                        <a:t>Hosted IDE, scheduler, docs hosting, environments, alerts</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800" dirty="0">
                          <a:solidFill>
                            <a:srgbClr val="364750"/>
                          </a:solidFill>
                          <a:latin typeface="Frutiger"/>
                          <a:cs typeface="Frutiger"/>
                        </a:rPr>
                        <a:t>dbt Labs</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800" dirty="0">
                          <a:solidFill>
                            <a:srgbClr val="364750"/>
                          </a:solidFill>
                          <a:latin typeface="Frutiger"/>
                          <a:cs typeface="Frutiger"/>
                        </a:rPr>
                        <a:t>No</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800" dirty="0">
                          <a:solidFill>
                            <a:srgbClr val="364750"/>
                          </a:solidFill>
                          <a:latin typeface="Frutiger"/>
                          <a:cs typeface="Frutiger"/>
                        </a:rPr>
                        <a:t>Adds workflow and governance features; a separate commercial decision. No pricing claims here.</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extLst>
                  <a:ext uri="{0D108BD9-81ED-4DB2-BD59-A6C34878D82A}">
                    <a16:rowId xmlns:a16="http://schemas.microsoft.com/office/drawing/2014/main" val="10003"/>
                  </a:ext>
                </a:extLst>
              </a:tr>
              <a:tr h="1219200">
                <a:tc>
                  <a:txBody>
                    <a:bodyPr/>
                    <a:lstStyle/>
                    <a:p>
                      <a:pPr algn="l">
                        <a:buNone/>
                      </a:pPr>
                      <a:r>
                        <a:rPr lang="en-US" sz="1900" b="1" dirty="0">
                          <a:solidFill>
                            <a:srgbClr val="001F6B"/>
                          </a:solidFill>
                          <a:latin typeface="Consolas"/>
                          <a:cs typeface="Consolas"/>
                        </a:rPr>
                        <a:t>Fusion engine</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800" dirty="0">
                          <a:solidFill>
                            <a:srgbClr val="364750"/>
                          </a:solidFill>
                          <a:latin typeface="Frutiger"/>
                          <a:cs typeface="Frutiger"/>
                        </a:rPr>
                        <a:t>Newer dbt runtime with its own feature and adapter coverage</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800" dirty="0">
                          <a:solidFill>
                            <a:srgbClr val="364750"/>
                          </a:solidFill>
                          <a:latin typeface="Frutiger"/>
                          <a:cs typeface="Frutiger"/>
                        </a:rPr>
                        <a:t>Varies</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800" dirty="0">
                          <a:solidFill>
                            <a:srgbClr val="364750"/>
                          </a:solidFill>
                          <a:latin typeface="Frutiger"/>
                          <a:cs typeface="Frutiger"/>
                        </a:rPr>
                        <a:t>No</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800" dirty="0">
                          <a:solidFill>
                            <a:srgbClr val="364750"/>
                          </a:solidFill>
                          <a:latin typeface="Frutiger"/>
                          <a:cs typeface="Frutiger"/>
                        </a:rPr>
                        <a:t>A Python adapter in a catalog is not evidence it runs everywhere. Check support before planning on it.</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extLst>
                  <a:ext uri="{0D108BD9-81ED-4DB2-BD59-A6C34878D82A}">
                    <a16:rowId xmlns:a16="http://schemas.microsoft.com/office/drawing/2014/main" val="10004"/>
                  </a:ext>
                </a:extLst>
              </a:tr>
            </a:tbl>
          </a:graphicData>
        </a:graphic>
      </p:graphicFrame>
      <p:sp>
        <p:nvSpPr>
          <p:cNvPr id="110" name="Shape 110"/>
          <p:cNvSpPr/>
          <p:nvPr/>
        </p:nvSpPr>
        <p:spPr>
          <a:xfrm>
            <a:off x="838200" y="8255000"/>
            <a:ext cx="16611600" cy="838200"/>
          </a:xfrm>
          <a:prstGeom prst="rect">
            <a:avLst/>
          </a:prstGeom>
          <a:solidFill>
            <a:srgbClr val="F4F6FA"/>
          </a:solidFill>
          <a:ln>
            <a:noFill/>
          </a:ln>
        </p:spPr>
        <p:txBody>
          <a:bodyPr wrap="square" lIns="228600" tIns="50800" rIns="228600" bIns="50800" anchor="ctr">
            <a:normAutofit/>
          </a:bodyPr>
          <a:lstStyle/>
          <a:p>
            <a:pPr>
              <a:buNone/>
            </a:pPr>
            <a:r>
              <a:rPr lang="en-US" sz="2000" b="1" dirty="0">
                <a:solidFill>
                  <a:srgbClr val="001F6B"/>
                </a:solidFill>
                <a:latin typeface="Frutiger"/>
                <a:cs typeface="Frutiger"/>
              </a:rPr>
              <a:t>Rule of thumb: </a:t>
            </a:r>
            <a:r>
              <a:rPr lang="en-US" sz="1900" dirty="0">
                <a:solidFill>
                  <a:srgbClr val="364750"/>
                </a:solidFill>
                <a:latin typeface="Frutiger"/>
                <a:cs typeface="Frutiger"/>
              </a:rPr>
              <a:t>learn the workflow on Core with the adapter for the platform you already run. Everything you build — models, tests, docs, Git history — carries forward whichever runtime or hosting you choose later.</a:t>
            </a:r>
          </a:p>
        </p:txBody>
      </p:sp>
    </p:spTree>
    <p:extLst>
      <p:ext uri="{BB962C8B-B14F-4D97-AF65-F5344CB8AC3E}">
        <p14:creationId xmlns:p14="http://schemas.microsoft.com/office/powerpoint/2010/main" val="189493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4EC90D35-304A-4ED8-BF67-87162AFBE388}"/>
              </a:ext>
            </a:extLst>
          </p:cNvPr>
          <p:cNvSpPr>
            <a:spLocks noGrp="1"/>
          </p:cNvSpPr>
          <p:nvPr/>
        </p:nvSpPr>
        <p:spPr>
          <a:xfrm>
            <a:off x="838201" y="963812"/>
            <a:ext cx="15240000" cy="640407"/>
          </a:xfrm>
          <a:prstGeom prst="rect">
            <a:avLst/>
          </a:prstGeom>
          <a:noFill/>
        </p:spPr>
        <p:txBody>
          <a:bodyPr wrap="square" lIns="25401" tIns="25401" rIns="25401" bIns="25401" anchor="t">
            <a:normAutofit/>
          </a:bodyPr>
          <a:lstStyle/>
          <a:p>
            <a:pPr>
              <a:lnSpc>
                <a:spcPct val="79050"/>
              </a:lnSpc>
              <a:buNone/>
            </a:pPr>
            <a:r>
              <a:rPr lang="en-US" sz="4651" b="1" spc="-69" dirty="0">
                <a:solidFill>
                  <a:srgbClr val="001F6B"/>
                </a:solidFill>
                <a:latin typeface="Frutiger"/>
              </a:rPr>
              <a:t>dbt terminology</a:t>
            </a:r>
            <a:endParaRPr sz="4651" dirty="0"/>
          </a:p>
        </p:txBody>
      </p:sp>
      <p:pic>
        <p:nvPicPr>
          <p:cNvPr id="32" name="Image 0"/>
          <p:cNvPicPr>
            <a:picLocks noChangeAspect="1"/>
          </p:cNvPicPr>
          <p:nvPr/>
        </p:nvPicPr>
        <p:blipFill>
          <a:blip r:embed="rId3"/>
          <a:srcRect t="-5" b="-5"/>
          <a:stretch/>
        </p:blipFill>
        <p:spPr>
          <a:xfrm>
            <a:off x="16412620" y="571500"/>
            <a:ext cx="1037182" cy="514350"/>
          </a:xfrm>
          <a:prstGeom prst="rect">
            <a:avLst/>
          </a:prstGeom>
        </p:spPr>
      </p:pic>
      <p:sp>
        <p:nvSpPr>
          <p:cNvPr id="5" name="Shape 2">
            <a:extLst>
              <a:ext uri="{FF2B5EF4-FFF2-40B4-BE49-F238E27FC236}">
                <a16:creationId xmlns:a16="http://schemas.microsoft.com/office/drawing/2014/main" id="{619AE5D7-7CB4-4BEA-BB3F-D06573D3768F}"/>
              </a:ext>
            </a:extLst>
          </p:cNvPr>
          <p:cNvSpPr>
            <a:spLocks noGrp="1"/>
          </p:cNvSpPr>
          <p:nvPr/>
        </p:nvSpPr>
        <p:spPr>
          <a:xfrm>
            <a:off x="838202" y="1813769"/>
            <a:ext cx="16611600" cy="28574"/>
          </a:xfrm>
          <a:prstGeom prst="rect">
            <a:avLst/>
          </a:prstGeom>
          <a:solidFill>
            <a:srgbClr val="FF0000"/>
          </a:solidFill>
        </p:spPr>
        <p:txBody>
          <a:bodyPr/>
          <a:lstStyle/>
          <a:p>
            <a:endParaRPr sz="1801"/>
          </a:p>
        </p:txBody>
      </p:sp>
      <p:sp>
        <p:nvSpPr>
          <p:cNvPr id="6" name="Shape 3">
            <a:extLst>
              <a:ext uri="{FF2B5EF4-FFF2-40B4-BE49-F238E27FC236}">
                <a16:creationId xmlns:a16="http://schemas.microsoft.com/office/drawing/2014/main" id="{4913CC0E-0FDB-4091-96BC-623E005C1433}"/>
              </a:ext>
            </a:extLst>
          </p:cNvPr>
          <p:cNvSpPr>
            <a:spLocks noGrp="1"/>
          </p:cNvSpPr>
          <p:nvPr/>
        </p:nvSpPr>
        <p:spPr>
          <a:xfrm>
            <a:off x="838202" y="1880445"/>
            <a:ext cx="16611600" cy="28574"/>
          </a:xfrm>
          <a:prstGeom prst="rect">
            <a:avLst/>
          </a:prstGeom>
          <a:solidFill>
            <a:srgbClr val="3649A8"/>
          </a:solidFill>
        </p:spPr>
        <p:txBody>
          <a:bodyPr/>
          <a:lstStyle/>
          <a:p>
            <a:endParaRPr sz="1801"/>
          </a:p>
        </p:txBody>
      </p:sp>
      <p:sp>
        <p:nvSpPr>
          <p:cNvPr id="25" name="Shape 22">
            <a:extLst>
              <a:ext uri="{FF2B5EF4-FFF2-40B4-BE49-F238E27FC236}">
                <a16:creationId xmlns:a16="http://schemas.microsoft.com/office/drawing/2014/main" id="{B765AE01-8B3A-4F2B-9234-E1B2735FE6D0}"/>
              </a:ext>
            </a:extLst>
          </p:cNvPr>
          <p:cNvSpPr>
            <a:spLocks noGrp="1"/>
          </p:cNvSpPr>
          <p:nvPr/>
        </p:nvSpPr>
        <p:spPr>
          <a:xfrm>
            <a:off x="838202" y="9294615"/>
            <a:ext cx="16611600" cy="9525"/>
          </a:xfrm>
          <a:prstGeom prst="rect">
            <a:avLst/>
          </a:prstGeom>
          <a:solidFill>
            <a:srgbClr val="E2E7EB"/>
          </a:solidFill>
        </p:spPr>
        <p:txBody>
          <a:bodyPr/>
          <a:lstStyle/>
          <a:p>
            <a:endParaRPr sz="1801"/>
          </a:p>
        </p:txBody>
      </p:sp>
      <p:sp>
        <p:nvSpPr>
          <p:cNvPr id="26" name="Text 23">
            <a:extLst>
              <a:ext uri="{FF2B5EF4-FFF2-40B4-BE49-F238E27FC236}">
                <a16:creationId xmlns:a16="http://schemas.microsoft.com/office/drawing/2014/main" id="{5C5AFE6D-27B1-4C09-BBBE-19FE36BD27C8}"/>
              </a:ext>
            </a:extLst>
          </p:cNvPr>
          <p:cNvSpPr>
            <a:spLocks noGrp="1"/>
          </p:cNvSpPr>
          <p:nvPr/>
        </p:nvSpPr>
        <p:spPr>
          <a:xfrm>
            <a:off x="838201" y="9513691"/>
            <a:ext cx="7461945" cy="392311"/>
          </a:xfrm>
          <a:prstGeom prst="rect">
            <a:avLst/>
          </a:prstGeom>
          <a:noFill/>
        </p:spPr>
        <p:txBody>
          <a:bodyPr wrap="square" lIns="25401" tIns="25401" rIns="25401" bIns="25401" anchor="t">
            <a:normAutofit/>
          </a:bodyPr>
          <a:lstStyle/>
          <a:p>
            <a:pPr>
              <a:lnSpc>
                <a:spcPct val="124000"/>
              </a:lnSpc>
              <a:buNone/>
            </a:pPr>
            <a:r>
              <a:rPr sz="1801" dirty="0">
                <a:solidFill>
                  <a:srgbClr val="667780"/>
                </a:solidFill>
                <a:latin typeface="Frutiger"/>
                <a:ea typeface="Frutiger"/>
                <a:cs typeface="Frutiger"/>
              </a:rPr>
              <a:t>Getting started with dbt</a:t>
            </a:r>
            <a:endParaRPr sz="1801" dirty="0"/>
          </a:p>
        </p:txBody>
      </p:sp>
      <p:sp>
        <p:nvSpPr>
          <p:cNvPr id="28" name="Text 25">
            <a:extLst>
              <a:ext uri="{FF2B5EF4-FFF2-40B4-BE49-F238E27FC236}">
                <a16:creationId xmlns:a16="http://schemas.microsoft.com/office/drawing/2014/main" id="{E1A6A13E-D079-4787-BA2C-26179E45E0AB}"/>
              </a:ext>
            </a:extLst>
          </p:cNvPr>
          <p:cNvSpPr>
            <a:spLocks noGrp="1"/>
          </p:cNvSpPr>
          <p:nvPr/>
        </p:nvSpPr>
        <p:spPr>
          <a:xfrm>
            <a:off x="9987856" y="9513691"/>
            <a:ext cx="7461945" cy="392311"/>
          </a:xfrm>
          <a:prstGeom prst="rect">
            <a:avLst/>
          </a:prstGeom>
          <a:noFill/>
        </p:spPr>
        <p:txBody>
          <a:bodyPr wrap="square" lIns="25401" tIns="25401" rIns="25401" bIns="25401" anchor="t">
            <a:normAutofit/>
          </a:bodyPr>
          <a:lstStyle/>
          <a:p>
            <a:pPr algn="r">
              <a:lnSpc>
                <a:spcPct val="124000"/>
              </a:lnSpc>
              <a:buNone/>
            </a:pPr>
            <a:r>
              <a:rPr lang="en-US" sz="1801">
                <a:solidFill>
                  <a:srgbClr val="667780"/>
                </a:solidFill>
                <a:latin typeface="Frutiger"/>
                <a:ea typeface="Frutiger"/>
                <a:cs typeface="Frutiger"/>
              </a:rPr>
              <a:t>07</a:t>
            </a:r>
            <a:endParaRPr sz="1801"/>
          </a:p>
        </p:txBody>
      </p:sp>
      <p:sp>
        <p:nvSpPr>
          <p:cNvPr id="100" name="Shape 100"/>
          <p:cNvSpPr/>
          <p:nvPr/>
        </p:nvSpPr>
        <p:spPr>
          <a:xfrm>
            <a:off x="838200" y="2336800"/>
            <a:ext cx="3924300" cy="28956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a:p>
        </p:txBody>
      </p:sp>
      <p:sp>
        <p:nvSpPr>
          <p:cNvPr id="101" name="Shape 101"/>
          <p:cNvSpPr/>
          <p:nvPr/>
        </p:nvSpPr>
        <p:spPr>
          <a:xfrm>
            <a:off x="838200" y="2336800"/>
            <a:ext cx="3924300" cy="76200"/>
          </a:xfrm>
          <a:prstGeom prst="rect">
            <a:avLst/>
          </a:prstGeom>
          <a:solidFill>
            <a:srgbClr val="001F6B"/>
          </a:solidFill>
          <a:ln>
            <a:noFill/>
          </a:ln>
        </p:spPr>
        <p:txBody>
          <a:bodyPr wrap="square" lIns="101600" tIns="101600" rIns="101600" bIns="101600" anchor="t">
            <a:normAutofit fontScale="25000" lnSpcReduction="20000"/>
          </a:bodyPr>
          <a:lstStyle/>
          <a:p>
            <a:endParaRPr lang="en-US"/>
          </a:p>
        </p:txBody>
      </p:sp>
      <p:sp>
        <p:nvSpPr>
          <p:cNvPr id="102" name="Shape 102"/>
          <p:cNvSpPr/>
          <p:nvPr/>
        </p:nvSpPr>
        <p:spPr>
          <a:xfrm>
            <a:off x="1041400" y="2540000"/>
            <a:ext cx="3517900" cy="406400"/>
          </a:xfrm>
          <a:prstGeom prst="rect">
            <a:avLst/>
          </a:prstGeom>
          <a:noFill/>
          <a:ln>
            <a:noFill/>
          </a:ln>
        </p:spPr>
        <p:txBody>
          <a:bodyPr wrap="square" lIns="0" tIns="0" rIns="0" bIns="0" anchor="t">
            <a:normAutofit/>
          </a:bodyPr>
          <a:lstStyle/>
          <a:p>
            <a:pPr>
              <a:buNone/>
            </a:pPr>
            <a:r>
              <a:rPr lang="en-US" sz="2200" b="1" dirty="0">
                <a:solidFill>
                  <a:srgbClr val="001F6B"/>
                </a:solidFill>
                <a:latin typeface="Consolas"/>
                <a:cs typeface="Consolas"/>
              </a:rPr>
              <a:t>model</a:t>
            </a:r>
          </a:p>
        </p:txBody>
      </p:sp>
      <p:sp>
        <p:nvSpPr>
          <p:cNvPr id="103" name="Shape 103"/>
          <p:cNvSpPr/>
          <p:nvPr/>
        </p:nvSpPr>
        <p:spPr>
          <a:xfrm>
            <a:off x="1041400" y="2997200"/>
            <a:ext cx="3517900" cy="1574800"/>
          </a:xfrm>
          <a:prstGeom prst="rect">
            <a:avLst/>
          </a:prstGeom>
          <a:noFill/>
          <a:ln>
            <a:noFill/>
          </a:ln>
        </p:spPr>
        <p:txBody>
          <a:bodyPr wrap="square" lIns="0" tIns="0" rIns="0" bIns="0" anchor="t">
            <a:normAutofit/>
          </a:bodyPr>
          <a:lstStyle/>
          <a:p>
            <a:pPr>
              <a:lnSpc>
                <a:spcPct val="104000"/>
              </a:lnSpc>
              <a:buNone/>
            </a:pPr>
            <a:r>
              <a:rPr lang="en-US" sz="1700" dirty="0">
                <a:solidFill>
                  <a:srgbClr val="364750"/>
                </a:solidFill>
                <a:latin typeface="Frutiger"/>
                <a:cs typeface="Frutiger"/>
              </a:rPr>
              <a:t>A .sql file containing one SELECT. dbt turns it into a view or table named after the file.</a:t>
            </a:r>
          </a:p>
        </p:txBody>
      </p:sp>
      <p:sp>
        <p:nvSpPr>
          <p:cNvPr id="504" name="Shape 504"/>
          <p:cNvSpPr/>
          <p:nvPr/>
        </p:nvSpPr>
        <p:spPr>
          <a:xfrm>
            <a:off x="1041400" y="4597400"/>
            <a:ext cx="3517900" cy="482600"/>
          </a:xfrm>
          <a:prstGeom prst="rect">
            <a:avLst/>
          </a:prstGeom>
          <a:solidFill>
            <a:srgbClr val="F4F6FA"/>
          </a:solidFill>
          <a:ln>
            <a:noFill/>
          </a:ln>
        </p:spPr>
        <p:txBody>
          <a:bodyPr wrap="square" lIns="127000" tIns="25400" rIns="127000" bIns="25400" anchor="ctr">
            <a:normAutofit/>
          </a:bodyPr>
          <a:lstStyle/>
          <a:p>
            <a:pPr>
              <a:buNone/>
            </a:pPr>
            <a:r>
              <a:rPr lang="en-US" sz="1400" dirty="0">
                <a:solidFill>
                  <a:srgbClr val="001F6B"/>
                </a:solidFill>
                <a:latin typeface="Consolas"/>
                <a:cs typeface="Consolas"/>
              </a:rPr>
              <a:t>stg_orders.sql → stg_orders</a:t>
            </a:r>
          </a:p>
        </p:txBody>
      </p:sp>
      <p:sp>
        <p:nvSpPr>
          <p:cNvPr id="104" name="Shape 104"/>
          <p:cNvSpPr/>
          <p:nvPr/>
        </p:nvSpPr>
        <p:spPr>
          <a:xfrm>
            <a:off x="5067300" y="2336800"/>
            <a:ext cx="3924300" cy="28956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a:p>
        </p:txBody>
      </p:sp>
      <p:sp>
        <p:nvSpPr>
          <p:cNvPr id="105" name="Shape 105"/>
          <p:cNvSpPr/>
          <p:nvPr/>
        </p:nvSpPr>
        <p:spPr>
          <a:xfrm>
            <a:off x="5067300" y="2336800"/>
            <a:ext cx="3924300" cy="76200"/>
          </a:xfrm>
          <a:prstGeom prst="rect">
            <a:avLst/>
          </a:prstGeom>
          <a:solidFill>
            <a:srgbClr val="001F6B"/>
          </a:solidFill>
          <a:ln>
            <a:noFill/>
          </a:ln>
        </p:spPr>
        <p:txBody>
          <a:bodyPr wrap="square" lIns="101600" tIns="101600" rIns="101600" bIns="101600" anchor="t">
            <a:normAutofit fontScale="25000" lnSpcReduction="20000"/>
          </a:bodyPr>
          <a:lstStyle/>
          <a:p>
            <a:endParaRPr lang="en-US"/>
          </a:p>
        </p:txBody>
      </p:sp>
      <p:sp>
        <p:nvSpPr>
          <p:cNvPr id="106" name="Shape 106"/>
          <p:cNvSpPr/>
          <p:nvPr/>
        </p:nvSpPr>
        <p:spPr>
          <a:xfrm>
            <a:off x="5270500" y="2540000"/>
            <a:ext cx="3517900" cy="406400"/>
          </a:xfrm>
          <a:prstGeom prst="rect">
            <a:avLst/>
          </a:prstGeom>
          <a:noFill/>
          <a:ln>
            <a:noFill/>
          </a:ln>
        </p:spPr>
        <p:txBody>
          <a:bodyPr wrap="square" lIns="0" tIns="0" rIns="0" bIns="0" anchor="t">
            <a:normAutofit/>
          </a:bodyPr>
          <a:lstStyle/>
          <a:p>
            <a:pPr>
              <a:buNone/>
            </a:pPr>
            <a:r>
              <a:rPr lang="en-US" sz="2200" b="1" dirty="0">
                <a:solidFill>
                  <a:srgbClr val="001F6B"/>
                </a:solidFill>
                <a:latin typeface="Consolas"/>
                <a:cs typeface="Consolas"/>
              </a:rPr>
              <a:t>seed</a:t>
            </a:r>
          </a:p>
        </p:txBody>
      </p:sp>
      <p:sp>
        <p:nvSpPr>
          <p:cNvPr id="107" name="Shape 107"/>
          <p:cNvSpPr/>
          <p:nvPr/>
        </p:nvSpPr>
        <p:spPr>
          <a:xfrm>
            <a:off x="5270500" y="2997200"/>
            <a:ext cx="3517900" cy="1574800"/>
          </a:xfrm>
          <a:prstGeom prst="rect">
            <a:avLst/>
          </a:prstGeom>
          <a:noFill/>
          <a:ln>
            <a:noFill/>
          </a:ln>
        </p:spPr>
        <p:txBody>
          <a:bodyPr wrap="square" lIns="0" tIns="0" rIns="0" bIns="0" anchor="t">
            <a:normAutofit/>
          </a:bodyPr>
          <a:lstStyle/>
          <a:p>
            <a:pPr>
              <a:lnSpc>
                <a:spcPct val="104000"/>
              </a:lnSpc>
              <a:buNone/>
            </a:pPr>
            <a:r>
              <a:rPr lang="en-US" sz="1700" dirty="0">
                <a:solidFill>
                  <a:srgbClr val="364750"/>
                </a:solidFill>
                <a:latin typeface="Frutiger"/>
                <a:cs typeface="Frutiger"/>
              </a:rPr>
              <a:t>A small CSV in seeds/ that dbt loads as a table. Normally for fixtures and lookups In our demo we use seeds for ingestion of the raw tables.</a:t>
            </a:r>
          </a:p>
        </p:txBody>
      </p:sp>
      <p:sp>
        <p:nvSpPr>
          <p:cNvPr id="508" name="Shape 508"/>
          <p:cNvSpPr/>
          <p:nvPr/>
        </p:nvSpPr>
        <p:spPr>
          <a:xfrm>
            <a:off x="5270500" y="4597400"/>
            <a:ext cx="3517900" cy="482600"/>
          </a:xfrm>
          <a:prstGeom prst="rect">
            <a:avLst/>
          </a:prstGeom>
          <a:solidFill>
            <a:srgbClr val="F4F6FA"/>
          </a:solidFill>
          <a:ln>
            <a:noFill/>
          </a:ln>
        </p:spPr>
        <p:txBody>
          <a:bodyPr wrap="square" lIns="127000" tIns="25400" rIns="127000" bIns="25400" anchor="ctr">
            <a:normAutofit/>
          </a:bodyPr>
          <a:lstStyle/>
          <a:p>
            <a:pPr>
              <a:buNone/>
            </a:pPr>
            <a:r>
              <a:rPr lang="en-US" sz="1400" dirty="0">
                <a:solidFill>
                  <a:srgbClr val="001F6B"/>
                </a:solidFill>
                <a:latin typeface="Consolas"/>
                <a:cs typeface="Consolas"/>
              </a:rPr>
              <a:t>raw_orders.csv → raw.raw_orders</a:t>
            </a:r>
          </a:p>
        </p:txBody>
      </p:sp>
      <p:sp>
        <p:nvSpPr>
          <p:cNvPr id="108" name="Shape 108"/>
          <p:cNvSpPr/>
          <p:nvPr/>
        </p:nvSpPr>
        <p:spPr>
          <a:xfrm>
            <a:off x="9296400" y="2336800"/>
            <a:ext cx="3924300" cy="28956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a:p>
        </p:txBody>
      </p:sp>
      <p:sp>
        <p:nvSpPr>
          <p:cNvPr id="109" name="Shape 109"/>
          <p:cNvSpPr/>
          <p:nvPr/>
        </p:nvSpPr>
        <p:spPr>
          <a:xfrm>
            <a:off x="9296400" y="2336800"/>
            <a:ext cx="3924300" cy="76200"/>
          </a:xfrm>
          <a:prstGeom prst="rect">
            <a:avLst/>
          </a:prstGeom>
          <a:solidFill>
            <a:srgbClr val="001F6B"/>
          </a:solidFill>
          <a:ln>
            <a:noFill/>
          </a:ln>
        </p:spPr>
        <p:txBody>
          <a:bodyPr wrap="square" lIns="101600" tIns="101600" rIns="101600" bIns="101600" anchor="t">
            <a:normAutofit fontScale="25000" lnSpcReduction="20000"/>
          </a:bodyPr>
          <a:lstStyle/>
          <a:p>
            <a:endParaRPr lang="en-US"/>
          </a:p>
        </p:txBody>
      </p:sp>
      <p:sp>
        <p:nvSpPr>
          <p:cNvPr id="110" name="Shape 110"/>
          <p:cNvSpPr/>
          <p:nvPr/>
        </p:nvSpPr>
        <p:spPr>
          <a:xfrm>
            <a:off x="9499600" y="2540000"/>
            <a:ext cx="3517900" cy="406400"/>
          </a:xfrm>
          <a:prstGeom prst="rect">
            <a:avLst/>
          </a:prstGeom>
          <a:noFill/>
          <a:ln>
            <a:noFill/>
          </a:ln>
        </p:spPr>
        <p:txBody>
          <a:bodyPr wrap="square" lIns="0" tIns="0" rIns="0" bIns="0" anchor="t">
            <a:normAutofit/>
          </a:bodyPr>
          <a:lstStyle/>
          <a:p>
            <a:pPr>
              <a:buNone/>
            </a:pPr>
            <a:r>
              <a:rPr lang="en-US" sz="2200" b="1" dirty="0">
                <a:solidFill>
                  <a:srgbClr val="001F6B"/>
                </a:solidFill>
                <a:latin typeface="Consolas"/>
                <a:cs typeface="Consolas"/>
              </a:rPr>
              <a:t>source</a:t>
            </a:r>
          </a:p>
        </p:txBody>
      </p:sp>
      <p:sp>
        <p:nvSpPr>
          <p:cNvPr id="111" name="Shape 111"/>
          <p:cNvSpPr/>
          <p:nvPr/>
        </p:nvSpPr>
        <p:spPr>
          <a:xfrm>
            <a:off x="9499600" y="2997200"/>
            <a:ext cx="3517900" cy="1574800"/>
          </a:xfrm>
          <a:prstGeom prst="rect">
            <a:avLst/>
          </a:prstGeom>
          <a:noFill/>
          <a:ln>
            <a:noFill/>
          </a:ln>
        </p:spPr>
        <p:txBody>
          <a:bodyPr wrap="square" lIns="0" tIns="0" rIns="0" bIns="0" anchor="t">
            <a:normAutofit/>
          </a:bodyPr>
          <a:lstStyle/>
          <a:p>
            <a:pPr>
              <a:lnSpc>
                <a:spcPct val="104000"/>
              </a:lnSpc>
              <a:buNone/>
            </a:pPr>
            <a:r>
              <a:rPr lang="en-US" sz="1700" dirty="0">
                <a:solidFill>
                  <a:srgbClr val="364750"/>
                </a:solidFill>
                <a:latin typeface="Frutiger"/>
                <a:cs typeface="Frutiger"/>
              </a:rPr>
              <a:t>A declaration of a table that something else owns (ingestion, another team). Gives the graph a named, documented input.</a:t>
            </a:r>
          </a:p>
        </p:txBody>
      </p:sp>
      <p:sp>
        <p:nvSpPr>
          <p:cNvPr id="512" name="Shape 512"/>
          <p:cNvSpPr/>
          <p:nvPr/>
        </p:nvSpPr>
        <p:spPr>
          <a:xfrm>
            <a:off x="9499600" y="4597400"/>
            <a:ext cx="3517900" cy="482600"/>
          </a:xfrm>
          <a:prstGeom prst="rect">
            <a:avLst/>
          </a:prstGeom>
          <a:solidFill>
            <a:srgbClr val="F4F6FA"/>
          </a:solidFill>
          <a:ln>
            <a:noFill/>
          </a:ln>
        </p:spPr>
        <p:txBody>
          <a:bodyPr wrap="square" lIns="127000" tIns="25400" rIns="127000" bIns="25400" anchor="ctr">
            <a:normAutofit/>
          </a:bodyPr>
          <a:lstStyle/>
          <a:p>
            <a:pPr>
              <a:buNone/>
            </a:pPr>
            <a:r>
              <a:rPr lang="en-US" sz="1400" dirty="0">
                <a:solidFill>
                  <a:srgbClr val="001F6B"/>
                </a:solidFill>
                <a:latin typeface="Consolas"/>
                <a:cs typeface="Consolas"/>
              </a:rPr>
              <a:t>{{ source('ecom', 'raw_orders') }}</a:t>
            </a:r>
          </a:p>
        </p:txBody>
      </p:sp>
      <p:sp>
        <p:nvSpPr>
          <p:cNvPr id="112" name="Shape 112"/>
          <p:cNvSpPr/>
          <p:nvPr/>
        </p:nvSpPr>
        <p:spPr>
          <a:xfrm>
            <a:off x="13525500" y="2336800"/>
            <a:ext cx="3924300" cy="28956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a:p>
        </p:txBody>
      </p:sp>
      <p:sp>
        <p:nvSpPr>
          <p:cNvPr id="113" name="Shape 113"/>
          <p:cNvSpPr/>
          <p:nvPr/>
        </p:nvSpPr>
        <p:spPr>
          <a:xfrm>
            <a:off x="13525500" y="2336800"/>
            <a:ext cx="3924300" cy="76200"/>
          </a:xfrm>
          <a:prstGeom prst="rect">
            <a:avLst/>
          </a:prstGeom>
          <a:solidFill>
            <a:srgbClr val="E40046"/>
          </a:solidFill>
          <a:ln>
            <a:noFill/>
          </a:ln>
        </p:spPr>
        <p:txBody>
          <a:bodyPr wrap="square" lIns="101600" tIns="101600" rIns="101600" bIns="101600" anchor="t">
            <a:normAutofit fontScale="25000" lnSpcReduction="20000"/>
          </a:bodyPr>
          <a:lstStyle/>
          <a:p>
            <a:endParaRPr lang="en-US"/>
          </a:p>
        </p:txBody>
      </p:sp>
      <p:sp>
        <p:nvSpPr>
          <p:cNvPr id="114" name="Shape 114"/>
          <p:cNvSpPr/>
          <p:nvPr/>
        </p:nvSpPr>
        <p:spPr>
          <a:xfrm>
            <a:off x="13728700" y="2540000"/>
            <a:ext cx="3517900" cy="406400"/>
          </a:xfrm>
          <a:prstGeom prst="rect">
            <a:avLst/>
          </a:prstGeom>
          <a:noFill/>
          <a:ln>
            <a:noFill/>
          </a:ln>
        </p:spPr>
        <p:txBody>
          <a:bodyPr wrap="square" lIns="0" tIns="0" rIns="0" bIns="0" anchor="t">
            <a:normAutofit/>
          </a:bodyPr>
          <a:lstStyle/>
          <a:p>
            <a:pPr>
              <a:buNone/>
            </a:pPr>
            <a:r>
              <a:rPr lang="en-US" sz="2200" b="1" dirty="0">
                <a:solidFill>
                  <a:srgbClr val="001F6B"/>
                </a:solidFill>
                <a:latin typeface="Consolas"/>
                <a:cs typeface="Consolas"/>
              </a:rPr>
              <a:t>ref()</a:t>
            </a:r>
          </a:p>
        </p:txBody>
      </p:sp>
      <p:sp>
        <p:nvSpPr>
          <p:cNvPr id="115" name="Shape 115"/>
          <p:cNvSpPr/>
          <p:nvPr/>
        </p:nvSpPr>
        <p:spPr>
          <a:xfrm>
            <a:off x="13728700" y="2997200"/>
            <a:ext cx="3517900" cy="1574800"/>
          </a:xfrm>
          <a:prstGeom prst="rect">
            <a:avLst/>
          </a:prstGeom>
          <a:noFill/>
          <a:ln>
            <a:noFill/>
          </a:ln>
        </p:spPr>
        <p:txBody>
          <a:bodyPr wrap="square" lIns="0" tIns="0" rIns="0" bIns="0" anchor="t">
            <a:normAutofit/>
          </a:bodyPr>
          <a:lstStyle/>
          <a:p>
            <a:pPr>
              <a:lnSpc>
                <a:spcPct val="104000"/>
              </a:lnSpc>
              <a:buNone/>
            </a:pPr>
            <a:r>
              <a:rPr lang="en-US" sz="1700" dirty="0">
                <a:solidFill>
                  <a:srgbClr val="364750"/>
                </a:solidFill>
                <a:latin typeface="Frutiger"/>
                <a:cs typeface="Frutiger"/>
              </a:rPr>
              <a:t>The function that links models. It resolves to the right relation for the target and tells dbt what depends on what.</a:t>
            </a:r>
          </a:p>
        </p:txBody>
      </p:sp>
      <p:sp>
        <p:nvSpPr>
          <p:cNvPr id="516" name="Shape 516"/>
          <p:cNvSpPr/>
          <p:nvPr/>
        </p:nvSpPr>
        <p:spPr>
          <a:xfrm>
            <a:off x="13728700" y="4597400"/>
            <a:ext cx="3517900" cy="482600"/>
          </a:xfrm>
          <a:prstGeom prst="rect">
            <a:avLst/>
          </a:prstGeom>
          <a:solidFill>
            <a:srgbClr val="F4F6FA"/>
          </a:solidFill>
          <a:ln>
            <a:noFill/>
          </a:ln>
        </p:spPr>
        <p:txBody>
          <a:bodyPr wrap="square" lIns="127000" tIns="25400" rIns="127000" bIns="25400" anchor="ctr">
            <a:normAutofit/>
          </a:bodyPr>
          <a:lstStyle/>
          <a:p>
            <a:pPr>
              <a:buNone/>
            </a:pPr>
            <a:r>
              <a:rPr lang="en-US" sz="1400" dirty="0">
                <a:solidFill>
                  <a:srgbClr val="001F6B"/>
                </a:solidFill>
                <a:latin typeface="Consolas"/>
                <a:cs typeface="Consolas"/>
              </a:rPr>
              <a:t>{{ ref('stg_orders') }}</a:t>
            </a:r>
          </a:p>
        </p:txBody>
      </p:sp>
      <p:sp>
        <p:nvSpPr>
          <p:cNvPr id="116" name="Shape 116"/>
          <p:cNvSpPr/>
          <p:nvPr/>
        </p:nvSpPr>
        <p:spPr>
          <a:xfrm>
            <a:off x="838200" y="5537200"/>
            <a:ext cx="3924300" cy="28956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a:p>
        </p:txBody>
      </p:sp>
      <p:sp>
        <p:nvSpPr>
          <p:cNvPr id="117" name="Shape 117"/>
          <p:cNvSpPr/>
          <p:nvPr/>
        </p:nvSpPr>
        <p:spPr>
          <a:xfrm>
            <a:off x="838200" y="5537200"/>
            <a:ext cx="3924300" cy="76200"/>
          </a:xfrm>
          <a:prstGeom prst="rect">
            <a:avLst/>
          </a:prstGeom>
          <a:solidFill>
            <a:srgbClr val="001F6B"/>
          </a:solidFill>
          <a:ln>
            <a:noFill/>
          </a:ln>
        </p:spPr>
        <p:txBody>
          <a:bodyPr wrap="square" lIns="101600" tIns="101600" rIns="101600" bIns="101600" anchor="t">
            <a:normAutofit fontScale="25000" lnSpcReduction="20000"/>
          </a:bodyPr>
          <a:lstStyle/>
          <a:p>
            <a:endParaRPr lang="en-US"/>
          </a:p>
        </p:txBody>
      </p:sp>
      <p:sp>
        <p:nvSpPr>
          <p:cNvPr id="118" name="Shape 118"/>
          <p:cNvSpPr/>
          <p:nvPr/>
        </p:nvSpPr>
        <p:spPr>
          <a:xfrm>
            <a:off x="1041400" y="5740400"/>
            <a:ext cx="3517900" cy="406400"/>
          </a:xfrm>
          <a:prstGeom prst="rect">
            <a:avLst/>
          </a:prstGeom>
          <a:noFill/>
          <a:ln>
            <a:noFill/>
          </a:ln>
        </p:spPr>
        <p:txBody>
          <a:bodyPr wrap="square" lIns="0" tIns="0" rIns="0" bIns="0" anchor="t">
            <a:normAutofit/>
          </a:bodyPr>
          <a:lstStyle/>
          <a:p>
            <a:pPr>
              <a:buNone/>
            </a:pPr>
            <a:r>
              <a:rPr lang="en-US" sz="2200" b="1" dirty="0">
                <a:solidFill>
                  <a:srgbClr val="001F6B"/>
                </a:solidFill>
                <a:latin typeface="Consolas"/>
                <a:cs typeface="Consolas"/>
              </a:rPr>
              <a:t>test</a:t>
            </a:r>
          </a:p>
        </p:txBody>
      </p:sp>
      <p:sp>
        <p:nvSpPr>
          <p:cNvPr id="119" name="Shape 119"/>
          <p:cNvSpPr/>
          <p:nvPr/>
        </p:nvSpPr>
        <p:spPr>
          <a:xfrm>
            <a:off x="1041400" y="6197600"/>
            <a:ext cx="3517900" cy="1574800"/>
          </a:xfrm>
          <a:prstGeom prst="rect">
            <a:avLst/>
          </a:prstGeom>
          <a:noFill/>
          <a:ln>
            <a:noFill/>
          </a:ln>
        </p:spPr>
        <p:txBody>
          <a:bodyPr wrap="square" lIns="0" tIns="0" rIns="0" bIns="0" anchor="t">
            <a:normAutofit/>
          </a:bodyPr>
          <a:lstStyle/>
          <a:p>
            <a:pPr>
              <a:lnSpc>
                <a:spcPct val="104000"/>
              </a:lnSpc>
              <a:buNone/>
            </a:pPr>
            <a:r>
              <a:rPr lang="en-US" sz="1700" dirty="0">
                <a:solidFill>
                  <a:srgbClr val="364750"/>
                </a:solidFill>
                <a:latin typeface="Frutiger"/>
                <a:cs typeface="Frutiger"/>
              </a:rPr>
              <a:t>A query that returns failing rows. Generic tests come from YAML (unique, not_null…); singular tests are SQL files in tests/.</a:t>
            </a:r>
          </a:p>
        </p:txBody>
      </p:sp>
      <p:sp>
        <p:nvSpPr>
          <p:cNvPr id="520" name="Shape 520"/>
          <p:cNvSpPr/>
          <p:nvPr/>
        </p:nvSpPr>
        <p:spPr>
          <a:xfrm>
            <a:off x="1041400" y="7797800"/>
            <a:ext cx="3517900" cy="482600"/>
          </a:xfrm>
          <a:prstGeom prst="rect">
            <a:avLst/>
          </a:prstGeom>
          <a:solidFill>
            <a:srgbClr val="F4F6FA"/>
          </a:solidFill>
          <a:ln>
            <a:noFill/>
          </a:ln>
        </p:spPr>
        <p:txBody>
          <a:bodyPr wrap="square" lIns="127000" tIns="25400" rIns="127000" bIns="25400" anchor="ctr">
            <a:normAutofit/>
          </a:bodyPr>
          <a:lstStyle/>
          <a:p>
            <a:pPr>
              <a:buNone/>
            </a:pPr>
            <a:r>
              <a:rPr lang="en-US" sz="1400" dirty="0">
                <a:solidFill>
                  <a:srgbClr val="001F6B"/>
                </a:solidFill>
                <a:latin typeface="Consolas"/>
                <a:cs typeface="Consolas"/>
              </a:rPr>
              <a:t>accepted_values: [new, returning]</a:t>
            </a:r>
          </a:p>
        </p:txBody>
      </p:sp>
      <p:sp>
        <p:nvSpPr>
          <p:cNvPr id="120" name="Shape 120"/>
          <p:cNvSpPr/>
          <p:nvPr/>
        </p:nvSpPr>
        <p:spPr>
          <a:xfrm>
            <a:off x="5067300" y="5537200"/>
            <a:ext cx="3924300" cy="28956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a:p>
        </p:txBody>
      </p:sp>
      <p:sp>
        <p:nvSpPr>
          <p:cNvPr id="121" name="Shape 121"/>
          <p:cNvSpPr/>
          <p:nvPr/>
        </p:nvSpPr>
        <p:spPr>
          <a:xfrm>
            <a:off x="5067300" y="5537200"/>
            <a:ext cx="3924300" cy="76200"/>
          </a:xfrm>
          <a:prstGeom prst="rect">
            <a:avLst/>
          </a:prstGeom>
          <a:solidFill>
            <a:srgbClr val="001F6B"/>
          </a:solidFill>
          <a:ln>
            <a:noFill/>
          </a:ln>
        </p:spPr>
        <p:txBody>
          <a:bodyPr wrap="square" lIns="101600" tIns="101600" rIns="101600" bIns="101600" anchor="t">
            <a:normAutofit fontScale="25000" lnSpcReduction="20000"/>
          </a:bodyPr>
          <a:lstStyle/>
          <a:p>
            <a:endParaRPr lang="en-US"/>
          </a:p>
        </p:txBody>
      </p:sp>
      <p:sp>
        <p:nvSpPr>
          <p:cNvPr id="122" name="Shape 122"/>
          <p:cNvSpPr/>
          <p:nvPr/>
        </p:nvSpPr>
        <p:spPr>
          <a:xfrm>
            <a:off x="5270500" y="5740400"/>
            <a:ext cx="3517900" cy="406400"/>
          </a:xfrm>
          <a:prstGeom prst="rect">
            <a:avLst/>
          </a:prstGeom>
          <a:noFill/>
          <a:ln>
            <a:noFill/>
          </a:ln>
        </p:spPr>
        <p:txBody>
          <a:bodyPr wrap="square" lIns="0" tIns="0" rIns="0" bIns="0" anchor="t">
            <a:normAutofit/>
          </a:bodyPr>
          <a:lstStyle/>
          <a:p>
            <a:pPr>
              <a:buNone/>
            </a:pPr>
            <a:r>
              <a:rPr lang="en-US" sz="2200" b="1" dirty="0">
                <a:solidFill>
                  <a:srgbClr val="001F6B"/>
                </a:solidFill>
                <a:latin typeface="Consolas"/>
                <a:cs typeface="Consolas"/>
              </a:rPr>
              <a:t>materialization</a:t>
            </a:r>
          </a:p>
        </p:txBody>
      </p:sp>
      <p:sp>
        <p:nvSpPr>
          <p:cNvPr id="123" name="Shape 123"/>
          <p:cNvSpPr/>
          <p:nvPr/>
        </p:nvSpPr>
        <p:spPr>
          <a:xfrm>
            <a:off x="5270500" y="6197600"/>
            <a:ext cx="3517900" cy="1574800"/>
          </a:xfrm>
          <a:prstGeom prst="rect">
            <a:avLst/>
          </a:prstGeom>
          <a:noFill/>
          <a:ln>
            <a:noFill/>
          </a:ln>
        </p:spPr>
        <p:txBody>
          <a:bodyPr wrap="square" lIns="0" tIns="0" rIns="0" bIns="0" anchor="t">
            <a:normAutofit/>
          </a:bodyPr>
          <a:lstStyle/>
          <a:p>
            <a:pPr>
              <a:lnSpc>
                <a:spcPct val="104000"/>
              </a:lnSpc>
              <a:buNone/>
            </a:pPr>
            <a:r>
              <a:rPr lang="en-US" sz="1700" dirty="0">
                <a:solidFill>
                  <a:srgbClr val="364750"/>
                </a:solidFill>
                <a:latin typeface="Frutiger"/>
                <a:cs typeface="Frutiger"/>
              </a:rPr>
              <a:t>How a model is built: view, table, incremental or ephemeral. Set per folder or per model; the SELECT stays the same.</a:t>
            </a:r>
          </a:p>
        </p:txBody>
      </p:sp>
      <p:sp>
        <p:nvSpPr>
          <p:cNvPr id="524" name="Shape 524"/>
          <p:cNvSpPr/>
          <p:nvPr/>
        </p:nvSpPr>
        <p:spPr>
          <a:xfrm>
            <a:off x="5270500" y="7797800"/>
            <a:ext cx="3517900" cy="482600"/>
          </a:xfrm>
          <a:prstGeom prst="rect">
            <a:avLst/>
          </a:prstGeom>
          <a:solidFill>
            <a:srgbClr val="F4F6FA"/>
          </a:solidFill>
          <a:ln>
            <a:noFill/>
          </a:ln>
        </p:spPr>
        <p:txBody>
          <a:bodyPr wrap="square" lIns="127000" tIns="25400" rIns="127000" bIns="25400" anchor="ctr">
            <a:normAutofit/>
          </a:bodyPr>
          <a:lstStyle/>
          <a:p>
            <a:pPr>
              <a:buNone/>
            </a:pPr>
            <a:r>
              <a:rPr lang="en-US" sz="1400" dirty="0">
                <a:solidFill>
                  <a:srgbClr val="001F6B"/>
                </a:solidFill>
                <a:latin typeface="Consolas"/>
                <a:cs typeface="Consolas"/>
              </a:rPr>
              <a:t>+materialized: table</a:t>
            </a:r>
          </a:p>
        </p:txBody>
      </p:sp>
      <p:sp>
        <p:nvSpPr>
          <p:cNvPr id="124" name="Shape 124"/>
          <p:cNvSpPr/>
          <p:nvPr/>
        </p:nvSpPr>
        <p:spPr>
          <a:xfrm>
            <a:off x="9296400" y="5537200"/>
            <a:ext cx="3924300" cy="28956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a:p>
        </p:txBody>
      </p:sp>
      <p:sp>
        <p:nvSpPr>
          <p:cNvPr id="125" name="Shape 125"/>
          <p:cNvSpPr/>
          <p:nvPr/>
        </p:nvSpPr>
        <p:spPr>
          <a:xfrm>
            <a:off x="9296400" y="5537200"/>
            <a:ext cx="3924300" cy="76200"/>
          </a:xfrm>
          <a:prstGeom prst="rect">
            <a:avLst/>
          </a:prstGeom>
          <a:solidFill>
            <a:srgbClr val="001F6B"/>
          </a:solidFill>
          <a:ln>
            <a:noFill/>
          </a:ln>
        </p:spPr>
        <p:txBody>
          <a:bodyPr wrap="square" lIns="101600" tIns="101600" rIns="101600" bIns="101600" anchor="t">
            <a:normAutofit fontScale="25000" lnSpcReduction="20000"/>
          </a:bodyPr>
          <a:lstStyle/>
          <a:p>
            <a:endParaRPr lang="en-US"/>
          </a:p>
        </p:txBody>
      </p:sp>
      <p:sp>
        <p:nvSpPr>
          <p:cNvPr id="126" name="Shape 126"/>
          <p:cNvSpPr/>
          <p:nvPr/>
        </p:nvSpPr>
        <p:spPr>
          <a:xfrm>
            <a:off x="9499600" y="5740400"/>
            <a:ext cx="3517900" cy="406400"/>
          </a:xfrm>
          <a:prstGeom prst="rect">
            <a:avLst/>
          </a:prstGeom>
          <a:noFill/>
          <a:ln>
            <a:noFill/>
          </a:ln>
        </p:spPr>
        <p:txBody>
          <a:bodyPr wrap="square" lIns="0" tIns="0" rIns="0" bIns="0" anchor="t">
            <a:normAutofit/>
          </a:bodyPr>
          <a:lstStyle/>
          <a:p>
            <a:pPr>
              <a:buNone/>
            </a:pPr>
            <a:r>
              <a:rPr lang="en-US" sz="2200" b="1" dirty="0">
                <a:solidFill>
                  <a:srgbClr val="001F6B"/>
                </a:solidFill>
                <a:latin typeface="Consolas"/>
                <a:cs typeface="Consolas"/>
              </a:rPr>
              <a:t>profile / target</a:t>
            </a:r>
          </a:p>
        </p:txBody>
      </p:sp>
      <p:sp>
        <p:nvSpPr>
          <p:cNvPr id="127" name="Shape 127"/>
          <p:cNvSpPr/>
          <p:nvPr/>
        </p:nvSpPr>
        <p:spPr>
          <a:xfrm>
            <a:off x="9499600" y="6197600"/>
            <a:ext cx="3517900" cy="1574800"/>
          </a:xfrm>
          <a:prstGeom prst="rect">
            <a:avLst/>
          </a:prstGeom>
          <a:noFill/>
          <a:ln>
            <a:noFill/>
          </a:ln>
        </p:spPr>
        <p:txBody>
          <a:bodyPr wrap="square" lIns="0" tIns="0" rIns="0" bIns="0" anchor="t">
            <a:normAutofit lnSpcReduction="10000"/>
          </a:bodyPr>
          <a:lstStyle/>
          <a:p>
            <a:pPr>
              <a:lnSpc>
                <a:spcPct val="104000"/>
              </a:lnSpc>
              <a:buNone/>
            </a:pPr>
            <a:r>
              <a:rPr lang="en-US" sz="1700" dirty="0">
                <a:solidFill>
                  <a:srgbClr val="364750"/>
                </a:solidFill>
                <a:latin typeface="Frutiger"/>
                <a:cs typeface="Frutiger"/>
              </a:rPr>
              <a:t>The connection: adapter, host, database, schema, credentials. Lives in profiles.yml (secrets via environment variables); a target is one named environment (warehouse, lakehouse, sqldb, ci).</a:t>
            </a:r>
          </a:p>
        </p:txBody>
      </p:sp>
      <p:sp>
        <p:nvSpPr>
          <p:cNvPr id="528" name="Shape 528"/>
          <p:cNvSpPr/>
          <p:nvPr/>
        </p:nvSpPr>
        <p:spPr>
          <a:xfrm>
            <a:off x="9499600" y="7797800"/>
            <a:ext cx="3517900" cy="482600"/>
          </a:xfrm>
          <a:prstGeom prst="rect">
            <a:avLst/>
          </a:prstGeom>
          <a:solidFill>
            <a:srgbClr val="F4F6FA"/>
          </a:solidFill>
          <a:ln>
            <a:noFill/>
          </a:ln>
        </p:spPr>
        <p:txBody>
          <a:bodyPr wrap="square" lIns="127000" tIns="25400" rIns="127000" bIns="25400" anchor="ctr">
            <a:normAutofit/>
          </a:bodyPr>
          <a:lstStyle/>
          <a:p>
            <a:pPr>
              <a:buNone/>
            </a:pPr>
            <a:r>
              <a:rPr lang="en-US" sz="1400" dirty="0">
                <a:solidFill>
                  <a:srgbClr val="001F6B"/>
                </a:solidFill>
                <a:latin typeface="Consolas"/>
                <a:cs typeface="Consolas"/>
              </a:rPr>
              <a:t>profiles.yml → --target lakehouse</a:t>
            </a:r>
          </a:p>
        </p:txBody>
      </p:sp>
      <p:sp>
        <p:nvSpPr>
          <p:cNvPr id="128" name="Shape 128"/>
          <p:cNvSpPr/>
          <p:nvPr/>
        </p:nvSpPr>
        <p:spPr>
          <a:xfrm>
            <a:off x="13525500" y="5537200"/>
            <a:ext cx="3924300" cy="28956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a:p>
        </p:txBody>
      </p:sp>
      <p:sp>
        <p:nvSpPr>
          <p:cNvPr id="129" name="Shape 129"/>
          <p:cNvSpPr/>
          <p:nvPr/>
        </p:nvSpPr>
        <p:spPr>
          <a:xfrm>
            <a:off x="13525500" y="5537200"/>
            <a:ext cx="3924300" cy="76200"/>
          </a:xfrm>
          <a:prstGeom prst="rect">
            <a:avLst/>
          </a:prstGeom>
          <a:solidFill>
            <a:srgbClr val="E40046"/>
          </a:solidFill>
          <a:ln>
            <a:noFill/>
          </a:ln>
        </p:spPr>
        <p:txBody>
          <a:bodyPr wrap="square" lIns="101600" tIns="101600" rIns="101600" bIns="101600" anchor="t">
            <a:normAutofit fontScale="25000" lnSpcReduction="20000"/>
          </a:bodyPr>
          <a:lstStyle/>
          <a:p>
            <a:endParaRPr lang="en-US"/>
          </a:p>
        </p:txBody>
      </p:sp>
      <p:sp>
        <p:nvSpPr>
          <p:cNvPr id="130" name="Shape 130"/>
          <p:cNvSpPr/>
          <p:nvPr/>
        </p:nvSpPr>
        <p:spPr>
          <a:xfrm>
            <a:off x="13728700" y="5740400"/>
            <a:ext cx="3517900" cy="406400"/>
          </a:xfrm>
          <a:prstGeom prst="rect">
            <a:avLst/>
          </a:prstGeom>
          <a:noFill/>
          <a:ln>
            <a:noFill/>
          </a:ln>
        </p:spPr>
        <p:txBody>
          <a:bodyPr wrap="square" lIns="0" tIns="0" rIns="0" bIns="0" anchor="t">
            <a:normAutofit/>
          </a:bodyPr>
          <a:lstStyle/>
          <a:p>
            <a:pPr>
              <a:buNone/>
            </a:pPr>
            <a:r>
              <a:rPr lang="en-US" sz="2200" b="1" dirty="0">
                <a:solidFill>
                  <a:srgbClr val="001F6B"/>
                </a:solidFill>
                <a:latin typeface="Consolas"/>
                <a:cs typeface="Consolas"/>
              </a:rPr>
              <a:t>adapter</a:t>
            </a:r>
          </a:p>
        </p:txBody>
      </p:sp>
      <p:sp>
        <p:nvSpPr>
          <p:cNvPr id="131" name="Shape 131"/>
          <p:cNvSpPr/>
          <p:nvPr/>
        </p:nvSpPr>
        <p:spPr>
          <a:xfrm>
            <a:off x="13728700" y="6197600"/>
            <a:ext cx="3517900" cy="1574800"/>
          </a:xfrm>
          <a:prstGeom prst="rect">
            <a:avLst/>
          </a:prstGeom>
          <a:noFill/>
          <a:ln>
            <a:noFill/>
          </a:ln>
        </p:spPr>
        <p:txBody>
          <a:bodyPr wrap="square" lIns="0" tIns="0" rIns="0" bIns="0" anchor="t">
            <a:normAutofit/>
          </a:bodyPr>
          <a:lstStyle/>
          <a:p>
            <a:pPr>
              <a:lnSpc>
                <a:spcPct val="104000"/>
              </a:lnSpc>
              <a:buNone/>
            </a:pPr>
            <a:r>
              <a:rPr lang="en-US" sz="1700" dirty="0">
                <a:solidFill>
                  <a:srgbClr val="364750"/>
                </a:solidFill>
                <a:latin typeface="Frutiger"/>
                <a:cs typeface="Frutiger"/>
              </a:rPr>
              <a:t>The Python package that teaches dbt a platform’s SQL dialect and DDL. One per engine, installed alongside dbt Core.</a:t>
            </a:r>
          </a:p>
        </p:txBody>
      </p:sp>
      <p:sp>
        <p:nvSpPr>
          <p:cNvPr id="532" name="Shape 532"/>
          <p:cNvSpPr/>
          <p:nvPr/>
        </p:nvSpPr>
        <p:spPr>
          <a:xfrm>
            <a:off x="13728700" y="7797800"/>
            <a:ext cx="3517900" cy="482600"/>
          </a:xfrm>
          <a:prstGeom prst="rect">
            <a:avLst/>
          </a:prstGeom>
          <a:solidFill>
            <a:srgbClr val="F4F6FA"/>
          </a:solidFill>
          <a:ln>
            <a:noFill/>
          </a:ln>
        </p:spPr>
        <p:txBody>
          <a:bodyPr wrap="square" lIns="127000" tIns="25400" rIns="127000" bIns="25400" anchor="ctr">
            <a:normAutofit/>
          </a:bodyPr>
          <a:lstStyle/>
          <a:p>
            <a:pPr>
              <a:buNone/>
            </a:pPr>
            <a:r>
              <a:rPr lang="en-US" sz="1400" dirty="0">
                <a:solidFill>
                  <a:srgbClr val="001F6B"/>
                </a:solidFill>
                <a:latin typeface="Consolas"/>
                <a:cs typeface="Consolas"/>
              </a:rPr>
              <a:t>dbt-fabric · dbt-fabricspark · dbt-sqlserver</a:t>
            </a:r>
          </a:p>
        </p:txBody>
      </p:sp>
      <p:sp>
        <p:nvSpPr>
          <p:cNvPr id="200" name="Shape 200"/>
          <p:cNvSpPr/>
          <p:nvPr/>
        </p:nvSpPr>
        <p:spPr>
          <a:xfrm>
            <a:off x="838200" y="8763000"/>
            <a:ext cx="16611600" cy="381000"/>
          </a:xfrm>
          <a:prstGeom prst="rect">
            <a:avLst/>
          </a:prstGeom>
          <a:noFill/>
          <a:ln>
            <a:noFill/>
          </a:ln>
        </p:spPr>
        <p:txBody>
          <a:bodyPr wrap="square" lIns="0" tIns="0" rIns="0" bIns="0" anchor="t">
            <a:normAutofit fontScale="92500"/>
          </a:bodyPr>
          <a:lstStyle/>
          <a:p>
            <a:pPr>
              <a:buNone/>
            </a:pPr>
            <a:r>
              <a:rPr lang="en-US" sz="1600" b="1" dirty="0">
                <a:solidFill>
                  <a:srgbClr val="001F6B"/>
                </a:solidFill>
                <a:latin typeface="Frutiger"/>
                <a:cs typeface="Frutiger"/>
              </a:rPr>
              <a:t>Also worth knowing:  </a:t>
            </a:r>
            <a:r>
              <a:rPr lang="en-US" sz="1600" dirty="0">
                <a:solidFill>
                  <a:srgbClr val="364750"/>
                </a:solidFill>
                <a:latin typeface="Frutiger"/>
                <a:cs typeface="Frutiger"/>
              </a:rPr>
              <a:t>DAG — the dependency graph ref() builds   ·   macro — a reusable Jinja snippet   ·   package — shared macros and tests (</a:t>
            </a:r>
            <a:r>
              <a:rPr lang="en-US" sz="1600" dirty="0" err="1">
                <a:solidFill>
                  <a:srgbClr val="364750"/>
                </a:solidFill>
                <a:latin typeface="Frutiger"/>
                <a:cs typeface="Frutiger"/>
              </a:rPr>
              <a:t>dbt_utils</a:t>
            </a:r>
            <a:r>
              <a:rPr lang="en-US" sz="1600" dirty="0">
                <a:solidFill>
                  <a:srgbClr val="364750"/>
                </a:solidFill>
                <a:latin typeface="Frutiger"/>
                <a:cs typeface="Frutiger"/>
              </a:rPr>
              <a:t>)   ·   artifacts — manifest.json and run_results.json in target/</a:t>
            </a:r>
          </a:p>
        </p:txBody>
      </p:sp>
    </p:spTree>
    <p:extLst>
      <p:ext uri="{BB962C8B-B14F-4D97-AF65-F5344CB8AC3E}">
        <p14:creationId xmlns:p14="http://schemas.microsoft.com/office/powerpoint/2010/main" val="1525687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3AA81A4-4B55-4071-8D0D-8E66DAC85BE0}"/>
              </a:ext>
            </a:extLst>
          </p:cNvPr>
          <p:cNvSpPr>
            <a:spLocks noGrp="1"/>
          </p:cNvSpPr>
          <p:nvPr/>
        </p:nvSpPr>
        <p:spPr>
          <a:xfrm>
            <a:off x="838201" y="495302"/>
            <a:ext cx="15240000" cy="392311"/>
          </a:xfrm>
          <a:prstGeom prst="rect">
            <a:avLst/>
          </a:prstGeom>
          <a:noFill/>
        </p:spPr>
        <p:txBody>
          <a:bodyPr wrap="square" lIns="25401" tIns="25401" rIns="25401" bIns="25401" anchor="t">
            <a:normAutofit/>
          </a:bodyPr>
          <a:lstStyle/>
          <a:p>
            <a:pPr>
              <a:lnSpc>
                <a:spcPct val="120000"/>
              </a:lnSpc>
              <a:buNone/>
            </a:pPr>
            <a:r>
              <a:rPr sz="1801" b="1" spc="361">
                <a:solidFill>
                  <a:srgbClr val="E40046"/>
                </a:solidFill>
                <a:latin typeface="Frutiger"/>
                <a:ea typeface="Frutiger"/>
                <a:cs typeface="Frutiger"/>
              </a:rPr>
              <a:t>ANATOMY OF A PROJECT</a:t>
            </a:r>
            <a:endParaRPr sz="1801"/>
          </a:p>
        </p:txBody>
      </p:sp>
      <p:sp>
        <p:nvSpPr>
          <p:cNvPr id="3" name="Text 1">
            <a:extLst>
              <a:ext uri="{FF2B5EF4-FFF2-40B4-BE49-F238E27FC236}">
                <a16:creationId xmlns:a16="http://schemas.microsoft.com/office/drawing/2014/main" id="{BCCFDF1D-25C9-4CBE-B374-B2E6938EB573}"/>
              </a:ext>
            </a:extLst>
          </p:cNvPr>
          <p:cNvSpPr>
            <a:spLocks noGrp="1"/>
          </p:cNvSpPr>
          <p:nvPr/>
        </p:nvSpPr>
        <p:spPr>
          <a:xfrm>
            <a:off x="838201" y="963812"/>
            <a:ext cx="15240000" cy="640407"/>
          </a:xfrm>
          <a:prstGeom prst="rect">
            <a:avLst/>
          </a:prstGeom>
          <a:noFill/>
        </p:spPr>
        <p:txBody>
          <a:bodyPr wrap="square" lIns="25401" tIns="25401" rIns="25401" bIns="25401" anchor="t">
            <a:normAutofit/>
          </a:bodyPr>
          <a:lstStyle/>
          <a:p>
            <a:pPr>
              <a:lnSpc>
                <a:spcPct val="79050"/>
              </a:lnSpc>
              <a:buNone/>
            </a:pPr>
            <a:r>
              <a:rPr sz="4651" b="1" spc="-69" dirty="0">
                <a:solidFill>
                  <a:srgbClr val="001F6B"/>
                </a:solidFill>
                <a:latin typeface="Frutiger"/>
                <a:ea typeface="Frutiger"/>
                <a:cs typeface="Frutiger"/>
              </a:rPr>
              <a:t>A folder of SQL and YAML — that’s the whole thing</a:t>
            </a:r>
            <a:endParaRPr sz="4651" dirty="0"/>
          </a:p>
        </p:txBody>
      </p:sp>
      <p:pic>
        <p:nvPicPr>
          <p:cNvPr id="29" name="Image 0"/>
          <p:cNvPicPr>
            <a:picLocks noChangeAspect="1"/>
          </p:cNvPicPr>
          <p:nvPr/>
        </p:nvPicPr>
        <p:blipFill>
          <a:blip r:embed="rId3"/>
          <a:srcRect t="-5" b="-5"/>
          <a:stretch/>
        </p:blipFill>
        <p:spPr>
          <a:xfrm>
            <a:off x="16412620" y="571500"/>
            <a:ext cx="1037182" cy="514350"/>
          </a:xfrm>
          <a:prstGeom prst="rect">
            <a:avLst/>
          </a:prstGeom>
        </p:spPr>
      </p:pic>
      <p:sp>
        <p:nvSpPr>
          <p:cNvPr id="5" name="Shape 2">
            <a:extLst>
              <a:ext uri="{FF2B5EF4-FFF2-40B4-BE49-F238E27FC236}">
                <a16:creationId xmlns:a16="http://schemas.microsoft.com/office/drawing/2014/main" id="{EB3CBC50-008C-43C4-9C0B-DC3810711F60}"/>
              </a:ext>
            </a:extLst>
          </p:cNvPr>
          <p:cNvSpPr>
            <a:spLocks noGrp="1"/>
          </p:cNvSpPr>
          <p:nvPr/>
        </p:nvSpPr>
        <p:spPr>
          <a:xfrm>
            <a:off x="838202" y="1813769"/>
            <a:ext cx="16611600" cy="28574"/>
          </a:xfrm>
          <a:prstGeom prst="rect">
            <a:avLst/>
          </a:prstGeom>
          <a:solidFill>
            <a:srgbClr val="FF0000"/>
          </a:solidFill>
        </p:spPr>
        <p:txBody>
          <a:bodyPr/>
          <a:lstStyle/>
          <a:p>
            <a:endParaRPr sz="1801"/>
          </a:p>
        </p:txBody>
      </p:sp>
      <p:sp>
        <p:nvSpPr>
          <p:cNvPr id="6" name="Shape 3">
            <a:extLst>
              <a:ext uri="{FF2B5EF4-FFF2-40B4-BE49-F238E27FC236}">
                <a16:creationId xmlns:a16="http://schemas.microsoft.com/office/drawing/2014/main" id="{A2F5C3DE-A1D6-4F76-BA20-D1D1D174C82A}"/>
              </a:ext>
            </a:extLst>
          </p:cNvPr>
          <p:cNvSpPr>
            <a:spLocks noGrp="1"/>
          </p:cNvSpPr>
          <p:nvPr/>
        </p:nvSpPr>
        <p:spPr>
          <a:xfrm>
            <a:off x="838202" y="1880445"/>
            <a:ext cx="16611600" cy="28574"/>
          </a:xfrm>
          <a:prstGeom prst="rect">
            <a:avLst/>
          </a:prstGeom>
          <a:solidFill>
            <a:srgbClr val="3649A8"/>
          </a:solidFill>
        </p:spPr>
        <p:txBody>
          <a:bodyPr/>
          <a:lstStyle/>
          <a:p>
            <a:endParaRPr sz="1801"/>
          </a:p>
        </p:txBody>
      </p:sp>
      <p:sp>
        <p:nvSpPr>
          <p:cNvPr id="22" name="Shape 19">
            <a:extLst>
              <a:ext uri="{FF2B5EF4-FFF2-40B4-BE49-F238E27FC236}">
                <a16:creationId xmlns:a16="http://schemas.microsoft.com/office/drawing/2014/main" id="{1541A8EB-697F-4AB4-AB8A-D0B4D6C58098}"/>
              </a:ext>
            </a:extLst>
          </p:cNvPr>
          <p:cNvSpPr>
            <a:spLocks noGrp="1"/>
          </p:cNvSpPr>
          <p:nvPr/>
        </p:nvSpPr>
        <p:spPr>
          <a:xfrm>
            <a:off x="838202" y="9294615"/>
            <a:ext cx="16611600" cy="9525"/>
          </a:xfrm>
          <a:prstGeom prst="rect">
            <a:avLst/>
          </a:prstGeom>
          <a:solidFill>
            <a:srgbClr val="E2E7EB"/>
          </a:solidFill>
        </p:spPr>
        <p:txBody>
          <a:bodyPr/>
          <a:lstStyle/>
          <a:p>
            <a:endParaRPr sz="1801"/>
          </a:p>
        </p:txBody>
      </p:sp>
      <p:sp>
        <p:nvSpPr>
          <p:cNvPr id="23" name="Text 20">
            <a:extLst>
              <a:ext uri="{FF2B5EF4-FFF2-40B4-BE49-F238E27FC236}">
                <a16:creationId xmlns:a16="http://schemas.microsoft.com/office/drawing/2014/main" id="{E15C9716-E370-4C36-BAEA-9A2EA3E99FB3}"/>
              </a:ext>
            </a:extLst>
          </p:cNvPr>
          <p:cNvSpPr>
            <a:spLocks noGrp="1"/>
          </p:cNvSpPr>
          <p:nvPr/>
        </p:nvSpPr>
        <p:spPr>
          <a:xfrm>
            <a:off x="838201" y="9513691"/>
            <a:ext cx="7461945" cy="392311"/>
          </a:xfrm>
          <a:prstGeom prst="rect">
            <a:avLst/>
          </a:prstGeom>
          <a:noFill/>
        </p:spPr>
        <p:txBody>
          <a:bodyPr wrap="square" lIns="25401" tIns="25401" rIns="25401" bIns="25401" anchor="t">
            <a:normAutofit/>
          </a:bodyPr>
          <a:lstStyle/>
          <a:p>
            <a:pPr>
              <a:lnSpc>
                <a:spcPct val="124000"/>
              </a:lnSpc>
              <a:buNone/>
            </a:pPr>
            <a:r>
              <a:rPr sz="1801" dirty="0">
                <a:solidFill>
                  <a:srgbClr val="667780"/>
                </a:solidFill>
                <a:latin typeface="Frutiger"/>
                <a:ea typeface="Frutiger"/>
                <a:cs typeface="Frutiger"/>
              </a:rPr>
              <a:t>Getting started with dbt</a:t>
            </a:r>
            <a:endParaRPr sz="1801" dirty="0"/>
          </a:p>
        </p:txBody>
      </p:sp>
      <p:sp>
        <p:nvSpPr>
          <p:cNvPr id="25" name="Text 22">
            <a:extLst>
              <a:ext uri="{FF2B5EF4-FFF2-40B4-BE49-F238E27FC236}">
                <a16:creationId xmlns:a16="http://schemas.microsoft.com/office/drawing/2014/main" id="{0D167625-4BC5-4EC5-9AFD-330CEA05D3F3}"/>
              </a:ext>
            </a:extLst>
          </p:cNvPr>
          <p:cNvSpPr>
            <a:spLocks noGrp="1"/>
          </p:cNvSpPr>
          <p:nvPr/>
        </p:nvSpPr>
        <p:spPr>
          <a:xfrm>
            <a:off x="9987856" y="9513691"/>
            <a:ext cx="7461945" cy="392311"/>
          </a:xfrm>
          <a:prstGeom prst="rect">
            <a:avLst/>
          </a:prstGeom>
          <a:noFill/>
        </p:spPr>
        <p:txBody>
          <a:bodyPr wrap="square" lIns="25401" tIns="25401" rIns="25401" bIns="25401" anchor="t">
            <a:normAutofit/>
          </a:bodyPr>
          <a:lstStyle/>
          <a:p>
            <a:pPr algn="r">
              <a:lnSpc>
                <a:spcPct val="124000"/>
              </a:lnSpc>
              <a:buNone/>
            </a:pPr>
            <a:r>
              <a:rPr lang="en-US" sz="1801">
                <a:solidFill>
                  <a:srgbClr val="667780"/>
                </a:solidFill>
                <a:latin typeface="Frutiger"/>
                <a:ea typeface="Frutiger"/>
                <a:cs typeface="Frutiger"/>
              </a:rPr>
              <a:t>08</a:t>
            </a:r>
            <a:endParaRPr sz="1801" dirty="0"/>
          </a:p>
        </p:txBody>
      </p:sp>
      <p:sp>
        <p:nvSpPr>
          <p:cNvPr id="100" name="Code 100"/>
          <p:cNvSpPr/>
          <p:nvPr/>
        </p:nvSpPr>
        <p:spPr>
          <a:xfrm>
            <a:off x="838200" y="2413000"/>
            <a:ext cx="7747000" cy="6705600"/>
          </a:xfrm>
          <a:prstGeom prst="roundRect">
            <a:avLst>
              <a:gd name="adj" fmla="val 4000"/>
            </a:avLst>
          </a:prstGeom>
          <a:solidFill>
            <a:srgbClr val="0E1E4A"/>
          </a:solidFill>
          <a:ln>
            <a:noFill/>
          </a:ln>
        </p:spPr>
        <p:txBody>
          <a:bodyPr wrap="square" lIns="228600" tIns="203200" rIns="228600" bIns="228600" anchor="t">
            <a:normAutofit/>
          </a:bodyPr>
          <a:lstStyle/>
          <a:p>
            <a:pPr>
              <a:lnSpc>
                <a:spcPct val="122000"/>
              </a:lnSpc>
              <a:buNone/>
            </a:pPr>
            <a:r>
              <a:rPr lang="en-US" sz="1700" dirty="0">
                <a:solidFill>
                  <a:srgbClr val="8EC5FF"/>
                </a:solidFill>
                <a:latin typeface="Consolas"/>
                <a:cs typeface="Consolas"/>
              </a:rPr>
              <a:t>jaffle_shop/</a:t>
            </a:r>
          </a:p>
          <a:p>
            <a:pPr>
              <a:lnSpc>
                <a:spcPct val="122000"/>
              </a:lnSpc>
              <a:buNone/>
            </a:pPr>
            <a:r>
              <a:rPr lang="en-US" sz="1700" dirty="0">
                <a:solidFill>
                  <a:srgbClr val="E8ECF5"/>
                </a:solidFill>
                <a:latin typeface="Consolas"/>
                <a:cs typeface="Consolas"/>
              </a:rPr>
              <a:t>├── </a:t>
            </a:r>
            <a:r>
              <a:rPr lang="en-US" sz="1700" dirty="0" err="1">
                <a:solidFill>
                  <a:srgbClr val="E8ECF5"/>
                </a:solidFill>
                <a:latin typeface="Consolas"/>
                <a:cs typeface="Consolas"/>
              </a:rPr>
              <a:t>dbt_project.yml</a:t>
            </a:r>
            <a:r>
              <a:rPr lang="en-US" sz="1700" dirty="0">
                <a:solidFill>
                  <a:srgbClr val="8E9DC5"/>
                </a:solidFill>
                <a:latin typeface="Consolas"/>
                <a:cs typeface="Consolas"/>
              </a:rPr>
              <a:t>        # name, paths, defaults</a:t>
            </a:r>
          </a:p>
          <a:p>
            <a:pPr>
              <a:lnSpc>
                <a:spcPct val="122000"/>
              </a:lnSpc>
              <a:buNone/>
            </a:pPr>
            <a:r>
              <a:rPr lang="en-US" sz="1700" dirty="0">
                <a:solidFill>
                  <a:srgbClr val="E8ECF5"/>
                </a:solidFill>
                <a:latin typeface="Consolas"/>
                <a:cs typeface="Consolas"/>
              </a:rPr>
              <a:t>├── packages.yml           # </a:t>
            </a:r>
            <a:r>
              <a:rPr lang="en-US" sz="1700" dirty="0" err="1">
                <a:solidFill>
                  <a:srgbClr val="E8ECF5"/>
                </a:solidFill>
                <a:latin typeface="Consolas"/>
                <a:cs typeface="Consolas"/>
              </a:rPr>
              <a:t>dbt_utils</a:t>
            </a:r>
            <a:endParaRPr lang="en-US" sz="1700" dirty="0">
              <a:solidFill>
                <a:srgbClr val="E8ECF5"/>
              </a:solidFill>
              <a:latin typeface="Consolas"/>
              <a:cs typeface="Consolas"/>
            </a:endParaRPr>
          </a:p>
          <a:p>
            <a:pPr>
              <a:lnSpc>
                <a:spcPct val="122000"/>
              </a:lnSpc>
              <a:buNone/>
            </a:pPr>
            <a:r>
              <a:rPr lang="en-US" sz="1700" dirty="0">
                <a:solidFill>
                  <a:srgbClr val="FFD27F"/>
                </a:solidFill>
                <a:latin typeface="Consolas"/>
                <a:cs typeface="Consolas"/>
              </a:rPr>
              <a:t>├── profiles.yml</a:t>
            </a:r>
            <a:r>
              <a:rPr lang="en-US" sz="1700" dirty="0">
                <a:solidFill>
                  <a:srgbClr val="8E9DC5"/>
                </a:solidFill>
                <a:latin typeface="Consolas"/>
                <a:cs typeface="Consolas"/>
              </a:rPr>
              <a:t>           # connections, values from env vars</a:t>
            </a:r>
          </a:p>
          <a:p>
            <a:pPr>
              <a:lnSpc>
                <a:spcPct val="122000"/>
              </a:lnSpc>
              <a:buNone/>
            </a:pPr>
            <a:r>
              <a:rPr lang="en-US" sz="1700" dirty="0">
                <a:solidFill>
                  <a:srgbClr val="FFD27F"/>
                </a:solidFill>
                <a:latin typeface="Consolas"/>
                <a:cs typeface="Consolas"/>
              </a:rPr>
              <a:t>├── seeds/jaffle-data/</a:t>
            </a:r>
          </a:p>
          <a:p>
            <a:pPr>
              <a:lnSpc>
                <a:spcPct val="122000"/>
              </a:lnSpc>
              <a:buNone/>
            </a:pPr>
            <a:r>
              <a:rPr lang="en-US" sz="1700" dirty="0">
                <a:solidFill>
                  <a:srgbClr val="E8ECF5"/>
                </a:solidFill>
                <a:latin typeface="Consolas"/>
                <a:cs typeface="Consolas"/>
              </a:rPr>
              <a:t>│   └── raw_*.csv          # six raw tables, loaded once</a:t>
            </a:r>
          </a:p>
          <a:p>
            <a:pPr>
              <a:lnSpc>
                <a:spcPct val="122000"/>
              </a:lnSpc>
              <a:buNone/>
            </a:pPr>
            <a:r>
              <a:rPr lang="en-US" sz="1700" dirty="0">
                <a:solidFill>
                  <a:srgbClr val="E8ECF5"/>
                </a:solidFill>
                <a:latin typeface="Consolas"/>
                <a:cs typeface="Consolas"/>
              </a:rPr>
              <a:t>├── models/</a:t>
            </a:r>
          </a:p>
          <a:p>
            <a:pPr>
              <a:lnSpc>
                <a:spcPct val="122000"/>
              </a:lnSpc>
              <a:buNone/>
            </a:pPr>
            <a:r>
              <a:rPr lang="en-US" sz="1700" dirty="0">
                <a:solidFill>
                  <a:srgbClr val="FF8FA3"/>
                </a:solidFill>
                <a:latin typeface="Consolas"/>
                <a:cs typeface="Consolas"/>
              </a:rPr>
              <a:t>│   ├── staging/</a:t>
            </a:r>
          </a:p>
          <a:p>
            <a:pPr>
              <a:lnSpc>
                <a:spcPct val="122000"/>
              </a:lnSpc>
              <a:buNone/>
            </a:pPr>
            <a:r>
              <a:rPr lang="en-US" sz="1700" dirty="0">
                <a:solidFill>
                  <a:srgbClr val="FF8FA3"/>
                </a:solidFill>
                <a:latin typeface="Consolas"/>
                <a:cs typeface="Consolas"/>
              </a:rPr>
              <a:t>│   │   ├── __sources.yml  # the raw tables, declared</a:t>
            </a:r>
          </a:p>
          <a:p>
            <a:pPr>
              <a:lnSpc>
                <a:spcPct val="122000"/>
              </a:lnSpc>
              <a:buNone/>
            </a:pPr>
            <a:r>
              <a:rPr lang="en-US" sz="1700" dirty="0">
                <a:solidFill>
                  <a:srgbClr val="FFD27F"/>
                </a:solidFill>
                <a:latin typeface="Consolas"/>
                <a:cs typeface="Consolas"/>
              </a:rPr>
              <a:t>│   │   ├── stg_orders.sql</a:t>
            </a:r>
          </a:p>
          <a:p>
            <a:pPr>
              <a:lnSpc>
                <a:spcPct val="122000"/>
              </a:lnSpc>
              <a:buNone/>
            </a:pPr>
            <a:r>
              <a:rPr lang="en-US" sz="1700" dirty="0">
                <a:solidFill>
                  <a:srgbClr val="E8ECF5"/>
                </a:solidFill>
                <a:latin typeface="Consolas"/>
                <a:cs typeface="Consolas"/>
              </a:rPr>
              <a:t>│   │   └── stg_orders.yml # docs + tests</a:t>
            </a:r>
          </a:p>
          <a:p>
            <a:pPr>
              <a:lnSpc>
                <a:spcPct val="122000"/>
              </a:lnSpc>
              <a:buNone/>
            </a:pPr>
            <a:r>
              <a:rPr lang="en-US" sz="1700" dirty="0">
                <a:solidFill>
                  <a:srgbClr val="FF8FA3"/>
                </a:solidFill>
                <a:latin typeface="Consolas"/>
                <a:cs typeface="Consolas"/>
              </a:rPr>
              <a:t>│   └── marts/</a:t>
            </a:r>
          </a:p>
          <a:p>
            <a:pPr>
              <a:lnSpc>
                <a:spcPct val="122000"/>
              </a:lnSpc>
              <a:buNone/>
            </a:pPr>
            <a:r>
              <a:rPr lang="en-US" sz="1700" dirty="0">
                <a:solidFill>
                  <a:srgbClr val="FFD27F"/>
                </a:solidFill>
                <a:latin typeface="Consolas"/>
                <a:cs typeface="Consolas"/>
              </a:rPr>
              <a:t>│       ├── orders.sql</a:t>
            </a:r>
          </a:p>
          <a:p>
            <a:pPr>
              <a:lnSpc>
                <a:spcPct val="122000"/>
              </a:lnSpc>
              <a:buNone/>
            </a:pPr>
            <a:r>
              <a:rPr lang="en-US" sz="1700" dirty="0">
                <a:solidFill>
                  <a:srgbClr val="E8ECF5"/>
                </a:solidFill>
                <a:latin typeface="Consolas"/>
                <a:cs typeface="Consolas"/>
              </a:rPr>
              <a:t>│       ├── customers.sql</a:t>
            </a:r>
          </a:p>
          <a:p>
            <a:pPr>
              <a:lnSpc>
                <a:spcPct val="122000"/>
              </a:lnSpc>
              <a:buNone/>
            </a:pPr>
            <a:r>
              <a:rPr lang="en-US" sz="1700" dirty="0">
                <a:solidFill>
                  <a:srgbClr val="FF8FA3"/>
                </a:solidFill>
                <a:latin typeface="Consolas"/>
                <a:cs typeface="Consolas"/>
              </a:rPr>
              <a:t>│       └── customers.yml  # docs + tests + unit tests</a:t>
            </a:r>
          </a:p>
          <a:p>
            <a:pPr>
              <a:lnSpc>
                <a:spcPct val="122000"/>
              </a:lnSpc>
              <a:buNone/>
            </a:pPr>
            <a:r>
              <a:rPr lang="en-US" sz="1700" dirty="0">
                <a:solidFill>
                  <a:srgbClr val="E8ECF5"/>
                </a:solidFill>
                <a:latin typeface="Consolas"/>
                <a:cs typeface="Consolas"/>
              </a:rPr>
              <a:t>├── macros/</a:t>
            </a:r>
          </a:p>
          <a:p>
            <a:pPr>
              <a:lnSpc>
                <a:spcPct val="122000"/>
              </a:lnSpc>
              <a:buNone/>
            </a:pPr>
            <a:r>
              <a:rPr lang="en-US" sz="1700" dirty="0">
                <a:solidFill>
                  <a:srgbClr val="E8ECF5"/>
                </a:solidFill>
                <a:latin typeface="Consolas"/>
                <a:cs typeface="Consolas"/>
              </a:rPr>
              <a:t>│   └── cents_to_dollars.sql</a:t>
            </a:r>
          </a:p>
          <a:p>
            <a:pPr>
              <a:lnSpc>
                <a:spcPct val="122000"/>
              </a:lnSpc>
              <a:buNone/>
            </a:pPr>
            <a:r>
              <a:rPr lang="en-US" sz="1700" dirty="0">
                <a:solidFill>
                  <a:srgbClr val="8EC5FF"/>
                </a:solidFill>
                <a:latin typeface="Consolas"/>
                <a:cs typeface="Consolas"/>
              </a:rPr>
              <a:t>└── target/</a:t>
            </a:r>
            <a:r>
              <a:rPr lang="en-US" sz="1700" dirty="0">
                <a:solidFill>
                  <a:srgbClr val="8E9DC5"/>
                </a:solidFill>
                <a:latin typeface="Consolas"/>
                <a:cs typeface="Consolas"/>
              </a:rPr>
              <a:t>                # compiled SQL, artifacts</a:t>
            </a:r>
          </a:p>
        </p:txBody>
      </p:sp>
      <p:sp>
        <p:nvSpPr>
          <p:cNvPr id="120" name="Shape 120"/>
          <p:cNvSpPr/>
          <p:nvPr/>
        </p:nvSpPr>
        <p:spPr>
          <a:xfrm>
            <a:off x="9042400" y="2413000"/>
            <a:ext cx="76200" cy="1193800"/>
          </a:xfrm>
          <a:prstGeom prst="rect">
            <a:avLst/>
          </a:prstGeom>
          <a:solidFill>
            <a:srgbClr val="001F6B"/>
          </a:solidFill>
          <a:ln>
            <a:noFill/>
          </a:ln>
        </p:spPr>
        <p:txBody>
          <a:bodyPr wrap="square" lIns="101600" tIns="101600" rIns="101600" bIns="101600" anchor="t">
            <a:normAutofit/>
          </a:bodyPr>
          <a:lstStyle/>
          <a:p>
            <a:endParaRPr lang="en-US"/>
          </a:p>
        </p:txBody>
      </p:sp>
      <p:sp>
        <p:nvSpPr>
          <p:cNvPr id="121" name="Shape 121"/>
          <p:cNvSpPr/>
          <p:nvPr/>
        </p:nvSpPr>
        <p:spPr>
          <a:xfrm>
            <a:off x="9296400" y="2362200"/>
            <a:ext cx="8128000" cy="1295400"/>
          </a:xfrm>
          <a:prstGeom prst="rect">
            <a:avLst/>
          </a:prstGeom>
          <a:noFill/>
          <a:ln>
            <a:noFill/>
          </a:ln>
        </p:spPr>
        <p:txBody>
          <a:bodyPr wrap="square" lIns="0" tIns="0" rIns="0" bIns="0" anchor="t">
            <a:normAutofit/>
          </a:bodyPr>
          <a:lstStyle/>
          <a:p>
            <a:pPr>
              <a:buNone/>
            </a:pPr>
            <a:r>
              <a:rPr lang="en-US" sz="2000" b="1" dirty="0" err="1">
                <a:solidFill>
                  <a:srgbClr val="001F6B"/>
                </a:solidFill>
                <a:latin typeface="Consolas"/>
                <a:cs typeface="Consolas"/>
              </a:rPr>
              <a:t>dbt_project.yml</a:t>
            </a:r>
            <a:endParaRPr lang="en-US" sz="2000" b="1" dirty="0">
              <a:solidFill>
                <a:srgbClr val="001F6B"/>
              </a:solidFill>
              <a:latin typeface="Consolas"/>
              <a:cs typeface="Consolas"/>
            </a:endParaRPr>
          </a:p>
          <a:p>
            <a:pPr>
              <a:lnSpc>
                <a:spcPct val="106000"/>
              </a:lnSpc>
              <a:spcBef>
                <a:spcPts val="400"/>
              </a:spcBef>
              <a:buNone/>
            </a:pPr>
            <a:r>
              <a:rPr lang="en-US" sz="2000" dirty="0">
                <a:solidFill>
                  <a:srgbClr val="364750"/>
                </a:solidFill>
                <a:latin typeface="Frutiger"/>
                <a:cs typeface="Frutiger"/>
              </a:rPr>
              <a:t>Names the project, points at the folders, sets defaults such as “staging as views, marts as tables”. One per project.</a:t>
            </a:r>
          </a:p>
        </p:txBody>
      </p:sp>
      <p:sp>
        <p:nvSpPr>
          <p:cNvPr id="123" name="Shape 123"/>
          <p:cNvSpPr/>
          <p:nvPr/>
        </p:nvSpPr>
        <p:spPr>
          <a:xfrm>
            <a:off x="9042400" y="3759200"/>
            <a:ext cx="76200" cy="1193800"/>
          </a:xfrm>
          <a:prstGeom prst="rect">
            <a:avLst/>
          </a:prstGeom>
          <a:solidFill>
            <a:srgbClr val="E40046"/>
          </a:solidFill>
          <a:ln>
            <a:noFill/>
          </a:ln>
        </p:spPr>
        <p:txBody>
          <a:bodyPr wrap="square" lIns="101600" tIns="101600" rIns="101600" bIns="101600" anchor="t">
            <a:normAutofit/>
          </a:bodyPr>
          <a:lstStyle/>
          <a:p>
            <a:endParaRPr lang="en-US"/>
          </a:p>
        </p:txBody>
      </p:sp>
      <p:sp>
        <p:nvSpPr>
          <p:cNvPr id="124" name="Shape 124"/>
          <p:cNvSpPr/>
          <p:nvPr/>
        </p:nvSpPr>
        <p:spPr>
          <a:xfrm>
            <a:off x="9296400" y="3708400"/>
            <a:ext cx="8128000" cy="1295400"/>
          </a:xfrm>
          <a:prstGeom prst="rect">
            <a:avLst/>
          </a:prstGeom>
          <a:noFill/>
          <a:ln>
            <a:noFill/>
          </a:ln>
        </p:spPr>
        <p:txBody>
          <a:bodyPr wrap="square" lIns="0" tIns="0" rIns="0" bIns="0" anchor="t">
            <a:normAutofit/>
          </a:bodyPr>
          <a:lstStyle/>
          <a:p>
            <a:pPr>
              <a:buNone/>
            </a:pPr>
            <a:r>
              <a:rPr lang="en-US" sz="2000" b="1" dirty="0">
                <a:solidFill>
                  <a:srgbClr val="001F6B"/>
                </a:solidFill>
                <a:latin typeface="Consolas"/>
                <a:cs typeface="Consolas"/>
              </a:rPr>
              <a:t>models/*.sql</a:t>
            </a:r>
          </a:p>
          <a:p>
            <a:pPr>
              <a:lnSpc>
                <a:spcPct val="106000"/>
              </a:lnSpc>
              <a:spcBef>
                <a:spcPts val="400"/>
              </a:spcBef>
              <a:buNone/>
            </a:pPr>
            <a:r>
              <a:rPr lang="en-US" sz="2000" dirty="0">
                <a:solidFill>
                  <a:srgbClr val="364750"/>
                </a:solidFill>
                <a:latin typeface="Frutiger"/>
                <a:cs typeface="Frutiger"/>
              </a:rPr>
              <a:t>One SELECT per file. The filename is the model name; dbt writes the CREATE VIEW / TABLE for you.</a:t>
            </a:r>
          </a:p>
        </p:txBody>
      </p:sp>
      <p:sp>
        <p:nvSpPr>
          <p:cNvPr id="126" name="Shape 126"/>
          <p:cNvSpPr/>
          <p:nvPr/>
        </p:nvSpPr>
        <p:spPr>
          <a:xfrm>
            <a:off x="9042400" y="5105400"/>
            <a:ext cx="76200" cy="1193800"/>
          </a:xfrm>
          <a:prstGeom prst="rect">
            <a:avLst/>
          </a:prstGeom>
          <a:solidFill>
            <a:srgbClr val="E40046"/>
          </a:solidFill>
          <a:ln>
            <a:noFill/>
          </a:ln>
        </p:spPr>
        <p:txBody>
          <a:bodyPr wrap="square" lIns="101600" tIns="101600" rIns="101600" bIns="101600" anchor="t">
            <a:normAutofit/>
          </a:bodyPr>
          <a:lstStyle/>
          <a:p>
            <a:endParaRPr lang="en-US"/>
          </a:p>
        </p:txBody>
      </p:sp>
      <p:sp>
        <p:nvSpPr>
          <p:cNvPr id="127" name="Shape 127"/>
          <p:cNvSpPr/>
          <p:nvPr/>
        </p:nvSpPr>
        <p:spPr>
          <a:xfrm>
            <a:off x="9296400" y="5054600"/>
            <a:ext cx="8128000" cy="1295400"/>
          </a:xfrm>
          <a:prstGeom prst="rect">
            <a:avLst/>
          </a:prstGeom>
          <a:noFill/>
          <a:ln>
            <a:noFill/>
          </a:ln>
        </p:spPr>
        <p:txBody>
          <a:bodyPr wrap="square" lIns="0" tIns="0" rIns="0" bIns="0" anchor="t">
            <a:normAutofit/>
          </a:bodyPr>
          <a:lstStyle/>
          <a:p>
            <a:pPr>
              <a:buNone/>
            </a:pPr>
            <a:r>
              <a:rPr lang="en-US" sz="2000" b="1" dirty="0">
                <a:solidFill>
                  <a:srgbClr val="001F6B"/>
                </a:solidFill>
                <a:latin typeface="Consolas"/>
                <a:cs typeface="Consolas"/>
              </a:rPr>
              <a:t>models/*.yml</a:t>
            </a:r>
          </a:p>
          <a:p>
            <a:pPr>
              <a:lnSpc>
                <a:spcPct val="106000"/>
              </a:lnSpc>
              <a:spcBef>
                <a:spcPts val="400"/>
              </a:spcBef>
              <a:buNone/>
            </a:pPr>
            <a:r>
              <a:rPr lang="en-US" sz="2000" dirty="0">
                <a:solidFill>
                  <a:srgbClr val="364750"/>
                </a:solidFill>
                <a:latin typeface="Frutiger"/>
                <a:cs typeface="Frutiger"/>
              </a:rPr>
              <a:t>Descriptions and tests sit beside the SQL they describe — so docs and checks are versioned with the code.</a:t>
            </a:r>
          </a:p>
        </p:txBody>
      </p:sp>
      <p:sp>
        <p:nvSpPr>
          <p:cNvPr id="129" name="Shape 129"/>
          <p:cNvSpPr/>
          <p:nvPr/>
        </p:nvSpPr>
        <p:spPr>
          <a:xfrm>
            <a:off x="9042400" y="6451600"/>
            <a:ext cx="76200" cy="1193800"/>
          </a:xfrm>
          <a:prstGeom prst="rect">
            <a:avLst/>
          </a:prstGeom>
          <a:solidFill>
            <a:srgbClr val="001F6B"/>
          </a:solidFill>
          <a:ln>
            <a:noFill/>
          </a:ln>
        </p:spPr>
        <p:txBody>
          <a:bodyPr wrap="square" lIns="101600" tIns="101600" rIns="101600" bIns="101600" anchor="t">
            <a:normAutofit/>
          </a:bodyPr>
          <a:lstStyle/>
          <a:p>
            <a:endParaRPr lang="en-US"/>
          </a:p>
        </p:txBody>
      </p:sp>
      <p:sp>
        <p:nvSpPr>
          <p:cNvPr id="130" name="Shape 130"/>
          <p:cNvSpPr/>
          <p:nvPr/>
        </p:nvSpPr>
        <p:spPr>
          <a:xfrm>
            <a:off x="9296400" y="6400800"/>
            <a:ext cx="8128000" cy="1295400"/>
          </a:xfrm>
          <a:prstGeom prst="rect">
            <a:avLst/>
          </a:prstGeom>
          <a:noFill/>
          <a:ln>
            <a:noFill/>
          </a:ln>
        </p:spPr>
        <p:txBody>
          <a:bodyPr wrap="square" lIns="0" tIns="0" rIns="0" bIns="0" anchor="t">
            <a:normAutofit/>
          </a:bodyPr>
          <a:lstStyle/>
          <a:p>
            <a:pPr>
              <a:buNone/>
            </a:pPr>
            <a:r>
              <a:rPr lang="en-US" sz="2000" b="1" dirty="0">
                <a:solidFill>
                  <a:srgbClr val="001F6B"/>
                </a:solidFill>
                <a:latin typeface="Consolas"/>
                <a:cs typeface="Consolas"/>
              </a:rPr>
              <a:t>seeds/ and macros/</a:t>
            </a:r>
          </a:p>
          <a:p>
            <a:pPr>
              <a:lnSpc>
                <a:spcPct val="106000"/>
              </a:lnSpc>
              <a:spcBef>
                <a:spcPts val="400"/>
              </a:spcBef>
              <a:buNone/>
            </a:pPr>
            <a:r>
              <a:rPr lang="en-US" sz="2000" dirty="0">
                <a:solidFill>
                  <a:srgbClr val="364750"/>
                </a:solidFill>
                <a:latin typeface="Frutiger"/>
                <a:cs typeface="Frutiger"/>
              </a:rPr>
              <a:t>Seeds are CSVs dbt loads for you — here they stand in for ingestion. macros/ holds reusable Jinja such as cents_to_dollars.</a:t>
            </a:r>
          </a:p>
        </p:txBody>
      </p:sp>
      <p:sp>
        <p:nvSpPr>
          <p:cNvPr id="132" name="Shape 132"/>
          <p:cNvSpPr/>
          <p:nvPr/>
        </p:nvSpPr>
        <p:spPr>
          <a:xfrm>
            <a:off x="9042400" y="7797800"/>
            <a:ext cx="76200" cy="1193800"/>
          </a:xfrm>
          <a:prstGeom prst="rect">
            <a:avLst/>
          </a:prstGeom>
          <a:solidFill>
            <a:srgbClr val="8E9DC5"/>
          </a:solidFill>
          <a:ln>
            <a:noFill/>
          </a:ln>
        </p:spPr>
        <p:txBody>
          <a:bodyPr wrap="square" lIns="101600" tIns="101600" rIns="101600" bIns="101600" anchor="t">
            <a:normAutofit/>
          </a:bodyPr>
          <a:lstStyle/>
          <a:p>
            <a:endParaRPr lang="en-US"/>
          </a:p>
        </p:txBody>
      </p:sp>
      <p:sp>
        <p:nvSpPr>
          <p:cNvPr id="133" name="Shape 133"/>
          <p:cNvSpPr/>
          <p:nvPr/>
        </p:nvSpPr>
        <p:spPr>
          <a:xfrm>
            <a:off x="9296400" y="7747000"/>
            <a:ext cx="8128000" cy="1295400"/>
          </a:xfrm>
          <a:prstGeom prst="rect">
            <a:avLst/>
          </a:prstGeom>
          <a:noFill/>
          <a:ln>
            <a:noFill/>
          </a:ln>
        </p:spPr>
        <p:txBody>
          <a:bodyPr wrap="square" lIns="0" tIns="0" rIns="0" bIns="0" anchor="t">
            <a:normAutofit/>
          </a:bodyPr>
          <a:lstStyle/>
          <a:p>
            <a:pPr>
              <a:buNone/>
            </a:pPr>
            <a:r>
              <a:rPr lang="en-US" sz="2000" b="1" dirty="0">
                <a:solidFill>
                  <a:srgbClr val="001F6B"/>
                </a:solidFill>
                <a:latin typeface="Consolas"/>
                <a:cs typeface="Consolas"/>
              </a:rPr>
              <a:t>profiles.yml</a:t>
            </a:r>
          </a:p>
          <a:p>
            <a:pPr>
              <a:lnSpc>
                <a:spcPct val="106000"/>
              </a:lnSpc>
              <a:spcBef>
                <a:spcPts val="400"/>
              </a:spcBef>
              <a:buNone/>
            </a:pPr>
            <a:r>
              <a:rPr lang="en-US" sz="2000" dirty="0">
                <a:solidFill>
                  <a:srgbClr val="364750"/>
                </a:solidFill>
                <a:latin typeface="Frutiger"/>
                <a:cs typeface="Frutiger"/>
              </a:rPr>
              <a:t>The connection: adapter type, host, database, schema, authentication. Ours is in Git because every value comes from an environment variable.</a:t>
            </a:r>
          </a:p>
        </p:txBody>
      </p:sp>
    </p:spTree>
    <p:extLst>
      <p:ext uri="{BB962C8B-B14F-4D97-AF65-F5344CB8AC3E}">
        <p14:creationId xmlns:p14="http://schemas.microsoft.com/office/powerpoint/2010/main" val="3984599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8DD8E74-1DB1-4509-B6B8-8F85DE69EC33}"/>
              </a:ext>
            </a:extLst>
          </p:cNvPr>
          <p:cNvSpPr>
            <a:spLocks noGrp="1"/>
          </p:cNvSpPr>
          <p:nvPr/>
        </p:nvSpPr>
        <p:spPr>
          <a:xfrm>
            <a:off x="838201" y="495302"/>
            <a:ext cx="15240000" cy="392311"/>
          </a:xfrm>
          <a:prstGeom prst="rect">
            <a:avLst/>
          </a:prstGeom>
          <a:noFill/>
        </p:spPr>
        <p:txBody>
          <a:bodyPr wrap="square" lIns="25401" tIns="25401" rIns="25401" bIns="25401" anchor="t">
            <a:normAutofit/>
          </a:bodyPr>
          <a:lstStyle/>
          <a:p>
            <a:pPr>
              <a:lnSpc>
                <a:spcPct val="120000"/>
              </a:lnSpc>
              <a:buNone/>
            </a:pPr>
            <a:r>
              <a:rPr sz="1801" b="1" spc="361">
                <a:solidFill>
                  <a:srgbClr val="E40046"/>
                </a:solidFill>
                <a:latin typeface="Frutiger"/>
                <a:ea typeface="Frutiger"/>
                <a:cs typeface="Frutiger"/>
              </a:rPr>
              <a:t>MODELS</a:t>
            </a:r>
            <a:endParaRPr sz="1801"/>
          </a:p>
        </p:txBody>
      </p:sp>
      <p:sp>
        <p:nvSpPr>
          <p:cNvPr id="3" name="Text 1">
            <a:extLst>
              <a:ext uri="{FF2B5EF4-FFF2-40B4-BE49-F238E27FC236}">
                <a16:creationId xmlns:a16="http://schemas.microsoft.com/office/drawing/2014/main" id="{454A5393-1907-4275-B9E9-C410BF0DBCDF}"/>
              </a:ext>
            </a:extLst>
          </p:cNvPr>
          <p:cNvSpPr>
            <a:spLocks noGrp="1"/>
          </p:cNvSpPr>
          <p:nvPr/>
        </p:nvSpPr>
        <p:spPr>
          <a:xfrm>
            <a:off x="838201" y="963812"/>
            <a:ext cx="15240000" cy="640407"/>
          </a:xfrm>
          <a:prstGeom prst="rect">
            <a:avLst/>
          </a:prstGeom>
          <a:noFill/>
        </p:spPr>
        <p:txBody>
          <a:bodyPr wrap="square" lIns="25401" tIns="25401" rIns="25401" bIns="25401" anchor="t">
            <a:normAutofit/>
          </a:bodyPr>
          <a:lstStyle/>
          <a:p>
            <a:pPr>
              <a:lnSpc>
                <a:spcPct val="79050"/>
              </a:lnSpc>
              <a:buNone/>
            </a:pPr>
            <a:r>
              <a:rPr sz="4651" b="1" spc="-69">
                <a:solidFill>
                  <a:srgbClr val="001F6B"/>
                </a:solidFill>
                <a:latin typeface="Frutiger"/>
                <a:ea typeface="Frutiger"/>
                <a:cs typeface="Frutiger"/>
              </a:rPr>
              <a:t>A model is just a SELECT</a:t>
            </a:r>
            <a:endParaRPr sz="4651"/>
          </a:p>
        </p:txBody>
      </p:sp>
      <p:pic>
        <p:nvPicPr>
          <p:cNvPr id="30" name="Image 0"/>
          <p:cNvPicPr>
            <a:picLocks noChangeAspect="1"/>
          </p:cNvPicPr>
          <p:nvPr/>
        </p:nvPicPr>
        <p:blipFill>
          <a:blip r:embed="rId3"/>
          <a:srcRect t="-5" b="-5"/>
          <a:stretch/>
        </p:blipFill>
        <p:spPr>
          <a:xfrm>
            <a:off x="16412620" y="571500"/>
            <a:ext cx="1037182" cy="514350"/>
          </a:xfrm>
          <a:prstGeom prst="rect">
            <a:avLst/>
          </a:prstGeom>
        </p:spPr>
      </p:pic>
      <p:sp>
        <p:nvSpPr>
          <p:cNvPr id="5" name="Shape 2">
            <a:extLst>
              <a:ext uri="{FF2B5EF4-FFF2-40B4-BE49-F238E27FC236}">
                <a16:creationId xmlns:a16="http://schemas.microsoft.com/office/drawing/2014/main" id="{96506226-AB52-43FB-ABA8-E1F967B1C350}"/>
              </a:ext>
            </a:extLst>
          </p:cNvPr>
          <p:cNvSpPr>
            <a:spLocks noGrp="1"/>
          </p:cNvSpPr>
          <p:nvPr/>
        </p:nvSpPr>
        <p:spPr>
          <a:xfrm>
            <a:off x="838202" y="1813769"/>
            <a:ext cx="16611600" cy="28574"/>
          </a:xfrm>
          <a:prstGeom prst="rect">
            <a:avLst/>
          </a:prstGeom>
          <a:solidFill>
            <a:srgbClr val="FF0000"/>
          </a:solidFill>
        </p:spPr>
        <p:txBody>
          <a:bodyPr/>
          <a:lstStyle/>
          <a:p>
            <a:endParaRPr sz="1801"/>
          </a:p>
        </p:txBody>
      </p:sp>
      <p:sp>
        <p:nvSpPr>
          <p:cNvPr id="6" name="Shape 3">
            <a:extLst>
              <a:ext uri="{FF2B5EF4-FFF2-40B4-BE49-F238E27FC236}">
                <a16:creationId xmlns:a16="http://schemas.microsoft.com/office/drawing/2014/main" id="{B53C8AF0-E782-40B7-9807-7A9BA9D5C057}"/>
              </a:ext>
            </a:extLst>
          </p:cNvPr>
          <p:cNvSpPr>
            <a:spLocks noGrp="1"/>
          </p:cNvSpPr>
          <p:nvPr/>
        </p:nvSpPr>
        <p:spPr>
          <a:xfrm>
            <a:off x="838202" y="1880445"/>
            <a:ext cx="16611600" cy="28574"/>
          </a:xfrm>
          <a:prstGeom prst="rect">
            <a:avLst/>
          </a:prstGeom>
          <a:solidFill>
            <a:srgbClr val="3649A8"/>
          </a:solidFill>
        </p:spPr>
        <p:txBody>
          <a:bodyPr/>
          <a:lstStyle/>
          <a:p>
            <a:endParaRPr sz="1801"/>
          </a:p>
        </p:txBody>
      </p:sp>
      <p:sp>
        <p:nvSpPr>
          <p:cNvPr id="23" name="Shape 20">
            <a:extLst>
              <a:ext uri="{FF2B5EF4-FFF2-40B4-BE49-F238E27FC236}">
                <a16:creationId xmlns:a16="http://schemas.microsoft.com/office/drawing/2014/main" id="{986EBE02-E6C2-4A57-82D2-230CA7D18A38}"/>
              </a:ext>
            </a:extLst>
          </p:cNvPr>
          <p:cNvSpPr>
            <a:spLocks noGrp="1"/>
          </p:cNvSpPr>
          <p:nvPr/>
        </p:nvSpPr>
        <p:spPr>
          <a:xfrm>
            <a:off x="838202" y="9294615"/>
            <a:ext cx="16611600" cy="9525"/>
          </a:xfrm>
          <a:prstGeom prst="rect">
            <a:avLst/>
          </a:prstGeom>
          <a:solidFill>
            <a:srgbClr val="E2E7EB"/>
          </a:solidFill>
        </p:spPr>
        <p:txBody>
          <a:bodyPr/>
          <a:lstStyle/>
          <a:p>
            <a:endParaRPr sz="1801"/>
          </a:p>
        </p:txBody>
      </p:sp>
      <p:sp>
        <p:nvSpPr>
          <p:cNvPr id="24" name="Text 21">
            <a:extLst>
              <a:ext uri="{FF2B5EF4-FFF2-40B4-BE49-F238E27FC236}">
                <a16:creationId xmlns:a16="http://schemas.microsoft.com/office/drawing/2014/main" id="{81383D1B-3B45-4C05-9C8A-439B28F8A2D2}"/>
              </a:ext>
            </a:extLst>
          </p:cNvPr>
          <p:cNvSpPr>
            <a:spLocks noGrp="1"/>
          </p:cNvSpPr>
          <p:nvPr/>
        </p:nvSpPr>
        <p:spPr>
          <a:xfrm>
            <a:off x="838201" y="9513691"/>
            <a:ext cx="7461945" cy="392311"/>
          </a:xfrm>
          <a:prstGeom prst="rect">
            <a:avLst/>
          </a:prstGeom>
          <a:noFill/>
        </p:spPr>
        <p:txBody>
          <a:bodyPr wrap="square" lIns="25401" tIns="25401" rIns="25401" bIns="25401" anchor="t">
            <a:normAutofit/>
          </a:bodyPr>
          <a:lstStyle/>
          <a:p>
            <a:pPr>
              <a:lnSpc>
                <a:spcPct val="124000"/>
              </a:lnSpc>
              <a:buNone/>
            </a:pPr>
            <a:r>
              <a:rPr sz="1801" dirty="0">
                <a:solidFill>
                  <a:srgbClr val="667780"/>
                </a:solidFill>
                <a:latin typeface="Frutiger"/>
                <a:ea typeface="Frutiger"/>
                <a:cs typeface="Frutiger"/>
              </a:rPr>
              <a:t>Getting started with dbt</a:t>
            </a:r>
            <a:endParaRPr sz="1801" dirty="0"/>
          </a:p>
        </p:txBody>
      </p:sp>
      <p:sp>
        <p:nvSpPr>
          <p:cNvPr id="26" name="Text 23">
            <a:extLst>
              <a:ext uri="{FF2B5EF4-FFF2-40B4-BE49-F238E27FC236}">
                <a16:creationId xmlns:a16="http://schemas.microsoft.com/office/drawing/2014/main" id="{57053F5A-4F41-40B1-B3CE-278E9D4C84A8}"/>
              </a:ext>
            </a:extLst>
          </p:cNvPr>
          <p:cNvSpPr>
            <a:spLocks noGrp="1"/>
          </p:cNvSpPr>
          <p:nvPr/>
        </p:nvSpPr>
        <p:spPr>
          <a:xfrm>
            <a:off x="9987856" y="9513691"/>
            <a:ext cx="7461945" cy="392311"/>
          </a:xfrm>
          <a:prstGeom prst="rect">
            <a:avLst/>
          </a:prstGeom>
          <a:noFill/>
        </p:spPr>
        <p:txBody>
          <a:bodyPr wrap="square" lIns="25401" tIns="25401" rIns="25401" bIns="25401" anchor="t">
            <a:normAutofit/>
          </a:bodyPr>
          <a:lstStyle/>
          <a:p>
            <a:pPr algn="r">
              <a:lnSpc>
                <a:spcPct val="124000"/>
              </a:lnSpc>
              <a:buNone/>
            </a:pPr>
            <a:r>
              <a:rPr lang="en-US" sz="1801">
                <a:solidFill>
                  <a:srgbClr val="667780"/>
                </a:solidFill>
                <a:latin typeface="Frutiger"/>
                <a:ea typeface="Frutiger"/>
                <a:cs typeface="Frutiger"/>
              </a:rPr>
              <a:t>09</a:t>
            </a:r>
            <a:endParaRPr sz="1801"/>
          </a:p>
        </p:txBody>
      </p:sp>
      <p:sp>
        <p:nvSpPr>
          <p:cNvPr id="100" name="Shape 100"/>
          <p:cNvSpPr/>
          <p:nvPr/>
        </p:nvSpPr>
        <p:spPr>
          <a:xfrm>
            <a:off x="838200" y="2260600"/>
            <a:ext cx="7620000" cy="381000"/>
          </a:xfrm>
          <a:prstGeom prst="rect">
            <a:avLst/>
          </a:prstGeom>
          <a:noFill/>
          <a:ln>
            <a:noFill/>
          </a:ln>
        </p:spPr>
        <p:txBody>
          <a:bodyPr wrap="square" lIns="0" tIns="0" rIns="0" bIns="0" anchor="t">
            <a:normAutofit/>
          </a:bodyPr>
          <a:lstStyle/>
          <a:p>
            <a:pPr>
              <a:buNone/>
            </a:pPr>
            <a:r>
              <a:rPr lang="en-US" sz="1500" b="1" spc="200" dirty="0">
                <a:solidFill>
                  <a:srgbClr val="667780"/>
                </a:solidFill>
                <a:latin typeface="Frutiger"/>
                <a:cs typeface="Frutiger"/>
              </a:rPr>
              <a:t>WHAT YOU WRITE TODAY</a:t>
            </a:r>
          </a:p>
        </p:txBody>
      </p:sp>
      <p:sp>
        <p:nvSpPr>
          <p:cNvPr id="101" name="Shape 101"/>
          <p:cNvSpPr/>
          <p:nvPr/>
        </p:nvSpPr>
        <p:spPr>
          <a:xfrm>
            <a:off x="9423400" y="2260600"/>
            <a:ext cx="8026400" cy="381000"/>
          </a:xfrm>
          <a:prstGeom prst="rect">
            <a:avLst/>
          </a:prstGeom>
          <a:noFill/>
          <a:ln>
            <a:noFill/>
          </a:ln>
        </p:spPr>
        <p:txBody>
          <a:bodyPr wrap="square" lIns="0" tIns="0" rIns="0" bIns="0" anchor="t">
            <a:normAutofit/>
          </a:bodyPr>
          <a:lstStyle/>
          <a:p>
            <a:pPr>
              <a:buNone/>
            </a:pPr>
            <a:r>
              <a:rPr lang="en-US" sz="1500" b="1" spc="200" dirty="0">
                <a:solidFill>
                  <a:srgbClr val="E40046"/>
                </a:solidFill>
                <a:latin typeface="Frutiger"/>
                <a:cs typeface="Frutiger"/>
              </a:rPr>
              <a:t>THE SAME THING AS A DBT MODEL</a:t>
            </a:r>
          </a:p>
        </p:txBody>
      </p:sp>
      <p:sp>
        <p:nvSpPr>
          <p:cNvPr id="110" name="Code 110"/>
          <p:cNvSpPr/>
          <p:nvPr/>
        </p:nvSpPr>
        <p:spPr>
          <a:xfrm>
            <a:off x="838200" y="2717800"/>
            <a:ext cx="7721600" cy="3810000"/>
          </a:xfrm>
          <a:prstGeom prst="roundRect">
            <a:avLst>
              <a:gd name="adj" fmla="val 4000"/>
            </a:avLst>
          </a:prstGeom>
          <a:solidFill>
            <a:srgbClr val="2B3A55"/>
          </a:solidFill>
          <a:ln>
            <a:noFill/>
          </a:ln>
        </p:spPr>
        <p:txBody>
          <a:bodyPr wrap="square" lIns="228600" tIns="203200" rIns="228600" bIns="228600" anchor="t">
            <a:normAutofit/>
          </a:bodyPr>
          <a:lstStyle/>
          <a:p>
            <a:pPr>
              <a:lnSpc>
                <a:spcPct val="120000"/>
              </a:lnSpc>
              <a:buNone/>
            </a:pPr>
            <a:r>
              <a:rPr lang="en-US" sz="1800" dirty="0">
                <a:solidFill>
                  <a:srgbClr val="8EC5FF"/>
                </a:solidFill>
                <a:latin typeface="Consolas"/>
                <a:cs typeface="Consolas"/>
              </a:rPr>
              <a:t>CREATE OR ALTER VIEW </a:t>
            </a:r>
            <a:r>
              <a:rPr lang="en-US" sz="1800" dirty="0">
                <a:solidFill>
                  <a:srgbClr val="E8ECF5"/>
                </a:solidFill>
                <a:latin typeface="Consolas"/>
                <a:cs typeface="Consolas"/>
              </a:rPr>
              <a:t>jaffle_shop.stg_orders</a:t>
            </a:r>
            <a:r>
              <a:rPr lang="en-US" sz="1800" dirty="0">
                <a:solidFill>
                  <a:srgbClr val="8EC5FF"/>
                </a:solidFill>
                <a:latin typeface="Consolas"/>
                <a:cs typeface="Consolas"/>
              </a:rPr>
              <a:t> AS</a:t>
            </a:r>
          </a:p>
          <a:p>
            <a:pPr>
              <a:lnSpc>
                <a:spcPct val="120000"/>
              </a:lnSpc>
              <a:buNone/>
            </a:pPr>
            <a:r>
              <a:rPr lang="en-US" sz="1800" dirty="0">
                <a:solidFill>
                  <a:srgbClr val="8EC5FF"/>
                </a:solidFill>
                <a:latin typeface="Consolas"/>
                <a:cs typeface="Consolas"/>
              </a:rPr>
              <a:t>SELECT</a:t>
            </a:r>
          </a:p>
          <a:p>
            <a:pPr>
              <a:lnSpc>
                <a:spcPct val="120000"/>
              </a:lnSpc>
              <a:buNone/>
            </a:pPr>
            <a:r>
              <a:rPr lang="en-US" sz="1800" dirty="0">
                <a:solidFill>
                  <a:srgbClr val="E8ECF5"/>
                </a:solidFill>
                <a:latin typeface="Consolas"/>
                <a:cs typeface="Consolas"/>
              </a:rPr>
              <a:t>    id          AS order_id,</a:t>
            </a:r>
          </a:p>
          <a:p>
            <a:pPr>
              <a:lnSpc>
                <a:spcPct val="120000"/>
              </a:lnSpc>
              <a:buNone/>
            </a:pPr>
            <a:r>
              <a:rPr lang="en-US" sz="1800" dirty="0">
                <a:solidFill>
                  <a:srgbClr val="E8ECF5"/>
                </a:solidFill>
                <a:latin typeface="Consolas"/>
                <a:cs typeface="Consolas"/>
              </a:rPr>
              <a:t>    customer    AS customer_id,</a:t>
            </a:r>
          </a:p>
          <a:p>
            <a:pPr>
              <a:lnSpc>
                <a:spcPct val="120000"/>
              </a:lnSpc>
              <a:buNone/>
            </a:pPr>
            <a:r>
              <a:rPr lang="en-US" sz="1800" dirty="0">
                <a:solidFill>
                  <a:srgbClr val="E8ECF5"/>
                </a:solidFill>
                <a:latin typeface="Consolas"/>
                <a:cs typeface="Consolas"/>
              </a:rPr>
              <a:t>    store_id    AS location_id,</a:t>
            </a:r>
          </a:p>
          <a:p>
            <a:pPr>
              <a:lnSpc>
                <a:spcPct val="120000"/>
              </a:lnSpc>
              <a:buNone/>
            </a:pPr>
            <a:r>
              <a:rPr lang="en-US" sz="1800" dirty="0">
                <a:solidFill>
                  <a:srgbClr val="E8ECF5"/>
                </a:solidFill>
                <a:latin typeface="Consolas"/>
                <a:cs typeface="Consolas"/>
              </a:rPr>
              <a:t>    CAST(order_total / 100.0 AS numeric(16,2))</a:t>
            </a:r>
          </a:p>
          <a:p>
            <a:pPr>
              <a:lnSpc>
                <a:spcPct val="120000"/>
              </a:lnSpc>
              <a:buNone/>
            </a:pPr>
            <a:r>
              <a:rPr lang="en-US" sz="1800" dirty="0">
                <a:solidFill>
                  <a:srgbClr val="8EC5FF"/>
                </a:solidFill>
                <a:latin typeface="Consolas"/>
                <a:cs typeface="Consolas"/>
              </a:rPr>
              <a:t>        AS</a:t>
            </a:r>
            <a:r>
              <a:rPr lang="en-US" sz="1800" dirty="0">
                <a:solidFill>
                  <a:srgbClr val="E8ECF5"/>
                </a:solidFill>
                <a:latin typeface="Consolas"/>
                <a:cs typeface="Consolas"/>
              </a:rPr>
              <a:t> order_total,</a:t>
            </a:r>
          </a:p>
          <a:p>
            <a:pPr>
              <a:lnSpc>
                <a:spcPct val="120000"/>
              </a:lnSpc>
              <a:buNone/>
            </a:pPr>
            <a:r>
              <a:rPr lang="en-US" sz="1800" dirty="0">
                <a:solidFill>
                  <a:srgbClr val="8EC5FF"/>
                </a:solidFill>
                <a:latin typeface="Consolas"/>
                <a:cs typeface="Consolas"/>
              </a:rPr>
              <a:t>    CAST</a:t>
            </a:r>
            <a:r>
              <a:rPr lang="en-US" sz="1800" dirty="0">
                <a:solidFill>
                  <a:srgbClr val="E8ECF5"/>
                </a:solidFill>
                <a:latin typeface="Consolas"/>
                <a:cs typeface="Consolas"/>
              </a:rPr>
              <a:t>(ordered_at AS date) AS ordered_at</a:t>
            </a:r>
          </a:p>
          <a:p>
            <a:pPr>
              <a:lnSpc>
                <a:spcPct val="120000"/>
              </a:lnSpc>
              <a:buNone/>
            </a:pPr>
            <a:r>
              <a:rPr lang="en-US" sz="1800" dirty="0">
                <a:solidFill>
                  <a:srgbClr val="8EC5FF"/>
                </a:solidFill>
                <a:latin typeface="Consolas"/>
                <a:cs typeface="Consolas"/>
              </a:rPr>
              <a:t>FROM</a:t>
            </a:r>
            <a:r>
              <a:rPr lang="en-US" sz="1800" dirty="0">
                <a:solidFill>
                  <a:srgbClr val="E8ECF5"/>
                </a:solidFill>
                <a:latin typeface="Consolas"/>
                <a:cs typeface="Consolas"/>
              </a:rPr>
              <a:t> raw.raw_orders;</a:t>
            </a:r>
          </a:p>
        </p:txBody>
      </p:sp>
      <p:sp>
        <p:nvSpPr>
          <p:cNvPr id="112" name="Code 112"/>
          <p:cNvSpPr/>
          <p:nvPr/>
        </p:nvSpPr>
        <p:spPr>
          <a:xfrm>
            <a:off x="9423400" y="2717800"/>
            <a:ext cx="8026400" cy="3810000"/>
          </a:xfrm>
          <a:prstGeom prst="roundRect">
            <a:avLst>
              <a:gd name="adj" fmla="val 4000"/>
            </a:avLst>
          </a:prstGeom>
          <a:solidFill>
            <a:srgbClr val="0E1E4A"/>
          </a:solidFill>
          <a:ln>
            <a:noFill/>
          </a:ln>
        </p:spPr>
        <p:txBody>
          <a:bodyPr wrap="square" lIns="228600" tIns="203200" rIns="228600" bIns="228600" anchor="t">
            <a:normAutofit/>
          </a:bodyPr>
          <a:lstStyle/>
          <a:p>
            <a:pPr>
              <a:lnSpc>
                <a:spcPct val="120000"/>
              </a:lnSpc>
              <a:buNone/>
            </a:pPr>
            <a:r>
              <a:rPr lang="en-US" sz="1800" dirty="0">
                <a:solidFill>
                  <a:srgbClr val="8E9DC5"/>
                </a:solidFill>
                <a:latin typeface="Consolas"/>
                <a:cs typeface="Consolas"/>
              </a:rPr>
              <a:t>-- models/staging/stg_orders.sql</a:t>
            </a:r>
          </a:p>
          <a:p>
            <a:pPr>
              <a:lnSpc>
                <a:spcPct val="120000"/>
              </a:lnSpc>
              <a:buNone/>
            </a:pPr>
            <a:r>
              <a:rPr lang="en-US" sz="1800" dirty="0">
                <a:solidFill>
                  <a:srgbClr val="8E9DC5"/>
                </a:solidFill>
                <a:latin typeface="Consolas"/>
                <a:cs typeface="Consolas"/>
              </a:rPr>
              <a:t>-- grain: one row per order</a:t>
            </a:r>
          </a:p>
          <a:p>
            <a:pPr>
              <a:lnSpc>
                <a:spcPct val="120000"/>
              </a:lnSpc>
              <a:buNone/>
            </a:pPr>
            <a:r>
              <a:rPr lang="en-US" sz="1800" dirty="0">
                <a:solidFill>
                  <a:srgbClr val="8EC5FF"/>
                </a:solidFill>
                <a:latin typeface="Consolas"/>
                <a:cs typeface="Consolas"/>
              </a:rPr>
              <a:t>select</a:t>
            </a:r>
          </a:p>
          <a:p>
            <a:pPr>
              <a:lnSpc>
                <a:spcPct val="120000"/>
              </a:lnSpc>
              <a:buNone/>
            </a:pPr>
            <a:r>
              <a:rPr lang="en-US" sz="1800" dirty="0">
                <a:solidFill>
                  <a:srgbClr val="E8ECF5"/>
                </a:solidFill>
                <a:latin typeface="Consolas"/>
                <a:cs typeface="Consolas"/>
              </a:rPr>
              <a:t>    id as order_id,</a:t>
            </a:r>
          </a:p>
          <a:p>
            <a:pPr>
              <a:lnSpc>
                <a:spcPct val="120000"/>
              </a:lnSpc>
              <a:buNone/>
            </a:pPr>
            <a:r>
              <a:rPr lang="en-US" sz="1800" dirty="0">
                <a:solidFill>
                  <a:srgbClr val="E8ECF5"/>
                </a:solidFill>
                <a:latin typeface="Consolas"/>
                <a:cs typeface="Consolas"/>
              </a:rPr>
              <a:t>    customer as customer_id,</a:t>
            </a:r>
          </a:p>
          <a:p>
            <a:pPr>
              <a:lnSpc>
                <a:spcPct val="120000"/>
              </a:lnSpc>
              <a:buNone/>
            </a:pPr>
            <a:r>
              <a:rPr lang="en-US" sz="1800" dirty="0">
                <a:solidFill>
                  <a:srgbClr val="E8ECF5"/>
                </a:solidFill>
                <a:latin typeface="Consolas"/>
                <a:cs typeface="Consolas"/>
              </a:rPr>
              <a:t>    store_id as location_id,</a:t>
            </a:r>
          </a:p>
          <a:p>
            <a:pPr>
              <a:lnSpc>
                <a:spcPct val="120000"/>
              </a:lnSpc>
              <a:buNone/>
            </a:pPr>
            <a:r>
              <a:rPr lang="en-US" sz="1800" dirty="0">
                <a:solidFill>
                  <a:srgbClr val="E8ECF5"/>
                </a:solidFill>
                <a:latin typeface="Consolas"/>
                <a:cs typeface="Consolas"/>
              </a:rPr>
              <a:t>    {{ cents_to_dollars('order_total') }}</a:t>
            </a:r>
          </a:p>
          <a:p>
            <a:pPr>
              <a:lnSpc>
                <a:spcPct val="120000"/>
              </a:lnSpc>
              <a:buNone/>
            </a:pPr>
            <a:r>
              <a:rPr lang="en-US" sz="1800" dirty="0">
                <a:solidFill>
                  <a:srgbClr val="8EC5FF"/>
                </a:solidFill>
                <a:latin typeface="Consolas"/>
                <a:cs typeface="Consolas"/>
              </a:rPr>
              <a:t>        as</a:t>
            </a:r>
            <a:r>
              <a:rPr lang="en-US" sz="1800" dirty="0">
                <a:solidFill>
                  <a:srgbClr val="E8ECF5"/>
                </a:solidFill>
                <a:latin typeface="Consolas"/>
                <a:cs typeface="Consolas"/>
              </a:rPr>
              <a:t> order_total,</a:t>
            </a:r>
          </a:p>
          <a:p>
            <a:pPr>
              <a:lnSpc>
                <a:spcPct val="120000"/>
              </a:lnSpc>
              <a:buNone/>
            </a:pPr>
            <a:r>
              <a:rPr lang="en-US" sz="1800" dirty="0">
                <a:solidFill>
                  <a:srgbClr val="8EC5FF"/>
                </a:solidFill>
                <a:latin typeface="Consolas"/>
                <a:cs typeface="Consolas"/>
              </a:rPr>
              <a:t>    {{ </a:t>
            </a:r>
            <a:r>
              <a:rPr lang="en-US" sz="1800" dirty="0" err="1">
                <a:solidFill>
                  <a:srgbClr val="8EC5FF"/>
                </a:solidFill>
                <a:latin typeface="Consolas"/>
                <a:cs typeface="Consolas"/>
              </a:rPr>
              <a:t>dbt.date_trunc</a:t>
            </a:r>
            <a:r>
              <a:rPr lang="en-US" sz="1800" dirty="0">
                <a:solidFill>
                  <a:srgbClr val="8EC5FF"/>
                </a:solidFill>
                <a:latin typeface="Consolas"/>
                <a:cs typeface="Consolas"/>
              </a:rPr>
              <a:t>('day', 'ordered_at') }} as ordered_at</a:t>
            </a:r>
          </a:p>
          <a:p>
            <a:pPr>
              <a:lnSpc>
                <a:spcPct val="120000"/>
              </a:lnSpc>
              <a:buNone/>
            </a:pPr>
            <a:r>
              <a:rPr lang="en-US" sz="1800" dirty="0">
                <a:solidFill>
                  <a:srgbClr val="8EC5FF"/>
                </a:solidFill>
                <a:latin typeface="Consolas"/>
                <a:cs typeface="Consolas"/>
              </a:rPr>
              <a:t>from </a:t>
            </a:r>
            <a:r>
              <a:rPr lang="en-US" sz="1800" dirty="0">
                <a:solidFill>
                  <a:srgbClr val="FF8FA3"/>
                </a:solidFill>
                <a:latin typeface="Consolas"/>
                <a:cs typeface="Consolas"/>
              </a:rPr>
              <a:t>{{ source('ecom', 'raw_orders') }}</a:t>
            </a:r>
          </a:p>
        </p:txBody>
      </p:sp>
      <p:cxnSp>
        <p:nvCxnSpPr>
          <p:cNvPr id="114" name="Line 114"/>
          <p:cNvCxnSpPr/>
          <p:nvPr/>
        </p:nvCxnSpPr>
        <p:spPr>
          <a:xfrm>
            <a:off x="8686800" y="4622800"/>
            <a:ext cx="609600" cy="0"/>
          </a:xfrm>
          <a:prstGeom prst="line">
            <a:avLst/>
          </a:prstGeom>
          <a:ln w="38100">
            <a:solidFill>
              <a:srgbClr val="E40046"/>
            </a:solidFill>
            <a:tailEnd type="triangle" w="med" len="med"/>
          </a:ln>
        </p:spPr>
      </p:cxnSp>
      <p:sp>
        <p:nvSpPr>
          <p:cNvPr id="120" name="Shape 120"/>
          <p:cNvSpPr/>
          <p:nvPr/>
        </p:nvSpPr>
        <p:spPr>
          <a:xfrm>
            <a:off x="838200" y="6807200"/>
            <a:ext cx="50800" cy="1473200"/>
          </a:xfrm>
          <a:prstGeom prst="rect">
            <a:avLst/>
          </a:prstGeom>
          <a:solidFill>
            <a:srgbClr val="8E9DC5"/>
          </a:solidFill>
          <a:ln>
            <a:noFill/>
          </a:ln>
        </p:spPr>
        <p:txBody>
          <a:bodyPr wrap="square" lIns="101600" tIns="101600" rIns="101600" bIns="101600" anchor="t">
            <a:normAutofit/>
          </a:bodyPr>
          <a:lstStyle/>
          <a:p>
            <a:endParaRPr lang="en-US"/>
          </a:p>
        </p:txBody>
      </p:sp>
      <p:sp>
        <p:nvSpPr>
          <p:cNvPr id="121" name="Shape 121"/>
          <p:cNvSpPr/>
          <p:nvPr/>
        </p:nvSpPr>
        <p:spPr>
          <a:xfrm>
            <a:off x="1092200" y="6781800"/>
            <a:ext cx="5130800" cy="1549400"/>
          </a:xfrm>
          <a:prstGeom prst="rect">
            <a:avLst/>
          </a:prstGeom>
          <a:noFill/>
          <a:ln>
            <a:noFill/>
          </a:ln>
        </p:spPr>
        <p:txBody>
          <a:bodyPr wrap="square" lIns="0" tIns="0" rIns="0" bIns="0" anchor="t">
            <a:normAutofit/>
          </a:bodyPr>
          <a:lstStyle/>
          <a:p>
            <a:pPr>
              <a:buNone/>
            </a:pPr>
            <a:r>
              <a:rPr lang="en-US" sz="2100" b="1" dirty="0">
                <a:solidFill>
                  <a:srgbClr val="001F6B"/>
                </a:solidFill>
                <a:latin typeface="Frutiger"/>
                <a:cs typeface="Frutiger"/>
              </a:rPr>
              <a:t>No DDL in the file</a:t>
            </a:r>
          </a:p>
          <a:p>
            <a:pPr>
              <a:lnSpc>
                <a:spcPct val="105000"/>
              </a:lnSpc>
              <a:spcBef>
                <a:spcPts val="500"/>
              </a:spcBef>
              <a:buNone/>
            </a:pPr>
            <a:r>
              <a:rPr lang="en-US" sz="1900" dirty="0">
                <a:solidFill>
                  <a:srgbClr val="364750"/>
                </a:solidFill>
                <a:latin typeface="Frutiger"/>
                <a:cs typeface="Frutiger"/>
              </a:rPr>
              <a:t>You write the SELECT. dbt generates CREATE VIEW or CREATE TABLE for the target engine — and drops/replaces it on rebuild.</a:t>
            </a:r>
          </a:p>
        </p:txBody>
      </p:sp>
      <p:sp>
        <p:nvSpPr>
          <p:cNvPr id="122" name="Shape 122"/>
          <p:cNvSpPr/>
          <p:nvPr/>
        </p:nvSpPr>
        <p:spPr>
          <a:xfrm>
            <a:off x="6426200" y="6807200"/>
            <a:ext cx="50800" cy="1473200"/>
          </a:xfrm>
          <a:prstGeom prst="rect">
            <a:avLst/>
          </a:prstGeom>
          <a:solidFill>
            <a:srgbClr val="8E9DC5"/>
          </a:solidFill>
          <a:ln>
            <a:noFill/>
          </a:ln>
        </p:spPr>
        <p:txBody>
          <a:bodyPr wrap="square" lIns="101600" tIns="101600" rIns="101600" bIns="101600" anchor="t">
            <a:normAutofit/>
          </a:bodyPr>
          <a:lstStyle/>
          <a:p>
            <a:endParaRPr lang="en-US"/>
          </a:p>
        </p:txBody>
      </p:sp>
      <p:sp>
        <p:nvSpPr>
          <p:cNvPr id="123" name="Shape 123"/>
          <p:cNvSpPr/>
          <p:nvPr/>
        </p:nvSpPr>
        <p:spPr>
          <a:xfrm>
            <a:off x="6680200" y="6781800"/>
            <a:ext cx="5130800" cy="1549400"/>
          </a:xfrm>
          <a:prstGeom prst="rect">
            <a:avLst/>
          </a:prstGeom>
          <a:noFill/>
          <a:ln>
            <a:noFill/>
          </a:ln>
        </p:spPr>
        <p:txBody>
          <a:bodyPr wrap="square" lIns="0" tIns="0" rIns="0" bIns="0" anchor="t">
            <a:normAutofit/>
          </a:bodyPr>
          <a:lstStyle/>
          <a:p>
            <a:pPr>
              <a:buNone/>
            </a:pPr>
            <a:r>
              <a:rPr lang="en-US" sz="2100" b="1" dirty="0">
                <a:solidFill>
                  <a:srgbClr val="001F6B"/>
                </a:solidFill>
                <a:latin typeface="Frutiger"/>
                <a:cs typeface="Frutiger"/>
              </a:rPr>
              <a:t>The filename is the model name</a:t>
            </a:r>
          </a:p>
          <a:p>
            <a:pPr>
              <a:lnSpc>
                <a:spcPct val="105000"/>
              </a:lnSpc>
              <a:spcBef>
                <a:spcPts val="500"/>
              </a:spcBef>
              <a:buNone/>
            </a:pPr>
            <a:r>
              <a:rPr lang="en-US" sz="1900" dirty="0">
                <a:solidFill>
                  <a:srgbClr val="364750"/>
                </a:solidFill>
                <a:latin typeface="Frutiger"/>
                <a:cs typeface="Frutiger"/>
              </a:rPr>
              <a:t>stg_orders.sql becomes jaffle_shop.stg_orders. Rename the file, rename the object.</a:t>
            </a:r>
          </a:p>
        </p:txBody>
      </p:sp>
      <p:sp>
        <p:nvSpPr>
          <p:cNvPr id="124" name="Shape 124"/>
          <p:cNvSpPr/>
          <p:nvPr/>
        </p:nvSpPr>
        <p:spPr>
          <a:xfrm>
            <a:off x="12014200" y="6807200"/>
            <a:ext cx="50800" cy="1473200"/>
          </a:xfrm>
          <a:prstGeom prst="rect">
            <a:avLst/>
          </a:prstGeom>
          <a:solidFill>
            <a:srgbClr val="E40046"/>
          </a:solidFill>
          <a:ln>
            <a:noFill/>
          </a:ln>
        </p:spPr>
        <p:txBody>
          <a:bodyPr wrap="square" lIns="101600" tIns="101600" rIns="101600" bIns="101600" anchor="t">
            <a:normAutofit/>
          </a:bodyPr>
          <a:lstStyle/>
          <a:p>
            <a:endParaRPr lang="en-US"/>
          </a:p>
        </p:txBody>
      </p:sp>
      <p:sp>
        <p:nvSpPr>
          <p:cNvPr id="125" name="Shape 125"/>
          <p:cNvSpPr/>
          <p:nvPr/>
        </p:nvSpPr>
        <p:spPr>
          <a:xfrm>
            <a:off x="12268200" y="6781800"/>
            <a:ext cx="5130800" cy="1549400"/>
          </a:xfrm>
          <a:prstGeom prst="rect">
            <a:avLst/>
          </a:prstGeom>
          <a:noFill/>
          <a:ln>
            <a:noFill/>
          </a:ln>
        </p:spPr>
        <p:txBody>
          <a:bodyPr wrap="square" lIns="0" tIns="0" rIns="0" bIns="0" anchor="t">
            <a:normAutofit lnSpcReduction="10000"/>
          </a:bodyPr>
          <a:lstStyle/>
          <a:p>
            <a:pPr>
              <a:buNone/>
            </a:pPr>
            <a:r>
              <a:rPr lang="en-US" sz="2100" b="1" dirty="0">
                <a:solidFill>
                  <a:srgbClr val="001F6B"/>
                </a:solidFill>
                <a:latin typeface="Frutiger"/>
                <a:cs typeface="Frutiger"/>
              </a:rPr>
              <a:t>source() and ref() instead of a schema name</a:t>
            </a:r>
          </a:p>
          <a:p>
            <a:pPr>
              <a:lnSpc>
                <a:spcPct val="105000"/>
              </a:lnSpc>
              <a:spcBef>
                <a:spcPts val="500"/>
              </a:spcBef>
              <a:buNone/>
            </a:pPr>
            <a:r>
              <a:rPr lang="en-US" sz="1900" dirty="0">
                <a:solidFill>
                  <a:srgbClr val="364750"/>
                </a:solidFill>
                <a:latin typeface="Frutiger"/>
                <a:cs typeface="Frutiger"/>
              </a:rPr>
              <a:t>source() names a table ingestion owns; ref() names another model. Both declare a dependency dbt can order, select and document — and resolve per environment.</a:t>
            </a:r>
          </a:p>
        </p:txBody>
      </p:sp>
      <p:sp>
        <p:nvSpPr>
          <p:cNvPr id="130" name="Shape 130"/>
          <p:cNvSpPr/>
          <p:nvPr/>
        </p:nvSpPr>
        <p:spPr>
          <a:xfrm>
            <a:off x="838200" y="8483600"/>
            <a:ext cx="16611600" cy="635000"/>
          </a:xfrm>
          <a:prstGeom prst="rect">
            <a:avLst/>
          </a:prstGeom>
          <a:solidFill>
            <a:srgbClr val="F4F6FA"/>
          </a:solidFill>
          <a:ln>
            <a:noFill/>
          </a:ln>
        </p:spPr>
        <p:txBody>
          <a:bodyPr wrap="square" lIns="228600" tIns="25400" rIns="228600" bIns="25400" anchor="ctr">
            <a:normAutofit/>
          </a:bodyPr>
          <a:lstStyle/>
          <a:p>
            <a:pPr>
              <a:buNone/>
            </a:pPr>
            <a:r>
              <a:rPr lang="en-US" sz="1900" b="1" dirty="0">
                <a:solidFill>
                  <a:srgbClr val="001F6B"/>
                </a:solidFill>
                <a:latin typeface="Consolas"/>
                <a:cs typeface="Consolas"/>
              </a:rPr>
              <a:t>dbt compile</a:t>
            </a:r>
            <a:r>
              <a:rPr lang="en-US" sz="1900" dirty="0">
                <a:solidFill>
                  <a:srgbClr val="667780"/>
                </a:solidFill>
                <a:latin typeface="Frutiger"/>
                <a:cs typeface="Frutiger"/>
              </a:rPr>
              <a:t>  →  target/compiled/…/stg_orders.sql:   </a:t>
            </a:r>
            <a:r>
              <a:rPr lang="en-US" sz="1900" dirty="0">
                <a:solidFill>
                  <a:srgbClr val="001F6B"/>
                </a:solidFill>
                <a:latin typeface="Consolas"/>
                <a:cs typeface="Consolas"/>
              </a:rPr>
              <a:t>from [WH_Jaffle_Shop].[raw].[raw_orders]</a:t>
            </a:r>
            <a:r>
              <a:rPr lang="en-US" sz="1800" i="1" dirty="0">
                <a:solidFill>
                  <a:srgbClr val="667780"/>
                </a:solidFill>
                <a:latin typeface="Frutiger"/>
                <a:cs typeface="Frutiger"/>
              </a:rPr>
              <a:t>    symbolic name → concrete relation, per target</a:t>
            </a:r>
          </a:p>
        </p:txBody>
      </p:sp>
    </p:spTree>
    <p:extLst>
      <p:ext uri="{BB962C8B-B14F-4D97-AF65-F5344CB8AC3E}">
        <p14:creationId xmlns:p14="http://schemas.microsoft.com/office/powerpoint/2010/main" val="3448472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4EC90D35-304A-4ED8-BF67-87162AFBE388}"/>
              </a:ext>
            </a:extLst>
          </p:cNvPr>
          <p:cNvSpPr>
            <a:spLocks noGrp="1"/>
          </p:cNvSpPr>
          <p:nvPr/>
        </p:nvSpPr>
        <p:spPr>
          <a:xfrm>
            <a:off x="838201" y="963812"/>
            <a:ext cx="15240000" cy="640407"/>
          </a:xfrm>
          <a:prstGeom prst="rect">
            <a:avLst/>
          </a:prstGeom>
          <a:noFill/>
        </p:spPr>
        <p:txBody>
          <a:bodyPr wrap="square" lIns="25401" tIns="25401" rIns="25401" bIns="25401" anchor="t">
            <a:normAutofit/>
          </a:bodyPr>
          <a:lstStyle/>
          <a:p>
            <a:pPr>
              <a:lnSpc>
                <a:spcPct val="79050"/>
              </a:lnSpc>
              <a:buNone/>
            </a:pPr>
            <a:r>
              <a:rPr lang="en-US" sz="4651" b="1" spc="-69" dirty="0">
                <a:solidFill>
                  <a:srgbClr val="001F6B"/>
                </a:solidFill>
                <a:latin typeface="Frutiger"/>
                <a:ea typeface="Frutiger"/>
                <a:cs typeface="Frutiger"/>
              </a:rPr>
              <a:t>Materializations</a:t>
            </a:r>
            <a:endParaRPr sz="4651" dirty="0"/>
          </a:p>
        </p:txBody>
      </p:sp>
      <p:pic>
        <p:nvPicPr>
          <p:cNvPr id="32" name="Image 0"/>
          <p:cNvPicPr>
            <a:picLocks noChangeAspect="1"/>
          </p:cNvPicPr>
          <p:nvPr/>
        </p:nvPicPr>
        <p:blipFill>
          <a:blip r:embed="rId3"/>
          <a:srcRect t="-5" b="-5"/>
          <a:stretch/>
        </p:blipFill>
        <p:spPr>
          <a:xfrm>
            <a:off x="16412620" y="571500"/>
            <a:ext cx="1037182" cy="514350"/>
          </a:xfrm>
          <a:prstGeom prst="rect">
            <a:avLst/>
          </a:prstGeom>
        </p:spPr>
      </p:pic>
      <p:sp>
        <p:nvSpPr>
          <p:cNvPr id="5" name="Shape 2">
            <a:extLst>
              <a:ext uri="{FF2B5EF4-FFF2-40B4-BE49-F238E27FC236}">
                <a16:creationId xmlns:a16="http://schemas.microsoft.com/office/drawing/2014/main" id="{619AE5D7-7CB4-4BEA-BB3F-D06573D3768F}"/>
              </a:ext>
            </a:extLst>
          </p:cNvPr>
          <p:cNvSpPr>
            <a:spLocks noGrp="1"/>
          </p:cNvSpPr>
          <p:nvPr/>
        </p:nvSpPr>
        <p:spPr>
          <a:xfrm>
            <a:off x="838202" y="1813769"/>
            <a:ext cx="16611600" cy="28574"/>
          </a:xfrm>
          <a:prstGeom prst="rect">
            <a:avLst/>
          </a:prstGeom>
          <a:solidFill>
            <a:srgbClr val="FF0000"/>
          </a:solidFill>
        </p:spPr>
        <p:txBody>
          <a:bodyPr/>
          <a:lstStyle/>
          <a:p>
            <a:endParaRPr sz="1801"/>
          </a:p>
        </p:txBody>
      </p:sp>
      <p:sp>
        <p:nvSpPr>
          <p:cNvPr id="6" name="Shape 3">
            <a:extLst>
              <a:ext uri="{FF2B5EF4-FFF2-40B4-BE49-F238E27FC236}">
                <a16:creationId xmlns:a16="http://schemas.microsoft.com/office/drawing/2014/main" id="{4913CC0E-0FDB-4091-96BC-623E005C1433}"/>
              </a:ext>
            </a:extLst>
          </p:cNvPr>
          <p:cNvSpPr>
            <a:spLocks noGrp="1"/>
          </p:cNvSpPr>
          <p:nvPr/>
        </p:nvSpPr>
        <p:spPr>
          <a:xfrm>
            <a:off x="838202" y="1880445"/>
            <a:ext cx="16611600" cy="28574"/>
          </a:xfrm>
          <a:prstGeom prst="rect">
            <a:avLst/>
          </a:prstGeom>
          <a:solidFill>
            <a:srgbClr val="3649A8"/>
          </a:solidFill>
        </p:spPr>
        <p:txBody>
          <a:bodyPr/>
          <a:lstStyle/>
          <a:p>
            <a:endParaRPr sz="1801"/>
          </a:p>
        </p:txBody>
      </p:sp>
      <p:sp>
        <p:nvSpPr>
          <p:cNvPr id="25" name="Shape 22">
            <a:extLst>
              <a:ext uri="{FF2B5EF4-FFF2-40B4-BE49-F238E27FC236}">
                <a16:creationId xmlns:a16="http://schemas.microsoft.com/office/drawing/2014/main" id="{B765AE01-8B3A-4F2B-9234-E1B2735FE6D0}"/>
              </a:ext>
            </a:extLst>
          </p:cNvPr>
          <p:cNvSpPr>
            <a:spLocks noGrp="1"/>
          </p:cNvSpPr>
          <p:nvPr/>
        </p:nvSpPr>
        <p:spPr>
          <a:xfrm>
            <a:off x="838202" y="9294615"/>
            <a:ext cx="16611600" cy="9525"/>
          </a:xfrm>
          <a:prstGeom prst="rect">
            <a:avLst/>
          </a:prstGeom>
          <a:solidFill>
            <a:srgbClr val="E2E7EB"/>
          </a:solidFill>
        </p:spPr>
        <p:txBody>
          <a:bodyPr/>
          <a:lstStyle/>
          <a:p>
            <a:endParaRPr sz="1801"/>
          </a:p>
        </p:txBody>
      </p:sp>
      <p:sp>
        <p:nvSpPr>
          <p:cNvPr id="26" name="Text 23">
            <a:extLst>
              <a:ext uri="{FF2B5EF4-FFF2-40B4-BE49-F238E27FC236}">
                <a16:creationId xmlns:a16="http://schemas.microsoft.com/office/drawing/2014/main" id="{5C5AFE6D-27B1-4C09-BBBE-19FE36BD27C8}"/>
              </a:ext>
            </a:extLst>
          </p:cNvPr>
          <p:cNvSpPr>
            <a:spLocks noGrp="1"/>
          </p:cNvSpPr>
          <p:nvPr/>
        </p:nvSpPr>
        <p:spPr>
          <a:xfrm>
            <a:off x="838201" y="9513691"/>
            <a:ext cx="7461945" cy="392311"/>
          </a:xfrm>
          <a:prstGeom prst="rect">
            <a:avLst/>
          </a:prstGeom>
          <a:noFill/>
        </p:spPr>
        <p:txBody>
          <a:bodyPr wrap="square" lIns="25401" tIns="25401" rIns="25401" bIns="25401" anchor="t">
            <a:normAutofit/>
          </a:bodyPr>
          <a:lstStyle/>
          <a:p>
            <a:pPr>
              <a:lnSpc>
                <a:spcPct val="124000"/>
              </a:lnSpc>
              <a:buNone/>
            </a:pPr>
            <a:r>
              <a:rPr sz="1801" dirty="0">
                <a:solidFill>
                  <a:srgbClr val="667780"/>
                </a:solidFill>
                <a:latin typeface="Frutiger"/>
                <a:ea typeface="Frutiger"/>
                <a:cs typeface="Frutiger"/>
              </a:rPr>
              <a:t>Getting started with dbt</a:t>
            </a:r>
            <a:endParaRPr sz="1801" dirty="0"/>
          </a:p>
        </p:txBody>
      </p:sp>
      <p:sp>
        <p:nvSpPr>
          <p:cNvPr id="28" name="Text 25">
            <a:extLst>
              <a:ext uri="{FF2B5EF4-FFF2-40B4-BE49-F238E27FC236}">
                <a16:creationId xmlns:a16="http://schemas.microsoft.com/office/drawing/2014/main" id="{E1A6A13E-D079-4787-BA2C-26179E45E0AB}"/>
              </a:ext>
            </a:extLst>
          </p:cNvPr>
          <p:cNvSpPr>
            <a:spLocks noGrp="1"/>
          </p:cNvSpPr>
          <p:nvPr/>
        </p:nvSpPr>
        <p:spPr>
          <a:xfrm>
            <a:off x="9987856" y="9513691"/>
            <a:ext cx="7461945" cy="392311"/>
          </a:xfrm>
          <a:prstGeom prst="rect">
            <a:avLst/>
          </a:prstGeom>
          <a:noFill/>
        </p:spPr>
        <p:txBody>
          <a:bodyPr wrap="square" lIns="25401" tIns="25401" rIns="25401" bIns="25401" anchor="t">
            <a:normAutofit/>
          </a:bodyPr>
          <a:lstStyle/>
          <a:p>
            <a:pPr algn="r">
              <a:lnSpc>
                <a:spcPct val="124000"/>
              </a:lnSpc>
              <a:buNone/>
            </a:pPr>
            <a:r>
              <a:rPr lang="en-US" sz="1801">
                <a:solidFill>
                  <a:srgbClr val="667780"/>
                </a:solidFill>
                <a:latin typeface="Frutiger"/>
                <a:ea typeface="Frutiger"/>
                <a:cs typeface="Frutiger"/>
              </a:rPr>
              <a:t>10</a:t>
            </a:r>
            <a:endParaRPr sz="1801"/>
          </a:p>
        </p:txBody>
      </p:sp>
      <p:graphicFrame>
        <p:nvGraphicFramePr>
          <p:cNvPr id="100" name="Table 100"/>
          <p:cNvGraphicFramePr>
            <a:graphicFrameLocks noGrp="1"/>
          </p:cNvGraphicFramePr>
          <p:nvPr/>
        </p:nvGraphicFramePr>
        <p:xfrm>
          <a:off x="838200" y="2413000"/>
          <a:ext cx="11049000" cy="5994400"/>
        </p:xfrm>
        <a:graphic>
          <a:graphicData uri="http://schemas.openxmlformats.org/drawingml/2006/table">
            <a:tbl>
              <a:tblPr/>
              <a:tblGrid>
                <a:gridCol w="2032000">
                  <a:extLst>
                    <a:ext uri="{9D8B030D-6E8A-4147-A177-3AD203B41FA5}">
                      <a16:colId xmlns:a16="http://schemas.microsoft.com/office/drawing/2014/main" val="20000"/>
                    </a:ext>
                  </a:extLst>
                </a:gridCol>
                <a:gridCol w="3175000">
                  <a:extLst>
                    <a:ext uri="{9D8B030D-6E8A-4147-A177-3AD203B41FA5}">
                      <a16:colId xmlns:a16="http://schemas.microsoft.com/office/drawing/2014/main" val="20001"/>
                    </a:ext>
                  </a:extLst>
                </a:gridCol>
                <a:gridCol w="2794000">
                  <a:extLst>
                    <a:ext uri="{9D8B030D-6E8A-4147-A177-3AD203B41FA5}">
                      <a16:colId xmlns:a16="http://schemas.microsoft.com/office/drawing/2014/main" val="20002"/>
                    </a:ext>
                  </a:extLst>
                </a:gridCol>
                <a:gridCol w="3048000">
                  <a:extLst>
                    <a:ext uri="{9D8B030D-6E8A-4147-A177-3AD203B41FA5}">
                      <a16:colId xmlns:a16="http://schemas.microsoft.com/office/drawing/2014/main" val="20003"/>
                    </a:ext>
                  </a:extLst>
                </a:gridCol>
              </a:tblGrid>
              <a:tr h="558800">
                <a:tc>
                  <a:txBody>
                    <a:bodyPr/>
                    <a:lstStyle/>
                    <a:p>
                      <a:pPr algn="l">
                        <a:buNone/>
                      </a:pPr>
                      <a:r>
                        <a:rPr lang="en-US" sz="1900" b="1" dirty="0">
                          <a:solidFill>
                            <a:srgbClr val="FFFFFF"/>
                          </a:solidFill>
                          <a:latin typeface="Frutiger"/>
                          <a:cs typeface="Frutiger"/>
                        </a:rPr>
                        <a:t>Materialization</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001F6B"/>
                    </a:solidFill>
                  </a:tcPr>
                </a:tc>
                <a:tc>
                  <a:txBody>
                    <a:bodyPr/>
                    <a:lstStyle/>
                    <a:p>
                      <a:pPr algn="l">
                        <a:buNone/>
                      </a:pPr>
                      <a:r>
                        <a:rPr lang="en-US" sz="1900" b="1" dirty="0">
                          <a:solidFill>
                            <a:srgbClr val="FFFFFF"/>
                          </a:solidFill>
                          <a:latin typeface="Frutiger"/>
                          <a:cs typeface="Frutiger"/>
                        </a:rPr>
                        <a:t>What dbt builds</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001F6B"/>
                    </a:solidFill>
                  </a:tcPr>
                </a:tc>
                <a:tc>
                  <a:txBody>
                    <a:bodyPr/>
                    <a:lstStyle/>
                    <a:p>
                      <a:pPr algn="l">
                        <a:buNone/>
                      </a:pPr>
                      <a:r>
                        <a:rPr lang="en-US" sz="1900" b="1" dirty="0">
                          <a:solidFill>
                            <a:srgbClr val="FFFFFF"/>
                          </a:solidFill>
                          <a:latin typeface="Frutiger"/>
                          <a:cs typeface="Frutiger"/>
                        </a:rPr>
                        <a:t>Use when</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001F6B"/>
                    </a:solidFill>
                  </a:tcPr>
                </a:tc>
                <a:tc>
                  <a:txBody>
                    <a:bodyPr/>
                    <a:lstStyle/>
                    <a:p>
                      <a:pPr algn="l">
                        <a:buNone/>
                      </a:pPr>
                      <a:r>
                        <a:rPr lang="en-US" sz="1900" b="1" dirty="0">
                          <a:solidFill>
                            <a:srgbClr val="FFFFFF"/>
                          </a:solidFill>
                          <a:latin typeface="Frutiger"/>
                          <a:cs typeface="Frutiger"/>
                        </a:rPr>
                        <a:t>Watch out</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001F6B"/>
                    </a:solidFill>
                  </a:tcPr>
                </a:tc>
                <a:extLst>
                  <a:ext uri="{0D108BD9-81ED-4DB2-BD59-A6C34878D82A}">
                    <a16:rowId xmlns:a16="http://schemas.microsoft.com/office/drawing/2014/main" val="10000"/>
                  </a:ext>
                </a:extLst>
              </a:tr>
              <a:tr h="1320800">
                <a:tc>
                  <a:txBody>
                    <a:bodyPr/>
                    <a:lstStyle/>
                    <a:p>
                      <a:pPr algn="l">
                        <a:buNone/>
                      </a:pPr>
                      <a:r>
                        <a:rPr lang="en-US" sz="2000" b="1" dirty="0">
                          <a:solidFill>
                            <a:srgbClr val="001F6B"/>
                          </a:solidFill>
                          <a:latin typeface="Consolas"/>
                          <a:cs typeface="Consolas"/>
                        </a:rPr>
                        <a:t>view</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900" dirty="0">
                          <a:solidFill>
                            <a:srgbClr val="364750"/>
                          </a:solidFill>
                          <a:latin typeface="Frutiger"/>
                          <a:cs typeface="Frutiger"/>
                        </a:rPr>
                        <a:t>CREATE VIEW — a saved query, nothing stored</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900" dirty="0">
                          <a:solidFill>
                            <a:srgbClr val="364750"/>
                          </a:solidFill>
                          <a:latin typeface="Frutiger"/>
                          <a:cs typeface="Frutiger"/>
                        </a:rPr>
                        <a:t>Cheap staging layers; logic that must always be current</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900" dirty="0">
                          <a:solidFill>
                            <a:srgbClr val="364750"/>
                          </a:solidFill>
                          <a:latin typeface="Frutiger"/>
                          <a:cs typeface="Frutiger"/>
                        </a:rPr>
                        <a:t>Every read re-runs the SQL; slow on wide joins</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extLst>
                  <a:ext uri="{0D108BD9-81ED-4DB2-BD59-A6C34878D82A}">
                    <a16:rowId xmlns:a16="http://schemas.microsoft.com/office/drawing/2014/main" val="10001"/>
                  </a:ext>
                </a:extLst>
              </a:tr>
              <a:tr h="1320800">
                <a:tc>
                  <a:txBody>
                    <a:bodyPr/>
                    <a:lstStyle/>
                    <a:p>
                      <a:pPr algn="l">
                        <a:buNone/>
                      </a:pPr>
                      <a:r>
                        <a:rPr lang="en-US" sz="2000" b="1" dirty="0">
                          <a:solidFill>
                            <a:srgbClr val="001F6B"/>
                          </a:solidFill>
                          <a:latin typeface="Consolas"/>
                          <a:cs typeface="Consolas"/>
                        </a:rPr>
                        <a:t>table</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900" dirty="0">
                          <a:solidFill>
                            <a:srgbClr val="364750"/>
                          </a:solidFill>
                          <a:latin typeface="Frutiger"/>
                          <a:cs typeface="Frutiger"/>
                        </a:rPr>
                        <a:t>Full rebuild of a stored table on every run</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900" dirty="0">
                          <a:solidFill>
                            <a:srgbClr val="364750"/>
                          </a:solidFill>
                          <a:latin typeface="Frutiger"/>
                          <a:cs typeface="Frutiger"/>
                        </a:rPr>
                        <a:t>Marts consumed by reports; anything expensive to compute</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900" dirty="0">
                          <a:solidFill>
                            <a:srgbClr val="364750"/>
                          </a:solidFill>
                          <a:latin typeface="Frutiger"/>
                          <a:cs typeface="Frutiger"/>
                        </a:rPr>
                        <a:t>Rebuild cost grows with data; no history kept</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extLst>
                  <a:ext uri="{0D108BD9-81ED-4DB2-BD59-A6C34878D82A}">
                    <a16:rowId xmlns:a16="http://schemas.microsoft.com/office/drawing/2014/main" val="10002"/>
                  </a:ext>
                </a:extLst>
              </a:tr>
              <a:tr h="1473200">
                <a:tc>
                  <a:txBody>
                    <a:bodyPr/>
                    <a:lstStyle/>
                    <a:p>
                      <a:pPr algn="l">
                        <a:buNone/>
                      </a:pPr>
                      <a:r>
                        <a:rPr lang="en-US" sz="2000" b="1" dirty="0">
                          <a:solidFill>
                            <a:srgbClr val="001F6B"/>
                          </a:solidFill>
                          <a:latin typeface="Consolas"/>
                          <a:cs typeface="Consolas"/>
                        </a:rPr>
                        <a:t>incremental</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900" dirty="0">
                          <a:solidFill>
                            <a:srgbClr val="364750"/>
                          </a:solidFill>
                          <a:latin typeface="Frutiger"/>
                          <a:cs typeface="Frutiger"/>
                        </a:rPr>
                        <a:t>Insert/merge only new or changed rows into an existing table</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900" dirty="0">
                          <a:solidFill>
                            <a:srgbClr val="364750"/>
                          </a:solidFill>
                          <a:latin typeface="Frutiger"/>
                          <a:cs typeface="Frutiger"/>
                        </a:rPr>
                        <a:t>Large fact tables where full rebuilds are too slow</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900" dirty="0">
                          <a:solidFill>
                            <a:srgbClr val="364750"/>
                          </a:solidFill>
                          <a:latin typeface="Frutiger"/>
                          <a:cs typeface="Frutiger"/>
                        </a:rPr>
                        <a:t>You define what “new” means — late arrivals and corrections are your problem</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extLst>
                  <a:ext uri="{0D108BD9-81ED-4DB2-BD59-A6C34878D82A}">
                    <a16:rowId xmlns:a16="http://schemas.microsoft.com/office/drawing/2014/main" val="10003"/>
                  </a:ext>
                </a:extLst>
              </a:tr>
              <a:tr h="1320800">
                <a:tc>
                  <a:txBody>
                    <a:bodyPr/>
                    <a:lstStyle/>
                    <a:p>
                      <a:pPr algn="l">
                        <a:buNone/>
                      </a:pPr>
                      <a:r>
                        <a:rPr lang="en-US" sz="2000" b="1" dirty="0">
                          <a:solidFill>
                            <a:srgbClr val="001F6B"/>
                          </a:solidFill>
                          <a:latin typeface="Consolas"/>
                          <a:cs typeface="Consolas"/>
                        </a:rPr>
                        <a:t>ephemeral</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900" dirty="0">
                          <a:solidFill>
                            <a:srgbClr val="364750"/>
                          </a:solidFill>
                          <a:latin typeface="Frutiger"/>
                          <a:cs typeface="Frutiger"/>
                        </a:rPr>
                        <a:t>Nothing — the SQL is inlined as a CTE into consumers</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900" dirty="0">
                          <a:solidFill>
                            <a:srgbClr val="364750"/>
                          </a:solidFill>
                          <a:latin typeface="Frutiger"/>
                          <a:cs typeface="Frutiger"/>
                        </a:rPr>
                        <a:t>Small reusable logic you don’t want as a database object</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900" dirty="0">
                          <a:solidFill>
                            <a:srgbClr val="364750"/>
                          </a:solidFill>
                          <a:latin typeface="Frutiger"/>
                          <a:cs typeface="Frutiger"/>
                        </a:rPr>
                        <a:t>Can’t query or test it directly</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extLst>
                  <a:ext uri="{0D108BD9-81ED-4DB2-BD59-A6C34878D82A}">
                    <a16:rowId xmlns:a16="http://schemas.microsoft.com/office/drawing/2014/main" val="10004"/>
                  </a:ext>
                </a:extLst>
              </a:tr>
            </a:tbl>
          </a:graphicData>
        </a:graphic>
      </p:graphicFrame>
      <p:sp>
        <p:nvSpPr>
          <p:cNvPr id="110" name="Shape 110"/>
          <p:cNvSpPr/>
          <p:nvPr/>
        </p:nvSpPr>
        <p:spPr>
          <a:xfrm>
            <a:off x="12700000" y="2362200"/>
            <a:ext cx="4749800" cy="355600"/>
          </a:xfrm>
          <a:prstGeom prst="rect">
            <a:avLst/>
          </a:prstGeom>
          <a:noFill/>
          <a:ln>
            <a:noFill/>
          </a:ln>
        </p:spPr>
        <p:txBody>
          <a:bodyPr wrap="square" lIns="0" tIns="0" rIns="0" bIns="0" anchor="t">
            <a:normAutofit/>
          </a:bodyPr>
          <a:lstStyle/>
          <a:p>
            <a:pPr>
              <a:buNone/>
            </a:pPr>
            <a:r>
              <a:rPr lang="en-US" sz="1400" b="1" spc="150" dirty="0">
                <a:solidFill>
                  <a:srgbClr val="E40046"/>
                </a:solidFill>
                <a:latin typeface="Frutiger"/>
                <a:cs typeface="Frutiger"/>
              </a:rPr>
              <a:t>SET IT ONCE, PER FOLDER</a:t>
            </a:r>
          </a:p>
        </p:txBody>
      </p:sp>
      <p:sp>
        <p:nvSpPr>
          <p:cNvPr id="111" name="Code 111"/>
          <p:cNvSpPr/>
          <p:nvPr/>
        </p:nvSpPr>
        <p:spPr>
          <a:xfrm>
            <a:off x="12700000" y="2717800"/>
            <a:ext cx="4749800" cy="2235200"/>
          </a:xfrm>
          <a:prstGeom prst="roundRect">
            <a:avLst>
              <a:gd name="adj" fmla="val 4000"/>
            </a:avLst>
          </a:prstGeom>
          <a:solidFill>
            <a:srgbClr val="0E1E4A"/>
          </a:solidFill>
          <a:ln>
            <a:noFill/>
          </a:ln>
        </p:spPr>
        <p:txBody>
          <a:bodyPr wrap="square" lIns="228600" tIns="203200" rIns="228600" bIns="228600" anchor="t">
            <a:normAutofit lnSpcReduction="10000"/>
          </a:bodyPr>
          <a:lstStyle/>
          <a:p>
            <a:pPr>
              <a:lnSpc>
                <a:spcPct val="118000"/>
              </a:lnSpc>
              <a:buNone/>
            </a:pPr>
            <a:r>
              <a:rPr lang="en-US" sz="1500" dirty="0">
                <a:solidFill>
                  <a:srgbClr val="8E9DC5"/>
                </a:solidFill>
                <a:latin typeface="Consolas"/>
                <a:cs typeface="Consolas"/>
              </a:rPr>
              <a:t># </a:t>
            </a:r>
            <a:r>
              <a:rPr lang="en-US" sz="1500" dirty="0" err="1">
                <a:solidFill>
                  <a:srgbClr val="8E9DC5"/>
                </a:solidFill>
                <a:latin typeface="Consolas"/>
                <a:cs typeface="Consolas"/>
              </a:rPr>
              <a:t>dbt_project.yml</a:t>
            </a:r>
            <a:endParaRPr lang="en-US" sz="1500" dirty="0">
              <a:solidFill>
                <a:srgbClr val="8E9DC5"/>
              </a:solidFill>
              <a:latin typeface="Consolas"/>
              <a:cs typeface="Consolas"/>
            </a:endParaRPr>
          </a:p>
          <a:p>
            <a:pPr>
              <a:lnSpc>
                <a:spcPct val="118000"/>
              </a:lnSpc>
              <a:buNone/>
            </a:pPr>
            <a:r>
              <a:rPr lang="en-US" sz="1500" dirty="0">
                <a:solidFill>
                  <a:srgbClr val="8EC5FF"/>
                </a:solidFill>
                <a:latin typeface="Consolas"/>
                <a:cs typeface="Consolas"/>
              </a:rPr>
              <a:t>models:</a:t>
            </a:r>
          </a:p>
          <a:p>
            <a:pPr>
              <a:lnSpc>
                <a:spcPct val="118000"/>
              </a:lnSpc>
              <a:buNone/>
            </a:pPr>
            <a:r>
              <a:rPr lang="en-US" sz="1500" dirty="0">
                <a:solidFill>
                  <a:srgbClr val="E8ECF5"/>
                </a:solidFill>
                <a:latin typeface="Consolas"/>
                <a:cs typeface="Consolas"/>
              </a:rPr>
              <a:t>  jaffle_shop:</a:t>
            </a:r>
          </a:p>
          <a:p>
            <a:pPr>
              <a:lnSpc>
                <a:spcPct val="118000"/>
              </a:lnSpc>
              <a:buNone/>
            </a:pPr>
            <a:r>
              <a:rPr lang="en-US" sz="1500" dirty="0">
                <a:solidFill>
                  <a:srgbClr val="E8ECF5"/>
                </a:solidFill>
                <a:latin typeface="Consolas"/>
                <a:cs typeface="Consolas"/>
              </a:rPr>
              <a:t>    staging:</a:t>
            </a:r>
          </a:p>
          <a:p>
            <a:pPr>
              <a:lnSpc>
                <a:spcPct val="118000"/>
              </a:lnSpc>
              <a:buNone/>
            </a:pPr>
            <a:r>
              <a:rPr lang="en-US" sz="1500" dirty="0">
                <a:solidFill>
                  <a:srgbClr val="8EC5FF"/>
                </a:solidFill>
                <a:latin typeface="Consolas"/>
                <a:cs typeface="Consolas"/>
              </a:rPr>
              <a:t>      +materialized: </a:t>
            </a:r>
            <a:r>
              <a:rPr lang="en-US" sz="1500" dirty="0">
                <a:solidFill>
                  <a:srgbClr val="FFD27F"/>
                </a:solidFill>
                <a:latin typeface="Consolas"/>
                <a:cs typeface="Consolas"/>
              </a:rPr>
              <a:t>view</a:t>
            </a:r>
          </a:p>
          <a:p>
            <a:pPr>
              <a:lnSpc>
                <a:spcPct val="118000"/>
              </a:lnSpc>
              <a:buNone/>
            </a:pPr>
            <a:r>
              <a:rPr lang="en-US" sz="1500" dirty="0">
                <a:solidFill>
                  <a:srgbClr val="E8ECF5"/>
                </a:solidFill>
                <a:latin typeface="Consolas"/>
                <a:cs typeface="Consolas"/>
              </a:rPr>
              <a:t>    marts:</a:t>
            </a:r>
          </a:p>
          <a:p>
            <a:pPr>
              <a:lnSpc>
                <a:spcPct val="118000"/>
              </a:lnSpc>
              <a:buNone/>
            </a:pPr>
            <a:r>
              <a:rPr lang="en-US" sz="1500" dirty="0">
                <a:solidFill>
                  <a:srgbClr val="8EC5FF"/>
                </a:solidFill>
                <a:latin typeface="Consolas"/>
                <a:cs typeface="Consolas"/>
              </a:rPr>
              <a:t>      +materialized: </a:t>
            </a:r>
            <a:r>
              <a:rPr lang="en-US" sz="1500" dirty="0">
                <a:solidFill>
                  <a:srgbClr val="FFD27F"/>
                </a:solidFill>
                <a:latin typeface="Consolas"/>
                <a:cs typeface="Consolas"/>
              </a:rPr>
              <a:t>table</a:t>
            </a:r>
          </a:p>
        </p:txBody>
      </p:sp>
      <p:sp>
        <p:nvSpPr>
          <p:cNvPr id="113" name="Shape 113"/>
          <p:cNvSpPr/>
          <p:nvPr/>
        </p:nvSpPr>
        <p:spPr>
          <a:xfrm>
            <a:off x="12700000" y="5130800"/>
            <a:ext cx="4749800" cy="355600"/>
          </a:xfrm>
          <a:prstGeom prst="rect">
            <a:avLst/>
          </a:prstGeom>
          <a:noFill/>
          <a:ln>
            <a:noFill/>
          </a:ln>
        </p:spPr>
        <p:txBody>
          <a:bodyPr wrap="square" lIns="0" tIns="0" rIns="0" bIns="0" anchor="t">
            <a:normAutofit/>
          </a:bodyPr>
          <a:lstStyle/>
          <a:p>
            <a:pPr>
              <a:buNone/>
            </a:pPr>
            <a:r>
              <a:rPr lang="en-US" sz="1400" b="1" spc="150" dirty="0">
                <a:solidFill>
                  <a:srgbClr val="E40046"/>
                </a:solidFill>
                <a:latin typeface="Frutiger"/>
                <a:cs typeface="Frutiger"/>
              </a:rPr>
              <a:t>…OR OVERRIDE IN ONE MODEL</a:t>
            </a:r>
          </a:p>
        </p:txBody>
      </p:sp>
      <p:sp>
        <p:nvSpPr>
          <p:cNvPr id="114" name="Code 114"/>
          <p:cNvSpPr/>
          <p:nvPr/>
        </p:nvSpPr>
        <p:spPr>
          <a:xfrm>
            <a:off x="12700000" y="5486400"/>
            <a:ext cx="4749800" cy="1016000"/>
          </a:xfrm>
          <a:prstGeom prst="roundRect">
            <a:avLst>
              <a:gd name="adj" fmla="val 4000"/>
            </a:avLst>
          </a:prstGeom>
          <a:solidFill>
            <a:srgbClr val="0E1E4A"/>
          </a:solidFill>
          <a:ln>
            <a:noFill/>
          </a:ln>
        </p:spPr>
        <p:txBody>
          <a:bodyPr wrap="square" lIns="228600" tIns="152400" rIns="228600" bIns="228600" anchor="t">
            <a:normAutofit/>
          </a:bodyPr>
          <a:lstStyle/>
          <a:p>
            <a:pPr>
              <a:lnSpc>
                <a:spcPct val="118000"/>
              </a:lnSpc>
              <a:buNone/>
            </a:pPr>
            <a:r>
              <a:rPr lang="en-US" sz="1500" dirty="0">
                <a:solidFill>
                  <a:srgbClr val="FF8FA3"/>
                </a:solidFill>
                <a:latin typeface="Consolas"/>
                <a:cs typeface="Consolas"/>
              </a:rPr>
              <a:t>{{ config(materialized=</a:t>
            </a:r>
            <a:r>
              <a:rPr lang="en-US" sz="1500" dirty="0">
                <a:solidFill>
                  <a:srgbClr val="FFD27F"/>
                </a:solidFill>
                <a:latin typeface="Consolas"/>
                <a:cs typeface="Consolas"/>
              </a:rPr>
              <a:t>'table'</a:t>
            </a:r>
            <a:r>
              <a:rPr lang="en-US" sz="1500" dirty="0">
                <a:solidFill>
                  <a:srgbClr val="FF8FA3"/>
                </a:solidFill>
                <a:latin typeface="Consolas"/>
                <a:cs typeface="Consolas"/>
              </a:rPr>
              <a:t>) }}</a:t>
            </a:r>
          </a:p>
          <a:p>
            <a:pPr>
              <a:lnSpc>
                <a:spcPct val="118000"/>
              </a:lnSpc>
              <a:buNone/>
            </a:pPr>
            <a:r>
              <a:rPr lang="en-US" sz="1500" dirty="0">
                <a:solidFill>
                  <a:srgbClr val="8EC5FF"/>
                </a:solidFill>
                <a:latin typeface="Consolas"/>
                <a:cs typeface="Consolas"/>
              </a:rPr>
              <a:t>select …</a:t>
            </a:r>
          </a:p>
        </p:txBody>
      </p:sp>
      <p:sp>
        <p:nvSpPr>
          <p:cNvPr id="116" name="Shape 116"/>
          <p:cNvSpPr/>
          <p:nvPr/>
        </p:nvSpPr>
        <p:spPr>
          <a:xfrm>
            <a:off x="12700000" y="6731000"/>
            <a:ext cx="4749800" cy="2413000"/>
          </a:xfrm>
          <a:prstGeom prst="rect">
            <a:avLst/>
          </a:prstGeom>
          <a:solidFill>
            <a:srgbClr val="F4F6FA"/>
          </a:solidFill>
          <a:ln>
            <a:noFill/>
          </a:ln>
        </p:spPr>
        <p:txBody>
          <a:bodyPr wrap="square" lIns="101600" tIns="101600" rIns="101600" bIns="101600" anchor="t">
            <a:normAutofit/>
          </a:bodyPr>
          <a:lstStyle/>
          <a:p>
            <a:endParaRPr lang="en-US"/>
          </a:p>
        </p:txBody>
      </p:sp>
      <p:sp>
        <p:nvSpPr>
          <p:cNvPr id="117" name="Shape 117"/>
          <p:cNvSpPr/>
          <p:nvPr/>
        </p:nvSpPr>
        <p:spPr>
          <a:xfrm>
            <a:off x="12903200" y="6858000"/>
            <a:ext cx="4343400" cy="2209800"/>
          </a:xfrm>
          <a:prstGeom prst="rect">
            <a:avLst/>
          </a:prstGeom>
          <a:noFill/>
          <a:ln>
            <a:noFill/>
          </a:ln>
        </p:spPr>
        <p:txBody>
          <a:bodyPr wrap="square" lIns="0" tIns="0" rIns="0" bIns="0" anchor="t">
            <a:normAutofit/>
          </a:bodyPr>
          <a:lstStyle/>
          <a:p>
            <a:pPr>
              <a:buNone/>
            </a:pPr>
            <a:r>
              <a:rPr lang="en-US" sz="2100" b="1" dirty="0">
                <a:solidFill>
                  <a:srgbClr val="001F6B"/>
                </a:solidFill>
                <a:latin typeface="Frutiger"/>
                <a:cs typeface="Frutiger"/>
              </a:rPr>
              <a:t>The SELECT doesn’t change</a:t>
            </a:r>
          </a:p>
          <a:p>
            <a:pPr>
              <a:lnSpc>
                <a:spcPct val="106000"/>
              </a:lnSpc>
              <a:spcBef>
                <a:spcPts val="600"/>
              </a:spcBef>
              <a:buNone/>
            </a:pPr>
            <a:r>
              <a:rPr lang="en-US" sz="1800" dirty="0">
                <a:solidFill>
                  <a:srgbClr val="364750"/>
                </a:solidFill>
                <a:latin typeface="Frutiger"/>
                <a:cs typeface="Frutiger"/>
              </a:rPr>
              <a:t>Switching view → table is a one-line config edit; dbt generates the right DDL for the engine. Today's project builds staging as views and marts as tables on every engine.</a:t>
            </a:r>
          </a:p>
          <a:p>
            <a:pPr>
              <a:lnSpc>
                <a:spcPct val="104000"/>
              </a:lnSpc>
              <a:spcBef>
                <a:spcPts val="800"/>
              </a:spcBef>
              <a:buNone/>
            </a:pPr>
            <a:r>
              <a:rPr lang="en-US" sz="1700" i="1" dirty="0">
                <a:solidFill>
                  <a:srgbClr val="667780"/>
                </a:solidFill>
                <a:latin typeface="Frutiger"/>
                <a:cs typeface="Frutiger"/>
              </a:rPr>
              <a:t>materialized_view and friends are adapter-specific — check before you promise them.</a:t>
            </a:r>
          </a:p>
        </p:txBody>
      </p:sp>
    </p:spTree>
    <p:extLst>
      <p:ext uri="{BB962C8B-B14F-4D97-AF65-F5344CB8AC3E}">
        <p14:creationId xmlns:p14="http://schemas.microsoft.com/office/powerpoint/2010/main" val="3794934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454A5393-1907-4275-B9E9-C410BF0DBCDF}"/>
              </a:ext>
            </a:extLst>
          </p:cNvPr>
          <p:cNvSpPr>
            <a:spLocks noGrp="1"/>
          </p:cNvSpPr>
          <p:nvPr/>
        </p:nvSpPr>
        <p:spPr>
          <a:xfrm>
            <a:off x="838201" y="963812"/>
            <a:ext cx="15240000" cy="640407"/>
          </a:xfrm>
          <a:prstGeom prst="rect">
            <a:avLst/>
          </a:prstGeom>
          <a:noFill/>
        </p:spPr>
        <p:txBody>
          <a:bodyPr wrap="square" lIns="25401" tIns="25401" rIns="25401" bIns="25401" anchor="t">
            <a:normAutofit/>
          </a:bodyPr>
          <a:lstStyle/>
          <a:p>
            <a:pPr>
              <a:lnSpc>
                <a:spcPct val="79050"/>
              </a:lnSpc>
              <a:buNone/>
            </a:pPr>
            <a:r>
              <a:rPr lang="en-US" sz="4651" b="1" spc="-69" dirty="0">
                <a:solidFill>
                  <a:srgbClr val="001F6B"/>
                </a:solidFill>
                <a:latin typeface="Frutiger"/>
                <a:ea typeface="Frutiger"/>
                <a:cs typeface="Frutiger"/>
              </a:rPr>
              <a:t>Dependencies using </a:t>
            </a:r>
            <a:r>
              <a:rPr sz="4651" b="1" spc="-69" dirty="0">
                <a:solidFill>
                  <a:srgbClr val="001F6B"/>
                </a:solidFill>
                <a:latin typeface="Frutiger"/>
                <a:ea typeface="Frutiger"/>
                <a:cs typeface="Frutiger"/>
              </a:rPr>
              <a:t>ref(</a:t>
            </a:r>
            <a:r>
              <a:rPr lang="en-US" sz="4651" b="1" spc="-69" dirty="0">
                <a:solidFill>
                  <a:srgbClr val="001F6B"/>
                </a:solidFill>
                <a:latin typeface="Frutiger"/>
                <a:ea typeface="Frutiger"/>
                <a:cs typeface="Frutiger"/>
              </a:rPr>
              <a:t>)</a:t>
            </a:r>
            <a:endParaRPr sz="4651" dirty="0"/>
          </a:p>
        </p:txBody>
      </p:sp>
      <p:pic>
        <p:nvPicPr>
          <p:cNvPr id="30" name="Image 0"/>
          <p:cNvPicPr>
            <a:picLocks noChangeAspect="1"/>
          </p:cNvPicPr>
          <p:nvPr/>
        </p:nvPicPr>
        <p:blipFill>
          <a:blip r:embed="rId3"/>
          <a:srcRect t="-5" b="-5"/>
          <a:stretch/>
        </p:blipFill>
        <p:spPr>
          <a:xfrm>
            <a:off x="16412620" y="571500"/>
            <a:ext cx="1037182" cy="514350"/>
          </a:xfrm>
          <a:prstGeom prst="rect">
            <a:avLst/>
          </a:prstGeom>
        </p:spPr>
      </p:pic>
      <p:sp>
        <p:nvSpPr>
          <p:cNvPr id="5" name="Shape 2">
            <a:extLst>
              <a:ext uri="{FF2B5EF4-FFF2-40B4-BE49-F238E27FC236}">
                <a16:creationId xmlns:a16="http://schemas.microsoft.com/office/drawing/2014/main" id="{96506226-AB52-43FB-ABA8-E1F967B1C350}"/>
              </a:ext>
            </a:extLst>
          </p:cNvPr>
          <p:cNvSpPr>
            <a:spLocks noGrp="1"/>
          </p:cNvSpPr>
          <p:nvPr/>
        </p:nvSpPr>
        <p:spPr>
          <a:xfrm>
            <a:off x="838202" y="1813769"/>
            <a:ext cx="16611600" cy="28574"/>
          </a:xfrm>
          <a:prstGeom prst="rect">
            <a:avLst/>
          </a:prstGeom>
          <a:solidFill>
            <a:srgbClr val="FF0000"/>
          </a:solidFill>
        </p:spPr>
        <p:txBody>
          <a:bodyPr/>
          <a:lstStyle/>
          <a:p>
            <a:endParaRPr sz="1801"/>
          </a:p>
        </p:txBody>
      </p:sp>
      <p:sp>
        <p:nvSpPr>
          <p:cNvPr id="6" name="Shape 3">
            <a:extLst>
              <a:ext uri="{FF2B5EF4-FFF2-40B4-BE49-F238E27FC236}">
                <a16:creationId xmlns:a16="http://schemas.microsoft.com/office/drawing/2014/main" id="{B53C8AF0-E782-40B7-9807-7A9BA9D5C057}"/>
              </a:ext>
            </a:extLst>
          </p:cNvPr>
          <p:cNvSpPr>
            <a:spLocks noGrp="1"/>
          </p:cNvSpPr>
          <p:nvPr/>
        </p:nvSpPr>
        <p:spPr>
          <a:xfrm>
            <a:off x="838202" y="1880445"/>
            <a:ext cx="16611600" cy="28574"/>
          </a:xfrm>
          <a:prstGeom prst="rect">
            <a:avLst/>
          </a:prstGeom>
          <a:solidFill>
            <a:srgbClr val="3649A8"/>
          </a:solidFill>
        </p:spPr>
        <p:txBody>
          <a:bodyPr/>
          <a:lstStyle/>
          <a:p>
            <a:endParaRPr sz="1801"/>
          </a:p>
        </p:txBody>
      </p:sp>
      <p:sp>
        <p:nvSpPr>
          <p:cNvPr id="23" name="Shape 20">
            <a:extLst>
              <a:ext uri="{FF2B5EF4-FFF2-40B4-BE49-F238E27FC236}">
                <a16:creationId xmlns:a16="http://schemas.microsoft.com/office/drawing/2014/main" id="{986EBE02-E6C2-4A57-82D2-230CA7D18A38}"/>
              </a:ext>
            </a:extLst>
          </p:cNvPr>
          <p:cNvSpPr>
            <a:spLocks noGrp="1"/>
          </p:cNvSpPr>
          <p:nvPr/>
        </p:nvSpPr>
        <p:spPr>
          <a:xfrm>
            <a:off x="838202" y="9294615"/>
            <a:ext cx="16611600" cy="9525"/>
          </a:xfrm>
          <a:prstGeom prst="rect">
            <a:avLst/>
          </a:prstGeom>
          <a:solidFill>
            <a:srgbClr val="E2E7EB"/>
          </a:solidFill>
        </p:spPr>
        <p:txBody>
          <a:bodyPr/>
          <a:lstStyle/>
          <a:p>
            <a:endParaRPr sz="1801"/>
          </a:p>
        </p:txBody>
      </p:sp>
      <p:sp>
        <p:nvSpPr>
          <p:cNvPr id="24" name="Text 21">
            <a:extLst>
              <a:ext uri="{FF2B5EF4-FFF2-40B4-BE49-F238E27FC236}">
                <a16:creationId xmlns:a16="http://schemas.microsoft.com/office/drawing/2014/main" id="{81383D1B-3B45-4C05-9C8A-439B28F8A2D2}"/>
              </a:ext>
            </a:extLst>
          </p:cNvPr>
          <p:cNvSpPr>
            <a:spLocks noGrp="1"/>
          </p:cNvSpPr>
          <p:nvPr/>
        </p:nvSpPr>
        <p:spPr>
          <a:xfrm>
            <a:off x="838201" y="9513691"/>
            <a:ext cx="7461945" cy="392311"/>
          </a:xfrm>
          <a:prstGeom prst="rect">
            <a:avLst/>
          </a:prstGeom>
          <a:noFill/>
        </p:spPr>
        <p:txBody>
          <a:bodyPr wrap="square" lIns="25401" tIns="25401" rIns="25401" bIns="25401" anchor="t">
            <a:normAutofit/>
          </a:bodyPr>
          <a:lstStyle/>
          <a:p>
            <a:pPr>
              <a:lnSpc>
                <a:spcPct val="124000"/>
              </a:lnSpc>
              <a:buNone/>
            </a:pPr>
            <a:r>
              <a:rPr sz="1801" dirty="0">
                <a:solidFill>
                  <a:srgbClr val="667780"/>
                </a:solidFill>
                <a:latin typeface="Frutiger"/>
                <a:ea typeface="Frutiger"/>
                <a:cs typeface="Frutiger"/>
              </a:rPr>
              <a:t>Getting started with dbt</a:t>
            </a:r>
            <a:endParaRPr sz="1801" dirty="0"/>
          </a:p>
        </p:txBody>
      </p:sp>
      <p:sp>
        <p:nvSpPr>
          <p:cNvPr id="26" name="Text 23">
            <a:extLst>
              <a:ext uri="{FF2B5EF4-FFF2-40B4-BE49-F238E27FC236}">
                <a16:creationId xmlns:a16="http://schemas.microsoft.com/office/drawing/2014/main" id="{57053F5A-4F41-40B1-B3CE-278E9D4C84A8}"/>
              </a:ext>
            </a:extLst>
          </p:cNvPr>
          <p:cNvSpPr>
            <a:spLocks noGrp="1"/>
          </p:cNvSpPr>
          <p:nvPr/>
        </p:nvSpPr>
        <p:spPr>
          <a:xfrm>
            <a:off x="9987856" y="9513691"/>
            <a:ext cx="7461945" cy="392311"/>
          </a:xfrm>
          <a:prstGeom prst="rect">
            <a:avLst/>
          </a:prstGeom>
          <a:noFill/>
        </p:spPr>
        <p:txBody>
          <a:bodyPr wrap="square" lIns="25401" tIns="25401" rIns="25401" bIns="25401" anchor="t">
            <a:normAutofit/>
          </a:bodyPr>
          <a:lstStyle/>
          <a:p>
            <a:pPr algn="r">
              <a:lnSpc>
                <a:spcPct val="124000"/>
              </a:lnSpc>
              <a:buNone/>
            </a:pPr>
            <a:r>
              <a:rPr lang="en-US" sz="1801">
                <a:solidFill>
                  <a:srgbClr val="667780"/>
                </a:solidFill>
                <a:latin typeface="Frutiger"/>
                <a:ea typeface="Frutiger"/>
                <a:cs typeface="Frutiger"/>
              </a:rPr>
              <a:t>11</a:t>
            </a:r>
            <a:endParaRPr sz="1801"/>
          </a:p>
        </p:txBody>
      </p:sp>
      <p:sp>
        <p:nvSpPr>
          <p:cNvPr id="100" name="Shape 100"/>
          <p:cNvSpPr/>
          <p:nvPr/>
        </p:nvSpPr>
        <p:spPr>
          <a:xfrm>
            <a:off x="1143000" y="2362200"/>
            <a:ext cx="3048000" cy="355600"/>
          </a:xfrm>
          <a:prstGeom prst="rect">
            <a:avLst/>
          </a:prstGeom>
          <a:noFill/>
          <a:ln>
            <a:noFill/>
          </a:ln>
        </p:spPr>
        <p:txBody>
          <a:bodyPr wrap="square" lIns="0" tIns="0" rIns="0" bIns="0" anchor="t">
            <a:normAutofit fontScale="92500"/>
          </a:bodyPr>
          <a:lstStyle/>
          <a:p>
            <a:pPr>
              <a:buNone/>
            </a:pPr>
            <a:r>
              <a:rPr lang="en-US" sz="1400" b="1" spc="150" dirty="0">
                <a:solidFill>
                  <a:srgbClr val="667780"/>
                </a:solidFill>
                <a:latin typeface="Frutiger"/>
                <a:cs typeface="Frutiger"/>
              </a:rPr>
              <a:t>SOURCES · raw tables, seeded once</a:t>
            </a:r>
          </a:p>
        </p:txBody>
      </p:sp>
      <p:sp>
        <p:nvSpPr>
          <p:cNvPr id="101" name="Shape 101"/>
          <p:cNvSpPr/>
          <p:nvPr/>
        </p:nvSpPr>
        <p:spPr>
          <a:xfrm>
            <a:off x="4318000" y="2362200"/>
            <a:ext cx="3683000" cy="355600"/>
          </a:xfrm>
          <a:prstGeom prst="rect">
            <a:avLst/>
          </a:prstGeom>
          <a:noFill/>
          <a:ln>
            <a:noFill/>
          </a:ln>
        </p:spPr>
        <p:txBody>
          <a:bodyPr wrap="square" lIns="0" tIns="0" rIns="0" bIns="0" anchor="t">
            <a:normAutofit/>
          </a:bodyPr>
          <a:lstStyle/>
          <a:p>
            <a:pPr>
              <a:buNone/>
            </a:pPr>
            <a:r>
              <a:rPr lang="en-US" sz="1400" b="1" spc="150" dirty="0">
                <a:solidFill>
                  <a:srgbClr val="667780"/>
                </a:solidFill>
                <a:latin typeface="Frutiger"/>
                <a:cs typeface="Frutiger"/>
              </a:rPr>
              <a:t>STAGING · one row per source row</a:t>
            </a:r>
          </a:p>
        </p:txBody>
      </p:sp>
      <p:sp>
        <p:nvSpPr>
          <p:cNvPr id="102" name="Shape 102"/>
          <p:cNvSpPr/>
          <p:nvPr/>
        </p:nvSpPr>
        <p:spPr>
          <a:xfrm>
            <a:off x="8128000" y="2362200"/>
            <a:ext cx="3302000" cy="355600"/>
          </a:xfrm>
          <a:prstGeom prst="rect">
            <a:avLst/>
          </a:prstGeom>
          <a:noFill/>
          <a:ln>
            <a:noFill/>
          </a:ln>
        </p:spPr>
        <p:txBody>
          <a:bodyPr wrap="square" lIns="0" tIns="0" rIns="0" bIns="0" anchor="t">
            <a:normAutofit/>
          </a:bodyPr>
          <a:lstStyle/>
          <a:p>
            <a:pPr>
              <a:buNone/>
            </a:pPr>
            <a:r>
              <a:rPr lang="en-US" sz="1400" b="1" spc="150" dirty="0">
                <a:solidFill>
                  <a:srgbClr val="667780"/>
                </a:solidFill>
                <a:latin typeface="Frutiger"/>
                <a:cs typeface="Frutiger"/>
              </a:rPr>
              <a:t>MARTS · one row per customer</a:t>
            </a:r>
          </a:p>
        </p:txBody>
      </p:sp>
      <p:sp>
        <p:nvSpPr>
          <p:cNvPr id="110" name="Shape 110"/>
          <p:cNvSpPr/>
          <p:nvPr/>
        </p:nvSpPr>
        <p:spPr>
          <a:xfrm>
            <a:off x="1143000" y="2844800"/>
            <a:ext cx="2667000" cy="812800"/>
          </a:xfrm>
          <a:prstGeom prst="roundRect">
            <a:avLst>
              <a:gd name="adj" fmla="val 12000"/>
            </a:avLst>
          </a:prstGeom>
          <a:solidFill>
            <a:srgbClr val="FFFFFF"/>
          </a:solidFill>
          <a:ln w="19050">
            <a:solidFill>
              <a:srgbClr val="8E9DC5"/>
            </a:solidFill>
          </a:ln>
        </p:spPr>
        <p:txBody>
          <a:bodyPr wrap="square" lIns="76200" tIns="25400" rIns="76200" bIns="25400" anchor="ctr">
            <a:normAutofit/>
          </a:bodyPr>
          <a:lstStyle/>
          <a:p>
            <a:pPr algn="ctr">
              <a:buNone/>
            </a:pPr>
            <a:r>
              <a:rPr lang="en-US" sz="2000" b="1" dirty="0">
                <a:solidFill>
                  <a:srgbClr val="001F6B"/>
                </a:solidFill>
                <a:latin typeface="Consolas"/>
                <a:cs typeface="Consolas"/>
              </a:rPr>
              <a:t>raw_customers</a:t>
            </a:r>
          </a:p>
          <a:p>
            <a:pPr algn="ctr">
              <a:buNone/>
            </a:pPr>
            <a:r>
              <a:rPr lang="en-US" sz="1400" dirty="0">
                <a:solidFill>
                  <a:srgbClr val="001F6B"/>
                </a:solidFill>
                <a:latin typeface="Frutiger"/>
                <a:cs typeface="Frutiger"/>
              </a:rPr>
              <a:t>source · raw schema</a:t>
            </a:r>
          </a:p>
        </p:txBody>
      </p:sp>
      <p:sp>
        <p:nvSpPr>
          <p:cNvPr id="111" name="Shape 111"/>
          <p:cNvSpPr/>
          <p:nvPr/>
        </p:nvSpPr>
        <p:spPr>
          <a:xfrm>
            <a:off x="1143000" y="4495800"/>
            <a:ext cx="2667000" cy="812800"/>
          </a:xfrm>
          <a:prstGeom prst="roundRect">
            <a:avLst>
              <a:gd name="adj" fmla="val 12000"/>
            </a:avLst>
          </a:prstGeom>
          <a:solidFill>
            <a:srgbClr val="FFFFFF"/>
          </a:solidFill>
          <a:ln w="19050">
            <a:solidFill>
              <a:srgbClr val="8E9DC5"/>
            </a:solidFill>
          </a:ln>
        </p:spPr>
        <p:txBody>
          <a:bodyPr wrap="square" lIns="76200" tIns="25400" rIns="76200" bIns="25400" anchor="ctr">
            <a:normAutofit/>
          </a:bodyPr>
          <a:lstStyle/>
          <a:p>
            <a:pPr algn="ctr">
              <a:buNone/>
            </a:pPr>
            <a:r>
              <a:rPr lang="en-US" sz="2000" b="1" dirty="0">
                <a:solidFill>
                  <a:srgbClr val="001F6B"/>
                </a:solidFill>
                <a:latin typeface="Consolas"/>
                <a:cs typeface="Consolas"/>
              </a:rPr>
              <a:t>raw_orders</a:t>
            </a:r>
          </a:p>
          <a:p>
            <a:pPr algn="ctr">
              <a:buNone/>
            </a:pPr>
            <a:r>
              <a:rPr lang="en-US" sz="1400" dirty="0">
                <a:solidFill>
                  <a:srgbClr val="001F6B"/>
                </a:solidFill>
                <a:latin typeface="Frutiger"/>
                <a:cs typeface="Frutiger"/>
              </a:rPr>
              <a:t>source · raw schema</a:t>
            </a:r>
          </a:p>
        </p:txBody>
      </p:sp>
      <p:sp>
        <p:nvSpPr>
          <p:cNvPr id="112" name="Shape 112"/>
          <p:cNvSpPr/>
          <p:nvPr/>
        </p:nvSpPr>
        <p:spPr>
          <a:xfrm>
            <a:off x="4318000" y="2844800"/>
            <a:ext cx="2667000" cy="812800"/>
          </a:xfrm>
          <a:prstGeom prst="roundRect">
            <a:avLst>
              <a:gd name="adj" fmla="val 12000"/>
            </a:avLst>
          </a:prstGeom>
          <a:solidFill>
            <a:srgbClr val="8E9DC5"/>
          </a:solidFill>
          <a:ln>
            <a:noFill/>
          </a:ln>
        </p:spPr>
        <p:txBody>
          <a:bodyPr wrap="square" lIns="76200" tIns="25400" rIns="76200" bIns="25400" anchor="ctr">
            <a:normAutofit/>
          </a:bodyPr>
          <a:lstStyle/>
          <a:p>
            <a:pPr algn="ctr">
              <a:buNone/>
            </a:pPr>
            <a:r>
              <a:rPr lang="en-US" sz="2000" b="1" dirty="0">
                <a:solidFill>
                  <a:srgbClr val="001F6B"/>
                </a:solidFill>
                <a:latin typeface="Consolas"/>
                <a:cs typeface="Consolas"/>
              </a:rPr>
              <a:t>stg_customers</a:t>
            </a:r>
          </a:p>
          <a:p>
            <a:pPr algn="ctr">
              <a:buNone/>
            </a:pPr>
            <a:r>
              <a:rPr lang="en-US" sz="1400" dirty="0">
                <a:solidFill>
                  <a:srgbClr val="001F6B"/>
                </a:solidFill>
                <a:latin typeface="Frutiger"/>
                <a:cs typeface="Frutiger"/>
              </a:rPr>
              <a:t>view</a:t>
            </a:r>
          </a:p>
        </p:txBody>
      </p:sp>
      <p:sp>
        <p:nvSpPr>
          <p:cNvPr id="113" name="Shape 113"/>
          <p:cNvSpPr/>
          <p:nvPr/>
        </p:nvSpPr>
        <p:spPr>
          <a:xfrm>
            <a:off x="4318000" y="4495800"/>
            <a:ext cx="2667000" cy="812800"/>
          </a:xfrm>
          <a:prstGeom prst="roundRect">
            <a:avLst>
              <a:gd name="adj" fmla="val 12000"/>
            </a:avLst>
          </a:prstGeom>
          <a:solidFill>
            <a:srgbClr val="8E9DC5"/>
          </a:solidFill>
          <a:ln>
            <a:noFill/>
          </a:ln>
        </p:spPr>
        <p:txBody>
          <a:bodyPr wrap="square" lIns="76200" tIns="25400" rIns="76200" bIns="25400" anchor="ctr">
            <a:normAutofit lnSpcReduction="10000"/>
          </a:bodyPr>
          <a:lstStyle/>
          <a:p>
            <a:pPr algn="ctr">
              <a:buNone/>
            </a:pPr>
            <a:r>
              <a:rPr lang="en-US" sz="2000" b="1" dirty="0">
                <a:solidFill>
                  <a:srgbClr val="001F6B"/>
                </a:solidFill>
                <a:latin typeface="Consolas"/>
                <a:cs typeface="Consolas"/>
              </a:rPr>
              <a:t>stg_orders</a:t>
            </a:r>
          </a:p>
          <a:p>
            <a:pPr algn="ctr">
              <a:buNone/>
            </a:pPr>
            <a:r>
              <a:rPr lang="en-US" sz="1400" dirty="0">
                <a:solidFill>
                  <a:srgbClr val="001F6B"/>
                </a:solidFill>
                <a:latin typeface="Frutiger"/>
                <a:cs typeface="Frutiger"/>
              </a:rPr>
              <a:t>cents → dollars, timestamp → day</a:t>
            </a:r>
          </a:p>
        </p:txBody>
      </p:sp>
      <p:sp>
        <p:nvSpPr>
          <p:cNvPr id="114" name="Shape 114"/>
          <p:cNvSpPr/>
          <p:nvPr/>
        </p:nvSpPr>
        <p:spPr>
          <a:xfrm>
            <a:off x="8128000" y="3670300"/>
            <a:ext cx="2921000" cy="939800"/>
          </a:xfrm>
          <a:prstGeom prst="roundRect">
            <a:avLst>
              <a:gd name="adj" fmla="val 12000"/>
            </a:avLst>
          </a:prstGeom>
          <a:solidFill>
            <a:srgbClr val="001F6B"/>
          </a:solidFill>
          <a:ln>
            <a:noFill/>
          </a:ln>
        </p:spPr>
        <p:txBody>
          <a:bodyPr wrap="square" lIns="76200" tIns="25400" rIns="76200" bIns="25400" anchor="ctr">
            <a:normAutofit/>
          </a:bodyPr>
          <a:lstStyle/>
          <a:p>
            <a:pPr algn="ctr">
              <a:buNone/>
            </a:pPr>
            <a:r>
              <a:rPr lang="en-US" sz="2000" b="1" dirty="0">
                <a:solidFill>
                  <a:srgbClr val="FFFFFF"/>
                </a:solidFill>
                <a:latin typeface="Consolas"/>
                <a:cs typeface="Consolas"/>
              </a:rPr>
              <a:t>customers</a:t>
            </a:r>
          </a:p>
          <a:p>
            <a:pPr algn="ctr">
              <a:buNone/>
            </a:pPr>
            <a:r>
              <a:rPr lang="en-US" sz="1400" dirty="0">
                <a:solidFill>
                  <a:srgbClr val="FFFFFF"/>
                </a:solidFill>
                <a:latin typeface="Frutiger"/>
                <a:cs typeface="Frutiger"/>
              </a:rPr>
              <a:t>lifetime orders and spend (via orders)</a:t>
            </a:r>
          </a:p>
        </p:txBody>
      </p:sp>
      <p:sp>
        <p:nvSpPr>
          <p:cNvPr id="115" name="Shape 115"/>
          <p:cNvSpPr/>
          <p:nvPr/>
        </p:nvSpPr>
        <p:spPr>
          <a:xfrm>
            <a:off x="4318000" y="5867400"/>
            <a:ext cx="2667000" cy="711200"/>
          </a:xfrm>
          <a:prstGeom prst="roundRect">
            <a:avLst>
              <a:gd name="adj" fmla="val 12000"/>
            </a:avLst>
          </a:prstGeom>
          <a:solidFill>
            <a:srgbClr val="FFFFFF"/>
          </a:solidFill>
          <a:ln w="19050">
            <a:solidFill>
              <a:srgbClr val="E40046"/>
            </a:solidFill>
            <a:prstDash val="dash"/>
          </a:ln>
        </p:spPr>
        <p:txBody>
          <a:bodyPr wrap="square" lIns="76200" tIns="25400" rIns="76200" bIns="25400" anchor="ctr">
            <a:normAutofit fontScale="92500" lnSpcReduction="10000"/>
          </a:bodyPr>
          <a:lstStyle/>
          <a:p>
            <a:pPr algn="ctr">
              <a:buNone/>
            </a:pPr>
            <a:r>
              <a:rPr lang="en-US" sz="1700" b="1" dirty="0">
                <a:solidFill>
                  <a:srgbClr val="E40046"/>
                </a:solidFill>
                <a:latin typeface="Consolas"/>
                <a:cs typeface="Consolas"/>
              </a:rPr>
              <a:t>expression_is_true</a:t>
            </a:r>
          </a:p>
          <a:p>
            <a:pPr algn="ctr">
              <a:buNone/>
            </a:pPr>
            <a:r>
              <a:rPr lang="en-US" sz="1400" dirty="0">
                <a:solidFill>
                  <a:srgbClr val="E40046"/>
                </a:solidFill>
                <a:latin typeface="Frutiger"/>
                <a:cs typeface="Frutiger"/>
              </a:rPr>
              <a:t>test · order_total − tax_paid = subtotal</a:t>
            </a:r>
          </a:p>
        </p:txBody>
      </p:sp>
      <p:sp>
        <p:nvSpPr>
          <p:cNvPr id="116" name="Shape 116"/>
          <p:cNvSpPr/>
          <p:nvPr/>
        </p:nvSpPr>
        <p:spPr>
          <a:xfrm>
            <a:off x="8128000" y="5867400"/>
            <a:ext cx="2921000" cy="711200"/>
          </a:xfrm>
          <a:prstGeom prst="roundRect">
            <a:avLst>
              <a:gd name="adj" fmla="val 12000"/>
            </a:avLst>
          </a:prstGeom>
          <a:solidFill>
            <a:srgbClr val="FFFFFF"/>
          </a:solidFill>
          <a:ln w="19050">
            <a:solidFill>
              <a:srgbClr val="E40046"/>
            </a:solidFill>
            <a:prstDash val="dash"/>
          </a:ln>
        </p:spPr>
        <p:txBody>
          <a:bodyPr wrap="square" lIns="76200" tIns="25400" rIns="76200" bIns="25400" anchor="ctr">
            <a:normAutofit fontScale="92500"/>
          </a:bodyPr>
          <a:lstStyle/>
          <a:p>
            <a:pPr algn="ctr">
              <a:buNone/>
            </a:pPr>
            <a:r>
              <a:rPr lang="en-US" sz="1700" b="1" dirty="0">
                <a:solidFill>
                  <a:srgbClr val="E40046"/>
                </a:solidFill>
                <a:latin typeface="Consolas"/>
                <a:cs typeface="Consolas"/>
              </a:rPr>
              <a:t>accepted_values</a:t>
            </a:r>
          </a:p>
          <a:p>
            <a:pPr algn="ctr">
              <a:buNone/>
            </a:pPr>
            <a:r>
              <a:rPr lang="en-US" sz="1400" dirty="0">
                <a:solidFill>
                  <a:srgbClr val="E40046"/>
                </a:solidFill>
                <a:latin typeface="Frutiger"/>
                <a:cs typeface="Frutiger"/>
              </a:rPr>
              <a:t>test · customer_type in [new, returning]</a:t>
            </a:r>
          </a:p>
        </p:txBody>
      </p:sp>
      <p:cxnSp>
        <p:nvCxnSpPr>
          <p:cNvPr id="120" name="Line 120"/>
          <p:cNvCxnSpPr/>
          <p:nvPr/>
        </p:nvCxnSpPr>
        <p:spPr>
          <a:xfrm>
            <a:off x="3810000" y="3251200"/>
            <a:ext cx="508000" cy="0"/>
          </a:xfrm>
          <a:prstGeom prst="line">
            <a:avLst/>
          </a:prstGeom>
          <a:ln w="25400">
            <a:solidFill>
              <a:srgbClr val="001F6B"/>
            </a:solidFill>
            <a:tailEnd type="triangle" w="med" len="med"/>
          </a:ln>
        </p:spPr>
      </p:cxnSp>
      <p:cxnSp>
        <p:nvCxnSpPr>
          <p:cNvPr id="121" name="Line 121"/>
          <p:cNvCxnSpPr/>
          <p:nvPr/>
        </p:nvCxnSpPr>
        <p:spPr>
          <a:xfrm>
            <a:off x="3810000" y="4902200"/>
            <a:ext cx="508000" cy="0"/>
          </a:xfrm>
          <a:prstGeom prst="line">
            <a:avLst/>
          </a:prstGeom>
          <a:ln w="25400">
            <a:solidFill>
              <a:srgbClr val="001F6B"/>
            </a:solidFill>
            <a:tailEnd type="triangle" w="med" len="med"/>
          </a:ln>
        </p:spPr>
      </p:cxnSp>
      <p:cxnSp>
        <p:nvCxnSpPr>
          <p:cNvPr id="122" name="Line 122"/>
          <p:cNvCxnSpPr/>
          <p:nvPr/>
        </p:nvCxnSpPr>
        <p:spPr>
          <a:xfrm>
            <a:off x="6985000" y="3251200"/>
            <a:ext cx="1143000" cy="787400"/>
          </a:xfrm>
          <a:prstGeom prst="line">
            <a:avLst/>
          </a:prstGeom>
          <a:ln w="25400">
            <a:solidFill>
              <a:srgbClr val="001F6B"/>
            </a:solidFill>
            <a:tailEnd type="triangle" w="med" len="med"/>
          </a:ln>
        </p:spPr>
      </p:cxnSp>
      <p:cxnSp>
        <p:nvCxnSpPr>
          <p:cNvPr id="123" name="Line 123"/>
          <p:cNvCxnSpPr/>
          <p:nvPr/>
        </p:nvCxnSpPr>
        <p:spPr>
          <a:xfrm flipV="1">
            <a:off x="6985000" y="4241800"/>
            <a:ext cx="1143000" cy="660400"/>
          </a:xfrm>
          <a:prstGeom prst="line">
            <a:avLst/>
          </a:prstGeom>
          <a:ln w="25400">
            <a:solidFill>
              <a:srgbClr val="001F6B"/>
            </a:solidFill>
            <a:tailEnd type="triangle" w="med" len="med"/>
          </a:ln>
        </p:spPr>
      </p:cxnSp>
      <p:cxnSp>
        <p:nvCxnSpPr>
          <p:cNvPr id="124" name="Line 124"/>
          <p:cNvCxnSpPr/>
          <p:nvPr/>
        </p:nvCxnSpPr>
        <p:spPr>
          <a:xfrm>
            <a:off x="5651500" y="5308600"/>
            <a:ext cx="0" cy="558800"/>
          </a:xfrm>
          <a:prstGeom prst="line">
            <a:avLst/>
          </a:prstGeom>
          <a:ln w="19050">
            <a:solidFill>
              <a:srgbClr val="E40046"/>
            </a:solidFill>
            <a:prstDash val="dash"/>
          </a:ln>
        </p:spPr>
      </p:cxnSp>
      <p:cxnSp>
        <p:nvCxnSpPr>
          <p:cNvPr id="125" name="Line 125"/>
          <p:cNvCxnSpPr/>
          <p:nvPr/>
        </p:nvCxnSpPr>
        <p:spPr>
          <a:xfrm>
            <a:off x="9588500" y="4610100"/>
            <a:ext cx="0" cy="1257300"/>
          </a:xfrm>
          <a:prstGeom prst="line">
            <a:avLst/>
          </a:prstGeom>
          <a:ln w="19050">
            <a:solidFill>
              <a:srgbClr val="E40046"/>
            </a:solidFill>
            <a:prstDash val="dash"/>
          </a:ln>
        </p:spPr>
      </p:cxnSp>
      <p:cxnSp>
        <p:nvCxnSpPr>
          <p:cNvPr id="126" name="Line 126"/>
          <p:cNvCxnSpPr/>
          <p:nvPr/>
        </p:nvCxnSpPr>
        <p:spPr>
          <a:xfrm>
            <a:off x="1778000" y="5308600"/>
            <a:ext cx="0" cy="1549400"/>
          </a:xfrm>
          <a:prstGeom prst="line">
            <a:avLst/>
          </a:prstGeom>
          <a:ln w="19050">
            <a:solidFill>
              <a:srgbClr val="E40046"/>
            </a:solidFill>
            <a:prstDash val="dash"/>
          </a:ln>
        </p:spPr>
      </p:cxnSp>
      <p:cxnSp>
        <p:nvCxnSpPr>
          <p:cNvPr id="127" name="Line 127"/>
          <p:cNvCxnSpPr/>
          <p:nvPr/>
        </p:nvCxnSpPr>
        <p:spPr>
          <a:xfrm>
            <a:off x="1778000" y="6858000"/>
            <a:ext cx="7112000" cy="0"/>
          </a:xfrm>
          <a:prstGeom prst="line">
            <a:avLst/>
          </a:prstGeom>
          <a:ln w="19050">
            <a:solidFill>
              <a:srgbClr val="E40046"/>
            </a:solidFill>
            <a:prstDash val="dash"/>
          </a:ln>
        </p:spPr>
      </p:cxnSp>
      <p:cxnSp>
        <p:nvCxnSpPr>
          <p:cNvPr id="128" name="Line 128"/>
          <p:cNvCxnSpPr/>
          <p:nvPr/>
        </p:nvCxnSpPr>
        <p:spPr>
          <a:xfrm flipV="1">
            <a:off x="8890000" y="6578600"/>
            <a:ext cx="0" cy="279400"/>
          </a:xfrm>
          <a:prstGeom prst="line">
            <a:avLst/>
          </a:prstGeom>
          <a:ln w="19050">
            <a:solidFill>
              <a:srgbClr val="E40046"/>
            </a:solidFill>
            <a:prstDash val="dash"/>
          </a:ln>
        </p:spPr>
      </p:cxnSp>
      <p:sp>
        <p:nvSpPr>
          <p:cNvPr id="129" name="Shape 129"/>
          <p:cNvSpPr/>
          <p:nvPr/>
        </p:nvSpPr>
        <p:spPr>
          <a:xfrm>
            <a:off x="7112000" y="2844800"/>
            <a:ext cx="889000" cy="279400"/>
          </a:xfrm>
          <a:prstGeom prst="rect">
            <a:avLst/>
          </a:prstGeom>
          <a:noFill/>
          <a:ln>
            <a:noFill/>
          </a:ln>
        </p:spPr>
        <p:txBody>
          <a:bodyPr wrap="square" lIns="0" tIns="0" rIns="0" bIns="0" anchor="t">
            <a:normAutofit/>
          </a:bodyPr>
          <a:lstStyle/>
          <a:p>
            <a:pPr>
              <a:buNone/>
            </a:pPr>
            <a:r>
              <a:rPr lang="en-US" sz="1400" b="1" dirty="0">
                <a:solidFill>
                  <a:srgbClr val="E40046"/>
                </a:solidFill>
                <a:latin typeface="Consolas"/>
                <a:cs typeface="Consolas"/>
              </a:rPr>
              <a:t>ref()</a:t>
            </a:r>
          </a:p>
        </p:txBody>
      </p:sp>
      <p:sp>
        <p:nvSpPr>
          <p:cNvPr id="130" name="Shape 130"/>
          <p:cNvSpPr/>
          <p:nvPr/>
        </p:nvSpPr>
        <p:spPr>
          <a:xfrm>
            <a:off x="7112000" y="5003800"/>
            <a:ext cx="889000" cy="279400"/>
          </a:xfrm>
          <a:prstGeom prst="rect">
            <a:avLst/>
          </a:prstGeom>
          <a:noFill/>
          <a:ln>
            <a:noFill/>
          </a:ln>
        </p:spPr>
        <p:txBody>
          <a:bodyPr wrap="square" lIns="0" tIns="0" rIns="0" bIns="0" anchor="t">
            <a:normAutofit/>
          </a:bodyPr>
          <a:lstStyle/>
          <a:p>
            <a:pPr>
              <a:buNone/>
            </a:pPr>
            <a:r>
              <a:rPr lang="en-US" sz="1400" b="1" dirty="0">
                <a:solidFill>
                  <a:srgbClr val="E40046"/>
                </a:solidFill>
                <a:latin typeface="Consolas"/>
                <a:cs typeface="Consolas"/>
              </a:rPr>
              <a:t>ref()</a:t>
            </a:r>
          </a:p>
        </p:txBody>
      </p:sp>
      <p:sp>
        <p:nvSpPr>
          <p:cNvPr id="140" name="Shape 140"/>
          <p:cNvSpPr/>
          <p:nvPr/>
        </p:nvSpPr>
        <p:spPr>
          <a:xfrm>
            <a:off x="11557000" y="2362200"/>
            <a:ext cx="5892800" cy="355600"/>
          </a:xfrm>
          <a:prstGeom prst="rect">
            <a:avLst/>
          </a:prstGeom>
          <a:noFill/>
          <a:ln>
            <a:noFill/>
          </a:ln>
        </p:spPr>
        <p:txBody>
          <a:bodyPr wrap="square" lIns="0" tIns="0" rIns="0" bIns="0" anchor="t">
            <a:normAutofit/>
          </a:bodyPr>
          <a:lstStyle/>
          <a:p>
            <a:pPr>
              <a:buNone/>
            </a:pPr>
            <a:r>
              <a:rPr lang="en-US" sz="1400" b="1" spc="150" dirty="0">
                <a:solidFill>
                  <a:srgbClr val="E40046"/>
                </a:solidFill>
                <a:latin typeface="Frutiger"/>
                <a:cs typeface="Frutiger"/>
              </a:rPr>
              <a:t>MODELS/MARTS/CUSTOMERS.SQL</a:t>
            </a:r>
          </a:p>
        </p:txBody>
      </p:sp>
      <p:sp>
        <p:nvSpPr>
          <p:cNvPr id="141" name="Code 141"/>
          <p:cNvSpPr/>
          <p:nvPr/>
        </p:nvSpPr>
        <p:spPr>
          <a:xfrm>
            <a:off x="11557000" y="2717800"/>
            <a:ext cx="5892800" cy="2717800"/>
          </a:xfrm>
          <a:prstGeom prst="roundRect">
            <a:avLst>
              <a:gd name="adj" fmla="val 4000"/>
            </a:avLst>
          </a:prstGeom>
          <a:solidFill>
            <a:srgbClr val="0E1E4A"/>
          </a:solidFill>
          <a:ln>
            <a:noFill/>
          </a:ln>
        </p:spPr>
        <p:txBody>
          <a:bodyPr wrap="square" lIns="228600" tIns="203200" rIns="228600" bIns="228600" anchor="t">
            <a:normAutofit fontScale="92500" lnSpcReduction="20000"/>
          </a:bodyPr>
          <a:lstStyle/>
          <a:p>
            <a:pPr>
              <a:lnSpc>
                <a:spcPct val="118000"/>
              </a:lnSpc>
              <a:buNone/>
            </a:pPr>
            <a:r>
              <a:rPr lang="en-US" sz="1400" dirty="0">
                <a:solidFill>
                  <a:srgbClr val="8EC5FF"/>
                </a:solidFill>
                <a:latin typeface="Consolas"/>
                <a:cs typeface="Consolas"/>
              </a:rPr>
              <a:t>with</a:t>
            </a:r>
            <a:r>
              <a:rPr lang="en-US" sz="1400" dirty="0">
                <a:solidFill>
                  <a:srgbClr val="E8ECF5"/>
                </a:solidFill>
                <a:latin typeface="Consolas"/>
                <a:cs typeface="Consolas"/>
              </a:rPr>
              <a:t> customers </a:t>
            </a:r>
            <a:r>
              <a:rPr lang="en-US" sz="1400" dirty="0">
                <a:solidFill>
                  <a:srgbClr val="8EC5FF"/>
                </a:solidFill>
                <a:latin typeface="Consolas"/>
                <a:cs typeface="Consolas"/>
              </a:rPr>
              <a:t>as</a:t>
            </a:r>
            <a:r>
              <a:rPr lang="en-US" sz="1400" dirty="0">
                <a:solidFill>
                  <a:srgbClr val="E8ECF5"/>
                </a:solidFill>
                <a:latin typeface="Consolas"/>
                <a:cs typeface="Consolas"/>
              </a:rPr>
              <a:t> (</a:t>
            </a:r>
          </a:p>
          <a:p>
            <a:pPr>
              <a:lnSpc>
                <a:spcPct val="118000"/>
              </a:lnSpc>
              <a:buNone/>
            </a:pPr>
            <a:r>
              <a:rPr lang="en-US" sz="1400" dirty="0">
                <a:solidFill>
                  <a:srgbClr val="8EC5FF"/>
                </a:solidFill>
                <a:latin typeface="Consolas"/>
                <a:cs typeface="Consolas"/>
              </a:rPr>
              <a:t>    select</a:t>
            </a:r>
            <a:r>
              <a:rPr lang="en-US" sz="1400" dirty="0">
                <a:solidFill>
                  <a:srgbClr val="E8ECF5"/>
                </a:solidFill>
                <a:latin typeface="Consolas"/>
                <a:cs typeface="Consolas"/>
              </a:rPr>
              <a:t> * </a:t>
            </a:r>
            <a:r>
              <a:rPr lang="en-US" sz="1400" dirty="0">
                <a:solidFill>
                  <a:srgbClr val="8EC5FF"/>
                </a:solidFill>
                <a:latin typeface="Consolas"/>
                <a:cs typeface="Consolas"/>
              </a:rPr>
              <a:t>from </a:t>
            </a:r>
            <a:r>
              <a:rPr lang="en-US" sz="1400" dirty="0">
                <a:solidFill>
                  <a:srgbClr val="FF8FA3"/>
                </a:solidFill>
                <a:latin typeface="Consolas"/>
                <a:cs typeface="Consolas"/>
              </a:rPr>
              <a:t>{{ ref('stg_customers') }}</a:t>
            </a:r>
          </a:p>
          <a:p>
            <a:pPr>
              <a:lnSpc>
                <a:spcPct val="118000"/>
              </a:lnSpc>
              <a:buNone/>
            </a:pPr>
            <a:r>
              <a:rPr lang="en-US" sz="1400" dirty="0">
                <a:solidFill>
                  <a:srgbClr val="E8ECF5"/>
                </a:solidFill>
                <a:latin typeface="Consolas"/>
                <a:cs typeface="Consolas"/>
              </a:rPr>
              <a:t>),</a:t>
            </a:r>
          </a:p>
          <a:p>
            <a:pPr>
              <a:lnSpc>
                <a:spcPct val="118000"/>
              </a:lnSpc>
              <a:buNone/>
            </a:pPr>
            <a:r>
              <a:rPr lang="en-US" sz="1400" dirty="0">
                <a:solidFill>
                  <a:srgbClr val="E8ECF5"/>
                </a:solidFill>
                <a:latin typeface="Consolas"/>
                <a:cs typeface="Consolas"/>
              </a:rPr>
              <a:t>orders </a:t>
            </a:r>
            <a:r>
              <a:rPr lang="en-US" sz="1400" dirty="0">
                <a:solidFill>
                  <a:srgbClr val="8EC5FF"/>
                </a:solidFill>
                <a:latin typeface="Consolas"/>
                <a:cs typeface="Consolas"/>
              </a:rPr>
              <a:t>as</a:t>
            </a:r>
            <a:r>
              <a:rPr lang="en-US" sz="1400" dirty="0">
                <a:solidFill>
                  <a:srgbClr val="E8ECF5"/>
                </a:solidFill>
                <a:latin typeface="Consolas"/>
                <a:cs typeface="Consolas"/>
              </a:rPr>
              <a:t> (</a:t>
            </a:r>
          </a:p>
          <a:p>
            <a:pPr>
              <a:lnSpc>
                <a:spcPct val="118000"/>
              </a:lnSpc>
              <a:buNone/>
            </a:pPr>
            <a:r>
              <a:rPr lang="en-US" sz="1400" dirty="0">
                <a:solidFill>
                  <a:srgbClr val="8EC5FF"/>
                </a:solidFill>
                <a:latin typeface="Consolas"/>
                <a:cs typeface="Consolas"/>
              </a:rPr>
              <a:t>    select</a:t>
            </a:r>
            <a:r>
              <a:rPr lang="en-US" sz="1400" dirty="0">
                <a:solidFill>
                  <a:srgbClr val="E8ECF5"/>
                </a:solidFill>
                <a:latin typeface="Consolas"/>
                <a:cs typeface="Consolas"/>
              </a:rPr>
              <a:t> * </a:t>
            </a:r>
            <a:r>
              <a:rPr lang="en-US" sz="1400" dirty="0">
                <a:solidFill>
                  <a:srgbClr val="8EC5FF"/>
                </a:solidFill>
                <a:latin typeface="Consolas"/>
                <a:cs typeface="Consolas"/>
              </a:rPr>
              <a:t>from </a:t>
            </a:r>
            <a:r>
              <a:rPr lang="en-US" sz="1400" dirty="0">
                <a:solidFill>
                  <a:srgbClr val="FF8FA3"/>
                </a:solidFill>
                <a:latin typeface="Consolas"/>
                <a:cs typeface="Consolas"/>
              </a:rPr>
              <a:t>{{ ref('orders') }}</a:t>
            </a:r>
          </a:p>
          <a:p>
            <a:pPr>
              <a:lnSpc>
                <a:spcPct val="118000"/>
              </a:lnSpc>
              <a:buNone/>
            </a:pPr>
            <a:r>
              <a:rPr lang="en-US" sz="1400" dirty="0">
                <a:solidFill>
                  <a:srgbClr val="E8ECF5"/>
                </a:solidFill>
                <a:latin typeface="Consolas"/>
                <a:cs typeface="Consolas"/>
              </a:rPr>
              <a:t>)</a:t>
            </a:r>
          </a:p>
          <a:p>
            <a:pPr>
              <a:lnSpc>
                <a:spcPct val="118000"/>
              </a:lnSpc>
              <a:buNone/>
            </a:pPr>
            <a:r>
              <a:rPr lang="en-US" sz="1400" dirty="0">
                <a:solidFill>
                  <a:srgbClr val="8EC5FF"/>
                </a:solidFill>
                <a:latin typeface="Consolas"/>
                <a:cs typeface="Consolas"/>
              </a:rPr>
              <a:t>select</a:t>
            </a:r>
            <a:r>
              <a:rPr lang="en-US" sz="1400" dirty="0">
                <a:solidFill>
                  <a:srgbClr val="E8ECF5"/>
                </a:solidFill>
                <a:latin typeface="Consolas"/>
                <a:cs typeface="Consolas"/>
              </a:rPr>
              <a:t> customers.customer_id, customers.customer_name,</a:t>
            </a:r>
          </a:p>
          <a:p>
            <a:pPr>
              <a:lnSpc>
                <a:spcPct val="118000"/>
              </a:lnSpc>
              <a:buNone/>
            </a:pPr>
            <a:r>
              <a:rPr lang="en-US" sz="1400" dirty="0">
                <a:solidFill>
                  <a:srgbClr val="8EC5FF"/>
                </a:solidFill>
                <a:latin typeface="Consolas"/>
                <a:cs typeface="Consolas"/>
              </a:rPr>
              <a:t>    count(distinct</a:t>
            </a:r>
            <a:r>
              <a:rPr lang="en-US" sz="1400" dirty="0">
                <a:solidFill>
                  <a:srgbClr val="E8ECF5"/>
                </a:solidFill>
                <a:latin typeface="Consolas"/>
                <a:cs typeface="Consolas"/>
              </a:rPr>
              <a:t> orders.order_id</a:t>
            </a:r>
            <a:r>
              <a:rPr lang="en-US" sz="1400" dirty="0">
                <a:solidFill>
                  <a:srgbClr val="FFD27F"/>
                </a:solidFill>
                <a:latin typeface="Consolas"/>
                <a:cs typeface="Consolas"/>
              </a:rPr>
              <a:t>) as count_lifetime_orders,</a:t>
            </a:r>
          </a:p>
          <a:p>
            <a:pPr>
              <a:lnSpc>
                <a:spcPct val="118000"/>
              </a:lnSpc>
              <a:buNone/>
            </a:pPr>
            <a:r>
              <a:rPr lang="en-US" sz="1400" dirty="0">
                <a:solidFill>
                  <a:srgbClr val="8EC5FF"/>
                </a:solidFill>
                <a:latin typeface="Consolas"/>
                <a:cs typeface="Consolas"/>
              </a:rPr>
              <a:t>    sum(</a:t>
            </a:r>
            <a:r>
              <a:rPr lang="en-US" sz="1400" dirty="0">
                <a:solidFill>
                  <a:srgbClr val="E8ECF5"/>
                </a:solidFill>
                <a:latin typeface="Consolas"/>
                <a:cs typeface="Consolas"/>
              </a:rPr>
              <a:t>orders.order_total</a:t>
            </a:r>
            <a:r>
              <a:rPr lang="en-US" sz="1400" dirty="0">
                <a:solidFill>
                  <a:srgbClr val="8EC5FF"/>
                </a:solidFill>
                <a:latin typeface="Consolas"/>
                <a:cs typeface="Consolas"/>
              </a:rPr>
              <a:t>)</a:t>
            </a:r>
            <a:r>
              <a:rPr lang="en-US" sz="1400" dirty="0">
                <a:solidFill>
                  <a:srgbClr val="E8ECF5"/>
                </a:solidFill>
                <a:latin typeface="Consolas"/>
                <a:cs typeface="Consolas"/>
              </a:rPr>
              <a:t> as lifetime_spend</a:t>
            </a:r>
          </a:p>
          <a:p>
            <a:pPr>
              <a:lnSpc>
                <a:spcPct val="118000"/>
              </a:lnSpc>
              <a:buNone/>
            </a:pPr>
            <a:r>
              <a:rPr lang="en-US" sz="1400" dirty="0">
                <a:solidFill>
                  <a:srgbClr val="8EC5FF"/>
                </a:solidFill>
                <a:latin typeface="Consolas"/>
                <a:cs typeface="Consolas"/>
              </a:rPr>
              <a:t>from</a:t>
            </a:r>
            <a:r>
              <a:rPr lang="en-US" sz="1400" dirty="0">
                <a:solidFill>
                  <a:srgbClr val="E8ECF5"/>
                </a:solidFill>
                <a:latin typeface="Consolas"/>
                <a:cs typeface="Consolas"/>
              </a:rPr>
              <a:t> customers </a:t>
            </a:r>
            <a:r>
              <a:rPr lang="en-US" sz="1400" dirty="0">
                <a:solidFill>
                  <a:srgbClr val="8EC5FF"/>
                </a:solidFill>
                <a:latin typeface="Consolas"/>
                <a:cs typeface="Consolas"/>
              </a:rPr>
              <a:t>left join</a:t>
            </a:r>
            <a:r>
              <a:rPr lang="en-US" sz="1400" dirty="0">
                <a:solidFill>
                  <a:srgbClr val="E8ECF5"/>
                </a:solidFill>
                <a:latin typeface="Consolas"/>
                <a:cs typeface="Consolas"/>
              </a:rPr>
              <a:t> orders …</a:t>
            </a:r>
          </a:p>
        </p:txBody>
      </p:sp>
      <p:sp>
        <p:nvSpPr>
          <p:cNvPr id="150" name="Shape 150"/>
          <p:cNvSpPr/>
          <p:nvPr/>
        </p:nvSpPr>
        <p:spPr>
          <a:xfrm>
            <a:off x="11557000" y="5638800"/>
            <a:ext cx="5892800" cy="1397000"/>
          </a:xfrm>
          <a:prstGeom prst="rect">
            <a:avLst/>
          </a:prstGeom>
          <a:solidFill>
            <a:srgbClr val="F4F6FA"/>
          </a:solidFill>
          <a:ln>
            <a:noFill/>
          </a:ln>
        </p:spPr>
        <p:txBody>
          <a:bodyPr wrap="square" lIns="101600" tIns="101600" rIns="101600" bIns="101600" anchor="t">
            <a:normAutofit/>
          </a:bodyPr>
          <a:lstStyle/>
          <a:p>
            <a:endParaRPr lang="en-US"/>
          </a:p>
        </p:txBody>
      </p:sp>
      <p:sp>
        <p:nvSpPr>
          <p:cNvPr id="151" name="Shape 151"/>
          <p:cNvSpPr/>
          <p:nvPr/>
        </p:nvSpPr>
        <p:spPr>
          <a:xfrm>
            <a:off x="11760200" y="5740400"/>
            <a:ext cx="5537200" cy="1219200"/>
          </a:xfrm>
          <a:prstGeom prst="rect">
            <a:avLst/>
          </a:prstGeom>
          <a:noFill/>
          <a:ln>
            <a:noFill/>
          </a:ln>
        </p:spPr>
        <p:txBody>
          <a:bodyPr wrap="square" lIns="0" tIns="0" rIns="0" bIns="0" anchor="t">
            <a:normAutofit/>
          </a:bodyPr>
          <a:lstStyle/>
          <a:p>
            <a:pPr>
              <a:buNone/>
            </a:pPr>
            <a:r>
              <a:rPr lang="en-US" sz="2000" b="1" dirty="0">
                <a:solidFill>
                  <a:srgbClr val="E40046"/>
                </a:solidFill>
                <a:latin typeface="Consolas"/>
                <a:cs typeface="Consolas"/>
              </a:rPr>
              <a:t>{{ … }}</a:t>
            </a:r>
            <a:r>
              <a:rPr lang="en-US" sz="2000" b="1" dirty="0">
                <a:solidFill>
                  <a:srgbClr val="001F6B"/>
                </a:solidFill>
                <a:latin typeface="Frutiger"/>
                <a:cs typeface="Frutiger"/>
              </a:rPr>
              <a:t>  is Jinja</a:t>
            </a:r>
          </a:p>
          <a:p>
            <a:pPr>
              <a:lnSpc>
                <a:spcPct val="105000"/>
              </a:lnSpc>
              <a:spcBef>
                <a:spcPts val="400"/>
              </a:spcBef>
              <a:buNone/>
            </a:pPr>
            <a:r>
              <a:rPr lang="en-US" sz="1800" dirty="0">
                <a:solidFill>
                  <a:srgbClr val="364750"/>
                </a:solidFill>
                <a:latin typeface="Frutiger"/>
                <a:cs typeface="Frutiger"/>
              </a:rPr>
              <a:t>A template that becomes SQL at compile time. In everyday use you will meet ref(), source(), config() and the occasional macro — the rest is ordinary SQL.</a:t>
            </a:r>
          </a:p>
        </p:txBody>
      </p:sp>
      <p:sp>
        <p:nvSpPr>
          <p:cNvPr id="160" name="Shape 160"/>
          <p:cNvSpPr/>
          <p:nvPr/>
        </p:nvSpPr>
        <p:spPr>
          <a:xfrm>
            <a:off x="838200" y="7416800"/>
            <a:ext cx="50800" cy="1574800"/>
          </a:xfrm>
          <a:prstGeom prst="rect">
            <a:avLst/>
          </a:prstGeom>
          <a:solidFill>
            <a:srgbClr val="8E9DC5"/>
          </a:solidFill>
          <a:ln>
            <a:noFill/>
          </a:ln>
        </p:spPr>
        <p:txBody>
          <a:bodyPr wrap="square" lIns="101600" tIns="101600" rIns="101600" bIns="101600" anchor="t">
            <a:normAutofit/>
          </a:bodyPr>
          <a:lstStyle/>
          <a:p>
            <a:endParaRPr lang="en-US"/>
          </a:p>
        </p:txBody>
      </p:sp>
      <p:sp>
        <p:nvSpPr>
          <p:cNvPr id="161" name="Shape 161"/>
          <p:cNvSpPr/>
          <p:nvPr/>
        </p:nvSpPr>
        <p:spPr>
          <a:xfrm>
            <a:off x="1092200" y="7391400"/>
            <a:ext cx="5130800" cy="1651000"/>
          </a:xfrm>
          <a:prstGeom prst="rect">
            <a:avLst/>
          </a:prstGeom>
          <a:noFill/>
          <a:ln>
            <a:noFill/>
          </a:ln>
        </p:spPr>
        <p:txBody>
          <a:bodyPr wrap="square" lIns="0" tIns="0" rIns="0" bIns="0" anchor="t">
            <a:normAutofit/>
          </a:bodyPr>
          <a:lstStyle/>
          <a:p>
            <a:pPr>
              <a:buNone/>
            </a:pPr>
            <a:r>
              <a:rPr lang="en-US" sz="2100" b="1" dirty="0">
                <a:solidFill>
                  <a:srgbClr val="001F6B"/>
                </a:solidFill>
                <a:latin typeface="Frutiger"/>
                <a:cs typeface="Frutiger"/>
              </a:rPr>
              <a:t>Order</a:t>
            </a:r>
          </a:p>
          <a:p>
            <a:pPr>
              <a:lnSpc>
                <a:spcPct val="106000"/>
              </a:lnSpc>
              <a:spcBef>
                <a:spcPts val="600"/>
              </a:spcBef>
              <a:buNone/>
            </a:pPr>
            <a:r>
              <a:rPr lang="en-US" sz="2000" dirty="0">
                <a:solidFill>
                  <a:srgbClr val="364750"/>
                </a:solidFill>
                <a:latin typeface="Frutiger"/>
                <a:cs typeface="Frutiger"/>
              </a:rPr>
              <a:t>dbt builds parents before children. No hand-maintained run list.</a:t>
            </a:r>
          </a:p>
        </p:txBody>
      </p:sp>
      <p:sp>
        <p:nvSpPr>
          <p:cNvPr id="162" name="Shape 162"/>
          <p:cNvSpPr/>
          <p:nvPr/>
        </p:nvSpPr>
        <p:spPr>
          <a:xfrm>
            <a:off x="6426200" y="7416800"/>
            <a:ext cx="50800" cy="1574800"/>
          </a:xfrm>
          <a:prstGeom prst="rect">
            <a:avLst/>
          </a:prstGeom>
          <a:solidFill>
            <a:srgbClr val="E40046"/>
          </a:solidFill>
          <a:ln>
            <a:noFill/>
          </a:ln>
        </p:spPr>
        <p:txBody>
          <a:bodyPr wrap="square" lIns="101600" tIns="101600" rIns="101600" bIns="101600" anchor="t">
            <a:normAutofit/>
          </a:bodyPr>
          <a:lstStyle/>
          <a:p>
            <a:endParaRPr lang="en-US"/>
          </a:p>
        </p:txBody>
      </p:sp>
      <p:sp>
        <p:nvSpPr>
          <p:cNvPr id="163" name="Shape 163"/>
          <p:cNvSpPr/>
          <p:nvPr/>
        </p:nvSpPr>
        <p:spPr>
          <a:xfrm>
            <a:off x="6680200" y="7391400"/>
            <a:ext cx="5130800" cy="1651000"/>
          </a:xfrm>
          <a:prstGeom prst="rect">
            <a:avLst/>
          </a:prstGeom>
          <a:noFill/>
          <a:ln>
            <a:noFill/>
          </a:ln>
        </p:spPr>
        <p:txBody>
          <a:bodyPr wrap="square" lIns="0" tIns="0" rIns="0" bIns="0" anchor="t">
            <a:normAutofit/>
          </a:bodyPr>
          <a:lstStyle/>
          <a:p>
            <a:pPr>
              <a:buNone/>
            </a:pPr>
            <a:r>
              <a:rPr lang="en-US" sz="2100" b="1" dirty="0">
                <a:solidFill>
                  <a:srgbClr val="001F6B"/>
                </a:solidFill>
                <a:latin typeface="Frutiger"/>
                <a:cs typeface="Frutiger"/>
              </a:rPr>
              <a:t>Selection</a:t>
            </a:r>
          </a:p>
          <a:p>
            <a:pPr>
              <a:lnSpc>
                <a:spcPct val="106000"/>
              </a:lnSpc>
              <a:spcBef>
                <a:spcPts val="600"/>
              </a:spcBef>
              <a:buNone/>
            </a:pPr>
            <a:r>
              <a:rPr lang="en-US" sz="2000" dirty="0">
                <a:solidFill>
                  <a:srgbClr val="364750"/>
                </a:solidFill>
                <a:latin typeface="Consolas"/>
                <a:cs typeface="Consolas"/>
              </a:rPr>
              <a:t>+customers = it and its ancestors.  stg_orders+ = it and everything downstream.</a:t>
            </a:r>
          </a:p>
        </p:txBody>
      </p:sp>
      <p:sp>
        <p:nvSpPr>
          <p:cNvPr id="164" name="Shape 164"/>
          <p:cNvSpPr/>
          <p:nvPr/>
        </p:nvSpPr>
        <p:spPr>
          <a:xfrm>
            <a:off x="12014200" y="7416800"/>
            <a:ext cx="50800" cy="1574800"/>
          </a:xfrm>
          <a:prstGeom prst="rect">
            <a:avLst/>
          </a:prstGeom>
          <a:solidFill>
            <a:srgbClr val="8E9DC5"/>
          </a:solidFill>
          <a:ln>
            <a:noFill/>
          </a:ln>
        </p:spPr>
        <p:txBody>
          <a:bodyPr wrap="square" lIns="101600" tIns="101600" rIns="101600" bIns="101600" anchor="t">
            <a:normAutofit/>
          </a:bodyPr>
          <a:lstStyle/>
          <a:p>
            <a:endParaRPr lang="en-US"/>
          </a:p>
        </p:txBody>
      </p:sp>
      <p:sp>
        <p:nvSpPr>
          <p:cNvPr id="165" name="Shape 165"/>
          <p:cNvSpPr/>
          <p:nvPr/>
        </p:nvSpPr>
        <p:spPr>
          <a:xfrm>
            <a:off x="12268200" y="7391400"/>
            <a:ext cx="5130800" cy="1651000"/>
          </a:xfrm>
          <a:prstGeom prst="rect">
            <a:avLst/>
          </a:prstGeom>
          <a:noFill/>
          <a:ln>
            <a:noFill/>
          </a:ln>
        </p:spPr>
        <p:txBody>
          <a:bodyPr wrap="square" lIns="0" tIns="0" rIns="0" bIns="0" anchor="t">
            <a:normAutofit/>
          </a:bodyPr>
          <a:lstStyle/>
          <a:p>
            <a:pPr>
              <a:buNone/>
            </a:pPr>
            <a:r>
              <a:rPr lang="en-US" sz="2100" b="1" dirty="0">
                <a:solidFill>
                  <a:srgbClr val="001F6B"/>
                </a:solidFill>
                <a:latin typeface="Frutiger"/>
                <a:cs typeface="Frutiger"/>
              </a:rPr>
              <a:t>Impact</a:t>
            </a:r>
          </a:p>
          <a:p>
            <a:pPr>
              <a:lnSpc>
                <a:spcPct val="106000"/>
              </a:lnSpc>
              <a:spcBef>
                <a:spcPts val="600"/>
              </a:spcBef>
              <a:buNone/>
            </a:pPr>
            <a:r>
              <a:rPr lang="en-US" sz="2000" dirty="0">
                <a:solidFill>
                  <a:srgbClr val="364750"/>
                </a:solidFill>
                <a:latin typeface="Frutiger"/>
                <a:cs typeface="Frutiger"/>
              </a:rPr>
              <a:t>Change how tax is converted? The graph tells you which models and tests are affected.</a:t>
            </a:r>
          </a:p>
        </p:txBody>
      </p:sp>
    </p:spTree>
    <p:extLst>
      <p:ext uri="{BB962C8B-B14F-4D97-AF65-F5344CB8AC3E}">
        <p14:creationId xmlns:p14="http://schemas.microsoft.com/office/powerpoint/2010/main" val="17109738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4EC90D35-304A-4ED8-BF67-87162AFBE388}"/>
              </a:ext>
            </a:extLst>
          </p:cNvPr>
          <p:cNvSpPr>
            <a:spLocks noGrp="1"/>
          </p:cNvSpPr>
          <p:nvPr/>
        </p:nvSpPr>
        <p:spPr>
          <a:xfrm>
            <a:off x="838201" y="963812"/>
            <a:ext cx="15240000" cy="640407"/>
          </a:xfrm>
          <a:prstGeom prst="rect">
            <a:avLst/>
          </a:prstGeom>
          <a:noFill/>
        </p:spPr>
        <p:txBody>
          <a:bodyPr wrap="square" lIns="25401" tIns="25401" rIns="25401" bIns="25401" anchor="t">
            <a:normAutofit/>
          </a:bodyPr>
          <a:lstStyle/>
          <a:p>
            <a:pPr>
              <a:lnSpc>
                <a:spcPct val="79050"/>
              </a:lnSpc>
              <a:buNone/>
            </a:pPr>
            <a:r>
              <a:rPr sz="4651" b="1" spc="-69" dirty="0" err="1">
                <a:solidFill>
                  <a:srgbClr val="001F6B"/>
                </a:solidFill>
                <a:latin typeface="Frutiger"/>
                <a:ea typeface="Frutiger"/>
                <a:cs typeface="Frutiger"/>
              </a:rPr>
              <a:t>schema.yml</a:t>
            </a:r>
            <a:r>
              <a:rPr sz="4651" b="1" spc="-69" dirty="0">
                <a:solidFill>
                  <a:srgbClr val="001F6B"/>
                </a:solidFill>
                <a:latin typeface="Frutiger"/>
                <a:ea typeface="Frutiger"/>
                <a:cs typeface="Frutiger"/>
              </a:rPr>
              <a:t>: descriptions and tests</a:t>
            </a:r>
            <a:endParaRPr sz="4651" dirty="0"/>
          </a:p>
        </p:txBody>
      </p:sp>
      <p:pic>
        <p:nvPicPr>
          <p:cNvPr id="32" name="Image 0"/>
          <p:cNvPicPr>
            <a:picLocks noChangeAspect="1"/>
          </p:cNvPicPr>
          <p:nvPr/>
        </p:nvPicPr>
        <p:blipFill>
          <a:blip r:embed="rId3"/>
          <a:srcRect t="-5" b="-5"/>
          <a:stretch/>
        </p:blipFill>
        <p:spPr>
          <a:xfrm>
            <a:off x="16412620" y="571500"/>
            <a:ext cx="1037182" cy="514350"/>
          </a:xfrm>
          <a:prstGeom prst="rect">
            <a:avLst/>
          </a:prstGeom>
        </p:spPr>
      </p:pic>
      <p:sp>
        <p:nvSpPr>
          <p:cNvPr id="5" name="Shape 2">
            <a:extLst>
              <a:ext uri="{FF2B5EF4-FFF2-40B4-BE49-F238E27FC236}">
                <a16:creationId xmlns:a16="http://schemas.microsoft.com/office/drawing/2014/main" id="{619AE5D7-7CB4-4BEA-BB3F-D06573D3768F}"/>
              </a:ext>
            </a:extLst>
          </p:cNvPr>
          <p:cNvSpPr>
            <a:spLocks noGrp="1"/>
          </p:cNvSpPr>
          <p:nvPr/>
        </p:nvSpPr>
        <p:spPr>
          <a:xfrm>
            <a:off x="838202" y="1813769"/>
            <a:ext cx="16611600" cy="28574"/>
          </a:xfrm>
          <a:prstGeom prst="rect">
            <a:avLst/>
          </a:prstGeom>
          <a:solidFill>
            <a:srgbClr val="FF0000"/>
          </a:solidFill>
        </p:spPr>
        <p:txBody>
          <a:bodyPr/>
          <a:lstStyle/>
          <a:p>
            <a:endParaRPr sz="1801"/>
          </a:p>
        </p:txBody>
      </p:sp>
      <p:sp>
        <p:nvSpPr>
          <p:cNvPr id="6" name="Shape 3">
            <a:extLst>
              <a:ext uri="{FF2B5EF4-FFF2-40B4-BE49-F238E27FC236}">
                <a16:creationId xmlns:a16="http://schemas.microsoft.com/office/drawing/2014/main" id="{4913CC0E-0FDB-4091-96BC-623E005C1433}"/>
              </a:ext>
            </a:extLst>
          </p:cNvPr>
          <p:cNvSpPr>
            <a:spLocks noGrp="1"/>
          </p:cNvSpPr>
          <p:nvPr/>
        </p:nvSpPr>
        <p:spPr>
          <a:xfrm>
            <a:off x="838202" y="1880445"/>
            <a:ext cx="16611600" cy="28574"/>
          </a:xfrm>
          <a:prstGeom prst="rect">
            <a:avLst/>
          </a:prstGeom>
          <a:solidFill>
            <a:srgbClr val="3649A8"/>
          </a:solidFill>
        </p:spPr>
        <p:txBody>
          <a:bodyPr/>
          <a:lstStyle/>
          <a:p>
            <a:endParaRPr sz="1801"/>
          </a:p>
        </p:txBody>
      </p:sp>
      <p:sp>
        <p:nvSpPr>
          <p:cNvPr id="25" name="Shape 22">
            <a:extLst>
              <a:ext uri="{FF2B5EF4-FFF2-40B4-BE49-F238E27FC236}">
                <a16:creationId xmlns:a16="http://schemas.microsoft.com/office/drawing/2014/main" id="{B765AE01-8B3A-4F2B-9234-E1B2735FE6D0}"/>
              </a:ext>
            </a:extLst>
          </p:cNvPr>
          <p:cNvSpPr>
            <a:spLocks noGrp="1"/>
          </p:cNvSpPr>
          <p:nvPr/>
        </p:nvSpPr>
        <p:spPr>
          <a:xfrm>
            <a:off x="838202" y="9294615"/>
            <a:ext cx="16611600" cy="9525"/>
          </a:xfrm>
          <a:prstGeom prst="rect">
            <a:avLst/>
          </a:prstGeom>
          <a:solidFill>
            <a:srgbClr val="E2E7EB"/>
          </a:solidFill>
        </p:spPr>
        <p:txBody>
          <a:bodyPr/>
          <a:lstStyle/>
          <a:p>
            <a:endParaRPr sz="1801"/>
          </a:p>
        </p:txBody>
      </p:sp>
      <p:sp>
        <p:nvSpPr>
          <p:cNvPr id="26" name="Text 23">
            <a:extLst>
              <a:ext uri="{FF2B5EF4-FFF2-40B4-BE49-F238E27FC236}">
                <a16:creationId xmlns:a16="http://schemas.microsoft.com/office/drawing/2014/main" id="{5C5AFE6D-27B1-4C09-BBBE-19FE36BD27C8}"/>
              </a:ext>
            </a:extLst>
          </p:cNvPr>
          <p:cNvSpPr>
            <a:spLocks noGrp="1"/>
          </p:cNvSpPr>
          <p:nvPr/>
        </p:nvSpPr>
        <p:spPr>
          <a:xfrm>
            <a:off x="838201" y="9513691"/>
            <a:ext cx="7461945" cy="392311"/>
          </a:xfrm>
          <a:prstGeom prst="rect">
            <a:avLst/>
          </a:prstGeom>
          <a:noFill/>
        </p:spPr>
        <p:txBody>
          <a:bodyPr wrap="square" lIns="25401" tIns="25401" rIns="25401" bIns="25401" anchor="t">
            <a:normAutofit/>
          </a:bodyPr>
          <a:lstStyle/>
          <a:p>
            <a:pPr>
              <a:lnSpc>
                <a:spcPct val="124000"/>
              </a:lnSpc>
              <a:buNone/>
            </a:pPr>
            <a:r>
              <a:rPr sz="1801" dirty="0">
                <a:solidFill>
                  <a:srgbClr val="667780"/>
                </a:solidFill>
                <a:latin typeface="Frutiger"/>
                <a:ea typeface="Frutiger"/>
                <a:cs typeface="Frutiger"/>
              </a:rPr>
              <a:t>Getting started with dbt</a:t>
            </a:r>
            <a:endParaRPr sz="1801" dirty="0"/>
          </a:p>
        </p:txBody>
      </p:sp>
      <p:sp>
        <p:nvSpPr>
          <p:cNvPr id="28" name="Text 25">
            <a:extLst>
              <a:ext uri="{FF2B5EF4-FFF2-40B4-BE49-F238E27FC236}">
                <a16:creationId xmlns:a16="http://schemas.microsoft.com/office/drawing/2014/main" id="{E1A6A13E-D079-4787-BA2C-26179E45E0AB}"/>
              </a:ext>
            </a:extLst>
          </p:cNvPr>
          <p:cNvSpPr>
            <a:spLocks noGrp="1"/>
          </p:cNvSpPr>
          <p:nvPr/>
        </p:nvSpPr>
        <p:spPr>
          <a:xfrm>
            <a:off x="9987856" y="9513691"/>
            <a:ext cx="7461945" cy="392311"/>
          </a:xfrm>
          <a:prstGeom prst="rect">
            <a:avLst/>
          </a:prstGeom>
          <a:noFill/>
        </p:spPr>
        <p:txBody>
          <a:bodyPr wrap="square" lIns="25401" tIns="25401" rIns="25401" bIns="25401" anchor="t">
            <a:normAutofit/>
          </a:bodyPr>
          <a:lstStyle/>
          <a:p>
            <a:pPr algn="r">
              <a:lnSpc>
                <a:spcPct val="124000"/>
              </a:lnSpc>
              <a:buNone/>
            </a:pPr>
            <a:r>
              <a:rPr lang="en-US" sz="1801">
                <a:solidFill>
                  <a:srgbClr val="667780"/>
                </a:solidFill>
                <a:latin typeface="Frutiger"/>
                <a:ea typeface="Frutiger"/>
                <a:cs typeface="Frutiger"/>
              </a:rPr>
              <a:t>13</a:t>
            </a:r>
            <a:endParaRPr sz="1801"/>
          </a:p>
        </p:txBody>
      </p:sp>
      <p:sp>
        <p:nvSpPr>
          <p:cNvPr id="100" name="Shape 100"/>
          <p:cNvSpPr/>
          <p:nvPr/>
        </p:nvSpPr>
        <p:spPr>
          <a:xfrm>
            <a:off x="838200" y="2311400"/>
            <a:ext cx="8890000" cy="330200"/>
          </a:xfrm>
          <a:prstGeom prst="rect">
            <a:avLst/>
          </a:prstGeom>
          <a:noFill/>
          <a:ln>
            <a:noFill/>
          </a:ln>
        </p:spPr>
        <p:txBody>
          <a:bodyPr wrap="square" lIns="0" tIns="0" rIns="0" bIns="0" anchor="t">
            <a:normAutofit/>
          </a:bodyPr>
          <a:lstStyle/>
          <a:p>
            <a:pPr>
              <a:buNone/>
            </a:pPr>
            <a:r>
              <a:rPr lang="en-US" sz="1300" b="1" spc="150" dirty="0">
                <a:solidFill>
                  <a:srgbClr val="E40046"/>
                </a:solidFill>
                <a:latin typeface="Frutiger"/>
                <a:cs typeface="Frutiger"/>
              </a:rPr>
              <a:t>MODELS/MARTS/CUSTOMERS.YML  ·  THE FILE THAT SITS NEXT TO CUSTOMERS.SQL</a:t>
            </a:r>
          </a:p>
        </p:txBody>
      </p:sp>
      <p:sp>
        <p:nvSpPr>
          <p:cNvPr id="101" name="Code 101"/>
          <p:cNvSpPr/>
          <p:nvPr/>
        </p:nvSpPr>
        <p:spPr>
          <a:xfrm>
            <a:off x="838200" y="2667000"/>
            <a:ext cx="8890000" cy="6426200"/>
          </a:xfrm>
          <a:prstGeom prst="roundRect">
            <a:avLst>
              <a:gd name="adj" fmla="val 4000"/>
            </a:avLst>
          </a:prstGeom>
          <a:solidFill>
            <a:srgbClr val="0E1E4A"/>
          </a:solidFill>
          <a:ln>
            <a:noFill/>
          </a:ln>
        </p:spPr>
        <p:txBody>
          <a:bodyPr wrap="square" lIns="228600" tIns="203200" rIns="228600" bIns="228600" anchor="t">
            <a:normAutofit lnSpcReduction="10000"/>
          </a:bodyPr>
          <a:lstStyle/>
          <a:p>
            <a:pPr>
              <a:lnSpc>
                <a:spcPct val="114000"/>
              </a:lnSpc>
              <a:buNone/>
            </a:pPr>
            <a:r>
              <a:rPr lang="en-US" sz="1500" dirty="0">
                <a:solidFill>
                  <a:srgbClr val="8EC5FF"/>
                </a:solidFill>
                <a:latin typeface="Consolas"/>
                <a:cs typeface="Consolas"/>
              </a:rPr>
              <a:t>models:</a:t>
            </a:r>
          </a:p>
          <a:p>
            <a:pPr>
              <a:lnSpc>
                <a:spcPct val="114000"/>
              </a:lnSpc>
              <a:buNone/>
            </a:pPr>
            <a:r>
              <a:rPr lang="en-US" sz="1500" dirty="0">
                <a:solidFill>
                  <a:srgbClr val="E8ECF5"/>
                </a:solidFill>
                <a:latin typeface="Consolas"/>
                <a:cs typeface="Consolas"/>
              </a:rPr>
              <a:t>  - name: customers</a:t>
            </a:r>
          </a:p>
          <a:p>
            <a:pPr>
              <a:lnSpc>
                <a:spcPct val="114000"/>
              </a:lnSpc>
              <a:buNone/>
            </a:pPr>
            <a:r>
              <a:rPr lang="en-US" sz="1500" dirty="0">
                <a:solidFill>
                  <a:srgbClr val="8EC5FF"/>
                </a:solidFill>
                <a:latin typeface="Consolas"/>
                <a:cs typeface="Consolas"/>
              </a:rPr>
              <a:t>    description: &gt;</a:t>
            </a:r>
          </a:p>
          <a:p>
            <a:pPr>
              <a:lnSpc>
                <a:spcPct val="114000"/>
              </a:lnSpc>
              <a:buNone/>
            </a:pPr>
            <a:r>
              <a:rPr lang="en-US" sz="1500" dirty="0">
                <a:solidFill>
                  <a:srgbClr val="8EC5FF"/>
                </a:solidFill>
                <a:latin typeface="Consolas"/>
                <a:cs typeface="Consolas"/>
              </a:rPr>
              <a:t>      One row per customer. A customer with a single</a:t>
            </a:r>
          </a:p>
          <a:p>
            <a:pPr>
              <a:lnSpc>
                <a:spcPct val="114000"/>
              </a:lnSpc>
              <a:buNone/>
            </a:pPr>
            <a:r>
              <a:rPr lang="en-US" sz="1500" dirty="0">
                <a:solidFill>
                  <a:srgbClr val="8EC5FF"/>
                </a:solidFill>
                <a:latin typeface="Consolas"/>
                <a:cs typeface="Consolas"/>
              </a:rPr>
              <a:t>      order is 'new'; two or more make them 'returning'.</a:t>
            </a:r>
          </a:p>
          <a:p>
            <a:pPr>
              <a:lnSpc>
                <a:spcPct val="114000"/>
              </a:lnSpc>
              <a:buNone/>
            </a:pPr>
            <a:r>
              <a:rPr lang="en-US" sz="1500" dirty="0">
                <a:solidFill>
                  <a:srgbClr val="FFD27F"/>
                </a:solidFill>
                <a:latin typeface="Consolas"/>
                <a:cs typeface="Consolas"/>
              </a:rPr>
              <a:t>      Amounts in USD.</a:t>
            </a:r>
          </a:p>
          <a:p>
            <a:pPr>
              <a:lnSpc>
                <a:spcPct val="114000"/>
              </a:lnSpc>
              <a:buNone/>
            </a:pPr>
            <a:r>
              <a:rPr lang="en-US" sz="1500" dirty="0">
                <a:solidFill>
                  <a:srgbClr val="FFD27F"/>
                </a:solidFill>
                <a:latin typeface="Consolas"/>
                <a:cs typeface="Consolas"/>
              </a:rPr>
              <a:t>    data_tests:</a:t>
            </a:r>
          </a:p>
          <a:p>
            <a:pPr>
              <a:lnSpc>
                <a:spcPct val="114000"/>
              </a:lnSpc>
              <a:buNone/>
            </a:pPr>
            <a:r>
              <a:rPr lang="en-US" sz="1500" dirty="0">
                <a:solidFill>
                  <a:srgbClr val="FFD27F"/>
                </a:solidFill>
                <a:latin typeface="Consolas"/>
                <a:cs typeface="Consolas"/>
              </a:rPr>
              <a:t>      - </a:t>
            </a:r>
            <a:r>
              <a:rPr lang="en-US" sz="1500" dirty="0" err="1">
                <a:solidFill>
                  <a:srgbClr val="FFD27F"/>
                </a:solidFill>
                <a:latin typeface="Consolas"/>
                <a:cs typeface="Consolas"/>
              </a:rPr>
              <a:t>dbt_utils.expression_is_true</a:t>
            </a:r>
            <a:r>
              <a:rPr lang="en-US" sz="1500" dirty="0">
                <a:solidFill>
                  <a:srgbClr val="FFD27F"/>
                </a:solidFill>
                <a:latin typeface="Consolas"/>
                <a:cs typeface="Consolas"/>
              </a:rPr>
              <a:t>:</a:t>
            </a:r>
          </a:p>
          <a:p>
            <a:pPr>
              <a:lnSpc>
                <a:spcPct val="114000"/>
              </a:lnSpc>
              <a:buNone/>
            </a:pPr>
            <a:r>
              <a:rPr lang="en-US" sz="1500" dirty="0">
                <a:solidFill>
                  <a:srgbClr val="8EC5FF"/>
                </a:solidFill>
                <a:latin typeface="Consolas"/>
                <a:cs typeface="Consolas"/>
              </a:rPr>
              <a:t>          arguments:</a:t>
            </a:r>
          </a:p>
          <a:p>
            <a:pPr>
              <a:lnSpc>
                <a:spcPct val="114000"/>
              </a:lnSpc>
              <a:buNone/>
            </a:pPr>
            <a:r>
              <a:rPr lang="en-US" sz="1500" dirty="0">
                <a:solidFill>
                  <a:srgbClr val="8EC5FF"/>
                </a:solidFill>
                <a:latin typeface="Consolas"/>
                <a:cs typeface="Consolas"/>
              </a:rPr>
              <a:t>            expression: </a:t>
            </a:r>
            <a:r>
              <a:rPr lang="en-US" sz="1500" dirty="0">
                <a:solidFill>
                  <a:srgbClr val="E8ECF5"/>
                </a:solidFill>
                <a:latin typeface="Consolas"/>
                <a:cs typeface="Consolas"/>
              </a:rPr>
              <a:t>"lifetime_spend_pretax + lifetime_tax_paid = lifetime_spend"</a:t>
            </a:r>
          </a:p>
          <a:p>
            <a:pPr>
              <a:lnSpc>
                <a:spcPct val="114000"/>
              </a:lnSpc>
              <a:buNone/>
            </a:pPr>
            <a:r>
              <a:rPr lang="en-US" sz="1500" dirty="0">
                <a:solidFill>
                  <a:srgbClr val="8EC5FF"/>
                </a:solidFill>
                <a:latin typeface="Consolas"/>
                <a:cs typeface="Consolas"/>
              </a:rPr>
              <a:t>    columns:</a:t>
            </a:r>
          </a:p>
          <a:p>
            <a:pPr>
              <a:lnSpc>
                <a:spcPct val="114000"/>
              </a:lnSpc>
              <a:buNone/>
            </a:pPr>
            <a:r>
              <a:rPr lang="en-US" sz="1500" dirty="0">
                <a:solidFill>
                  <a:srgbClr val="8EC5FF"/>
                </a:solidFill>
                <a:latin typeface="Consolas"/>
                <a:cs typeface="Consolas"/>
              </a:rPr>
              <a:t>      - name: customer_id</a:t>
            </a:r>
          </a:p>
          <a:p>
            <a:pPr>
              <a:lnSpc>
                <a:spcPct val="114000"/>
              </a:lnSpc>
              <a:buNone/>
            </a:pPr>
            <a:r>
              <a:rPr lang="en-US" sz="1500" dirty="0">
                <a:solidFill>
                  <a:srgbClr val="8EC5FF"/>
                </a:solidFill>
                <a:latin typeface="Consolas"/>
                <a:cs typeface="Consolas"/>
              </a:rPr>
              <a:t>        description: </a:t>
            </a:r>
            <a:r>
              <a:rPr lang="en-US" sz="1500" dirty="0">
                <a:solidFill>
                  <a:srgbClr val="FF8FA3"/>
                </a:solidFill>
                <a:latin typeface="Consolas"/>
                <a:cs typeface="Consolas"/>
              </a:rPr>
              <a:t>Grain key. Matches stg_customers.</a:t>
            </a:r>
          </a:p>
          <a:p>
            <a:pPr>
              <a:lnSpc>
                <a:spcPct val="114000"/>
              </a:lnSpc>
              <a:buNone/>
            </a:pPr>
            <a:r>
              <a:rPr lang="en-US" sz="1500" dirty="0">
                <a:solidFill>
                  <a:srgbClr val="8EC5FF"/>
                </a:solidFill>
                <a:latin typeface="Consolas"/>
                <a:cs typeface="Consolas"/>
              </a:rPr>
              <a:t>        data_tests:</a:t>
            </a:r>
          </a:p>
          <a:p>
            <a:pPr>
              <a:lnSpc>
                <a:spcPct val="114000"/>
              </a:lnSpc>
              <a:buNone/>
            </a:pPr>
            <a:r>
              <a:rPr lang="en-US" sz="1500" dirty="0">
                <a:solidFill>
                  <a:srgbClr val="8EC5FF"/>
                </a:solidFill>
                <a:latin typeface="Consolas"/>
                <a:cs typeface="Consolas"/>
              </a:rPr>
              <a:t>          - </a:t>
            </a:r>
            <a:r>
              <a:rPr lang="en-US" sz="1500" dirty="0">
                <a:solidFill>
                  <a:srgbClr val="FF8FA3"/>
                </a:solidFill>
                <a:latin typeface="Consolas"/>
                <a:cs typeface="Consolas"/>
              </a:rPr>
              <a:t>not_null</a:t>
            </a:r>
          </a:p>
          <a:p>
            <a:pPr>
              <a:lnSpc>
                <a:spcPct val="114000"/>
              </a:lnSpc>
              <a:buNone/>
            </a:pPr>
            <a:r>
              <a:rPr lang="en-US" sz="1500" dirty="0">
                <a:solidFill>
                  <a:srgbClr val="8EC5FF"/>
                </a:solidFill>
                <a:latin typeface="Consolas"/>
                <a:cs typeface="Consolas"/>
              </a:rPr>
              <a:t>          - </a:t>
            </a:r>
            <a:r>
              <a:rPr lang="en-US" sz="1500" dirty="0">
                <a:solidFill>
                  <a:srgbClr val="E8ECF5"/>
                </a:solidFill>
                <a:latin typeface="Consolas"/>
                <a:cs typeface="Consolas"/>
              </a:rPr>
              <a:t>unique</a:t>
            </a:r>
          </a:p>
          <a:p>
            <a:pPr>
              <a:lnSpc>
                <a:spcPct val="114000"/>
              </a:lnSpc>
              <a:buNone/>
            </a:pPr>
            <a:r>
              <a:rPr lang="en-US" sz="1500" dirty="0">
                <a:solidFill>
                  <a:srgbClr val="8EC5FF"/>
                </a:solidFill>
                <a:latin typeface="Consolas"/>
                <a:cs typeface="Consolas"/>
              </a:rPr>
              <a:t>      - name: </a:t>
            </a:r>
            <a:r>
              <a:rPr lang="en-US" sz="1500" dirty="0">
                <a:solidFill>
                  <a:srgbClr val="E8ECF5"/>
                </a:solidFill>
                <a:latin typeface="Consolas"/>
                <a:cs typeface="Consolas"/>
              </a:rPr>
              <a:t>customer_type</a:t>
            </a:r>
          </a:p>
          <a:p>
            <a:pPr>
              <a:lnSpc>
                <a:spcPct val="114000"/>
              </a:lnSpc>
              <a:buNone/>
            </a:pPr>
            <a:r>
              <a:rPr lang="en-US" sz="1500" dirty="0">
                <a:solidFill>
                  <a:srgbClr val="8EC5FF"/>
                </a:solidFill>
                <a:latin typeface="Consolas"/>
                <a:cs typeface="Consolas"/>
              </a:rPr>
              <a:t>        description: </a:t>
            </a:r>
            <a:r>
              <a:rPr lang="en-US" sz="1500" dirty="0">
                <a:solidFill>
                  <a:srgbClr val="E8ECF5"/>
                </a:solidFill>
                <a:latin typeface="Consolas"/>
                <a:cs typeface="Consolas"/>
              </a:rPr>
              <a:t>'new' or 'returning'.</a:t>
            </a:r>
          </a:p>
          <a:p>
            <a:pPr>
              <a:lnSpc>
                <a:spcPct val="114000"/>
              </a:lnSpc>
              <a:buNone/>
            </a:pPr>
            <a:r>
              <a:rPr lang="en-US" sz="1500" dirty="0">
                <a:solidFill>
                  <a:srgbClr val="8EC5FF"/>
                </a:solidFill>
                <a:latin typeface="Consolas"/>
                <a:cs typeface="Consolas"/>
              </a:rPr>
              <a:t>        data_tests:</a:t>
            </a:r>
          </a:p>
          <a:p>
            <a:pPr>
              <a:lnSpc>
                <a:spcPct val="114000"/>
              </a:lnSpc>
              <a:buNone/>
            </a:pPr>
            <a:r>
              <a:rPr lang="en-US" sz="1500" dirty="0">
                <a:solidFill>
                  <a:srgbClr val="8EC5FF"/>
                </a:solidFill>
                <a:latin typeface="Consolas"/>
                <a:cs typeface="Consolas"/>
              </a:rPr>
              <a:t>          - accepted_values:</a:t>
            </a:r>
          </a:p>
          <a:p>
            <a:pPr>
              <a:lnSpc>
                <a:spcPct val="114000"/>
              </a:lnSpc>
              <a:buNone/>
            </a:pPr>
            <a:r>
              <a:rPr lang="en-US" sz="1500" dirty="0">
                <a:solidFill>
                  <a:srgbClr val="8EC5FF"/>
                </a:solidFill>
                <a:latin typeface="Consolas"/>
                <a:cs typeface="Consolas"/>
              </a:rPr>
              <a:t>              arguments:</a:t>
            </a:r>
          </a:p>
          <a:p>
            <a:pPr>
              <a:lnSpc>
                <a:spcPct val="114000"/>
              </a:lnSpc>
              <a:buNone/>
            </a:pPr>
            <a:r>
              <a:rPr lang="en-US" sz="1500" dirty="0">
                <a:solidFill>
                  <a:srgbClr val="8EC5FF"/>
                </a:solidFill>
                <a:latin typeface="Consolas"/>
                <a:cs typeface="Consolas"/>
              </a:rPr>
              <a:t>                values: [</a:t>
            </a:r>
            <a:r>
              <a:rPr lang="en-US" sz="1500" dirty="0">
                <a:solidFill>
                  <a:srgbClr val="FF8FA3"/>
                </a:solidFill>
                <a:latin typeface="Consolas"/>
                <a:cs typeface="Consolas"/>
              </a:rPr>
              <a:t>"new", "returning"</a:t>
            </a:r>
            <a:r>
              <a:rPr lang="en-US" sz="1500" dirty="0">
                <a:solidFill>
                  <a:srgbClr val="8EC5FF"/>
                </a:solidFill>
                <a:latin typeface="Consolas"/>
                <a:cs typeface="Consolas"/>
              </a:rPr>
              <a:t>]</a:t>
            </a:r>
          </a:p>
          <a:p>
            <a:pPr>
              <a:lnSpc>
                <a:spcPct val="114000"/>
              </a:lnSpc>
              <a:buNone/>
            </a:pPr>
            <a:r>
              <a:rPr lang="en-US" sz="1500" dirty="0">
                <a:solidFill>
                  <a:srgbClr val="8EC5FF"/>
                </a:solidFill>
                <a:latin typeface="Consolas"/>
                <a:cs typeface="Consolas"/>
              </a:rPr>
              <a:t>      # … lifetime_spend, first_ordered_at, …</a:t>
            </a:r>
          </a:p>
        </p:txBody>
      </p:sp>
      <p:cxnSp>
        <p:nvCxnSpPr>
          <p:cNvPr id="110" name="Line 110"/>
          <p:cNvCxnSpPr/>
          <p:nvPr/>
        </p:nvCxnSpPr>
        <p:spPr>
          <a:xfrm>
            <a:off x="9779000" y="2946400"/>
            <a:ext cx="406400" cy="0"/>
          </a:xfrm>
          <a:prstGeom prst="line">
            <a:avLst/>
          </a:prstGeom>
          <a:ln w="25400">
            <a:solidFill>
              <a:srgbClr val="E40046"/>
            </a:solidFill>
          </a:ln>
        </p:spPr>
      </p:cxnSp>
      <p:sp>
        <p:nvSpPr>
          <p:cNvPr id="111" name="Shape 111"/>
          <p:cNvSpPr/>
          <p:nvPr/>
        </p:nvSpPr>
        <p:spPr>
          <a:xfrm>
            <a:off x="10312400" y="2641600"/>
            <a:ext cx="7137400" cy="1219200"/>
          </a:xfrm>
          <a:prstGeom prst="rect">
            <a:avLst/>
          </a:prstGeom>
          <a:noFill/>
          <a:ln>
            <a:noFill/>
          </a:ln>
        </p:spPr>
        <p:txBody>
          <a:bodyPr wrap="square" lIns="0" tIns="0" rIns="0" bIns="0" anchor="t">
            <a:normAutofit/>
          </a:bodyPr>
          <a:lstStyle/>
          <a:p>
            <a:pPr>
              <a:buNone/>
            </a:pPr>
            <a:r>
              <a:rPr lang="en-US" sz="1900" b="1" dirty="0">
                <a:solidFill>
                  <a:srgbClr val="001F6B"/>
                </a:solidFill>
                <a:latin typeface="Frutiger"/>
                <a:cs typeface="Frutiger"/>
              </a:rPr>
              <a:t>One YAML file, many models</a:t>
            </a:r>
          </a:p>
          <a:p>
            <a:pPr>
              <a:lnSpc>
                <a:spcPct val="104000"/>
              </a:lnSpc>
              <a:spcBef>
                <a:spcPts val="300"/>
              </a:spcBef>
              <a:buNone/>
            </a:pPr>
            <a:r>
              <a:rPr lang="en-US" sz="1600" dirty="0">
                <a:solidFill>
                  <a:srgbClr val="364750"/>
                </a:solidFill>
                <a:latin typeface="Frutiger"/>
                <a:cs typeface="Frutiger"/>
              </a:rPr>
              <a:t>Filename is free (schema.yml, customers.yml…). It’s a list of models; each entry describes one .sql file by name.</a:t>
            </a:r>
          </a:p>
        </p:txBody>
      </p:sp>
      <p:cxnSp>
        <p:nvCxnSpPr>
          <p:cNvPr id="113" name="Line 113"/>
          <p:cNvCxnSpPr/>
          <p:nvPr/>
        </p:nvCxnSpPr>
        <p:spPr>
          <a:xfrm>
            <a:off x="9779000" y="4038600"/>
            <a:ext cx="406400" cy="0"/>
          </a:xfrm>
          <a:prstGeom prst="line">
            <a:avLst/>
          </a:prstGeom>
          <a:ln w="25400">
            <a:solidFill>
              <a:srgbClr val="E40046"/>
            </a:solidFill>
          </a:ln>
        </p:spPr>
      </p:cxnSp>
      <p:sp>
        <p:nvSpPr>
          <p:cNvPr id="114" name="Shape 114"/>
          <p:cNvSpPr/>
          <p:nvPr/>
        </p:nvSpPr>
        <p:spPr>
          <a:xfrm>
            <a:off x="10312400" y="3733800"/>
            <a:ext cx="7137400" cy="1219200"/>
          </a:xfrm>
          <a:prstGeom prst="rect">
            <a:avLst/>
          </a:prstGeom>
          <a:noFill/>
          <a:ln>
            <a:noFill/>
          </a:ln>
        </p:spPr>
        <p:txBody>
          <a:bodyPr wrap="square" lIns="0" tIns="0" rIns="0" bIns="0" anchor="t">
            <a:normAutofit/>
          </a:bodyPr>
          <a:lstStyle/>
          <a:p>
            <a:pPr>
              <a:buNone/>
            </a:pPr>
            <a:r>
              <a:rPr lang="en-US" sz="1900" b="1" dirty="0">
                <a:solidFill>
                  <a:srgbClr val="001F6B"/>
                </a:solidFill>
                <a:latin typeface="Frutiger"/>
                <a:cs typeface="Frutiger"/>
              </a:rPr>
              <a:t>Descriptions are documentation</a:t>
            </a:r>
          </a:p>
          <a:p>
            <a:pPr>
              <a:lnSpc>
                <a:spcPct val="104000"/>
              </a:lnSpc>
              <a:spcBef>
                <a:spcPts val="300"/>
              </a:spcBef>
              <a:buNone/>
            </a:pPr>
            <a:r>
              <a:rPr lang="en-US" sz="1600" dirty="0">
                <a:solidFill>
                  <a:srgbClr val="364750"/>
                </a:solidFill>
                <a:latin typeface="Frutiger"/>
                <a:cs typeface="Frutiger"/>
              </a:rPr>
              <a:t>Written once here, they appear in dbt docs, in the lineage graph, and — with the right adapter — as column comments on the warehouse table.</a:t>
            </a:r>
          </a:p>
        </p:txBody>
      </p:sp>
      <p:cxnSp>
        <p:nvCxnSpPr>
          <p:cNvPr id="116" name="Line 116"/>
          <p:cNvCxnSpPr/>
          <p:nvPr/>
        </p:nvCxnSpPr>
        <p:spPr>
          <a:xfrm>
            <a:off x="9779000" y="5308600"/>
            <a:ext cx="406400" cy="0"/>
          </a:xfrm>
          <a:prstGeom prst="line">
            <a:avLst/>
          </a:prstGeom>
          <a:ln w="25400">
            <a:solidFill>
              <a:srgbClr val="E40046"/>
            </a:solidFill>
          </a:ln>
        </p:spPr>
      </p:cxnSp>
      <p:sp>
        <p:nvSpPr>
          <p:cNvPr id="117" name="Shape 117"/>
          <p:cNvSpPr/>
          <p:nvPr/>
        </p:nvSpPr>
        <p:spPr>
          <a:xfrm>
            <a:off x="10312400" y="5003800"/>
            <a:ext cx="7137400" cy="1219200"/>
          </a:xfrm>
          <a:prstGeom prst="rect">
            <a:avLst/>
          </a:prstGeom>
          <a:noFill/>
          <a:ln>
            <a:noFill/>
          </a:ln>
        </p:spPr>
        <p:txBody>
          <a:bodyPr wrap="square" lIns="0" tIns="0" rIns="0" bIns="0" anchor="t">
            <a:normAutofit/>
          </a:bodyPr>
          <a:lstStyle/>
          <a:p>
            <a:pPr>
              <a:buNone/>
            </a:pPr>
            <a:r>
              <a:rPr lang="en-US" sz="1900" b="1" dirty="0">
                <a:solidFill>
                  <a:srgbClr val="001F6B"/>
                </a:solidFill>
                <a:latin typeface="Frutiger"/>
                <a:cs typeface="Frutiger"/>
              </a:rPr>
              <a:t>Tests are assertions in YAML</a:t>
            </a:r>
          </a:p>
          <a:p>
            <a:pPr>
              <a:lnSpc>
                <a:spcPct val="104000"/>
              </a:lnSpc>
              <a:spcBef>
                <a:spcPts val="300"/>
              </a:spcBef>
              <a:buNone/>
            </a:pPr>
            <a:r>
              <a:rPr lang="en-US" sz="1600" dirty="0">
                <a:solidFill>
                  <a:srgbClr val="364750"/>
                </a:solidFill>
                <a:latin typeface="Frutiger"/>
                <a:cs typeface="Frutiger"/>
              </a:rPr>
              <a:t>Each entry becomes a SQL query at run time. dbt build runs them right after the model builds; a failure stops downstream models.</a:t>
            </a:r>
          </a:p>
        </p:txBody>
      </p:sp>
      <p:cxnSp>
        <p:nvCxnSpPr>
          <p:cNvPr id="119" name="Line 119"/>
          <p:cNvCxnSpPr/>
          <p:nvPr/>
        </p:nvCxnSpPr>
        <p:spPr>
          <a:xfrm>
            <a:off x="9779000" y="6654800"/>
            <a:ext cx="406400" cy="0"/>
          </a:xfrm>
          <a:prstGeom prst="line">
            <a:avLst/>
          </a:prstGeom>
          <a:ln w="25400">
            <a:solidFill>
              <a:srgbClr val="E40046"/>
            </a:solidFill>
          </a:ln>
        </p:spPr>
      </p:cxnSp>
      <p:sp>
        <p:nvSpPr>
          <p:cNvPr id="120" name="Shape 120"/>
          <p:cNvSpPr/>
          <p:nvPr/>
        </p:nvSpPr>
        <p:spPr>
          <a:xfrm>
            <a:off x="10312400" y="6350000"/>
            <a:ext cx="7137400" cy="1219200"/>
          </a:xfrm>
          <a:prstGeom prst="rect">
            <a:avLst/>
          </a:prstGeom>
          <a:noFill/>
          <a:ln>
            <a:noFill/>
          </a:ln>
        </p:spPr>
        <p:txBody>
          <a:bodyPr wrap="square" lIns="0" tIns="0" rIns="0" bIns="0" anchor="t">
            <a:normAutofit/>
          </a:bodyPr>
          <a:lstStyle/>
          <a:p>
            <a:pPr>
              <a:buNone/>
            </a:pPr>
            <a:r>
              <a:rPr lang="en-US" sz="1900" b="1" dirty="0">
                <a:solidFill>
                  <a:srgbClr val="001F6B"/>
                </a:solidFill>
                <a:latin typeface="Frutiger"/>
                <a:cs typeface="Frutiger"/>
              </a:rPr>
              <a:t>Packages add more tests</a:t>
            </a:r>
          </a:p>
          <a:p>
            <a:pPr>
              <a:lnSpc>
                <a:spcPct val="104000"/>
              </a:lnSpc>
              <a:spcBef>
                <a:spcPts val="300"/>
              </a:spcBef>
              <a:buNone/>
            </a:pPr>
            <a:r>
              <a:rPr lang="en-US" sz="1600" dirty="0" err="1">
                <a:solidFill>
                  <a:srgbClr val="364750"/>
                </a:solidFill>
                <a:latin typeface="Frutiger"/>
                <a:cs typeface="Frutiger"/>
              </a:rPr>
              <a:t>dbt_utils.expression_is_true</a:t>
            </a:r>
            <a:r>
              <a:rPr lang="en-US" sz="1600" dirty="0">
                <a:solidFill>
                  <a:srgbClr val="364750"/>
                </a:solidFill>
                <a:latin typeface="Frutiger"/>
                <a:cs typeface="Frutiger"/>
              </a:rPr>
              <a:t>, </a:t>
            </a:r>
            <a:r>
              <a:rPr lang="en-US" sz="1600" dirty="0" err="1">
                <a:solidFill>
                  <a:srgbClr val="364750"/>
                </a:solidFill>
                <a:latin typeface="Frutiger"/>
                <a:cs typeface="Frutiger"/>
              </a:rPr>
              <a:t>dbt_expectations</a:t>
            </a:r>
            <a:r>
              <a:rPr lang="en-US" sz="1600" dirty="0">
                <a:solidFill>
                  <a:srgbClr val="364750"/>
                </a:solidFill>
                <a:latin typeface="Frutiger"/>
                <a:cs typeface="Frutiger"/>
              </a:rPr>
              <a:t>… installed via packages.yml. Same YAML shape, someone else wrote the SQL.</a:t>
            </a:r>
          </a:p>
        </p:txBody>
      </p:sp>
      <p:cxnSp>
        <p:nvCxnSpPr>
          <p:cNvPr id="122" name="Line 122"/>
          <p:cNvCxnSpPr/>
          <p:nvPr/>
        </p:nvCxnSpPr>
        <p:spPr>
          <a:xfrm>
            <a:off x="9779000" y="7899400"/>
            <a:ext cx="406400" cy="0"/>
          </a:xfrm>
          <a:prstGeom prst="line">
            <a:avLst/>
          </a:prstGeom>
          <a:ln w="25400">
            <a:solidFill>
              <a:srgbClr val="E40046"/>
            </a:solidFill>
          </a:ln>
        </p:spPr>
      </p:cxnSp>
      <p:sp>
        <p:nvSpPr>
          <p:cNvPr id="123" name="Shape 123"/>
          <p:cNvSpPr/>
          <p:nvPr/>
        </p:nvSpPr>
        <p:spPr>
          <a:xfrm>
            <a:off x="10312400" y="7594600"/>
            <a:ext cx="7137400" cy="1219200"/>
          </a:xfrm>
          <a:prstGeom prst="rect">
            <a:avLst/>
          </a:prstGeom>
          <a:noFill/>
          <a:ln>
            <a:noFill/>
          </a:ln>
        </p:spPr>
        <p:txBody>
          <a:bodyPr wrap="square" lIns="0" tIns="0" rIns="0" bIns="0" anchor="t">
            <a:normAutofit/>
          </a:bodyPr>
          <a:lstStyle/>
          <a:p>
            <a:pPr>
              <a:buNone/>
            </a:pPr>
            <a:r>
              <a:rPr lang="en-US" sz="1900" b="1" dirty="0">
                <a:solidFill>
                  <a:srgbClr val="001F6B"/>
                </a:solidFill>
                <a:latin typeface="Frutiger"/>
                <a:cs typeface="Frutiger"/>
              </a:rPr>
              <a:t>Tests and docs are versioned with the code</a:t>
            </a:r>
          </a:p>
          <a:p>
            <a:pPr>
              <a:lnSpc>
                <a:spcPct val="104000"/>
              </a:lnSpc>
              <a:spcBef>
                <a:spcPts val="300"/>
              </a:spcBef>
              <a:buNone/>
            </a:pPr>
            <a:r>
              <a:rPr lang="en-US" sz="1600" dirty="0">
                <a:solidFill>
                  <a:srgbClr val="364750"/>
                </a:solidFill>
                <a:latin typeface="Frutiger"/>
                <a:cs typeface="Frutiger"/>
              </a:rPr>
              <a:t>A pull request that changes the SELECT also shows the changed expectation. Review both together.</a:t>
            </a:r>
          </a:p>
        </p:txBody>
      </p:sp>
    </p:spTree>
    <p:extLst>
      <p:ext uri="{BB962C8B-B14F-4D97-AF65-F5344CB8AC3E}">
        <p14:creationId xmlns:p14="http://schemas.microsoft.com/office/powerpoint/2010/main" val="19149509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8DD8E74-1DB1-4509-B6B8-8F85DE69EC33}"/>
              </a:ext>
            </a:extLst>
          </p:cNvPr>
          <p:cNvSpPr>
            <a:spLocks noGrp="1"/>
          </p:cNvSpPr>
          <p:nvPr/>
        </p:nvSpPr>
        <p:spPr>
          <a:xfrm>
            <a:off x="838201" y="495302"/>
            <a:ext cx="15240000" cy="392311"/>
          </a:xfrm>
          <a:prstGeom prst="rect">
            <a:avLst/>
          </a:prstGeom>
          <a:noFill/>
        </p:spPr>
        <p:txBody>
          <a:bodyPr wrap="square" lIns="25401" tIns="25401" rIns="25401" bIns="25401" anchor="t">
            <a:normAutofit/>
          </a:bodyPr>
          <a:lstStyle/>
          <a:p>
            <a:pPr>
              <a:lnSpc>
                <a:spcPct val="120000"/>
              </a:lnSpc>
              <a:buNone/>
            </a:pPr>
            <a:r>
              <a:rPr sz="1801" b="1" spc="361">
                <a:solidFill>
                  <a:srgbClr val="E40046"/>
                </a:solidFill>
                <a:latin typeface="Frutiger"/>
                <a:ea typeface="Frutiger"/>
                <a:cs typeface="Frutiger"/>
              </a:rPr>
              <a:t>TESTS</a:t>
            </a:r>
            <a:endParaRPr sz="1801"/>
          </a:p>
        </p:txBody>
      </p:sp>
      <p:sp>
        <p:nvSpPr>
          <p:cNvPr id="3" name="Text 1">
            <a:extLst>
              <a:ext uri="{FF2B5EF4-FFF2-40B4-BE49-F238E27FC236}">
                <a16:creationId xmlns:a16="http://schemas.microsoft.com/office/drawing/2014/main" id="{454A5393-1907-4275-B9E9-C410BF0DBCDF}"/>
              </a:ext>
            </a:extLst>
          </p:cNvPr>
          <p:cNvSpPr>
            <a:spLocks noGrp="1"/>
          </p:cNvSpPr>
          <p:nvPr/>
        </p:nvSpPr>
        <p:spPr>
          <a:xfrm>
            <a:off x="838201" y="963812"/>
            <a:ext cx="15240000" cy="640407"/>
          </a:xfrm>
          <a:prstGeom prst="rect">
            <a:avLst/>
          </a:prstGeom>
          <a:noFill/>
        </p:spPr>
        <p:txBody>
          <a:bodyPr wrap="square" lIns="25401" tIns="25401" rIns="25401" bIns="25401" anchor="t">
            <a:normAutofit/>
          </a:bodyPr>
          <a:lstStyle/>
          <a:p>
            <a:pPr>
              <a:lnSpc>
                <a:spcPct val="79050"/>
              </a:lnSpc>
              <a:buNone/>
            </a:pPr>
            <a:r>
              <a:rPr sz="4651" b="1" spc="-69" dirty="0">
                <a:solidFill>
                  <a:srgbClr val="001F6B"/>
                </a:solidFill>
                <a:latin typeface="Frutiger"/>
                <a:ea typeface="Frutiger"/>
                <a:cs typeface="Frutiger"/>
              </a:rPr>
              <a:t>State the rules next to the code</a:t>
            </a:r>
            <a:endParaRPr sz="4651" dirty="0"/>
          </a:p>
        </p:txBody>
      </p:sp>
      <p:pic>
        <p:nvPicPr>
          <p:cNvPr id="30" name="Image 0"/>
          <p:cNvPicPr>
            <a:picLocks noChangeAspect="1"/>
          </p:cNvPicPr>
          <p:nvPr/>
        </p:nvPicPr>
        <p:blipFill>
          <a:blip r:embed="rId3"/>
          <a:srcRect t="-5" b="-5"/>
          <a:stretch/>
        </p:blipFill>
        <p:spPr>
          <a:xfrm>
            <a:off x="16412620" y="571500"/>
            <a:ext cx="1037182" cy="514350"/>
          </a:xfrm>
          <a:prstGeom prst="rect">
            <a:avLst/>
          </a:prstGeom>
        </p:spPr>
      </p:pic>
      <p:sp>
        <p:nvSpPr>
          <p:cNvPr id="5" name="Shape 2">
            <a:extLst>
              <a:ext uri="{FF2B5EF4-FFF2-40B4-BE49-F238E27FC236}">
                <a16:creationId xmlns:a16="http://schemas.microsoft.com/office/drawing/2014/main" id="{96506226-AB52-43FB-ABA8-E1F967B1C350}"/>
              </a:ext>
            </a:extLst>
          </p:cNvPr>
          <p:cNvSpPr>
            <a:spLocks noGrp="1"/>
          </p:cNvSpPr>
          <p:nvPr/>
        </p:nvSpPr>
        <p:spPr>
          <a:xfrm>
            <a:off x="838202" y="1813769"/>
            <a:ext cx="16611600" cy="28574"/>
          </a:xfrm>
          <a:prstGeom prst="rect">
            <a:avLst/>
          </a:prstGeom>
          <a:solidFill>
            <a:srgbClr val="FF0000"/>
          </a:solidFill>
        </p:spPr>
        <p:txBody>
          <a:bodyPr/>
          <a:lstStyle/>
          <a:p>
            <a:endParaRPr sz="1801"/>
          </a:p>
        </p:txBody>
      </p:sp>
      <p:sp>
        <p:nvSpPr>
          <p:cNvPr id="6" name="Shape 3">
            <a:extLst>
              <a:ext uri="{FF2B5EF4-FFF2-40B4-BE49-F238E27FC236}">
                <a16:creationId xmlns:a16="http://schemas.microsoft.com/office/drawing/2014/main" id="{B53C8AF0-E782-40B7-9807-7A9BA9D5C057}"/>
              </a:ext>
            </a:extLst>
          </p:cNvPr>
          <p:cNvSpPr>
            <a:spLocks noGrp="1"/>
          </p:cNvSpPr>
          <p:nvPr/>
        </p:nvSpPr>
        <p:spPr>
          <a:xfrm>
            <a:off x="838202" y="1880445"/>
            <a:ext cx="16611600" cy="28574"/>
          </a:xfrm>
          <a:prstGeom prst="rect">
            <a:avLst/>
          </a:prstGeom>
          <a:solidFill>
            <a:srgbClr val="3649A8"/>
          </a:solidFill>
        </p:spPr>
        <p:txBody>
          <a:bodyPr/>
          <a:lstStyle/>
          <a:p>
            <a:endParaRPr sz="1801"/>
          </a:p>
        </p:txBody>
      </p:sp>
      <p:sp>
        <p:nvSpPr>
          <p:cNvPr id="23" name="Shape 20">
            <a:extLst>
              <a:ext uri="{FF2B5EF4-FFF2-40B4-BE49-F238E27FC236}">
                <a16:creationId xmlns:a16="http://schemas.microsoft.com/office/drawing/2014/main" id="{986EBE02-E6C2-4A57-82D2-230CA7D18A38}"/>
              </a:ext>
            </a:extLst>
          </p:cNvPr>
          <p:cNvSpPr>
            <a:spLocks noGrp="1"/>
          </p:cNvSpPr>
          <p:nvPr/>
        </p:nvSpPr>
        <p:spPr>
          <a:xfrm>
            <a:off x="838202" y="9294615"/>
            <a:ext cx="16611600" cy="9525"/>
          </a:xfrm>
          <a:prstGeom prst="rect">
            <a:avLst/>
          </a:prstGeom>
          <a:solidFill>
            <a:srgbClr val="E2E7EB"/>
          </a:solidFill>
        </p:spPr>
        <p:txBody>
          <a:bodyPr/>
          <a:lstStyle/>
          <a:p>
            <a:endParaRPr sz="1801"/>
          </a:p>
        </p:txBody>
      </p:sp>
      <p:sp>
        <p:nvSpPr>
          <p:cNvPr id="24" name="Text 21">
            <a:extLst>
              <a:ext uri="{FF2B5EF4-FFF2-40B4-BE49-F238E27FC236}">
                <a16:creationId xmlns:a16="http://schemas.microsoft.com/office/drawing/2014/main" id="{81383D1B-3B45-4C05-9C8A-439B28F8A2D2}"/>
              </a:ext>
            </a:extLst>
          </p:cNvPr>
          <p:cNvSpPr>
            <a:spLocks noGrp="1"/>
          </p:cNvSpPr>
          <p:nvPr/>
        </p:nvSpPr>
        <p:spPr>
          <a:xfrm>
            <a:off x="838201" y="9513691"/>
            <a:ext cx="7461945" cy="392311"/>
          </a:xfrm>
          <a:prstGeom prst="rect">
            <a:avLst/>
          </a:prstGeom>
          <a:noFill/>
        </p:spPr>
        <p:txBody>
          <a:bodyPr wrap="square" lIns="25401" tIns="25401" rIns="25401" bIns="25401" anchor="t">
            <a:normAutofit/>
          </a:bodyPr>
          <a:lstStyle/>
          <a:p>
            <a:pPr>
              <a:lnSpc>
                <a:spcPct val="124000"/>
              </a:lnSpc>
              <a:buNone/>
            </a:pPr>
            <a:r>
              <a:rPr sz="1801" dirty="0">
                <a:solidFill>
                  <a:srgbClr val="667780"/>
                </a:solidFill>
                <a:latin typeface="Frutiger"/>
                <a:ea typeface="Frutiger"/>
                <a:cs typeface="Frutiger"/>
              </a:rPr>
              <a:t>Getting started with dbt</a:t>
            </a:r>
            <a:endParaRPr sz="1801" dirty="0"/>
          </a:p>
        </p:txBody>
      </p:sp>
      <p:sp>
        <p:nvSpPr>
          <p:cNvPr id="26" name="Text 23">
            <a:extLst>
              <a:ext uri="{FF2B5EF4-FFF2-40B4-BE49-F238E27FC236}">
                <a16:creationId xmlns:a16="http://schemas.microsoft.com/office/drawing/2014/main" id="{57053F5A-4F41-40B1-B3CE-278E9D4C84A8}"/>
              </a:ext>
            </a:extLst>
          </p:cNvPr>
          <p:cNvSpPr>
            <a:spLocks noGrp="1"/>
          </p:cNvSpPr>
          <p:nvPr/>
        </p:nvSpPr>
        <p:spPr>
          <a:xfrm>
            <a:off x="9987856" y="9513691"/>
            <a:ext cx="7461945" cy="392311"/>
          </a:xfrm>
          <a:prstGeom prst="rect">
            <a:avLst/>
          </a:prstGeom>
          <a:noFill/>
        </p:spPr>
        <p:txBody>
          <a:bodyPr wrap="square" lIns="25401" tIns="25401" rIns="25401" bIns="25401" anchor="t">
            <a:normAutofit/>
          </a:bodyPr>
          <a:lstStyle/>
          <a:p>
            <a:pPr algn="r">
              <a:lnSpc>
                <a:spcPct val="124000"/>
              </a:lnSpc>
              <a:buNone/>
            </a:pPr>
            <a:r>
              <a:rPr lang="en-US" sz="1801">
                <a:solidFill>
                  <a:srgbClr val="667780"/>
                </a:solidFill>
                <a:latin typeface="Frutiger"/>
                <a:ea typeface="Frutiger"/>
                <a:cs typeface="Frutiger"/>
              </a:rPr>
              <a:t>12</a:t>
            </a:r>
            <a:endParaRPr sz="1801"/>
          </a:p>
        </p:txBody>
      </p:sp>
      <p:sp>
        <p:nvSpPr>
          <p:cNvPr id="100" name="Shape 100"/>
          <p:cNvSpPr/>
          <p:nvPr/>
        </p:nvSpPr>
        <p:spPr>
          <a:xfrm>
            <a:off x="838200" y="2362200"/>
            <a:ext cx="7620000" cy="355600"/>
          </a:xfrm>
          <a:prstGeom prst="rect">
            <a:avLst/>
          </a:prstGeom>
          <a:noFill/>
          <a:ln>
            <a:noFill/>
          </a:ln>
        </p:spPr>
        <p:txBody>
          <a:bodyPr wrap="square" lIns="0" tIns="0" rIns="0" bIns="0" anchor="t">
            <a:normAutofit/>
          </a:bodyPr>
          <a:lstStyle/>
          <a:p>
            <a:pPr>
              <a:buNone/>
            </a:pPr>
            <a:r>
              <a:rPr lang="en-US" sz="1400" b="1" spc="150" dirty="0">
                <a:solidFill>
                  <a:srgbClr val="E40046"/>
                </a:solidFill>
                <a:latin typeface="Frutiger"/>
                <a:cs typeface="Frutiger"/>
              </a:rPr>
              <a:t>MODELS/STAGING/STG_ORDERS.YML  ·  MODELS/MARTS/ORDERS.YML</a:t>
            </a:r>
          </a:p>
        </p:txBody>
      </p:sp>
      <p:sp>
        <p:nvSpPr>
          <p:cNvPr id="101" name="Code 101"/>
          <p:cNvSpPr/>
          <p:nvPr/>
        </p:nvSpPr>
        <p:spPr>
          <a:xfrm>
            <a:off x="838200" y="2717800"/>
            <a:ext cx="7874000" cy="5334000"/>
          </a:xfrm>
          <a:prstGeom prst="roundRect">
            <a:avLst>
              <a:gd name="adj" fmla="val 4000"/>
            </a:avLst>
          </a:prstGeom>
          <a:solidFill>
            <a:srgbClr val="0E1E4A"/>
          </a:solidFill>
          <a:ln>
            <a:noFill/>
          </a:ln>
        </p:spPr>
        <p:txBody>
          <a:bodyPr wrap="square" lIns="228600" tIns="203200" rIns="228600" bIns="228600" anchor="t">
            <a:normAutofit fontScale="92500" lnSpcReduction="20000"/>
          </a:bodyPr>
          <a:lstStyle/>
          <a:p>
            <a:pPr>
              <a:lnSpc>
                <a:spcPct val="126000"/>
              </a:lnSpc>
              <a:buNone/>
            </a:pPr>
            <a:r>
              <a:rPr lang="en-US" sz="1700" dirty="0">
                <a:solidFill>
                  <a:srgbClr val="8EC5FF"/>
                </a:solidFill>
                <a:latin typeface="Consolas"/>
                <a:cs typeface="Consolas"/>
              </a:rPr>
              <a:t>models:</a:t>
            </a:r>
          </a:p>
          <a:p>
            <a:pPr>
              <a:lnSpc>
                <a:spcPct val="126000"/>
              </a:lnSpc>
              <a:buNone/>
            </a:pPr>
            <a:r>
              <a:rPr lang="en-US" sz="1700" dirty="0">
                <a:solidFill>
                  <a:srgbClr val="8EC5FF"/>
                </a:solidFill>
                <a:latin typeface="Consolas"/>
                <a:cs typeface="Consolas"/>
              </a:rPr>
              <a:t>  - name: </a:t>
            </a:r>
            <a:r>
              <a:rPr lang="en-US" sz="1700" dirty="0">
                <a:solidFill>
                  <a:srgbClr val="E8ECF5"/>
                </a:solidFill>
                <a:latin typeface="Consolas"/>
                <a:cs typeface="Consolas"/>
              </a:rPr>
              <a:t>stg_orders</a:t>
            </a:r>
          </a:p>
          <a:p>
            <a:pPr>
              <a:lnSpc>
                <a:spcPct val="126000"/>
              </a:lnSpc>
              <a:buNone/>
            </a:pPr>
            <a:r>
              <a:rPr lang="en-US" sz="1700" dirty="0">
                <a:solidFill>
                  <a:srgbClr val="8EC5FF"/>
                </a:solidFill>
                <a:latin typeface="Consolas"/>
                <a:cs typeface="Consolas"/>
              </a:rPr>
              <a:t>    description: </a:t>
            </a:r>
            <a:r>
              <a:rPr lang="en-US" sz="1700" dirty="0">
                <a:solidFill>
                  <a:srgbClr val="FFD27F"/>
                </a:solidFill>
                <a:latin typeface="Consolas"/>
                <a:cs typeface="Consolas"/>
              </a:rPr>
              <a:t>One row per order. Amounts in USD.</a:t>
            </a:r>
          </a:p>
          <a:p>
            <a:pPr>
              <a:lnSpc>
                <a:spcPct val="126000"/>
              </a:lnSpc>
              <a:buNone/>
            </a:pPr>
            <a:r>
              <a:rPr lang="en-US" sz="1700" dirty="0">
                <a:solidFill>
                  <a:srgbClr val="8EC5FF"/>
                </a:solidFill>
                <a:latin typeface="Consolas"/>
                <a:cs typeface="Consolas"/>
              </a:rPr>
              <a:t>    data_tests:</a:t>
            </a:r>
          </a:p>
          <a:p>
            <a:pPr>
              <a:lnSpc>
                <a:spcPct val="126000"/>
              </a:lnSpc>
              <a:buNone/>
            </a:pPr>
            <a:r>
              <a:rPr lang="en-US" sz="1700" dirty="0">
                <a:solidFill>
                  <a:srgbClr val="8EC5FF"/>
                </a:solidFill>
                <a:latin typeface="Consolas"/>
                <a:cs typeface="Consolas"/>
              </a:rPr>
              <a:t>      - </a:t>
            </a:r>
            <a:r>
              <a:rPr lang="en-US" sz="1700" dirty="0" err="1">
                <a:solidFill>
                  <a:srgbClr val="E8ECF5"/>
                </a:solidFill>
                <a:latin typeface="Consolas"/>
                <a:cs typeface="Consolas"/>
              </a:rPr>
              <a:t>dbt_utils.expression_is_true</a:t>
            </a:r>
            <a:r>
              <a:rPr lang="en-US" sz="1700" dirty="0">
                <a:solidFill>
                  <a:srgbClr val="E8ECF5"/>
                </a:solidFill>
                <a:latin typeface="Consolas"/>
                <a:cs typeface="Consolas"/>
              </a:rPr>
              <a:t>:</a:t>
            </a:r>
          </a:p>
          <a:p>
            <a:pPr>
              <a:lnSpc>
                <a:spcPct val="126000"/>
              </a:lnSpc>
              <a:buNone/>
            </a:pPr>
            <a:r>
              <a:rPr lang="en-US" sz="1700" dirty="0">
                <a:solidFill>
                  <a:srgbClr val="8EC5FF"/>
                </a:solidFill>
                <a:latin typeface="Consolas"/>
                <a:cs typeface="Consolas"/>
              </a:rPr>
              <a:t>          arguments: { expression: </a:t>
            </a:r>
            <a:r>
              <a:rPr lang="en-US" sz="1700" dirty="0">
                <a:solidFill>
                  <a:srgbClr val="FF8FA3"/>
                </a:solidFill>
                <a:latin typeface="Consolas"/>
                <a:cs typeface="Consolas"/>
              </a:rPr>
              <a:t>"order_total - tax_paid = subtotal"</a:t>
            </a:r>
            <a:r>
              <a:rPr lang="en-US" sz="1700" dirty="0">
                <a:solidFill>
                  <a:srgbClr val="8EC5FF"/>
                </a:solidFill>
                <a:latin typeface="Consolas"/>
                <a:cs typeface="Consolas"/>
              </a:rPr>
              <a:t> }</a:t>
            </a:r>
          </a:p>
          <a:p>
            <a:pPr>
              <a:lnSpc>
                <a:spcPct val="126000"/>
              </a:lnSpc>
              <a:buNone/>
            </a:pPr>
            <a:r>
              <a:rPr lang="en-US" sz="1700" dirty="0">
                <a:solidFill>
                  <a:srgbClr val="8EC5FF"/>
                </a:solidFill>
                <a:latin typeface="Consolas"/>
                <a:cs typeface="Consolas"/>
              </a:rPr>
              <a:t>    columns:</a:t>
            </a:r>
          </a:p>
          <a:p>
            <a:pPr>
              <a:lnSpc>
                <a:spcPct val="126000"/>
              </a:lnSpc>
              <a:buNone/>
            </a:pPr>
            <a:r>
              <a:rPr lang="en-US" sz="1700" dirty="0">
                <a:solidFill>
                  <a:srgbClr val="8EC5FF"/>
                </a:solidFill>
                <a:latin typeface="Consolas"/>
                <a:cs typeface="Consolas"/>
              </a:rPr>
              <a:t>      - name: order_id</a:t>
            </a:r>
          </a:p>
          <a:p>
            <a:pPr>
              <a:lnSpc>
                <a:spcPct val="126000"/>
              </a:lnSpc>
              <a:buNone/>
            </a:pPr>
            <a:r>
              <a:rPr lang="en-US" sz="1700" dirty="0">
                <a:solidFill>
                  <a:srgbClr val="8EC5FF"/>
                </a:solidFill>
                <a:latin typeface="Consolas"/>
                <a:cs typeface="Consolas"/>
              </a:rPr>
              <a:t>        data_tests: [</a:t>
            </a:r>
            <a:r>
              <a:rPr lang="en-US" sz="1700" dirty="0">
                <a:solidFill>
                  <a:srgbClr val="FF8FA3"/>
                </a:solidFill>
                <a:latin typeface="Consolas"/>
                <a:cs typeface="Consolas"/>
              </a:rPr>
              <a:t>not_null</a:t>
            </a:r>
            <a:r>
              <a:rPr lang="en-US" sz="1700" dirty="0">
                <a:solidFill>
                  <a:srgbClr val="8EC5FF"/>
                </a:solidFill>
                <a:latin typeface="Consolas"/>
                <a:cs typeface="Consolas"/>
              </a:rPr>
              <a:t>, unique]</a:t>
            </a:r>
          </a:p>
          <a:p>
            <a:pPr>
              <a:lnSpc>
                <a:spcPct val="126000"/>
              </a:lnSpc>
              <a:buNone/>
            </a:pPr>
            <a:r>
              <a:rPr lang="en-US" sz="1700" dirty="0">
                <a:solidFill>
                  <a:srgbClr val="8EC5FF"/>
                </a:solidFill>
                <a:latin typeface="Consolas"/>
                <a:cs typeface="Consolas"/>
              </a:rPr>
              <a:t> </a:t>
            </a:r>
          </a:p>
          <a:p>
            <a:pPr>
              <a:lnSpc>
                <a:spcPct val="126000"/>
              </a:lnSpc>
              <a:buNone/>
            </a:pPr>
            <a:r>
              <a:rPr lang="en-US" sz="1700" dirty="0">
                <a:solidFill>
                  <a:srgbClr val="8EC5FF"/>
                </a:solidFill>
                <a:latin typeface="Consolas"/>
                <a:cs typeface="Consolas"/>
              </a:rPr>
              <a:t>  - name: </a:t>
            </a:r>
            <a:r>
              <a:rPr lang="en-US" sz="1700" dirty="0">
                <a:solidFill>
                  <a:srgbClr val="E8ECF5"/>
                </a:solidFill>
                <a:latin typeface="Consolas"/>
                <a:cs typeface="Consolas"/>
              </a:rPr>
              <a:t>orders                    # marts/orders.yml</a:t>
            </a:r>
          </a:p>
          <a:p>
            <a:pPr>
              <a:lnSpc>
                <a:spcPct val="126000"/>
              </a:lnSpc>
              <a:buNone/>
            </a:pPr>
            <a:r>
              <a:rPr lang="en-US" sz="1700" dirty="0">
                <a:solidFill>
                  <a:srgbClr val="8EC5FF"/>
                </a:solidFill>
                <a:latin typeface="Consolas"/>
                <a:cs typeface="Consolas"/>
              </a:rPr>
              <a:t>    columns:</a:t>
            </a:r>
          </a:p>
          <a:p>
            <a:pPr>
              <a:lnSpc>
                <a:spcPct val="126000"/>
              </a:lnSpc>
              <a:buNone/>
            </a:pPr>
            <a:r>
              <a:rPr lang="en-US" sz="1700" dirty="0">
                <a:solidFill>
                  <a:srgbClr val="8EC5FF"/>
                </a:solidFill>
                <a:latin typeface="Consolas"/>
                <a:cs typeface="Consolas"/>
              </a:rPr>
              <a:t>      - name: </a:t>
            </a:r>
            <a:r>
              <a:rPr lang="en-US" sz="1700" dirty="0">
                <a:solidFill>
                  <a:srgbClr val="FF8FA3"/>
                </a:solidFill>
                <a:latin typeface="Consolas"/>
                <a:cs typeface="Consolas"/>
              </a:rPr>
              <a:t>customer_id</a:t>
            </a:r>
          </a:p>
          <a:p>
            <a:pPr>
              <a:lnSpc>
                <a:spcPct val="126000"/>
              </a:lnSpc>
              <a:buNone/>
            </a:pPr>
            <a:r>
              <a:rPr lang="en-US" sz="1700" dirty="0">
                <a:solidFill>
                  <a:srgbClr val="8EC5FF"/>
                </a:solidFill>
                <a:latin typeface="Consolas"/>
                <a:cs typeface="Consolas"/>
              </a:rPr>
              <a:t>        data_tests:</a:t>
            </a:r>
          </a:p>
          <a:p>
            <a:pPr>
              <a:lnSpc>
                <a:spcPct val="126000"/>
              </a:lnSpc>
              <a:buNone/>
            </a:pPr>
            <a:r>
              <a:rPr lang="en-US" sz="1700" dirty="0">
                <a:solidFill>
                  <a:srgbClr val="8EC5FF"/>
                </a:solidFill>
                <a:latin typeface="Consolas"/>
                <a:cs typeface="Consolas"/>
              </a:rPr>
              <a:t>          - </a:t>
            </a:r>
            <a:r>
              <a:rPr lang="en-US" sz="1700" dirty="0">
                <a:solidFill>
                  <a:srgbClr val="E8ECF5"/>
                </a:solidFill>
                <a:latin typeface="Consolas"/>
                <a:cs typeface="Consolas"/>
              </a:rPr>
              <a:t>relationships:</a:t>
            </a:r>
          </a:p>
          <a:p>
            <a:pPr>
              <a:lnSpc>
                <a:spcPct val="126000"/>
              </a:lnSpc>
              <a:buNone/>
            </a:pPr>
            <a:r>
              <a:rPr lang="en-US" sz="1700" dirty="0">
                <a:solidFill>
                  <a:srgbClr val="8EC5FF"/>
                </a:solidFill>
                <a:latin typeface="Consolas"/>
                <a:cs typeface="Consolas"/>
              </a:rPr>
              <a:t>              arguments: { to: </a:t>
            </a:r>
            <a:r>
              <a:rPr lang="en-US" sz="1700" dirty="0">
                <a:solidFill>
                  <a:srgbClr val="E8ECF5"/>
                </a:solidFill>
                <a:latin typeface="Consolas"/>
                <a:cs typeface="Consolas"/>
              </a:rPr>
              <a:t>ref('stg_customers'), field: customer_id }</a:t>
            </a:r>
          </a:p>
        </p:txBody>
      </p:sp>
      <p:sp>
        <p:nvSpPr>
          <p:cNvPr id="103" name="Shape 103"/>
          <p:cNvSpPr/>
          <p:nvPr/>
        </p:nvSpPr>
        <p:spPr>
          <a:xfrm>
            <a:off x="838200" y="8255000"/>
            <a:ext cx="7874000" cy="863600"/>
          </a:xfrm>
          <a:prstGeom prst="rect">
            <a:avLst/>
          </a:prstGeom>
          <a:solidFill>
            <a:srgbClr val="F4F6FA"/>
          </a:solidFill>
          <a:ln>
            <a:noFill/>
          </a:ln>
        </p:spPr>
        <p:txBody>
          <a:bodyPr wrap="square" lIns="203200" tIns="50800" rIns="203200" bIns="50800" anchor="ctr">
            <a:normAutofit/>
          </a:bodyPr>
          <a:lstStyle/>
          <a:p>
            <a:pPr>
              <a:buNone/>
            </a:pPr>
            <a:r>
              <a:rPr lang="en-US" sz="2000" b="1" dirty="0">
                <a:solidFill>
                  <a:srgbClr val="001F6B"/>
                </a:solidFill>
                <a:latin typeface="Frutiger"/>
                <a:cs typeface="Frutiger"/>
              </a:rPr>
              <a:t>A test is just a query that returns the failing rows. </a:t>
            </a:r>
            <a:r>
              <a:rPr lang="en-US" sz="1900" dirty="0">
                <a:solidFill>
                  <a:srgbClr val="364750"/>
                </a:solidFill>
                <a:latin typeface="Frutiger"/>
                <a:cs typeface="Frutiger"/>
              </a:rPr>
              <a:t>Zero rows back = pass. dbt writes the query for the generic tests; you write it for singular ones.</a:t>
            </a:r>
          </a:p>
        </p:txBody>
      </p:sp>
      <p:sp>
        <p:nvSpPr>
          <p:cNvPr id="110" name="Shape 110"/>
          <p:cNvSpPr/>
          <p:nvPr/>
        </p:nvSpPr>
        <p:spPr>
          <a:xfrm>
            <a:off x="9144000" y="2362200"/>
            <a:ext cx="8305800" cy="355600"/>
          </a:xfrm>
          <a:prstGeom prst="rect">
            <a:avLst/>
          </a:prstGeom>
          <a:noFill/>
          <a:ln>
            <a:noFill/>
          </a:ln>
        </p:spPr>
        <p:txBody>
          <a:bodyPr wrap="square" lIns="0" tIns="0" rIns="0" bIns="0" anchor="t">
            <a:normAutofit/>
          </a:bodyPr>
          <a:lstStyle/>
          <a:p>
            <a:pPr>
              <a:buNone/>
            </a:pPr>
            <a:r>
              <a:rPr lang="en-US" sz="1400" b="1" spc="150" dirty="0">
                <a:solidFill>
                  <a:srgbClr val="E40046"/>
                </a:solidFill>
                <a:latin typeface="Frutiger"/>
                <a:cs typeface="Frutiger"/>
              </a:rPr>
              <a:t>WHICH TEST CATCHES WHAT?</a:t>
            </a:r>
          </a:p>
        </p:txBody>
      </p:sp>
      <p:graphicFrame>
        <p:nvGraphicFramePr>
          <p:cNvPr id="111" name="Table 111"/>
          <p:cNvGraphicFramePr>
            <a:graphicFrameLocks noGrp="1"/>
          </p:cNvGraphicFramePr>
          <p:nvPr/>
        </p:nvGraphicFramePr>
        <p:xfrm>
          <a:off x="9144000" y="2717800"/>
          <a:ext cx="8305800" cy="4013200"/>
        </p:xfrm>
        <a:graphic>
          <a:graphicData uri="http://schemas.openxmlformats.org/drawingml/2006/table">
            <a:tbl>
              <a:tblPr/>
              <a:tblGrid>
                <a:gridCol w="5080000">
                  <a:extLst>
                    <a:ext uri="{9D8B030D-6E8A-4147-A177-3AD203B41FA5}">
                      <a16:colId xmlns:a16="http://schemas.microsoft.com/office/drawing/2014/main" val="20000"/>
                    </a:ext>
                  </a:extLst>
                </a:gridCol>
                <a:gridCol w="3225800">
                  <a:extLst>
                    <a:ext uri="{9D8B030D-6E8A-4147-A177-3AD203B41FA5}">
                      <a16:colId xmlns:a16="http://schemas.microsoft.com/office/drawing/2014/main" val="20001"/>
                    </a:ext>
                  </a:extLst>
                </a:gridCol>
              </a:tblGrid>
              <a:tr h="533400">
                <a:tc>
                  <a:txBody>
                    <a:bodyPr/>
                    <a:lstStyle/>
                    <a:p>
                      <a:pPr algn="l">
                        <a:buNone/>
                      </a:pPr>
                      <a:r>
                        <a:rPr lang="en-US" sz="1700" b="1" dirty="0">
                          <a:solidFill>
                            <a:srgbClr val="FFFFFF"/>
                          </a:solidFill>
                          <a:latin typeface="Frutiger"/>
                          <a:cs typeface="Frutiger"/>
                        </a:rPr>
                        <a:t>If this goes wrong…</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001F6B"/>
                    </a:solidFill>
                  </a:tcPr>
                </a:tc>
                <a:tc>
                  <a:txBody>
                    <a:bodyPr/>
                    <a:lstStyle/>
                    <a:p>
                      <a:pPr algn="l">
                        <a:buNone/>
                      </a:pPr>
                      <a:r>
                        <a:rPr lang="en-US" sz="1700" b="1" dirty="0">
                          <a:solidFill>
                            <a:srgbClr val="FFFFFF"/>
                          </a:solidFill>
                          <a:latin typeface="Frutiger"/>
                          <a:cs typeface="Frutiger"/>
                        </a:rPr>
                        <a:t>…this test fails</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001F6B"/>
                    </a:solidFill>
                  </a:tcPr>
                </a:tc>
                <a:extLst>
                  <a:ext uri="{0D108BD9-81ED-4DB2-BD59-A6C34878D82A}">
                    <a16:rowId xmlns:a16="http://schemas.microsoft.com/office/drawing/2014/main" val="10000"/>
                  </a:ext>
                </a:extLst>
              </a:tr>
              <a:tr h="685800">
                <a:tc>
                  <a:txBody>
                    <a:bodyPr/>
                    <a:lstStyle/>
                    <a:p>
                      <a:pPr algn="l">
                        <a:buNone/>
                      </a:pPr>
                      <a:r>
                        <a:rPr lang="en-US" sz="1800" dirty="0">
                          <a:solidFill>
                            <a:srgbClr val="364750"/>
                          </a:solidFill>
                          <a:latin typeface="Frutiger"/>
                          <a:cs typeface="Frutiger"/>
                        </a:rPr>
                        <a:t>The same order_id appears twice after a bad join</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800" b="1" dirty="0">
                          <a:solidFill>
                            <a:srgbClr val="001F6B"/>
                          </a:solidFill>
                          <a:latin typeface="Consolas"/>
                          <a:cs typeface="Consolas"/>
                        </a:rPr>
                        <a:t>unique</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extLst>
                  <a:ext uri="{0D108BD9-81ED-4DB2-BD59-A6C34878D82A}">
                    <a16:rowId xmlns:a16="http://schemas.microsoft.com/office/drawing/2014/main" val="10001"/>
                  </a:ext>
                </a:extLst>
              </a:tr>
              <a:tr h="685800">
                <a:tc>
                  <a:txBody>
                    <a:bodyPr/>
                    <a:lstStyle/>
                    <a:p>
                      <a:pPr algn="l">
                        <a:buNone/>
                      </a:pPr>
                      <a:r>
                        <a:rPr lang="en-US" sz="1800" dirty="0">
                          <a:solidFill>
                            <a:srgbClr val="364750"/>
                          </a:solidFill>
                          <a:latin typeface="Frutiger"/>
                          <a:cs typeface="Frutiger"/>
                        </a:rPr>
                        <a:t>An order arrives with no key</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800" b="1" dirty="0">
                          <a:solidFill>
                            <a:srgbClr val="001F6B"/>
                          </a:solidFill>
                          <a:latin typeface="Consolas"/>
                          <a:cs typeface="Consolas"/>
                        </a:rPr>
                        <a:t>not_null</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extLst>
                  <a:ext uri="{0D108BD9-81ED-4DB2-BD59-A6C34878D82A}">
                    <a16:rowId xmlns:a16="http://schemas.microsoft.com/office/drawing/2014/main" val="10002"/>
                  </a:ext>
                </a:extLst>
              </a:tr>
              <a:tr h="685800">
                <a:tc>
                  <a:txBody>
                    <a:bodyPr/>
                    <a:lstStyle/>
                    <a:p>
                      <a:pPr algn="l">
                        <a:buNone/>
                      </a:pPr>
                      <a:r>
                        <a:rPr lang="en-US" sz="1800" dirty="0">
                          <a:solidFill>
                            <a:srgbClr val="364750"/>
                          </a:solidFill>
                          <a:latin typeface="Frutiger"/>
                          <a:cs typeface="Frutiger"/>
                        </a:rPr>
                        <a:t>Someone types “Returning” instead of “returning”</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800" b="1" dirty="0">
                          <a:solidFill>
                            <a:srgbClr val="001F6B"/>
                          </a:solidFill>
                          <a:latin typeface="Consolas"/>
                          <a:cs typeface="Consolas"/>
                        </a:rPr>
                        <a:t>accepted_values</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extLst>
                  <a:ext uri="{0D108BD9-81ED-4DB2-BD59-A6C34878D82A}">
                    <a16:rowId xmlns:a16="http://schemas.microsoft.com/office/drawing/2014/main" val="10003"/>
                  </a:ext>
                </a:extLst>
              </a:tr>
              <a:tr h="685800">
                <a:tc>
                  <a:txBody>
                    <a:bodyPr/>
                    <a:lstStyle/>
                    <a:p>
                      <a:pPr algn="l">
                        <a:buNone/>
                      </a:pPr>
                      <a:r>
                        <a:rPr lang="en-US" sz="1800" dirty="0">
                          <a:solidFill>
                            <a:srgbClr val="364750"/>
                          </a:solidFill>
                          <a:latin typeface="Frutiger"/>
                          <a:cs typeface="Frutiger"/>
                        </a:rPr>
                        <a:t>An order points at a customer that doesn’t exist</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800" b="1" dirty="0">
                          <a:solidFill>
                            <a:srgbClr val="001F6B"/>
                          </a:solidFill>
                          <a:latin typeface="Consolas"/>
                          <a:cs typeface="Consolas"/>
                        </a:rPr>
                        <a:t>relationships</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extLst>
                  <a:ext uri="{0D108BD9-81ED-4DB2-BD59-A6C34878D82A}">
                    <a16:rowId xmlns:a16="http://schemas.microsoft.com/office/drawing/2014/main" val="10004"/>
                  </a:ext>
                </a:extLst>
              </a:tr>
              <a:tr h="736600">
                <a:tc>
                  <a:txBody>
                    <a:bodyPr/>
                    <a:lstStyle/>
                    <a:p>
                      <a:pPr algn="l">
                        <a:buNone/>
                      </a:pPr>
                      <a:r>
                        <a:rPr lang="en-US" sz="1800" dirty="0">
                          <a:solidFill>
                            <a:srgbClr val="364750"/>
                          </a:solidFill>
                          <a:latin typeface="Frutiger"/>
                          <a:cs typeface="Frutiger"/>
                        </a:rPr>
                        <a:t>tax_paid stays in cents, so order_total ≠ subtotal + tax</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700" b="1" dirty="0">
                          <a:solidFill>
                            <a:srgbClr val="E40046"/>
                          </a:solidFill>
                          <a:latin typeface="Consolas"/>
                          <a:cs typeface="Consolas"/>
                        </a:rPr>
                        <a:t>expression_is_true</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extLst>
                  <a:ext uri="{0D108BD9-81ED-4DB2-BD59-A6C34878D82A}">
                    <a16:rowId xmlns:a16="http://schemas.microsoft.com/office/drawing/2014/main" val="10005"/>
                  </a:ext>
                </a:extLst>
              </a:tr>
            </a:tbl>
          </a:graphicData>
        </a:graphic>
      </p:graphicFrame>
      <p:sp>
        <p:nvSpPr>
          <p:cNvPr id="120" name="Shape 120"/>
          <p:cNvSpPr/>
          <p:nvPr/>
        </p:nvSpPr>
        <p:spPr>
          <a:xfrm>
            <a:off x="9144000" y="6959600"/>
            <a:ext cx="8305800" cy="21590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a:p>
        </p:txBody>
      </p:sp>
      <p:sp>
        <p:nvSpPr>
          <p:cNvPr id="121" name="Shape 121"/>
          <p:cNvSpPr/>
          <p:nvPr/>
        </p:nvSpPr>
        <p:spPr>
          <a:xfrm>
            <a:off x="9372600" y="7086600"/>
            <a:ext cx="7874000" cy="1930400"/>
          </a:xfrm>
          <a:prstGeom prst="rect">
            <a:avLst/>
          </a:prstGeom>
          <a:noFill/>
          <a:ln>
            <a:noFill/>
          </a:ln>
        </p:spPr>
        <p:txBody>
          <a:bodyPr wrap="square" lIns="0" tIns="0" rIns="0" bIns="0" anchor="t">
            <a:normAutofit fontScale="92500"/>
          </a:bodyPr>
          <a:lstStyle/>
          <a:p>
            <a:pPr>
              <a:lnSpc>
                <a:spcPct val="105000"/>
              </a:lnSpc>
              <a:buNone/>
            </a:pPr>
            <a:r>
              <a:rPr lang="en-US" sz="2000" b="1" dirty="0">
                <a:solidFill>
                  <a:srgbClr val="001F6B"/>
                </a:solidFill>
                <a:latin typeface="Frutiger"/>
                <a:cs typeface="Frutiger"/>
              </a:rPr>
              <a:t>Data tests</a:t>
            </a:r>
            <a:r>
              <a:rPr lang="en-US" sz="1800" dirty="0">
                <a:solidFill>
                  <a:srgbClr val="364750"/>
                </a:solidFill>
                <a:latin typeface="Frutiger"/>
                <a:cs typeface="Frutiger"/>
              </a:rPr>
              <a:t>  check the data that was actually built — unique, not_null, accepted_values, relationships, plus any SQL you write yourself.</a:t>
            </a:r>
          </a:p>
          <a:p>
            <a:pPr>
              <a:lnSpc>
                <a:spcPct val="105000"/>
              </a:lnSpc>
              <a:spcBef>
                <a:spcPts val="800"/>
              </a:spcBef>
              <a:buNone/>
            </a:pPr>
            <a:r>
              <a:rPr lang="en-US" sz="2000" b="1" dirty="0">
                <a:solidFill>
                  <a:srgbClr val="001F6B"/>
                </a:solidFill>
                <a:latin typeface="Frutiger"/>
                <a:cs typeface="Frutiger"/>
              </a:rPr>
              <a:t>Unit tests</a:t>
            </a:r>
            <a:r>
              <a:rPr lang="en-US" sz="1800" dirty="0">
                <a:solidFill>
                  <a:srgbClr val="364750"/>
                </a:solidFill>
                <a:latin typeface="Frutiger"/>
                <a:cs typeface="Frutiger"/>
              </a:rPr>
              <a:t>  check the model’s logic against rows you supply — e.g. “an order with one jaffle and one drink is both a food and a drink order”. Three ship with this project; confirm adapter support first.</a:t>
            </a:r>
          </a:p>
          <a:p>
            <a:pPr>
              <a:lnSpc>
                <a:spcPct val="105000"/>
              </a:lnSpc>
              <a:spcBef>
                <a:spcPts val="800"/>
              </a:spcBef>
              <a:buNone/>
            </a:pPr>
            <a:r>
              <a:rPr lang="en-US" sz="2000" b="1" dirty="0">
                <a:solidFill>
                  <a:srgbClr val="001F6B"/>
                </a:solidFill>
                <a:latin typeface="Frutiger"/>
                <a:cs typeface="Frutiger"/>
              </a:rPr>
              <a:t>Singular tests</a:t>
            </a:r>
            <a:r>
              <a:rPr lang="en-US" sz="1800" dirty="0">
                <a:solidFill>
                  <a:srgbClr val="364750"/>
                </a:solidFill>
                <a:latin typeface="Frutiger"/>
                <a:cs typeface="Frutiger"/>
              </a:rPr>
              <a:t>  are one-off SELECTs in data-tests/ — great for business reconciliations.</a:t>
            </a:r>
          </a:p>
        </p:txBody>
      </p:sp>
    </p:spTree>
    <p:extLst>
      <p:ext uri="{BB962C8B-B14F-4D97-AF65-F5344CB8AC3E}">
        <p14:creationId xmlns:p14="http://schemas.microsoft.com/office/powerpoint/2010/main" val="33240245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99A89D5-83CF-4C3E-9CF5-65C3BE887734}"/>
              </a:ext>
            </a:extLst>
          </p:cNvPr>
          <p:cNvSpPr>
            <a:spLocks noGrp="1"/>
          </p:cNvSpPr>
          <p:nvPr/>
        </p:nvSpPr>
        <p:spPr>
          <a:xfrm>
            <a:off x="0" y="3989190"/>
            <a:ext cx="18288000" cy="6297812"/>
          </a:xfrm>
          <a:custGeom>
            <a:avLst/>
            <a:gdLst/>
            <a:ahLst/>
            <a:cxnLst/>
            <a:rect l="0" t="0" r="0" b="0"/>
            <a:pathLst>
              <a:path w="18288000" h="6297811">
                <a:moveTo>
                  <a:pt x="0" y="1485900"/>
                </a:moveTo>
                <a:lnTo>
                  <a:pt x="18288000" y="0"/>
                </a:lnTo>
                <a:lnTo>
                  <a:pt x="18288000" y="6297811"/>
                </a:lnTo>
                <a:lnTo>
                  <a:pt x="0" y="6297811"/>
                </a:lnTo>
                <a:close/>
              </a:path>
            </a:pathLst>
          </a:custGeom>
          <a:solidFill>
            <a:srgbClr val="001F6B"/>
          </a:solidFill>
        </p:spPr>
        <p:txBody>
          <a:bodyPr/>
          <a:lstStyle/>
          <a:p>
            <a:endParaRPr sz="1801"/>
          </a:p>
        </p:txBody>
      </p:sp>
      <p:sp>
        <p:nvSpPr>
          <p:cNvPr id="900" name="Accent Line">
            <a:extLst>
              <a:ext uri="{FF2B5EF4-FFF2-40B4-BE49-F238E27FC236}">
                <a16:creationId xmlns:a16="http://schemas.microsoft.com/office/drawing/2014/main" id="{D5F61F5F-CE19-44ED-9D02-A5527460F025}"/>
              </a:ext>
            </a:extLst>
          </p:cNvPr>
          <p:cNvSpPr>
            <a:spLocks noGrp="1"/>
          </p:cNvSpPr>
          <p:nvPr/>
        </p:nvSpPr>
        <p:spPr>
          <a:xfrm flipV="1">
            <a:off x="0" y="3836790"/>
            <a:ext cx="18288000" cy="1485900"/>
          </a:xfrm>
          <a:prstGeom prst="line">
            <a:avLst/>
          </a:prstGeom>
          <a:ln w="57150">
            <a:solidFill>
              <a:srgbClr val="FF0000"/>
            </a:solidFill>
          </a:ln>
        </p:spPr>
        <p:txBody>
          <a:bodyPr/>
          <a:lstStyle/>
          <a:p>
            <a:endParaRPr lang="en-US"/>
          </a:p>
        </p:txBody>
      </p:sp>
      <p:sp>
        <p:nvSpPr>
          <p:cNvPr id="4" name="Text 1">
            <a:extLst>
              <a:ext uri="{FF2B5EF4-FFF2-40B4-BE49-F238E27FC236}">
                <a16:creationId xmlns:a16="http://schemas.microsoft.com/office/drawing/2014/main" id="{235EE72F-2DF4-4BBC-B836-E156CD294378}"/>
              </a:ext>
            </a:extLst>
          </p:cNvPr>
          <p:cNvSpPr>
            <a:spLocks noGrp="1"/>
          </p:cNvSpPr>
          <p:nvPr/>
        </p:nvSpPr>
        <p:spPr>
          <a:xfrm>
            <a:off x="838202" y="8448676"/>
            <a:ext cx="1855010" cy="1152524"/>
          </a:xfrm>
          <a:prstGeom prst="rect">
            <a:avLst/>
          </a:prstGeom>
          <a:noFill/>
        </p:spPr>
        <p:txBody>
          <a:bodyPr wrap="square" lIns="25401" tIns="25401" rIns="25401" bIns="25401" anchor="t">
            <a:normAutofit lnSpcReduction="10000"/>
          </a:bodyPr>
          <a:lstStyle/>
          <a:p>
            <a:pPr>
              <a:lnSpc>
                <a:spcPct val="58500"/>
              </a:lnSpc>
              <a:buNone/>
            </a:pPr>
            <a:r>
              <a:rPr sz="11250" b="1" spc="-450">
                <a:solidFill>
                  <a:srgbClr val="E40046"/>
                </a:solidFill>
                <a:latin typeface="Frutiger"/>
                <a:ea typeface="Frutiger"/>
                <a:cs typeface="Frutiger"/>
              </a:rPr>
              <a:t>01</a:t>
            </a:r>
          </a:p>
        </p:txBody>
      </p:sp>
      <p:sp>
        <p:nvSpPr>
          <p:cNvPr id="5" name="Text 2">
            <a:extLst>
              <a:ext uri="{FF2B5EF4-FFF2-40B4-BE49-F238E27FC236}">
                <a16:creationId xmlns:a16="http://schemas.microsoft.com/office/drawing/2014/main" id="{E2855DD2-C834-48A4-ADA1-C139894E16A5}"/>
              </a:ext>
            </a:extLst>
          </p:cNvPr>
          <p:cNvSpPr>
            <a:spLocks noGrp="1"/>
          </p:cNvSpPr>
          <p:nvPr/>
        </p:nvSpPr>
        <p:spPr>
          <a:xfrm>
            <a:off x="3134171" y="7612561"/>
            <a:ext cx="10991061" cy="392311"/>
          </a:xfrm>
          <a:prstGeom prst="rect">
            <a:avLst/>
          </a:prstGeom>
          <a:noFill/>
        </p:spPr>
        <p:txBody>
          <a:bodyPr wrap="square" lIns="25401" tIns="25401" rIns="25401" bIns="25401" anchor="t">
            <a:normAutofit/>
          </a:bodyPr>
          <a:lstStyle/>
          <a:p>
            <a:pPr>
              <a:lnSpc>
                <a:spcPct val="120000"/>
              </a:lnSpc>
              <a:buNone/>
            </a:pPr>
            <a:r>
              <a:rPr sz="1801" b="1" spc="432">
                <a:solidFill>
                  <a:srgbClr val="B6BFC4"/>
                </a:solidFill>
                <a:latin typeface="Frutiger"/>
                <a:ea typeface="Frutiger"/>
                <a:cs typeface="Frutiger"/>
              </a:rPr>
              <a:t>LIVE DEMO 1  ·  FABRIC WAREHOUSE</a:t>
            </a:r>
          </a:p>
        </p:txBody>
      </p:sp>
      <p:sp>
        <p:nvSpPr>
          <p:cNvPr id="6" name="Text 3">
            <a:extLst>
              <a:ext uri="{FF2B5EF4-FFF2-40B4-BE49-F238E27FC236}">
                <a16:creationId xmlns:a16="http://schemas.microsoft.com/office/drawing/2014/main" id="{20892FFE-61C4-4001-81BF-E1ACD977F149}"/>
              </a:ext>
            </a:extLst>
          </p:cNvPr>
          <p:cNvSpPr>
            <a:spLocks noGrp="1"/>
          </p:cNvSpPr>
          <p:nvPr/>
        </p:nvSpPr>
        <p:spPr>
          <a:xfrm>
            <a:off x="3134171" y="8138220"/>
            <a:ext cx="10991061" cy="800100"/>
          </a:xfrm>
          <a:prstGeom prst="rect">
            <a:avLst/>
          </a:prstGeom>
          <a:noFill/>
        </p:spPr>
        <p:txBody>
          <a:bodyPr wrap="square" lIns="25401" tIns="25401" rIns="25401" bIns="25401" anchor="t">
            <a:normAutofit/>
          </a:bodyPr>
          <a:lstStyle/>
          <a:p>
            <a:pPr>
              <a:lnSpc>
                <a:spcPct val="77670"/>
              </a:lnSpc>
              <a:buNone/>
            </a:pPr>
            <a:r>
              <a:rPr sz="6000" b="1" spc="-121" dirty="0">
                <a:solidFill>
                  <a:srgbClr val="FFFFFF"/>
                </a:solidFill>
                <a:latin typeface="Frutiger"/>
                <a:ea typeface="Frutiger"/>
                <a:cs typeface="Frutiger"/>
              </a:rPr>
              <a:t>Build a useful </a:t>
            </a:r>
            <a:r>
              <a:rPr lang="en-US" sz="6000" b="1" spc="-121" dirty="0">
                <a:solidFill>
                  <a:srgbClr val="FFFFFF"/>
                </a:solidFill>
                <a:latin typeface="Frutiger"/>
                <a:ea typeface="Frutiger"/>
                <a:cs typeface="Frutiger"/>
              </a:rPr>
              <a:t>data </a:t>
            </a:r>
            <a:r>
              <a:rPr sz="6000" b="1" spc="-121" dirty="0">
                <a:solidFill>
                  <a:srgbClr val="FFFFFF"/>
                </a:solidFill>
                <a:latin typeface="Frutiger"/>
                <a:ea typeface="Frutiger"/>
                <a:cs typeface="Frutiger"/>
              </a:rPr>
              <a:t>mart</a:t>
            </a:r>
          </a:p>
        </p:txBody>
      </p:sp>
      <p:sp>
        <p:nvSpPr>
          <p:cNvPr id="7" name="Text 4">
            <a:extLst>
              <a:ext uri="{FF2B5EF4-FFF2-40B4-BE49-F238E27FC236}">
                <a16:creationId xmlns:a16="http://schemas.microsoft.com/office/drawing/2014/main" id="{C426275A-6120-4A60-960F-EDFEA0556A63}"/>
              </a:ext>
            </a:extLst>
          </p:cNvPr>
          <p:cNvSpPr>
            <a:spLocks noGrp="1"/>
          </p:cNvSpPr>
          <p:nvPr/>
        </p:nvSpPr>
        <p:spPr>
          <a:xfrm>
            <a:off x="3134171" y="9071670"/>
            <a:ext cx="10991061" cy="434281"/>
          </a:xfrm>
          <a:prstGeom prst="rect">
            <a:avLst/>
          </a:prstGeom>
          <a:noFill/>
        </p:spPr>
        <p:txBody>
          <a:bodyPr wrap="square" lIns="25401" tIns="25401" rIns="25401" bIns="25401" anchor="t">
            <a:normAutofit/>
          </a:bodyPr>
          <a:lstStyle/>
          <a:p>
            <a:pPr>
              <a:lnSpc>
                <a:spcPct val="104000"/>
              </a:lnSpc>
              <a:buNone/>
            </a:pPr>
            <a:r>
              <a:rPr sz="2400">
                <a:solidFill>
                  <a:srgbClr val="C7D0E5"/>
                </a:solidFill>
                <a:latin typeface="Frutiger"/>
                <a:ea typeface="Frutiger"/>
                <a:cs typeface="Frutiger"/>
              </a:rPr>
              <a:t>Six staging views and six marts become tested tables — 61,948 orders, 935 customers.</a:t>
            </a:r>
          </a:p>
        </p:txBody>
      </p:sp>
      <p:pic>
        <p:nvPicPr>
          <p:cNvPr id="908" name="Image 0"/>
          <p:cNvPicPr>
            <a:picLocks noChangeAspect="1"/>
          </p:cNvPicPr>
          <p:nvPr/>
        </p:nvPicPr>
        <p:blipFill>
          <a:blip r:embed="rId3"/>
          <a:srcRect t="-5" b="-5"/>
          <a:stretch/>
        </p:blipFill>
        <p:spPr>
          <a:xfrm>
            <a:off x="16412620" y="571500"/>
            <a:ext cx="1037182" cy="514350"/>
          </a:xfrm>
          <a:prstGeom prst="rect">
            <a:avLst/>
          </a:prstGeom>
        </p:spPr>
      </p:pic>
      <p:sp>
        <p:nvSpPr>
          <p:cNvPr id="100" name="Shape 100"/>
          <p:cNvSpPr/>
          <p:nvPr/>
        </p:nvSpPr>
        <p:spPr>
          <a:xfrm>
            <a:off x="838200" y="660400"/>
            <a:ext cx="7620000" cy="355600"/>
          </a:xfrm>
          <a:prstGeom prst="rect">
            <a:avLst/>
          </a:prstGeom>
          <a:noFill/>
          <a:ln>
            <a:noFill/>
          </a:ln>
        </p:spPr>
        <p:txBody>
          <a:bodyPr wrap="square" lIns="0" tIns="0" rIns="0" bIns="0" anchor="t">
            <a:normAutofit/>
          </a:bodyPr>
          <a:lstStyle/>
          <a:p>
            <a:pPr>
              <a:buNone/>
            </a:pPr>
            <a:r>
              <a:rPr lang="en-US" sz="1500" b="1" spc="200" dirty="0">
                <a:solidFill>
                  <a:srgbClr val="E40046"/>
                </a:solidFill>
                <a:latin typeface="Frutiger"/>
                <a:cs typeface="Frutiger"/>
              </a:rPr>
              <a:t>WHAT YOU’LL SEE  ·  ~9 MINUTES</a:t>
            </a:r>
          </a:p>
        </p:txBody>
      </p:sp>
      <p:sp>
        <p:nvSpPr>
          <p:cNvPr id="110" name="Shape 110"/>
          <p:cNvSpPr/>
          <p:nvPr/>
        </p:nvSpPr>
        <p:spPr>
          <a:xfrm>
            <a:off x="838200" y="1092200"/>
            <a:ext cx="457200" cy="457200"/>
          </a:xfrm>
          <a:prstGeom prst="ellipse">
            <a:avLst/>
          </a:prstGeom>
          <a:solidFill>
            <a:srgbClr val="001F6B"/>
          </a:solidFill>
          <a:ln>
            <a:noFill/>
          </a:ln>
        </p:spPr>
        <p:txBody>
          <a:bodyPr wrap="square" lIns="0" tIns="0" rIns="0" bIns="0" anchor="ctr">
            <a:normAutofit/>
          </a:bodyPr>
          <a:lstStyle/>
          <a:p>
            <a:pPr algn="ctr">
              <a:buNone/>
            </a:pPr>
            <a:r>
              <a:rPr lang="en-US" sz="1800" b="1" dirty="0">
                <a:solidFill>
                  <a:srgbClr val="FFFFFF"/>
                </a:solidFill>
                <a:latin typeface="Frutiger"/>
                <a:cs typeface="Frutiger"/>
              </a:rPr>
              <a:t>1</a:t>
            </a:r>
          </a:p>
        </p:txBody>
      </p:sp>
      <p:sp>
        <p:nvSpPr>
          <p:cNvPr id="111" name="Shape 111"/>
          <p:cNvSpPr/>
          <p:nvPr/>
        </p:nvSpPr>
        <p:spPr>
          <a:xfrm>
            <a:off x="1473200" y="1016000"/>
            <a:ext cx="7112000" cy="711200"/>
          </a:xfrm>
          <a:prstGeom prst="rect">
            <a:avLst/>
          </a:prstGeom>
          <a:noFill/>
          <a:ln>
            <a:noFill/>
          </a:ln>
        </p:spPr>
        <p:txBody>
          <a:bodyPr wrap="square" lIns="0" tIns="0" rIns="0" bIns="0" anchor="ctr">
            <a:normAutofit/>
          </a:bodyPr>
          <a:lstStyle/>
          <a:p>
            <a:pPr>
              <a:buNone/>
            </a:pPr>
            <a:r>
              <a:rPr lang="en-US" sz="2100" b="1" dirty="0">
                <a:solidFill>
                  <a:srgbClr val="001F6B"/>
                </a:solidFill>
                <a:latin typeface="Frutiger"/>
                <a:cs typeface="Frutiger"/>
              </a:rPr>
              <a:t>Read the inputs  </a:t>
            </a:r>
            <a:r>
              <a:rPr lang="en-US" sz="1900" dirty="0">
                <a:solidFill>
                  <a:srgbClr val="364750"/>
                </a:solidFill>
                <a:latin typeface="Frutiger"/>
                <a:cs typeface="Frutiger"/>
              </a:rPr>
              <a:t>__sources.yml declares the six raw tables; stg_orders.sql and customers.sql. Grain first, then code.</a:t>
            </a:r>
          </a:p>
        </p:txBody>
      </p:sp>
      <p:sp>
        <p:nvSpPr>
          <p:cNvPr id="112" name="Shape 112"/>
          <p:cNvSpPr/>
          <p:nvPr/>
        </p:nvSpPr>
        <p:spPr>
          <a:xfrm>
            <a:off x="838200" y="1879600"/>
            <a:ext cx="457200" cy="457200"/>
          </a:xfrm>
          <a:prstGeom prst="ellipse">
            <a:avLst/>
          </a:prstGeom>
          <a:solidFill>
            <a:srgbClr val="001F6B"/>
          </a:solidFill>
          <a:ln>
            <a:noFill/>
          </a:ln>
        </p:spPr>
        <p:txBody>
          <a:bodyPr wrap="square" lIns="0" tIns="0" rIns="0" bIns="0" anchor="ctr">
            <a:normAutofit/>
          </a:bodyPr>
          <a:lstStyle/>
          <a:p>
            <a:pPr algn="ctr">
              <a:buNone/>
            </a:pPr>
            <a:r>
              <a:rPr lang="en-US" sz="1800" b="1" dirty="0">
                <a:solidFill>
                  <a:srgbClr val="FFFFFF"/>
                </a:solidFill>
                <a:latin typeface="Frutiger"/>
                <a:cs typeface="Frutiger"/>
              </a:rPr>
              <a:t>2</a:t>
            </a:r>
          </a:p>
        </p:txBody>
      </p:sp>
      <p:sp>
        <p:nvSpPr>
          <p:cNvPr id="113" name="Shape 113"/>
          <p:cNvSpPr/>
          <p:nvPr/>
        </p:nvSpPr>
        <p:spPr>
          <a:xfrm>
            <a:off x="1473200" y="1803400"/>
            <a:ext cx="7112000" cy="711200"/>
          </a:xfrm>
          <a:prstGeom prst="rect">
            <a:avLst/>
          </a:prstGeom>
          <a:noFill/>
          <a:ln>
            <a:noFill/>
          </a:ln>
        </p:spPr>
        <p:txBody>
          <a:bodyPr wrap="square" lIns="0" tIns="0" rIns="0" bIns="0" anchor="ctr">
            <a:normAutofit/>
          </a:bodyPr>
          <a:lstStyle/>
          <a:p>
            <a:pPr>
              <a:buNone/>
            </a:pPr>
            <a:r>
              <a:rPr lang="en-US" sz="2100" b="1" dirty="0">
                <a:solidFill>
                  <a:srgbClr val="001F6B"/>
                </a:solidFill>
                <a:latin typeface="Consolas"/>
                <a:cs typeface="Consolas"/>
              </a:rPr>
              <a:t>dbt build  </a:t>
            </a:r>
            <a:r>
              <a:rPr lang="en-US" sz="1900" dirty="0">
                <a:solidFill>
                  <a:srgbClr val="364750"/>
                </a:solidFill>
                <a:latin typeface="Frutiger"/>
                <a:cs typeface="Frutiger"/>
              </a:rPr>
              <a:t>12 models, 33 data tests and 3 unit tests run in dependency order — one command.</a:t>
            </a:r>
          </a:p>
        </p:txBody>
      </p:sp>
      <p:sp>
        <p:nvSpPr>
          <p:cNvPr id="114" name="Shape 114"/>
          <p:cNvSpPr/>
          <p:nvPr/>
        </p:nvSpPr>
        <p:spPr>
          <a:xfrm>
            <a:off x="838200" y="2667000"/>
            <a:ext cx="457200" cy="457200"/>
          </a:xfrm>
          <a:prstGeom prst="ellipse">
            <a:avLst/>
          </a:prstGeom>
          <a:solidFill>
            <a:srgbClr val="001F6B"/>
          </a:solidFill>
          <a:ln>
            <a:noFill/>
          </a:ln>
        </p:spPr>
        <p:txBody>
          <a:bodyPr wrap="square" lIns="0" tIns="0" rIns="0" bIns="0" anchor="ctr">
            <a:normAutofit/>
          </a:bodyPr>
          <a:lstStyle/>
          <a:p>
            <a:pPr algn="ctr">
              <a:buNone/>
            </a:pPr>
            <a:r>
              <a:rPr lang="en-US" sz="1800" b="1" dirty="0">
                <a:solidFill>
                  <a:srgbClr val="FFFFFF"/>
                </a:solidFill>
                <a:latin typeface="Frutiger"/>
                <a:cs typeface="Frutiger"/>
              </a:rPr>
              <a:t>3</a:t>
            </a:r>
          </a:p>
        </p:txBody>
      </p:sp>
      <p:sp>
        <p:nvSpPr>
          <p:cNvPr id="115" name="Shape 115"/>
          <p:cNvSpPr/>
          <p:nvPr/>
        </p:nvSpPr>
        <p:spPr>
          <a:xfrm>
            <a:off x="1473200" y="2590800"/>
            <a:ext cx="7112000" cy="711200"/>
          </a:xfrm>
          <a:prstGeom prst="rect">
            <a:avLst/>
          </a:prstGeom>
          <a:noFill/>
          <a:ln>
            <a:noFill/>
          </a:ln>
        </p:spPr>
        <p:txBody>
          <a:bodyPr wrap="square" lIns="0" tIns="0" rIns="0" bIns="0" anchor="ctr">
            <a:normAutofit/>
          </a:bodyPr>
          <a:lstStyle/>
          <a:p>
            <a:pPr>
              <a:buNone/>
            </a:pPr>
            <a:r>
              <a:rPr lang="en-US" sz="2100" b="1" dirty="0">
                <a:solidFill>
                  <a:srgbClr val="001F6B"/>
                </a:solidFill>
                <a:latin typeface="Frutiger"/>
                <a:cs typeface="Frutiger"/>
              </a:rPr>
              <a:t>Inspect the compiled SQL  </a:t>
            </a:r>
            <a:r>
              <a:rPr lang="en-US" sz="1900" dirty="0">
                <a:solidFill>
                  <a:srgbClr val="364750"/>
                </a:solidFill>
                <a:latin typeface="Frutiger"/>
                <a:cs typeface="Frutiger"/>
              </a:rPr>
              <a:t>target/compiled: source('ecom', 'raw_orders') and ref('orders') became real Warehouse names.</a:t>
            </a:r>
          </a:p>
        </p:txBody>
      </p:sp>
      <p:sp>
        <p:nvSpPr>
          <p:cNvPr id="116" name="Shape 116"/>
          <p:cNvSpPr/>
          <p:nvPr/>
        </p:nvSpPr>
        <p:spPr>
          <a:xfrm>
            <a:off x="838200" y="3454400"/>
            <a:ext cx="457200" cy="457200"/>
          </a:xfrm>
          <a:prstGeom prst="ellipse">
            <a:avLst/>
          </a:prstGeom>
          <a:solidFill>
            <a:srgbClr val="001F6B"/>
          </a:solidFill>
          <a:ln>
            <a:noFill/>
          </a:ln>
        </p:spPr>
        <p:txBody>
          <a:bodyPr wrap="square" lIns="0" tIns="0" rIns="0" bIns="0" anchor="ctr">
            <a:normAutofit/>
          </a:bodyPr>
          <a:lstStyle/>
          <a:p>
            <a:pPr algn="ctr">
              <a:buNone/>
            </a:pPr>
            <a:r>
              <a:rPr lang="en-US" sz="1800" b="1" dirty="0">
                <a:solidFill>
                  <a:srgbClr val="FFFFFF"/>
                </a:solidFill>
                <a:latin typeface="Frutiger"/>
                <a:cs typeface="Frutiger"/>
              </a:rPr>
              <a:t>4</a:t>
            </a:r>
          </a:p>
        </p:txBody>
      </p:sp>
      <p:sp>
        <p:nvSpPr>
          <p:cNvPr id="117" name="Shape 117"/>
          <p:cNvSpPr/>
          <p:nvPr/>
        </p:nvSpPr>
        <p:spPr>
          <a:xfrm>
            <a:off x="1473200" y="3378200"/>
            <a:ext cx="7112000" cy="711200"/>
          </a:xfrm>
          <a:prstGeom prst="rect">
            <a:avLst/>
          </a:prstGeom>
          <a:noFill/>
          <a:ln>
            <a:noFill/>
          </a:ln>
        </p:spPr>
        <p:txBody>
          <a:bodyPr wrap="square" lIns="0" tIns="0" rIns="0" bIns="0" anchor="ctr">
            <a:normAutofit/>
          </a:bodyPr>
          <a:lstStyle/>
          <a:p>
            <a:pPr>
              <a:buNone/>
            </a:pPr>
            <a:r>
              <a:rPr lang="en-US" sz="2100" b="1" dirty="0">
                <a:solidFill>
                  <a:srgbClr val="001F6B"/>
                </a:solidFill>
                <a:latin typeface="Frutiger"/>
                <a:cs typeface="Frutiger"/>
              </a:rPr>
              <a:t>Query the result  </a:t>
            </a:r>
            <a:r>
              <a:rPr lang="en-US" sz="1900" dirty="0">
                <a:solidFill>
                  <a:srgbClr val="364750"/>
                </a:solidFill>
                <a:latin typeface="Frutiger"/>
                <a:cs typeface="Frutiger"/>
              </a:rPr>
              <a:t>How many customers are still “new” after a year of trading — and what does the description say that means?</a:t>
            </a:r>
          </a:p>
        </p:txBody>
      </p:sp>
      <p:sp>
        <p:nvSpPr>
          <p:cNvPr id="120" name="Shape 120"/>
          <p:cNvSpPr/>
          <p:nvPr/>
        </p:nvSpPr>
        <p:spPr>
          <a:xfrm>
            <a:off x="9906000" y="660400"/>
            <a:ext cx="5588000" cy="355600"/>
          </a:xfrm>
          <a:prstGeom prst="rect">
            <a:avLst/>
          </a:prstGeom>
          <a:noFill/>
          <a:ln>
            <a:noFill/>
          </a:ln>
        </p:spPr>
        <p:txBody>
          <a:bodyPr wrap="square" lIns="0" tIns="0" rIns="0" bIns="0" anchor="t">
            <a:normAutofit/>
          </a:bodyPr>
          <a:lstStyle/>
          <a:p>
            <a:pPr>
              <a:buNone/>
            </a:pPr>
            <a:r>
              <a:rPr lang="en-US" sz="1500" b="1" spc="200" dirty="0">
                <a:solidFill>
                  <a:srgbClr val="E40046"/>
                </a:solidFill>
                <a:latin typeface="Frutiger"/>
                <a:cs typeface="Frutiger"/>
              </a:rPr>
              <a:t>EXPECTED customers · by customer_type</a:t>
            </a:r>
          </a:p>
        </p:txBody>
      </p:sp>
      <p:graphicFrame>
        <p:nvGraphicFramePr>
          <p:cNvPr id="121" name="Table 121"/>
          <p:cNvGraphicFramePr>
            <a:graphicFrameLocks noGrp="1"/>
          </p:cNvGraphicFramePr>
          <p:nvPr/>
        </p:nvGraphicFramePr>
        <p:xfrm>
          <a:off x="9906000" y="1066800"/>
          <a:ext cx="5969000" cy="2032000"/>
        </p:xfrm>
        <a:graphic>
          <a:graphicData uri="http://schemas.openxmlformats.org/drawingml/2006/table">
            <a:tbl>
              <a:tblPr/>
              <a:tblGrid>
                <a:gridCol w="2413000">
                  <a:extLst>
                    <a:ext uri="{9D8B030D-6E8A-4147-A177-3AD203B41FA5}">
                      <a16:colId xmlns:a16="http://schemas.microsoft.com/office/drawing/2014/main" val="20000"/>
                    </a:ext>
                  </a:extLst>
                </a:gridCol>
                <a:gridCol w="16510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tblGrid>
              <a:tr h="508000">
                <a:tc>
                  <a:txBody>
                    <a:bodyPr/>
                    <a:lstStyle/>
                    <a:p>
                      <a:pPr algn="l">
                        <a:buNone/>
                      </a:pPr>
                      <a:r>
                        <a:rPr lang="en-US" sz="1800" b="1" dirty="0">
                          <a:solidFill>
                            <a:srgbClr val="FFFFFF"/>
                          </a:solidFill>
                          <a:latin typeface="Frutiger"/>
                          <a:cs typeface="Frutiger"/>
                        </a:rPr>
                        <a:t>customer_type</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001F6B"/>
                    </a:solidFill>
                  </a:tcPr>
                </a:tc>
                <a:tc>
                  <a:txBody>
                    <a:bodyPr/>
                    <a:lstStyle/>
                    <a:p>
                      <a:pPr algn="r">
                        <a:buNone/>
                      </a:pPr>
                      <a:r>
                        <a:rPr lang="en-US" sz="1800" b="1" dirty="0">
                          <a:solidFill>
                            <a:srgbClr val="FFFFFF"/>
                          </a:solidFill>
                          <a:latin typeface="Frutiger"/>
                          <a:cs typeface="Frutiger"/>
                        </a:rPr>
                        <a:t>customers</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001F6B"/>
                    </a:solidFill>
                  </a:tcPr>
                </a:tc>
                <a:tc>
                  <a:txBody>
                    <a:bodyPr/>
                    <a:lstStyle/>
                    <a:p>
                      <a:pPr algn="r">
                        <a:buNone/>
                      </a:pPr>
                      <a:r>
                        <a:rPr lang="en-US" sz="1800" b="1" dirty="0">
                          <a:solidFill>
                            <a:srgbClr val="FFFFFF"/>
                          </a:solidFill>
                          <a:latin typeface="Frutiger"/>
                          <a:cs typeface="Frutiger"/>
                        </a:rPr>
                        <a:t>lifetime_spend</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001F6B"/>
                    </a:solidFill>
                  </a:tcPr>
                </a:tc>
                <a:extLst>
                  <a:ext uri="{0D108BD9-81ED-4DB2-BD59-A6C34878D82A}">
                    <a16:rowId xmlns:a16="http://schemas.microsoft.com/office/drawing/2014/main" val="10000"/>
                  </a:ext>
                </a:extLst>
              </a:tr>
              <a:tr h="508000">
                <a:tc>
                  <a:txBody>
                    <a:bodyPr/>
                    <a:lstStyle/>
                    <a:p>
                      <a:pPr algn="l">
                        <a:buNone/>
                      </a:pPr>
                      <a:r>
                        <a:rPr lang="en-US" sz="1800" dirty="0">
                          <a:solidFill>
                            <a:srgbClr val="364750"/>
                          </a:solidFill>
                          <a:latin typeface="Frutiger"/>
                          <a:cs typeface="Frutiger"/>
                        </a:rPr>
                        <a:t>new</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r">
                        <a:buNone/>
                      </a:pPr>
                      <a:r>
                        <a:rPr lang="en-US" sz="1800" dirty="0">
                          <a:solidFill>
                            <a:srgbClr val="364750"/>
                          </a:solidFill>
                          <a:latin typeface="Frutiger"/>
                          <a:cs typeface="Frutiger"/>
                        </a:rPr>
                        <a:t>6</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r">
                        <a:buNone/>
                      </a:pPr>
                      <a:r>
                        <a:rPr lang="en-US" sz="1800" dirty="0">
                          <a:solidFill>
                            <a:srgbClr val="364750"/>
                          </a:solidFill>
                          <a:latin typeface="Frutiger"/>
                          <a:cs typeface="Frutiger"/>
                        </a:rPr>
                        <a:t>113.48</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extLst>
                  <a:ext uri="{0D108BD9-81ED-4DB2-BD59-A6C34878D82A}">
                    <a16:rowId xmlns:a16="http://schemas.microsoft.com/office/drawing/2014/main" val="10001"/>
                  </a:ext>
                </a:extLst>
              </a:tr>
              <a:tr h="508000">
                <a:tc>
                  <a:txBody>
                    <a:bodyPr/>
                    <a:lstStyle/>
                    <a:p>
                      <a:pPr algn="l">
                        <a:buNone/>
                      </a:pPr>
                      <a:r>
                        <a:rPr lang="en-US" sz="1800" dirty="0">
                          <a:solidFill>
                            <a:srgbClr val="364750"/>
                          </a:solidFill>
                          <a:latin typeface="Frutiger"/>
                          <a:cs typeface="Frutiger"/>
                        </a:rPr>
                        <a:t>returning</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r">
                        <a:buNone/>
                      </a:pPr>
                      <a:r>
                        <a:rPr lang="en-US" sz="1800" dirty="0">
                          <a:solidFill>
                            <a:srgbClr val="364750"/>
                          </a:solidFill>
                          <a:latin typeface="Frutiger"/>
                          <a:cs typeface="Frutiger"/>
                        </a:rPr>
                        <a:t>929</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r">
                        <a:buNone/>
                      </a:pPr>
                      <a:r>
                        <a:rPr lang="en-US" sz="1800" dirty="0">
                          <a:solidFill>
                            <a:srgbClr val="364750"/>
                          </a:solidFill>
                          <a:latin typeface="Frutiger"/>
                          <a:cs typeface="Frutiger"/>
                        </a:rPr>
                        <a:t>671,311.89</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extLst>
                  <a:ext uri="{0D108BD9-81ED-4DB2-BD59-A6C34878D82A}">
                    <a16:rowId xmlns:a16="http://schemas.microsoft.com/office/drawing/2014/main" val="10002"/>
                  </a:ext>
                </a:extLst>
              </a:tr>
              <a:tr h="508000">
                <a:tc>
                  <a:txBody>
                    <a:bodyPr/>
                    <a:lstStyle/>
                    <a:p>
                      <a:pPr algn="l">
                        <a:buNone/>
                      </a:pPr>
                      <a:r>
                        <a:rPr lang="en-US" sz="1800" dirty="0">
                          <a:solidFill>
                            <a:srgbClr val="364750"/>
                          </a:solidFill>
                          <a:latin typeface="Frutiger"/>
                          <a:cs typeface="Frutiger"/>
                        </a:rPr>
                        <a:t>total</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r">
                        <a:buNone/>
                      </a:pPr>
                      <a:r>
                        <a:rPr lang="en-US" sz="1800" dirty="0">
                          <a:solidFill>
                            <a:srgbClr val="364750"/>
                          </a:solidFill>
                          <a:latin typeface="Frutiger"/>
                          <a:cs typeface="Frutiger"/>
                        </a:rPr>
                        <a:t>935</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r">
                        <a:buNone/>
                      </a:pPr>
                      <a:r>
                        <a:rPr lang="en-US" sz="1800" dirty="0">
                          <a:solidFill>
                            <a:srgbClr val="364750"/>
                          </a:solidFill>
                          <a:latin typeface="Frutiger"/>
                          <a:cs typeface="Frutiger"/>
                        </a:rPr>
                        <a:t>671,425.37</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9571088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99A89D5-83CF-4C3E-9CF5-65C3BE887734}"/>
              </a:ext>
            </a:extLst>
          </p:cNvPr>
          <p:cNvSpPr>
            <a:spLocks noGrp="1"/>
          </p:cNvSpPr>
          <p:nvPr/>
        </p:nvSpPr>
        <p:spPr>
          <a:xfrm>
            <a:off x="0" y="3989190"/>
            <a:ext cx="18288000" cy="6297812"/>
          </a:xfrm>
          <a:custGeom>
            <a:avLst/>
            <a:gdLst/>
            <a:ahLst/>
            <a:cxnLst/>
            <a:rect l="0" t="0" r="0" b="0"/>
            <a:pathLst>
              <a:path w="18288000" h="6297811">
                <a:moveTo>
                  <a:pt x="0" y="1485900"/>
                </a:moveTo>
                <a:lnTo>
                  <a:pt x="18288000" y="0"/>
                </a:lnTo>
                <a:lnTo>
                  <a:pt x="18288000" y="6297811"/>
                </a:lnTo>
                <a:lnTo>
                  <a:pt x="0" y="6297811"/>
                </a:lnTo>
                <a:close/>
              </a:path>
            </a:pathLst>
          </a:custGeom>
          <a:solidFill>
            <a:srgbClr val="001F6B"/>
          </a:solidFill>
        </p:spPr>
        <p:txBody>
          <a:bodyPr/>
          <a:lstStyle/>
          <a:p>
            <a:endParaRPr sz="1801"/>
          </a:p>
        </p:txBody>
      </p:sp>
      <p:sp>
        <p:nvSpPr>
          <p:cNvPr id="900" name="Accent Line">
            <a:extLst>
              <a:ext uri="{FF2B5EF4-FFF2-40B4-BE49-F238E27FC236}">
                <a16:creationId xmlns:a16="http://schemas.microsoft.com/office/drawing/2014/main" id="{D5F61F5F-CE19-44ED-9D02-A5527460F025}"/>
              </a:ext>
            </a:extLst>
          </p:cNvPr>
          <p:cNvSpPr>
            <a:spLocks noGrp="1"/>
          </p:cNvSpPr>
          <p:nvPr/>
        </p:nvSpPr>
        <p:spPr>
          <a:xfrm flipV="1">
            <a:off x="0" y="3836790"/>
            <a:ext cx="18288000" cy="1485900"/>
          </a:xfrm>
          <a:prstGeom prst="line">
            <a:avLst/>
          </a:prstGeom>
          <a:ln w="57150">
            <a:solidFill>
              <a:srgbClr val="FF0000"/>
            </a:solidFill>
          </a:ln>
        </p:spPr>
        <p:txBody>
          <a:bodyPr/>
          <a:lstStyle/>
          <a:p>
            <a:endParaRPr lang="en-US"/>
          </a:p>
        </p:txBody>
      </p:sp>
      <p:sp>
        <p:nvSpPr>
          <p:cNvPr id="4" name="Text 1">
            <a:extLst>
              <a:ext uri="{FF2B5EF4-FFF2-40B4-BE49-F238E27FC236}">
                <a16:creationId xmlns:a16="http://schemas.microsoft.com/office/drawing/2014/main" id="{235EE72F-2DF4-4BBC-B836-E156CD294378}"/>
              </a:ext>
            </a:extLst>
          </p:cNvPr>
          <p:cNvSpPr>
            <a:spLocks noGrp="1"/>
          </p:cNvSpPr>
          <p:nvPr/>
        </p:nvSpPr>
        <p:spPr>
          <a:xfrm>
            <a:off x="838202" y="8448676"/>
            <a:ext cx="1855010" cy="1152524"/>
          </a:xfrm>
          <a:prstGeom prst="rect">
            <a:avLst/>
          </a:prstGeom>
          <a:noFill/>
        </p:spPr>
        <p:txBody>
          <a:bodyPr wrap="square" lIns="25401" tIns="25401" rIns="25401" bIns="25401" anchor="t">
            <a:normAutofit lnSpcReduction="10000"/>
          </a:bodyPr>
          <a:lstStyle/>
          <a:p>
            <a:pPr>
              <a:lnSpc>
                <a:spcPct val="58500"/>
              </a:lnSpc>
              <a:buNone/>
            </a:pPr>
            <a:r>
              <a:rPr sz="11250" b="1" spc="-450">
                <a:solidFill>
                  <a:srgbClr val="E40046"/>
                </a:solidFill>
                <a:latin typeface="Frutiger"/>
                <a:ea typeface="Frutiger"/>
                <a:cs typeface="Frutiger"/>
              </a:rPr>
              <a:t>02</a:t>
            </a:r>
          </a:p>
        </p:txBody>
      </p:sp>
      <p:sp>
        <p:nvSpPr>
          <p:cNvPr id="5" name="Text 2">
            <a:extLst>
              <a:ext uri="{FF2B5EF4-FFF2-40B4-BE49-F238E27FC236}">
                <a16:creationId xmlns:a16="http://schemas.microsoft.com/office/drawing/2014/main" id="{E2855DD2-C834-48A4-ADA1-C139894E16A5}"/>
              </a:ext>
            </a:extLst>
          </p:cNvPr>
          <p:cNvSpPr>
            <a:spLocks noGrp="1"/>
          </p:cNvSpPr>
          <p:nvPr/>
        </p:nvSpPr>
        <p:spPr>
          <a:xfrm>
            <a:off x="3134171" y="7612561"/>
            <a:ext cx="10991061" cy="392311"/>
          </a:xfrm>
          <a:prstGeom prst="rect">
            <a:avLst/>
          </a:prstGeom>
          <a:noFill/>
        </p:spPr>
        <p:txBody>
          <a:bodyPr wrap="square" lIns="25401" tIns="25401" rIns="25401" bIns="25401" anchor="t">
            <a:normAutofit/>
          </a:bodyPr>
          <a:lstStyle/>
          <a:p>
            <a:pPr>
              <a:lnSpc>
                <a:spcPct val="120000"/>
              </a:lnSpc>
              <a:buNone/>
            </a:pPr>
            <a:r>
              <a:rPr sz="1801" b="1" spc="432">
                <a:solidFill>
                  <a:srgbClr val="B6BFC4"/>
                </a:solidFill>
                <a:latin typeface="Frutiger"/>
                <a:ea typeface="Frutiger"/>
                <a:cs typeface="Frutiger"/>
              </a:rPr>
              <a:t>LIVE DEMO 2  ·  FABRIC WAREHOUSE</a:t>
            </a:r>
          </a:p>
        </p:txBody>
      </p:sp>
      <p:sp>
        <p:nvSpPr>
          <p:cNvPr id="6" name="Text 3">
            <a:extLst>
              <a:ext uri="{FF2B5EF4-FFF2-40B4-BE49-F238E27FC236}">
                <a16:creationId xmlns:a16="http://schemas.microsoft.com/office/drawing/2014/main" id="{20892FFE-61C4-4001-81BF-E1ACD977F149}"/>
              </a:ext>
            </a:extLst>
          </p:cNvPr>
          <p:cNvSpPr>
            <a:spLocks noGrp="1"/>
          </p:cNvSpPr>
          <p:nvPr/>
        </p:nvSpPr>
        <p:spPr>
          <a:xfrm>
            <a:off x="3134171" y="8138220"/>
            <a:ext cx="10991061" cy="800100"/>
          </a:xfrm>
          <a:prstGeom prst="rect">
            <a:avLst/>
          </a:prstGeom>
          <a:noFill/>
        </p:spPr>
        <p:txBody>
          <a:bodyPr wrap="square" lIns="25401" tIns="25401" rIns="25401" bIns="25401" anchor="t">
            <a:normAutofit/>
          </a:bodyPr>
          <a:lstStyle/>
          <a:p>
            <a:pPr>
              <a:lnSpc>
                <a:spcPct val="77670"/>
              </a:lnSpc>
              <a:buNone/>
            </a:pPr>
            <a:r>
              <a:rPr sz="6000" b="1" spc="-121">
                <a:solidFill>
                  <a:srgbClr val="FFFFFF"/>
                </a:solidFill>
                <a:latin typeface="Frutiger"/>
                <a:ea typeface="Frutiger"/>
                <a:cs typeface="Frutiger"/>
              </a:rPr>
              <a:t>Break it on purpose</a:t>
            </a:r>
          </a:p>
        </p:txBody>
      </p:sp>
      <p:sp>
        <p:nvSpPr>
          <p:cNvPr id="7" name="Text 4">
            <a:extLst>
              <a:ext uri="{FF2B5EF4-FFF2-40B4-BE49-F238E27FC236}">
                <a16:creationId xmlns:a16="http://schemas.microsoft.com/office/drawing/2014/main" id="{C426275A-6120-4A60-960F-EDFEA0556A63}"/>
              </a:ext>
            </a:extLst>
          </p:cNvPr>
          <p:cNvSpPr>
            <a:spLocks noGrp="1"/>
          </p:cNvSpPr>
          <p:nvPr/>
        </p:nvSpPr>
        <p:spPr>
          <a:xfrm>
            <a:off x="3134171" y="9071670"/>
            <a:ext cx="10991061" cy="434281"/>
          </a:xfrm>
          <a:prstGeom prst="rect">
            <a:avLst/>
          </a:prstGeom>
          <a:noFill/>
        </p:spPr>
        <p:txBody>
          <a:bodyPr wrap="square" lIns="25401" tIns="25401" rIns="25401" bIns="25401" anchor="t">
            <a:normAutofit/>
          </a:bodyPr>
          <a:lstStyle/>
          <a:p>
            <a:pPr>
              <a:lnSpc>
                <a:spcPct val="104000"/>
              </a:lnSpc>
              <a:buNone/>
            </a:pPr>
            <a:r>
              <a:rPr sz="2400">
                <a:solidFill>
                  <a:srgbClr val="C7D0E5"/>
                </a:solidFill>
                <a:latin typeface="Frutiger"/>
                <a:ea typeface="Frutiger"/>
                <a:cs typeface="Frutiger"/>
              </a:rPr>
              <a:t>What happens when tax_paid is left in cents — and how the build tells you.</a:t>
            </a:r>
          </a:p>
        </p:txBody>
      </p:sp>
      <p:pic>
        <p:nvPicPr>
          <p:cNvPr id="908" name="Image 0"/>
          <p:cNvPicPr>
            <a:picLocks noChangeAspect="1"/>
          </p:cNvPicPr>
          <p:nvPr/>
        </p:nvPicPr>
        <p:blipFill>
          <a:blip r:embed="rId3"/>
          <a:srcRect t="-5" b="-5"/>
          <a:stretch/>
        </p:blipFill>
        <p:spPr>
          <a:xfrm>
            <a:off x="16412620" y="571500"/>
            <a:ext cx="1037182" cy="514350"/>
          </a:xfrm>
          <a:prstGeom prst="rect">
            <a:avLst/>
          </a:prstGeom>
        </p:spPr>
      </p:pic>
      <p:sp>
        <p:nvSpPr>
          <p:cNvPr id="100" name="Shape 100"/>
          <p:cNvSpPr/>
          <p:nvPr/>
        </p:nvSpPr>
        <p:spPr>
          <a:xfrm>
            <a:off x="838200" y="660400"/>
            <a:ext cx="7620000" cy="355600"/>
          </a:xfrm>
          <a:prstGeom prst="rect">
            <a:avLst/>
          </a:prstGeom>
          <a:noFill/>
          <a:ln>
            <a:noFill/>
          </a:ln>
        </p:spPr>
        <p:txBody>
          <a:bodyPr wrap="square" lIns="0" tIns="0" rIns="0" bIns="0" anchor="t">
            <a:normAutofit/>
          </a:bodyPr>
          <a:lstStyle/>
          <a:p>
            <a:pPr>
              <a:buNone/>
            </a:pPr>
            <a:r>
              <a:rPr lang="en-US" sz="1500" b="1" spc="200" dirty="0">
                <a:solidFill>
                  <a:srgbClr val="E40046"/>
                </a:solidFill>
                <a:latin typeface="Frutiger"/>
                <a:cs typeface="Frutiger"/>
              </a:rPr>
              <a:t>WHAT YOU’LL SEE  ·  ~9 MINUTES</a:t>
            </a:r>
          </a:p>
        </p:txBody>
      </p:sp>
      <p:sp>
        <p:nvSpPr>
          <p:cNvPr id="110" name="Shape 110"/>
          <p:cNvSpPr/>
          <p:nvPr/>
        </p:nvSpPr>
        <p:spPr>
          <a:xfrm>
            <a:off x="838200" y="1092200"/>
            <a:ext cx="457200" cy="457200"/>
          </a:xfrm>
          <a:prstGeom prst="ellipse">
            <a:avLst/>
          </a:prstGeom>
          <a:solidFill>
            <a:srgbClr val="001F6B"/>
          </a:solidFill>
          <a:ln>
            <a:noFill/>
          </a:ln>
        </p:spPr>
        <p:txBody>
          <a:bodyPr wrap="square" lIns="0" tIns="0" rIns="0" bIns="0" anchor="ctr">
            <a:normAutofit/>
          </a:bodyPr>
          <a:lstStyle/>
          <a:p>
            <a:pPr algn="ctr">
              <a:buNone/>
            </a:pPr>
            <a:r>
              <a:rPr lang="en-US" sz="1800" b="1" dirty="0">
                <a:solidFill>
                  <a:srgbClr val="FFFFFF"/>
                </a:solidFill>
                <a:latin typeface="Frutiger"/>
                <a:cs typeface="Frutiger"/>
              </a:rPr>
              <a:t>1</a:t>
            </a:r>
          </a:p>
        </p:txBody>
      </p:sp>
      <p:sp>
        <p:nvSpPr>
          <p:cNvPr id="111" name="Shape 111"/>
          <p:cNvSpPr/>
          <p:nvPr/>
        </p:nvSpPr>
        <p:spPr>
          <a:xfrm>
            <a:off x="1473200" y="1016000"/>
            <a:ext cx="7112000" cy="711200"/>
          </a:xfrm>
          <a:prstGeom prst="rect">
            <a:avLst/>
          </a:prstGeom>
          <a:noFill/>
          <a:ln>
            <a:noFill/>
          </a:ln>
        </p:spPr>
        <p:txBody>
          <a:bodyPr wrap="square" lIns="0" tIns="0" rIns="0" bIns="0" anchor="ctr">
            <a:normAutofit/>
          </a:bodyPr>
          <a:lstStyle/>
          <a:p>
            <a:pPr>
              <a:buNone/>
            </a:pPr>
            <a:r>
              <a:rPr lang="en-US" sz="2100" b="1" dirty="0">
                <a:solidFill>
                  <a:srgbClr val="001F6B"/>
                </a:solidFill>
                <a:latin typeface="Frutiger"/>
                <a:cs typeface="Frutiger"/>
              </a:rPr>
              <a:t>Predict  </a:t>
            </a:r>
            <a:r>
              <a:rPr lang="en-US" sz="1900" dirty="0">
                <a:solidFill>
                  <a:srgbClr val="364750"/>
                </a:solidFill>
                <a:latin typeface="Frutiger"/>
                <a:cs typeface="Frutiger"/>
              </a:rPr>
              <a:t>One line in stg_orders.sql stops converting tax_paid from cents. What happens to lifetime_spend without a test?</a:t>
            </a:r>
          </a:p>
        </p:txBody>
      </p:sp>
      <p:sp>
        <p:nvSpPr>
          <p:cNvPr id="112" name="Shape 112"/>
          <p:cNvSpPr/>
          <p:nvPr/>
        </p:nvSpPr>
        <p:spPr>
          <a:xfrm>
            <a:off x="838200" y="1879600"/>
            <a:ext cx="457200" cy="457200"/>
          </a:xfrm>
          <a:prstGeom prst="ellipse">
            <a:avLst/>
          </a:prstGeom>
          <a:solidFill>
            <a:srgbClr val="001F6B"/>
          </a:solidFill>
          <a:ln>
            <a:noFill/>
          </a:ln>
        </p:spPr>
        <p:txBody>
          <a:bodyPr wrap="square" lIns="0" tIns="0" rIns="0" bIns="0" anchor="ctr">
            <a:normAutofit/>
          </a:bodyPr>
          <a:lstStyle/>
          <a:p>
            <a:pPr algn="ctr">
              <a:buNone/>
            </a:pPr>
            <a:r>
              <a:rPr lang="en-US" sz="1800" b="1" dirty="0">
                <a:solidFill>
                  <a:srgbClr val="FFFFFF"/>
                </a:solidFill>
                <a:latin typeface="Frutiger"/>
                <a:cs typeface="Frutiger"/>
              </a:rPr>
              <a:t>2</a:t>
            </a:r>
          </a:p>
        </p:txBody>
      </p:sp>
      <p:sp>
        <p:nvSpPr>
          <p:cNvPr id="113" name="Shape 113"/>
          <p:cNvSpPr/>
          <p:nvPr/>
        </p:nvSpPr>
        <p:spPr>
          <a:xfrm>
            <a:off x="1473200" y="1803400"/>
            <a:ext cx="7112000" cy="711200"/>
          </a:xfrm>
          <a:prstGeom prst="rect">
            <a:avLst/>
          </a:prstGeom>
          <a:noFill/>
          <a:ln>
            <a:noFill/>
          </a:ln>
        </p:spPr>
        <p:txBody>
          <a:bodyPr wrap="square" lIns="0" tIns="0" rIns="0" bIns="0" anchor="ctr">
            <a:normAutofit/>
          </a:bodyPr>
          <a:lstStyle/>
          <a:p>
            <a:pPr>
              <a:buNone/>
            </a:pPr>
            <a:r>
              <a:rPr lang="en-US" sz="2100" b="1" dirty="0">
                <a:solidFill>
                  <a:srgbClr val="001F6B"/>
                </a:solidFill>
                <a:latin typeface="Frutiger"/>
                <a:cs typeface="Frutiger"/>
              </a:rPr>
              <a:t>Break it  </a:t>
            </a:r>
            <a:r>
              <a:rPr lang="en-US" sz="1900" dirty="0">
                <a:solidFill>
                  <a:srgbClr val="364750"/>
                </a:solidFill>
                <a:latin typeface="Frutiger"/>
                <a:cs typeface="Frutiger"/>
              </a:rPr>
              <a:t>tools\scenario.ps1 break, then dbt build --select stg_orders+ — only the order branch and its descendants.</a:t>
            </a:r>
          </a:p>
        </p:txBody>
      </p:sp>
      <p:sp>
        <p:nvSpPr>
          <p:cNvPr id="114" name="Shape 114"/>
          <p:cNvSpPr/>
          <p:nvPr/>
        </p:nvSpPr>
        <p:spPr>
          <a:xfrm>
            <a:off x="838200" y="2667000"/>
            <a:ext cx="457200" cy="457200"/>
          </a:xfrm>
          <a:prstGeom prst="ellipse">
            <a:avLst/>
          </a:prstGeom>
          <a:solidFill>
            <a:srgbClr val="E40046"/>
          </a:solidFill>
          <a:ln>
            <a:noFill/>
          </a:ln>
        </p:spPr>
        <p:txBody>
          <a:bodyPr wrap="square" lIns="0" tIns="0" rIns="0" bIns="0" anchor="ctr">
            <a:normAutofit/>
          </a:bodyPr>
          <a:lstStyle/>
          <a:p>
            <a:pPr algn="ctr">
              <a:buNone/>
            </a:pPr>
            <a:r>
              <a:rPr lang="en-US" sz="1800" b="1" dirty="0">
                <a:solidFill>
                  <a:srgbClr val="FFFFFF"/>
                </a:solidFill>
                <a:latin typeface="Frutiger"/>
                <a:cs typeface="Frutiger"/>
              </a:rPr>
              <a:t>3</a:t>
            </a:r>
          </a:p>
        </p:txBody>
      </p:sp>
      <p:sp>
        <p:nvSpPr>
          <p:cNvPr id="115" name="Shape 115"/>
          <p:cNvSpPr/>
          <p:nvPr/>
        </p:nvSpPr>
        <p:spPr>
          <a:xfrm>
            <a:off x="1473200" y="2590800"/>
            <a:ext cx="7112000" cy="711200"/>
          </a:xfrm>
          <a:prstGeom prst="rect">
            <a:avLst/>
          </a:prstGeom>
          <a:noFill/>
          <a:ln>
            <a:noFill/>
          </a:ln>
        </p:spPr>
        <p:txBody>
          <a:bodyPr wrap="square" lIns="0" tIns="0" rIns="0" bIns="0" anchor="ctr">
            <a:normAutofit fontScale="92500" lnSpcReduction="20000"/>
          </a:bodyPr>
          <a:lstStyle/>
          <a:p>
            <a:pPr>
              <a:buNone/>
            </a:pPr>
            <a:r>
              <a:rPr lang="en-US" sz="2100" b="1" dirty="0">
                <a:solidFill>
                  <a:srgbClr val="001F6B"/>
                </a:solidFill>
                <a:latin typeface="Frutiger"/>
                <a:cs typeface="Frutiger"/>
              </a:rPr>
              <a:t>Read the failure  </a:t>
            </a:r>
            <a:r>
              <a:rPr lang="en-US" sz="1900" dirty="0">
                <a:solidFill>
                  <a:srgbClr val="364750"/>
                </a:solidFill>
                <a:latin typeface="Frutiger"/>
                <a:cs typeface="Frutiger"/>
              </a:rPr>
              <a:t>expression_is_true fails on stg_orders for 61,465 of 61,948 rows (the rest carry no tax); order_items, orders and customers are SKIPPED. The old tables are still there — no rollback.</a:t>
            </a:r>
          </a:p>
        </p:txBody>
      </p:sp>
      <p:sp>
        <p:nvSpPr>
          <p:cNvPr id="116" name="Shape 116"/>
          <p:cNvSpPr/>
          <p:nvPr/>
        </p:nvSpPr>
        <p:spPr>
          <a:xfrm>
            <a:off x="838200" y="3454400"/>
            <a:ext cx="457200" cy="457200"/>
          </a:xfrm>
          <a:prstGeom prst="ellipse">
            <a:avLst/>
          </a:prstGeom>
          <a:solidFill>
            <a:srgbClr val="001F6B"/>
          </a:solidFill>
          <a:ln>
            <a:noFill/>
          </a:ln>
        </p:spPr>
        <p:txBody>
          <a:bodyPr wrap="square" lIns="0" tIns="0" rIns="0" bIns="0" anchor="ctr">
            <a:normAutofit/>
          </a:bodyPr>
          <a:lstStyle/>
          <a:p>
            <a:pPr algn="ctr">
              <a:buNone/>
            </a:pPr>
            <a:r>
              <a:rPr lang="en-US" sz="1800" b="1" dirty="0">
                <a:solidFill>
                  <a:srgbClr val="FFFFFF"/>
                </a:solidFill>
                <a:latin typeface="Frutiger"/>
                <a:cs typeface="Frutiger"/>
              </a:rPr>
              <a:t>4</a:t>
            </a:r>
          </a:p>
        </p:txBody>
      </p:sp>
      <p:sp>
        <p:nvSpPr>
          <p:cNvPr id="117" name="Shape 117"/>
          <p:cNvSpPr/>
          <p:nvPr/>
        </p:nvSpPr>
        <p:spPr>
          <a:xfrm>
            <a:off x="1473200" y="3378200"/>
            <a:ext cx="7112000" cy="711200"/>
          </a:xfrm>
          <a:prstGeom prst="rect">
            <a:avLst/>
          </a:prstGeom>
          <a:noFill/>
          <a:ln>
            <a:noFill/>
          </a:ln>
        </p:spPr>
        <p:txBody>
          <a:bodyPr wrap="square" lIns="0" tIns="0" rIns="0" bIns="0" anchor="ctr">
            <a:normAutofit/>
          </a:bodyPr>
          <a:lstStyle/>
          <a:p>
            <a:pPr>
              <a:buNone/>
            </a:pPr>
            <a:r>
              <a:rPr lang="en-US" sz="2100" b="1" dirty="0">
                <a:solidFill>
                  <a:srgbClr val="001F6B"/>
                </a:solidFill>
                <a:latin typeface="Frutiger"/>
                <a:cs typeface="Frutiger"/>
              </a:rPr>
              <a:t>Repair  </a:t>
            </a:r>
            <a:r>
              <a:rPr lang="en-US" sz="1900" dirty="0">
                <a:solidFill>
                  <a:srgbClr val="364750"/>
                </a:solidFill>
                <a:latin typeface="Frutiger"/>
                <a:cs typeface="Frutiger"/>
              </a:rPr>
              <a:t>tools\scenario.ps1 reset (a git checkout), rebuild. Green again: 671,425.37. Then ask what the green run actually proves.</a:t>
            </a:r>
          </a:p>
        </p:txBody>
      </p:sp>
      <p:sp>
        <p:nvSpPr>
          <p:cNvPr id="120" name="Shape 120"/>
          <p:cNvSpPr/>
          <p:nvPr/>
        </p:nvSpPr>
        <p:spPr>
          <a:xfrm>
            <a:off x="9906000" y="660400"/>
            <a:ext cx="5588000" cy="355600"/>
          </a:xfrm>
          <a:prstGeom prst="rect">
            <a:avLst/>
          </a:prstGeom>
          <a:noFill/>
          <a:ln>
            <a:noFill/>
          </a:ln>
        </p:spPr>
        <p:txBody>
          <a:bodyPr wrap="square" lIns="0" tIns="0" rIns="0" bIns="0" anchor="t">
            <a:normAutofit/>
          </a:bodyPr>
          <a:lstStyle/>
          <a:p>
            <a:pPr>
              <a:buNone/>
            </a:pPr>
            <a:r>
              <a:rPr lang="en-US" sz="1500" b="1" spc="200" dirty="0">
                <a:solidFill>
                  <a:srgbClr val="E40046"/>
                </a:solidFill>
                <a:latin typeface="Frutiger"/>
                <a:cs typeface="Frutiger"/>
              </a:rPr>
              <a:t>EXPECTED CONSOLE</a:t>
            </a:r>
          </a:p>
        </p:txBody>
      </p:sp>
      <p:sp>
        <p:nvSpPr>
          <p:cNvPr id="121" name="Code 121"/>
          <p:cNvSpPr/>
          <p:nvPr/>
        </p:nvSpPr>
        <p:spPr>
          <a:xfrm>
            <a:off x="9906000" y="1066800"/>
            <a:ext cx="5969000" cy="2413000"/>
          </a:xfrm>
          <a:prstGeom prst="roundRect">
            <a:avLst>
              <a:gd name="adj" fmla="val 4000"/>
            </a:avLst>
          </a:prstGeom>
          <a:solidFill>
            <a:srgbClr val="0E1E4A"/>
          </a:solidFill>
          <a:ln>
            <a:noFill/>
          </a:ln>
        </p:spPr>
        <p:txBody>
          <a:bodyPr wrap="square" lIns="228600" tIns="203200" rIns="228600" bIns="228600" anchor="t">
            <a:normAutofit/>
          </a:bodyPr>
          <a:lstStyle/>
          <a:p>
            <a:pPr>
              <a:lnSpc>
                <a:spcPct val="118000"/>
              </a:lnSpc>
              <a:buNone/>
            </a:pPr>
            <a:r>
              <a:rPr lang="en-US" sz="1500" dirty="0">
                <a:solidFill>
                  <a:srgbClr val="8E9DC5"/>
                </a:solidFill>
                <a:latin typeface="Consolas"/>
                <a:cs typeface="Consolas"/>
              </a:rPr>
              <a:t>$ dbt build --select stg_orders+</a:t>
            </a:r>
          </a:p>
          <a:p>
            <a:pPr>
              <a:lnSpc>
                <a:spcPct val="118000"/>
              </a:lnSpc>
              <a:buNone/>
            </a:pPr>
            <a:r>
              <a:rPr lang="en-US" sz="1500" dirty="0">
                <a:solidFill>
                  <a:srgbClr val="7EE0A3"/>
                </a:solidFill>
                <a:latin typeface="Consolas"/>
                <a:cs typeface="Consolas"/>
              </a:rPr>
              <a:t>PASS </a:t>
            </a:r>
            <a:r>
              <a:rPr lang="en-US" sz="1500" dirty="0">
                <a:solidFill>
                  <a:srgbClr val="E8ECF5"/>
                </a:solidFill>
                <a:latin typeface="Consolas"/>
                <a:cs typeface="Consolas"/>
              </a:rPr>
              <a:t>view stg_orders</a:t>
            </a:r>
          </a:p>
          <a:p>
            <a:pPr>
              <a:lnSpc>
                <a:spcPct val="118000"/>
              </a:lnSpc>
              <a:buNone/>
            </a:pPr>
            <a:r>
              <a:rPr lang="en-US" sz="1500" dirty="0">
                <a:solidFill>
                  <a:srgbClr val="7EE0A3"/>
                </a:solidFill>
                <a:latin typeface="Consolas"/>
                <a:cs typeface="Consolas"/>
              </a:rPr>
              <a:t>FAIL 61465 </a:t>
            </a:r>
            <a:r>
              <a:rPr lang="en-US" sz="1500" dirty="0" err="1">
                <a:solidFill>
                  <a:srgbClr val="E8ECF5"/>
                </a:solidFill>
                <a:latin typeface="Consolas"/>
                <a:cs typeface="Consolas"/>
              </a:rPr>
              <a:t>dbt_utils_expression_is_true_stg_orders</a:t>
            </a:r>
            <a:r>
              <a:rPr lang="en-US" sz="1500" dirty="0">
                <a:solidFill>
                  <a:srgbClr val="E8ECF5"/>
                </a:solidFill>
                <a:latin typeface="Consolas"/>
                <a:cs typeface="Consolas"/>
              </a:rPr>
              <a:t>_…</a:t>
            </a:r>
          </a:p>
          <a:p>
            <a:pPr>
              <a:lnSpc>
                <a:spcPct val="118000"/>
              </a:lnSpc>
              <a:buNone/>
            </a:pPr>
            <a:r>
              <a:rPr lang="en-US" sz="1500" dirty="0">
                <a:solidFill>
                  <a:srgbClr val="FF6B8A"/>
                </a:solidFill>
                <a:latin typeface="Consolas"/>
                <a:cs typeface="Consolas"/>
              </a:rPr>
              <a:t>SKIP </a:t>
            </a:r>
            <a:r>
              <a:rPr lang="en-US" sz="1500" dirty="0">
                <a:solidFill>
                  <a:srgbClr val="E8ECF5"/>
                </a:solidFill>
                <a:latin typeface="Consolas"/>
                <a:cs typeface="Consolas"/>
              </a:rPr>
              <a:t>table order_items · orders · customers</a:t>
            </a:r>
          </a:p>
          <a:p>
            <a:pPr>
              <a:lnSpc>
                <a:spcPct val="118000"/>
              </a:lnSpc>
              <a:buNone/>
            </a:pPr>
            <a:r>
              <a:rPr lang="en-US" sz="1500" dirty="0">
                <a:solidFill>
                  <a:srgbClr val="FFD27F"/>
                </a:solidFill>
                <a:latin typeface="Consolas"/>
                <a:cs typeface="Consolas"/>
              </a:rPr>
              <a:t>SKIP </a:t>
            </a:r>
            <a:r>
              <a:rPr lang="en-US" sz="1500" dirty="0">
                <a:solidFill>
                  <a:srgbClr val="E8ECF5"/>
                </a:solidFill>
                <a:latin typeface="Consolas"/>
                <a:cs typeface="Consolas"/>
              </a:rPr>
              <a:t>… their tests and unit tests</a:t>
            </a:r>
          </a:p>
          <a:p>
            <a:pPr>
              <a:lnSpc>
                <a:spcPct val="118000"/>
              </a:lnSpc>
              <a:buNone/>
            </a:pPr>
            <a:r>
              <a:rPr lang="en-US" sz="1500" dirty="0">
                <a:solidFill>
                  <a:srgbClr val="E8ECF5"/>
                </a:solidFill>
                <a:latin typeface="Consolas"/>
                <a:cs typeface="Consolas"/>
              </a:rPr>
              <a:t>Done. PASS=4 WARN=0 ERROR=1 SKIP=17 TOTAL=22</a:t>
            </a:r>
          </a:p>
          <a:p>
            <a:pPr>
              <a:lnSpc>
                <a:spcPct val="118000"/>
              </a:lnSpc>
              <a:buNone/>
            </a:pPr>
            <a:r>
              <a:rPr lang="en-US" sz="1500" dirty="0">
                <a:solidFill>
                  <a:srgbClr val="8E9DC5"/>
                </a:solidFill>
                <a:latin typeface="Consolas"/>
                <a:cs typeface="Consolas"/>
              </a:rPr>
              <a:t>$ echo $LASTEXITCODE  →  1</a:t>
            </a:r>
          </a:p>
        </p:txBody>
      </p:sp>
    </p:spTree>
    <p:extLst>
      <p:ext uri="{BB962C8B-B14F-4D97-AF65-F5344CB8AC3E}">
        <p14:creationId xmlns:p14="http://schemas.microsoft.com/office/powerpoint/2010/main" val="42376325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4EC90D35-304A-4ED8-BF67-87162AFBE388}"/>
              </a:ext>
            </a:extLst>
          </p:cNvPr>
          <p:cNvSpPr>
            <a:spLocks noGrp="1"/>
          </p:cNvSpPr>
          <p:nvPr/>
        </p:nvSpPr>
        <p:spPr>
          <a:xfrm>
            <a:off x="838201" y="963812"/>
            <a:ext cx="15240000" cy="640407"/>
          </a:xfrm>
          <a:prstGeom prst="rect">
            <a:avLst/>
          </a:prstGeom>
          <a:noFill/>
        </p:spPr>
        <p:txBody>
          <a:bodyPr wrap="square" lIns="25401" tIns="25401" rIns="25401" bIns="25401" anchor="t">
            <a:normAutofit/>
          </a:bodyPr>
          <a:lstStyle/>
          <a:p>
            <a:pPr>
              <a:lnSpc>
                <a:spcPct val="79050"/>
              </a:lnSpc>
              <a:buNone/>
            </a:pPr>
            <a:r>
              <a:rPr lang="en-US" sz="4651" b="1" spc="-69" dirty="0">
                <a:solidFill>
                  <a:srgbClr val="001F6B"/>
                </a:solidFill>
                <a:latin typeface="Frutiger"/>
              </a:rPr>
              <a:t>dbt results</a:t>
            </a:r>
            <a:endParaRPr sz="4651" dirty="0"/>
          </a:p>
        </p:txBody>
      </p:sp>
      <p:pic>
        <p:nvPicPr>
          <p:cNvPr id="32" name="Image 0"/>
          <p:cNvPicPr>
            <a:picLocks noChangeAspect="1"/>
          </p:cNvPicPr>
          <p:nvPr/>
        </p:nvPicPr>
        <p:blipFill>
          <a:blip r:embed="rId3"/>
          <a:srcRect t="-5" b="-5"/>
          <a:stretch/>
        </p:blipFill>
        <p:spPr>
          <a:xfrm>
            <a:off x="16412620" y="571500"/>
            <a:ext cx="1037182" cy="514350"/>
          </a:xfrm>
          <a:prstGeom prst="rect">
            <a:avLst/>
          </a:prstGeom>
        </p:spPr>
      </p:pic>
      <p:sp>
        <p:nvSpPr>
          <p:cNvPr id="5" name="Shape 2">
            <a:extLst>
              <a:ext uri="{FF2B5EF4-FFF2-40B4-BE49-F238E27FC236}">
                <a16:creationId xmlns:a16="http://schemas.microsoft.com/office/drawing/2014/main" id="{619AE5D7-7CB4-4BEA-BB3F-D06573D3768F}"/>
              </a:ext>
            </a:extLst>
          </p:cNvPr>
          <p:cNvSpPr>
            <a:spLocks noGrp="1"/>
          </p:cNvSpPr>
          <p:nvPr/>
        </p:nvSpPr>
        <p:spPr>
          <a:xfrm>
            <a:off x="838202" y="1813769"/>
            <a:ext cx="16611600" cy="28574"/>
          </a:xfrm>
          <a:prstGeom prst="rect">
            <a:avLst/>
          </a:prstGeom>
          <a:solidFill>
            <a:srgbClr val="FF0000"/>
          </a:solidFill>
        </p:spPr>
        <p:txBody>
          <a:bodyPr/>
          <a:lstStyle/>
          <a:p>
            <a:endParaRPr sz="1801"/>
          </a:p>
        </p:txBody>
      </p:sp>
      <p:sp>
        <p:nvSpPr>
          <p:cNvPr id="6" name="Shape 3">
            <a:extLst>
              <a:ext uri="{FF2B5EF4-FFF2-40B4-BE49-F238E27FC236}">
                <a16:creationId xmlns:a16="http://schemas.microsoft.com/office/drawing/2014/main" id="{4913CC0E-0FDB-4091-96BC-623E005C1433}"/>
              </a:ext>
            </a:extLst>
          </p:cNvPr>
          <p:cNvSpPr>
            <a:spLocks noGrp="1"/>
          </p:cNvSpPr>
          <p:nvPr/>
        </p:nvSpPr>
        <p:spPr>
          <a:xfrm>
            <a:off x="838202" y="1880445"/>
            <a:ext cx="16611600" cy="28574"/>
          </a:xfrm>
          <a:prstGeom prst="rect">
            <a:avLst/>
          </a:prstGeom>
          <a:solidFill>
            <a:srgbClr val="3649A8"/>
          </a:solidFill>
        </p:spPr>
        <p:txBody>
          <a:bodyPr/>
          <a:lstStyle/>
          <a:p>
            <a:endParaRPr sz="1801"/>
          </a:p>
        </p:txBody>
      </p:sp>
      <p:sp>
        <p:nvSpPr>
          <p:cNvPr id="25" name="Shape 22">
            <a:extLst>
              <a:ext uri="{FF2B5EF4-FFF2-40B4-BE49-F238E27FC236}">
                <a16:creationId xmlns:a16="http://schemas.microsoft.com/office/drawing/2014/main" id="{B765AE01-8B3A-4F2B-9234-E1B2735FE6D0}"/>
              </a:ext>
            </a:extLst>
          </p:cNvPr>
          <p:cNvSpPr>
            <a:spLocks noGrp="1"/>
          </p:cNvSpPr>
          <p:nvPr/>
        </p:nvSpPr>
        <p:spPr>
          <a:xfrm>
            <a:off x="838202" y="9294615"/>
            <a:ext cx="16611600" cy="9525"/>
          </a:xfrm>
          <a:prstGeom prst="rect">
            <a:avLst/>
          </a:prstGeom>
          <a:solidFill>
            <a:srgbClr val="E2E7EB"/>
          </a:solidFill>
        </p:spPr>
        <p:txBody>
          <a:bodyPr/>
          <a:lstStyle/>
          <a:p>
            <a:endParaRPr sz="1801"/>
          </a:p>
        </p:txBody>
      </p:sp>
      <p:sp>
        <p:nvSpPr>
          <p:cNvPr id="26" name="Text 23">
            <a:extLst>
              <a:ext uri="{FF2B5EF4-FFF2-40B4-BE49-F238E27FC236}">
                <a16:creationId xmlns:a16="http://schemas.microsoft.com/office/drawing/2014/main" id="{5C5AFE6D-27B1-4C09-BBBE-19FE36BD27C8}"/>
              </a:ext>
            </a:extLst>
          </p:cNvPr>
          <p:cNvSpPr>
            <a:spLocks noGrp="1"/>
          </p:cNvSpPr>
          <p:nvPr/>
        </p:nvSpPr>
        <p:spPr>
          <a:xfrm>
            <a:off x="838201" y="9513691"/>
            <a:ext cx="7461945" cy="392311"/>
          </a:xfrm>
          <a:prstGeom prst="rect">
            <a:avLst/>
          </a:prstGeom>
          <a:noFill/>
        </p:spPr>
        <p:txBody>
          <a:bodyPr wrap="square" lIns="25401" tIns="25401" rIns="25401" bIns="25401" anchor="t">
            <a:normAutofit/>
          </a:bodyPr>
          <a:lstStyle/>
          <a:p>
            <a:pPr>
              <a:lnSpc>
                <a:spcPct val="124000"/>
              </a:lnSpc>
              <a:buNone/>
            </a:pPr>
            <a:r>
              <a:rPr sz="1801" dirty="0">
                <a:solidFill>
                  <a:srgbClr val="667780"/>
                </a:solidFill>
                <a:latin typeface="Frutiger"/>
                <a:ea typeface="Frutiger"/>
                <a:cs typeface="Frutiger"/>
              </a:rPr>
              <a:t>Getting started with dbt</a:t>
            </a:r>
            <a:endParaRPr sz="1801" dirty="0"/>
          </a:p>
        </p:txBody>
      </p:sp>
      <p:sp>
        <p:nvSpPr>
          <p:cNvPr id="28" name="Text 25">
            <a:extLst>
              <a:ext uri="{FF2B5EF4-FFF2-40B4-BE49-F238E27FC236}">
                <a16:creationId xmlns:a16="http://schemas.microsoft.com/office/drawing/2014/main" id="{E1A6A13E-D079-4787-BA2C-26179E45E0AB}"/>
              </a:ext>
            </a:extLst>
          </p:cNvPr>
          <p:cNvSpPr>
            <a:spLocks noGrp="1"/>
          </p:cNvSpPr>
          <p:nvPr/>
        </p:nvSpPr>
        <p:spPr>
          <a:xfrm>
            <a:off x="9987856" y="9513691"/>
            <a:ext cx="7461945" cy="392311"/>
          </a:xfrm>
          <a:prstGeom prst="rect">
            <a:avLst/>
          </a:prstGeom>
          <a:noFill/>
        </p:spPr>
        <p:txBody>
          <a:bodyPr wrap="square" lIns="25401" tIns="25401" rIns="25401" bIns="25401" anchor="t">
            <a:normAutofit/>
          </a:bodyPr>
          <a:lstStyle/>
          <a:p>
            <a:pPr algn="r">
              <a:lnSpc>
                <a:spcPct val="124000"/>
              </a:lnSpc>
              <a:buNone/>
            </a:pPr>
            <a:r>
              <a:rPr lang="en-US" sz="1801">
                <a:solidFill>
                  <a:srgbClr val="667780"/>
                </a:solidFill>
                <a:latin typeface="Frutiger"/>
                <a:ea typeface="Frutiger"/>
                <a:cs typeface="Frutiger"/>
              </a:rPr>
              <a:t>16</a:t>
            </a:r>
            <a:endParaRPr sz="1801"/>
          </a:p>
        </p:txBody>
      </p:sp>
      <p:sp>
        <p:nvSpPr>
          <p:cNvPr id="100" name="Shape 100"/>
          <p:cNvSpPr/>
          <p:nvPr/>
        </p:nvSpPr>
        <p:spPr>
          <a:xfrm>
            <a:off x="838200" y="2362200"/>
            <a:ext cx="8255000" cy="38100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a:p>
        </p:txBody>
      </p:sp>
      <p:sp>
        <p:nvSpPr>
          <p:cNvPr id="101" name="Shape 101"/>
          <p:cNvSpPr/>
          <p:nvPr/>
        </p:nvSpPr>
        <p:spPr>
          <a:xfrm>
            <a:off x="838200" y="2362200"/>
            <a:ext cx="8255000" cy="584200"/>
          </a:xfrm>
          <a:prstGeom prst="rect">
            <a:avLst/>
          </a:prstGeom>
          <a:solidFill>
            <a:srgbClr val="E6F5EC"/>
          </a:solidFill>
          <a:ln>
            <a:noFill/>
          </a:ln>
        </p:spPr>
        <p:txBody>
          <a:bodyPr wrap="square" lIns="203200" tIns="25400" rIns="203200" bIns="25400" anchor="ctr">
            <a:normAutofit/>
          </a:bodyPr>
          <a:lstStyle/>
          <a:p>
            <a:pPr>
              <a:buNone/>
            </a:pPr>
            <a:r>
              <a:rPr lang="en-US" sz="2000" b="1" dirty="0">
                <a:solidFill>
                  <a:srgbClr val="14703F"/>
                </a:solidFill>
                <a:latin typeface="Frutiger"/>
                <a:cs typeface="Frutiger"/>
              </a:rPr>
              <a:t>A green build proves</a:t>
            </a:r>
          </a:p>
        </p:txBody>
      </p:sp>
      <p:sp>
        <p:nvSpPr>
          <p:cNvPr id="102" name="Shape 102"/>
          <p:cNvSpPr/>
          <p:nvPr/>
        </p:nvSpPr>
        <p:spPr>
          <a:xfrm>
            <a:off x="1041400" y="3098800"/>
            <a:ext cx="330200" cy="635000"/>
          </a:xfrm>
          <a:prstGeom prst="rect">
            <a:avLst/>
          </a:prstGeom>
          <a:noFill/>
          <a:ln>
            <a:noFill/>
          </a:ln>
        </p:spPr>
        <p:txBody>
          <a:bodyPr wrap="square" lIns="0" tIns="0" rIns="0" bIns="0" anchor="ctr">
            <a:normAutofit/>
          </a:bodyPr>
          <a:lstStyle/>
          <a:p>
            <a:pPr algn="ctr">
              <a:buNone/>
            </a:pPr>
            <a:r>
              <a:rPr lang="en-US" sz="2100" b="1" dirty="0">
                <a:solidFill>
                  <a:srgbClr val="14703F"/>
                </a:solidFill>
                <a:latin typeface="Frutiger"/>
                <a:cs typeface="Frutiger"/>
              </a:rPr>
              <a:t>✓</a:t>
            </a:r>
          </a:p>
        </p:txBody>
      </p:sp>
      <p:sp>
        <p:nvSpPr>
          <p:cNvPr id="103" name="Shape 103"/>
          <p:cNvSpPr/>
          <p:nvPr/>
        </p:nvSpPr>
        <p:spPr>
          <a:xfrm>
            <a:off x="1447800" y="3098800"/>
            <a:ext cx="7493000" cy="635000"/>
          </a:xfrm>
          <a:prstGeom prst="rect">
            <a:avLst/>
          </a:prstGeom>
          <a:noFill/>
          <a:ln>
            <a:noFill/>
          </a:ln>
        </p:spPr>
        <p:txBody>
          <a:bodyPr wrap="square" lIns="0" tIns="0" rIns="0" bIns="0" anchor="ctr">
            <a:normAutofit/>
          </a:bodyPr>
          <a:lstStyle/>
          <a:p>
            <a:pPr>
              <a:lnSpc>
                <a:spcPct val="104000"/>
              </a:lnSpc>
              <a:buNone/>
            </a:pPr>
            <a:r>
              <a:rPr lang="en-US" sz="2000" dirty="0">
                <a:solidFill>
                  <a:srgbClr val="364750"/>
                </a:solidFill>
                <a:latin typeface="Frutiger"/>
                <a:cs typeface="Frutiger"/>
              </a:rPr>
              <a:t>Every selected model built without error</a:t>
            </a:r>
          </a:p>
        </p:txBody>
      </p:sp>
      <p:sp>
        <p:nvSpPr>
          <p:cNvPr id="104" name="Shape 104"/>
          <p:cNvSpPr/>
          <p:nvPr/>
        </p:nvSpPr>
        <p:spPr>
          <a:xfrm>
            <a:off x="1041400" y="3860800"/>
            <a:ext cx="330200" cy="635000"/>
          </a:xfrm>
          <a:prstGeom prst="rect">
            <a:avLst/>
          </a:prstGeom>
          <a:noFill/>
          <a:ln>
            <a:noFill/>
          </a:ln>
        </p:spPr>
        <p:txBody>
          <a:bodyPr wrap="square" lIns="0" tIns="0" rIns="0" bIns="0" anchor="ctr">
            <a:normAutofit/>
          </a:bodyPr>
          <a:lstStyle/>
          <a:p>
            <a:pPr algn="ctr">
              <a:buNone/>
            </a:pPr>
            <a:r>
              <a:rPr lang="en-US" sz="2100" b="1" dirty="0">
                <a:solidFill>
                  <a:srgbClr val="14703F"/>
                </a:solidFill>
                <a:latin typeface="Frutiger"/>
                <a:cs typeface="Frutiger"/>
              </a:rPr>
              <a:t>✓</a:t>
            </a:r>
          </a:p>
        </p:txBody>
      </p:sp>
      <p:sp>
        <p:nvSpPr>
          <p:cNvPr id="105" name="Shape 105"/>
          <p:cNvSpPr/>
          <p:nvPr/>
        </p:nvSpPr>
        <p:spPr>
          <a:xfrm>
            <a:off x="1447800" y="3860800"/>
            <a:ext cx="7493000" cy="635000"/>
          </a:xfrm>
          <a:prstGeom prst="rect">
            <a:avLst/>
          </a:prstGeom>
          <a:noFill/>
          <a:ln>
            <a:noFill/>
          </a:ln>
        </p:spPr>
        <p:txBody>
          <a:bodyPr wrap="square" lIns="0" tIns="0" rIns="0" bIns="0" anchor="ctr">
            <a:normAutofit/>
          </a:bodyPr>
          <a:lstStyle/>
          <a:p>
            <a:pPr>
              <a:lnSpc>
                <a:spcPct val="104000"/>
              </a:lnSpc>
              <a:buNone/>
            </a:pPr>
            <a:r>
              <a:rPr lang="en-US" sz="2000" dirty="0">
                <a:solidFill>
                  <a:srgbClr val="364750"/>
                </a:solidFill>
                <a:latin typeface="Frutiger"/>
                <a:cs typeface="Frutiger"/>
              </a:rPr>
              <a:t>Every selected test returned zero failing rows — on this run, against this data</a:t>
            </a:r>
          </a:p>
        </p:txBody>
      </p:sp>
      <p:sp>
        <p:nvSpPr>
          <p:cNvPr id="106" name="Shape 106"/>
          <p:cNvSpPr/>
          <p:nvPr/>
        </p:nvSpPr>
        <p:spPr>
          <a:xfrm>
            <a:off x="1041400" y="4622800"/>
            <a:ext cx="330200" cy="635000"/>
          </a:xfrm>
          <a:prstGeom prst="rect">
            <a:avLst/>
          </a:prstGeom>
          <a:noFill/>
          <a:ln>
            <a:noFill/>
          </a:ln>
        </p:spPr>
        <p:txBody>
          <a:bodyPr wrap="square" lIns="0" tIns="0" rIns="0" bIns="0" anchor="ctr">
            <a:normAutofit/>
          </a:bodyPr>
          <a:lstStyle/>
          <a:p>
            <a:pPr algn="ctr">
              <a:buNone/>
            </a:pPr>
            <a:r>
              <a:rPr lang="en-US" sz="2100" b="1" dirty="0">
                <a:solidFill>
                  <a:srgbClr val="14703F"/>
                </a:solidFill>
                <a:latin typeface="Frutiger"/>
                <a:cs typeface="Frutiger"/>
              </a:rPr>
              <a:t>✓</a:t>
            </a:r>
          </a:p>
        </p:txBody>
      </p:sp>
      <p:sp>
        <p:nvSpPr>
          <p:cNvPr id="107" name="Shape 107"/>
          <p:cNvSpPr/>
          <p:nvPr/>
        </p:nvSpPr>
        <p:spPr>
          <a:xfrm>
            <a:off x="1447800" y="4622800"/>
            <a:ext cx="7493000" cy="635000"/>
          </a:xfrm>
          <a:prstGeom prst="rect">
            <a:avLst/>
          </a:prstGeom>
          <a:noFill/>
          <a:ln>
            <a:noFill/>
          </a:ln>
        </p:spPr>
        <p:txBody>
          <a:bodyPr wrap="square" lIns="0" tIns="0" rIns="0" bIns="0" anchor="ctr">
            <a:normAutofit/>
          </a:bodyPr>
          <a:lstStyle/>
          <a:p>
            <a:pPr>
              <a:lnSpc>
                <a:spcPct val="104000"/>
              </a:lnSpc>
              <a:buNone/>
            </a:pPr>
            <a:r>
              <a:rPr lang="en-US" sz="2000" dirty="0">
                <a:solidFill>
                  <a:srgbClr val="364750"/>
                </a:solidFill>
                <a:latin typeface="Frutiger"/>
                <a:cs typeface="Frutiger"/>
              </a:rPr>
              <a:t>Downstream models only ran when their upstream tests passed</a:t>
            </a:r>
          </a:p>
        </p:txBody>
      </p:sp>
      <p:sp>
        <p:nvSpPr>
          <p:cNvPr id="108" name="Shape 108"/>
          <p:cNvSpPr/>
          <p:nvPr/>
        </p:nvSpPr>
        <p:spPr>
          <a:xfrm>
            <a:off x="1041400" y="5384800"/>
            <a:ext cx="330200" cy="635000"/>
          </a:xfrm>
          <a:prstGeom prst="rect">
            <a:avLst/>
          </a:prstGeom>
          <a:noFill/>
          <a:ln>
            <a:noFill/>
          </a:ln>
        </p:spPr>
        <p:txBody>
          <a:bodyPr wrap="square" lIns="0" tIns="0" rIns="0" bIns="0" anchor="ctr">
            <a:normAutofit/>
          </a:bodyPr>
          <a:lstStyle/>
          <a:p>
            <a:pPr algn="ctr">
              <a:buNone/>
            </a:pPr>
            <a:r>
              <a:rPr lang="en-US" sz="2100" b="1" dirty="0">
                <a:solidFill>
                  <a:srgbClr val="14703F"/>
                </a:solidFill>
                <a:latin typeface="Frutiger"/>
                <a:cs typeface="Frutiger"/>
              </a:rPr>
              <a:t>✓</a:t>
            </a:r>
          </a:p>
        </p:txBody>
      </p:sp>
      <p:sp>
        <p:nvSpPr>
          <p:cNvPr id="109" name="Shape 109"/>
          <p:cNvSpPr/>
          <p:nvPr/>
        </p:nvSpPr>
        <p:spPr>
          <a:xfrm>
            <a:off x="1447800" y="5384800"/>
            <a:ext cx="7493000" cy="635000"/>
          </a:xfrm>
          <a:prstGeom prst="rect">
            <a:avLst/>
          </a:prstGeom>
          <a:noFill/>
          <a:ln>
            <a:noFill/>
          </a:ln>
        </p:spPr>
        <p:txBody>
          <a:bodyPr wrap="square" lIns="0" tIns="0" rIns="0" bIns="0" anchor="ctr">
            <a:normAutofit/>
          </a:bodyPr>
          <a:lstStyle/>
          <a:p>
            <a:pPr>
              <a:lnSpc>
                <a:spcPct val="104000"/>
              </a:lnSpc>
              <a:buNone/>
            </a:pPr>
            <a:r>
              <a:rPr lang="en-US" sz="2000" dirty="0">
                <a:solidFill>
                  <a:srgbClr val="364750"/>
                </a:solidFill>
                <a:latin typeface="Frutiger"/>
                <a:cs typeface="Frutiger"/>
              </a:rPr>
              <a:t>You have artifacts (run_results.json, manifest.json) that say exactly what ran</a:t>
            </a:r>
          </a:p>
        </p:txBody>
      </p:sp>
      <p:sp>
        <p:nvSpPr>
          <p:cNvPr id="120" name="Shape 120"/>
          <p:cNvSpPr/>
          <p:nvPr/>
        </p:nvSpPr>
        <p:spPr>
          <a:xfrm>
            <a:off x="9194800" y="2362200"/>
            <a:ext cx="8255000" cy="38100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a:p>
        </p:txBody>
      </p:sp>
      <p:sp>
        <p:nvSpPr>
          <p:cNvPr id="121" name="Shape 121"/>
          <p:cNvSpPr/>
          <p:nvPr/>
        </p:nvSpPr>
        <p:spPr>
          <a:xfrm>
            <a:off x="9194800" y="2362200"/>
            <a:ext cx="8255000" cy="584200"/>
          </a:xfrm>
          <a:prstGeom prst="rect">
            <a:avLst/>
          </a:prstGeom>
          <a:solidFill>
            <a:srgbClr val="FCE8EE"/>
          </a:solidFill>
          <a:ln>
            <a:noFill/>
          </a:ln>
        </p:spPr>
        <p:txBody>
          <a:bodyPr wrap="square" lIns="203200" tIns="25400" rIns="203200" bIns="25400" anchor="ctr">
            <a:normAutofit/>
          </a:bodyPr>
          <a:lstStyle/>
          <a:p>
            <a:pPr>
              <a:buNone/>
            </a:pPr>
            <a:r>
              <a:rPr lang="en-US" sz="2000" b="1" dirty="0">
                <a:solidFill>
                  <a:srgbClr val="E40046"/>
                </a:solidFill>
                <a:latin typeface="Frutiger"/>
                <a:cs typeface="Frutiger"/>
              </a:rPr>
              <a:t>It does not prove</a:t>
            </a:r>
          </a:p>
        </p:txBody>
      </p:sp>
      <p:sp>
        <p:nvSpPr>
          <p:cNvPr id="122" name="Shape 122"/>
          <p:cNvSpPr/>
          <p:nvPr/>
        </p:nvSpPr>
        <p:spPr>
          <a:xfrm>
            <a:off x="9398000" y="3098800"/>
            <a:ext cx="330200" cy="635000"/>
          </a:xfrm>
          <a:prstGeom prst="rect">
            <a:avLst/>
          </a:prstGeom>
          <a:noFill/>
          <a:ln>
            <a:noFill/>
          </a:ln>
        </p:spPr>
        <p:txBody>
          <a:bodyPr wrap="square" lIns="0" tIns="0" rIns="0" bIns="0" anchor="ctr">
            <a:normAutofit/>
          </a:bodyPr>
          <a:lstStyle/>
          <a:p>
            <a:pPr algn="ctr">
              <a:buNone/>
            </a:pPr>
            <a:r>
              <a:rPr lang="en-US" sz="2100" b="1" dirty="0">
                <a:solidFill>
                  <a:srgbClr val="E40046"/>
                </a:solidFill>
                <a:latin typeface="Frutiger"/>
                <a:cs typeface="Frutiger"/>
              </a:rPr>
              <a:t>✕</a:t>
            </a:r>
          </a:p>
        </p:txBody>
      </p:sp>
      <p:sp>
        <p:nvSpPr>
          <p:cNvPr id="123" name="Shape 123"/>
          <p:cNvSpPr/>
          <p:nvPr/>
        </p:nvSpPr>
        <p:spPr>
          <a:xfrm>
            <a:off x="9804400" y="3098800"/>
            <a:ext cx="7493000" cy="635000"/>
          </a:xfrm>
          <a:prstGeom prst="rect">
            <a:avLst/>
          </a:prstGeom>
          <a:noFill/>
          <a:ln>
            <a:noFill/>
          </a:ln>
        </p:spPr>
        <p:txBody>
          <a:bodyPr wrap="square" lIns="0" tIns="0" rIns="0" bIns="0" anchor="ctr">
            <a:normAutofit/>
          </a:bodyPr>
          <a:lstStyle/>
          <a:p>
            <a:pPr>
              <a:lnSpc>
                <a:spcPct val="104000"/>
              </a:lnSpc>
              <a:buNone/>
            </a:pPr>
            <a:r>
              <a:rPr lang="en-US" sz="2000" dirty="0">
                <a:solidFill>
                  <a:srgbClr val="364750"/>
                </a:solidFill>
                <a:latin typeface="Frutiger"/>
                <a:cs typeface="Frutiger"/>
              </a:rPr>
              <a:t>That “two or more orders” is the right business definition of a returning customer</a:t>
            </a:r>
          </a:p>
        </p:txBody>
      </p:sp>
      <p:sp>
        <p:nvSpPr>
          <p:cNvPr id="124" name="Shape 124"/>
          <p:cNvSpPr/>
          <p:nvPr/>
        </p:nvSpPr>
        <p:spPr>
          <a:xfrm>
            <a:off x="9398000" y="3860800"/>
            <a:ext cx="330200" cy="635000"/>
          </a:xfrm>
          <a:prstGeom prst="rect">
            <a:avLst/>
          </a:prstGeom>
          <a:noFill/>
          <a:ln>
            <a:noFill/>
          </a:ln>
        </p:spPr>
        <p:txBody>
          <a:bodyPr wrap="square" lIns="0" tIns="0" rIns="0" bIns="0" anchor="ctr">
            <a:normAutofit/>
          </a:bodyPr>
          <a:lstStyle/>
          <a:p>
            <a:pPr algn="ctr">
              <a:buNone/>
            </a:pPr>
            <a:r>
              <a:rPr lang="en-US" sz="2100" b="1" dirty="0">
                <a:solidFill>
                  <a:srgbClr val="E40046"/>
                </a:solidFill>
                <a:latin typeface="Frutiger"/>
                <a:cs typeface="Frutiger"/>
              </a:rPr>
              <a:t>✕</a:t>
            </a:r>
          </a:p>
        </p:txBody>
      </p:sp>
      <p:sp>
        <p:nvSpPr>
          <p:cNvPr id="125" name="Shape 125"/>
          <p:cNvSpPr/>
          <p:nvPr/>
        </p:nvSpPr>
        <p:spPr>
          <a:xfrm>
            <a:off x="9804400" y="3860800"/>
            <a:ext cx="7493000" cy="635000"/>
          </a:xfrm>
          <a:prstGeom prst="rect">
            <a:avLst/>
          </a:prstGeom>
          <a:noFill/>
          <a:ln>
            <a:noFill/>
          </a:ln>
        </p:spPr>
        <p:txBody>
          <a:bodyPr wrap="square" lIns="0" tIns="0" rIns="0" bIns="0" anchor="ctr">
            <a:normAutofit/>
          </a:bodyPr>
          <a:lstStyle/>
          <a:p>
            <a:pPr>
              <a:lnSpc>
                <a:spcPct val="104000"/>
              </a:lnSpc>
              <a:buNone/>
            </a:pPr>
            <a:r>
              <a:rPr lang="en-US" sz="2000" dirty="0">
                <a:solidFill>
                  <a:srgbClr val="364750"/>
                </a:solidFill>
                <a:latin typeface="Frutiger"/>
                <a:cs typeface="Frutiger"/>
              </a:rPr>
              <a:t>That every row is correct — aggregates can match while details are wrong</a:t>
            </a:r>
          </a:p>
        </p:txBody>
      </p:sp>
      <p:sp>
        <p:nvSpPr>
          <p:cNvPr id="126" name="Shape 126"/>
          <p:cNvSpPr/>
          <p:nvPr/>
        </p:nvSpPr>
        <p:spPr>
          <a:xfrm>
            <a:off x="9398000" y="4622800"/>
            <a:ext cx="330200" cy="635000"/>
          </a:xfrm>
          <a:prstGeom prst="rect">
            <a:avLst/>
          </a:prstGeom>
          <a:noFill/>
          <a:ln>
            <a:noFill/>
          </a:ln>
        </p:spPr>
        <p:txBody>
          <a:bodyPr wrap="square" lIns="0" tIns="0" rIns="0" bIns="0" anchor="ctr">
            <a:normAutofit/>
          </a:bodyPr>
          <a:lstStyle/>
          <a:p>
            <a:pPr algn="ctr">
              <a:buNone/>
            </a:pPr>
            <a:r>
              <a:rPr lang="en-US" sz="2100" b="1" dirty="0">
                <a:solidFill>
                  <a:srgbClr val="E40046"/>
                </a:solidFill>
                <a:latin typeface="Frutiger"/>
                <a:cs typeface="Frutiger"/>
              </a:rPr>
              <a:t>✕</a:t>
            </a:r>
          </a:p>
        </p:txBody>
      </p:sp>
      <p:sp>
        <p:nvSpPr>
          <p:cNvPr id="127" name="Shape 127"/>
          <p:cNvSpPr/>
          <p:nvPr/>
        </p:nvSpPr>
        <p:spPr>
          <a:xfrm>
            <a:off x="9804400" y="4622800"/>
            <a:ext cx="7493000" cy="635000"/>
          </a:xfrm>
          <a:prstGeom prst="rect">
            <a:avLst/>
          </a:prstGeom>
          <a:noFill/>
          <a:ln>
            <a:noFill/>
          </a:ln>
        </p:spPr>
        <p:txBody>
          <a:bodyPr wrap="square" lIns="0" tIns="0" rIns="0" bIns="0" anchor="ctr">
            <a:normAutofit/>
          </a:bodyPr>
          <a:lstStyle/>
          <a:p>
            <a:pPr>
              <a:lnSpc>
                <a:spcPct val="104000"/>
              </a:lnSpc>
              <a:buNone/>
            </a:pPr>
            <a:r>
              <a:rPr lang="en-US" sz="2000" dirty="0">
                <a:solidFill>
                  <a:srgbClr val="364750"/>
                </a:solidFill>
                <a:latin typeface="Frutiger"/>
                <a:cs typeface="Frutiger"/>
              </a:rPr>
              <a:t>That the database is protected: tests are not constraints; tomorrow’s bad insert still lands</a:t>
            </a:r>
          </a:p>
        </p:txBody>
      </p:sp>
      <p:sp>
        <p:nvSpPr>
          <p:cNvPr id="128" name="Shape 128"/>
          <p:cNvSpPr/>
          <p:nvPr/>
        </p:nvSpPr>
        <p:spPr>
          <a:xfrm>
            <a:off x="9398000" y="5384800"/>
            <a:ext cx="330200" cy="635000"/>
          </a:xfrm>
          <a:prstGeom prst="rect">
            <a:avLst/>
          </a:prstGeom>
          <a:noFill/>
          <a:ln>
            <a:noFill/>
          </a:ln>
        </p:spPr>
        <p:txBody>
          <a:bodyPr wrap="square" lIns="0" tIns="0" rIns="0" bIns="0" anchor="ctr">
            <a:normAutofit/>
          </a:bodyPr>
          <a:lstStyle/>
          <a:p>
            <a:pPr algn="ctr">
              <a:buNone/>
            </a:pPr>
            <a:r>
              <a:rPr lang="en-US" sz="2100" b="1" dirty="0">
                <a:solidFill>
                  <a:srgbClr val="E40046"/>
                </a:solidFill>
                <a:latin typeface="Frutiger"/>
                <a:cs typeface="Frutiger"/>
              </a:rPr>
              <a:t>✕</a:t>
            </a:r>
          </a:p>
        </p:txBody>
      </p:sp>
      <p:sp>
        <p:nvSpPr>
          <p:cNvPr id="129" name="Shape 129"/>
          <p:cNvSpPr/>
          <p:nvPr/>
        </p:nvSpPr>
        <p:spPr>
          <a:xfrm>
            <a:off x="9804400" y="5384800"/>
            <a:ext cx="7493000" cy="635000"/>
          </a:xfrm>
          <a:prstGeom prst="rect">
            <a:avLst/>
          </a:prstGeom>
          <a:noFill/>
          <a:ln>
            <a:noFill/>
          </a:ln>
        </p:spPr>
        <p:txBody>
          <a:bodyPr wrap="square" lIns="0" tIns="0" rIns="0" bIns="0" anchor="ctr">
            <a:normAutofit/>
          </a:bodyPr>
          <a:lstStyle/>
          <a:p>
            <a:pPr>
              <a:lnSpc>
                <a:spcPct val="104000"/>
              </a:lnSpc>
              <a:buNone/>
            </a:pPr>
            <a:r>
              <a:rPr lang="en-US" sz="2000" dirty="0">
                <a:solidFill>
                  <a:srgbClr val="364750"/>
                </a:solidFill>
                <a:latin typeface="Frutiger"/>
                <a:cs typeface="Frutiger"/>
              </a:rPr>
              <a:t>That a failure rolled anything back — the previously built table remains queryable</a:t>
            </a:r>
          </a:p>
        </p:txBody>
      </p:sp>
      <p:sp>
        <p:nvSpPr>
          <p:cNvPr id="140" name="Shape 140"/>
          <p:cNvSpPr/>
          <p:nvPr/>
        </p:nvSpPr>
        <p:spPr>
          <a:xfrm>
            <a:off x="838200" y="6451600"/>
            <a:ext cx="16611600" cy="381000"/>
          </a:xfrm>
          <a:prstGeom prst="rect">
            <a:avLst/>
          </a:prstGeom>
          <a:noFill/>
          <a:ln>
            <a:noFill/>
          </a:ln>
        </p:spPr>
        <p:txBody>
          <a:bodyPr wrap="square" lIns="0" tIns="0" rIns="0" bIns="0" anchor="t">
            <a:normAutofit/>
          </a:bodyPr>
          <a:lstStyle/>
          <a:p>
            <a:pPr>
              <a:buNone/>
            </a:pPr>
            <a:r>
              <a:rPr lang="en-US" sz="2100" b="1" dirty="0">
                <a:solidFill>
                  <a:srgbClr val="001F6B"/>
                </a:solidFill>
                <a:latin typeface="Frutiger"/>
                <a:cs typeface="Frutiger"/>
              </a:rPr>
              <a:t>So how do you keep readers away from invalid data?  Build in isolation, then promote on purpose.</a:t>
            </a:r>
          </a:p>
        </p:txBody>
      </p:sp>
      <p:sp>
        <p:nvSpPr>
          <p:cNvPr id="150" name="Shape 150"/>
          <p:cNvSpPr/>
          <p:nvPr/>
        </p:nvSpPr>
        <p:spPr>
          <a:xfrm>
            <a:off x="838200" y="6985000"/>
            <a:ext cx="5181600" cy="2108200"/>
          </a:xfrm>
          <a:prstGeom prst="rect">
            <a:avLst/>
          </a:prstGeom>
          <a:solidFill>
            <a:srgbClr val="F4F6FA"/>
          </a:solidFill>
          <a:ln>
            <a:noFill/>
          </a:ln>
        </p:spPr>
        <p:txBody>
          <a:bodyPr wrap="square" lIns="101600" tIns="101600" rIns="101600" bIns="101600" anchor="t">
            <a:normAutofit/>
          </a:bodyPr>
          <a:lstStyle/>
          <a:p>
            <a:endParaRPr lang="en-US"/>
          </a:p>
        </p:txBody>
      </p:sp>
      <p:sp>
        <p:nvSpPr>
          <p:cNvPr id="151" name="Shape 151"/>
          <p:cNvSpPr/>
          <p:nvPr/>
        </p:nvSpPr>
        <p:spPr>
          <a:xfrm>
            <a:off x="1066800" y="7162800"/>
            <a:ext cx="4724400" cy="1778000"/>
          </a:xfrm>
          <a:prstGeom prst="rect">
            <a:avLst/>
          </a:prstGeom>
          <a:noFill/>
          <a:ln>
            <a:noFill/>
          </a:ln>
        </p:spPr>
        <p:txBody>
          <a:bodyPr wrap="square" lIns="0" tIns="0" rIns="0" bIns="0" anchor="t">
            <a:normAutofit/>
          </a:bodyPr>
          <a:lstStyle/>
          <a:p>
            <a:pPr>
              <a:buNone/>
            </a:pPr>
            <a:r>
              <a:rPr lang="en-US" sz="2000" b="1" dirty="0">
                <a:solidFill>
                  <a:srgbClr val="001F6B"/>
                </a:solidFill>
                <a:latin typeface="Frutiger"/>
                <a:cs typeface="Frutiger"/>
              </a:rPr>
              <a:t>1 · Build in an isolated target</a:t>
            </a:r>
          </a:p>
          <a:p>
            <a:pPr>
              <a:lnSpc>
                <a:spcPct val="106000"/>
              </a:lnSpc>
              <a:spcBef>
                <a:spcPts val="600"/>
              </a:spcBef>
              <a:buNone/>
            </a:pPr>
            <a:r>
              <a:rPr lang="en-US" sz="1900" dirty="0">
                <a:solidFill>
                  <a:srgbClr val="364750"/>
                </a:solidFill>
                <a:latin typeface="Frutiger"/>
                <a:cs typeface="Frutiger"/>
              </a:rPr>
              <a:t>A dev or CI schema nobody reports from. Fail here, fix here.</a:t>
            </a:r>
          </a:p>
        </p:txBody>
      </p:sp>
      <p:cxnSp>
        <p:nvCxnSpPr>
          <p:cNvPr id="160" name="Line 160"/>
          <p:cNvCxnSpPr/>
          <p:nvPr/>
        </p:nvCxnSpPr>
        <p:spPr>
          <a:xfrm>
            <a:off x="6096000" y="8039100"/>
            <a:ext cx="381000" cy="0"/>
          </a:xfrm>
          <a:prstGeom prst="line">
            <a:avLst/>
          </a:prstGeom>
          <a:ln w="31750">
            <a:solidFill>
              <a:srgbClr val="667780"/>
            </a:solidFill>
            <a:tailEnd type="triangle" w="med" len="med"/>
          </a:ln>
        </p:spPr>
      </p:cxnSp>
      <p:sp>
        <p:nvSpPr>
          <p:cNvPr id="152" name="Shape 152"/>
          <p:cNvSpPr/>
          <p:nvPr/>
        </p:nvSpPr>
        <p:spPr>
          <a:xfrm>
            <a:off x="6553200" y="6985000"/>
            <a:ext cx="5181600" cy="2108200"/>
          </a:xfrm>
          <a:prstGeom prst="rect">
            <a:avLst/>
          </a:prstGeom>
          <a:solidFill>
            <a:srgbClr val="F4F6FA"/>
          </a:solidFill>
          <a:ln>
            <a:noFill/>
          </a:ln>
        </p:spPr>
        <p:txBody>
          <a:bodyPr wrap="square" lIns="101600" tIns="101600" rIns="101600" bIns="101600" anchor="t">
            <a:normAutofit/>
          </a:bodyPr>
          <a:lstStyle/>
          <a:p>
            <a:endParaRPr lang="en-US"/>
          </a:p>
        </p:txBody>
      </p:sp>
      <p:sp>
        <p:nvSpPr>
          <p:cNvPr id="153" name="Shape 153"/>
          <p:cNvSpPr/>
          <p:nvPr/>
        </p:nvSpPr>
        <p:spPr>
          <a:xfrm>
            <a:off x="6781800" y="7162800"/>
            <a:ext cx="4724400" cy="1778000"/>
          </a:xfrm>
          <a:prstGeom prst="rect">
            <a:avLst/>
          </a:prstGeom>
          <a:noFill/>
          <a:ln>
            <a:noFill/>
          </a:ln>
        </p:spPr>
        <p:txBody>
          <a:bodyPr wrap="square" lIns="0" tIns="0" rIns="0" bIns="0" anchor="t">
            <a:normAutofit/>
          </a:bodyPr>
          <a:lstStyle/>
          <a:p>
            <a:pPr>
              <a:buNone/>
            </a:pPr>
            <a:r>
              <a:rPr lang="en-US" sz="2000" b="1" dirty="0">
                <a:solidFill>
                  <a:srgbClr val="001F6B"/>
                </a:solidFill>
                <a:latin typeface="Frutiger"/>
                <a:cs typeface="Frutiger"/>
              </a:rPr>
              <a:t>2 · Let the tests gate</a:t>
            </a:r>
          </a:p>
          <a:p>
            <a:pPr>
              <a:lnSpc>
                <a:spcPct val="106000"/>
              </a:lnSpc>
              <a:spcBef>
                <a:spcPts val="600"/>
              </a:spcBef>
              <a:buNone/>
            </a:pPr>
            <a:r>
              <a:rPr lang="en-US" sz="1900" dirty="0">
                <a:solidFill>
                  <a:srgbClr val="364750"/>
                </a:solidFill>
                <a:latin typeface="Frutiger"/>
                <a:cs typeface="Frutiger"/>
              </a:rPr>
              <a:t>dbt build stops downstream models when an upstream test fails — exit code ≠ 0.</a:t>
            </a:r>
          </a:p>
        </p:txBody>
      </p:sp>
      <p:cxnSp>
        <p:nvCxnSpPr>
          <p:cNvPr id="161" name="Line 161"/>
          <p:cNvCxnSpPr/>
          <p:nvPr/>
        </p:nvCxnSpPr>
        <p:spPr>
          <a:xfrm>
            <a:off x="11811000" y="8039100"/>
            <a:ext cx="381000" cy="0"/>
          </a:xfrm>
          <a:prstGeom prst="line">
            <a:avLst/>
          </a:prstGeom>
          <a:ln w="31750">
            <a:solidFill>
              <a:srgbClr val="667780"/>
            </a:solidFill>
            <a:tailEnd type="triangle" w="med" len="med"/>
          </a:ln>
        </p:spPr>
      </p:cxnSp>
      <p:sp>
        <p:nvSpPr>
          <p:cNvPr id="154" name="Shape 154"/>
          <p:cNvSpPr/>
          <p:nvPr/>
        </p:nvSpPr>
        <p:spPr>
          <a:xfrm>
            <a:off x="12268200" y="6985000"/>
            <a:ext cx="5181600" cy="2108200"/>
          </a:xfrm>
          <a:prstGeom prst="rect">
            <a:avLst/>
          </a:prstGeom>
          <a:solidFill>
            <a:srgbClr val="001F6B"/>
          </a:solidFill>
          <a:ln>
            <a:noFill/>
          </a:ln>
        </p:spPr>
        <p:txBody>
          <a:bodyPr wrap="square" lIns="101600" tIns="101600" rIns="101600" bIns="101600" anchor="t">
            <a:normAutofit/>
          </a:bodyPr>
          <a:lstStyle/>
          <a:p>
            <a:endParaRPr lang="en-US"/>
          </a:p>
        </p:txBody>
      </p:sp>
      <p:sp>
        <p:nvSpPr>
          <p:cNvPr id="155" name="Shape 155"/>
          <p:cNvSpPr/>
          <p:nvPr/>
        </p:nvSpPr>
        <p:spPr>
          <a:xfrm>
            <a:off x="12496800" y="7162800"/>
            <a:ext cx="4724400" cy="1778000"/>
          </a:xfrm>
          <a:prstGeom prst="rect">
            <a:avLst/>
          </a:prstGeom>
          <a:noFill/>
          <a:ln>
            <a:noFill/>
          </a:ln>
        </p:spPr>
        <p:txBody>
          <a:bodyPr wrap="square" lIns="0" tIns="0" rIns="0" bIns="0" anchor="t">
            <a:normAutofit/>
          </a:bodyPr>
          <a:lstStyle/>
          <a:p>
            <a:pPr>
              <a:buNone/>
            </a:pPr>
            <a:r>
              <a:rPr lang="en-US" sz="2000" b="1" dirty="0">
                <a:solidFill>
                  <a:srgbClr val="FFFFFF"/>
                </a:solidFill>
                <a:latin typeface="Frutiger"/>
                <a:cs typeface="Frutiger"/>
              </a:rPr>
              <a:t>3 · Promote deliberately</a:t>
            </a:r>
          </a:p>
          <a:p>
            <a:pPr>
              <a:lnSpc>
                <a:spcPct val="106000"/>
              </a:lnSpc>
              <a:spcBef>
                <a:spcPts val="600"/>
              </a:spcBef>
              <a:buNone/>
            </a:pPr>
            <a:r>
              <a:rPr lang="en-US" sz="1900" dirty="0">
                <a:solidFill>
                  <a:srgbClr val="FFFFFF"/>
                </a:solidFill>
                <a:latin typeface="Frutiger"/>
                <a:cs typeface="Frutiger"/>
              </a:rPr>
              <a:t>A scheduled job, a schema swap or a refresh — your explicit decision, not a side effect of a green run.</a:t>
            </a:r>
          </a:p>
        </p:txBody>
      </p:sp>
    </p:spTree>
    <p:extLst>
      <p:ext uri="{BB962C8B-B14F-4D97-AF65-F5344CB8AC3E}">
        <p14:creationId xmlns:p14="http://schemas.microsoft.com/office/powerpoint/2010/main" val="27421981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99A89D5-83CF-4C3E-9CF5-65C3BE887734}"/>
              </a:ext>
            </a:extLst>
          </p:cNvPr>
          <p:cNvSpPr>
            <a:spLocks noGrp="1"/>
          </p:cNvSpPr>
          <p:nvPr/>
        </p:nvSpPr>
        <p:spPr>
          <a:xfrm>
            <a:off x="0" y="3989190"/>
            <a:ext cx="18288000" cy="6297812"/>
          </a:xfrm>
          <a:custGeom>
            <a:avLst/>
            <a:gdLst/>
            <a:ahLst/>
            <a:cxnLst/>
            <a:rect l="0" t="0" r="0" b="0"/>
            <a:pathLst>
              <a:path w="18288000" h="6297811">
                <a:moveTo>
                  <a:pt x="0" y="1485900"/>
                </a:moveTo>
                <a:lnTo>
                  <a:pt x="18288000" y="0"/>
                </a:lnTo>
                <a:lnTo>
                  <a:pt x="18288000" y="6297811"/>
                </a:lnTo>
                <a:lnTo>
                  <a:pt x="0" y="6297811"/>
                </a:lnTo>
                <a:close/>
              </a:path>
            </a:pathLst>
          </a:custGeom>
          <a:solidFill>
            <a:srgbClr val="001F6B"/>
          </a:solidFill>
        </p:spPr>
        <p:txBody>
          <a:bodyPr/>
          <a:lstStyle/>
          <a:p>
            <a:endParaRPr sz="1801"/>
          </a:p>
        </p:txBody>
      </p:sp>
      <p:sp>
        <p:nvSpPr>
          <p:cNvPr id="900" name="Accent Line">
            <a:extLst>
              <a:ext uri="{FF2B5EF4-FFF2-40B4-BE49-F238E27FC236}">
                <a16:creationId xmlns:a16="http://schemas.microsoft.com/office/drawing/2014/main" id="{D5F61F5F-CE19-44ED-9D02-A5527460F025}"/>
              </a:ext>
            </a:extLst>
          </p:cNvPr>
          <p:cNvSpPr>
            <a:spLocks noGrp="1"/>
          </p:cNvSpPr>
          <p:nvPr/>
        </p:nvSpPr>
        <p:spPr>
          <a:xfrm flipV="1">
            <a:off x="0" y="3836790"/>
            <a:ext cx="18288000" cy="1485900"/>
          </a:xfrm>
          <a:prstGeom prst="line">
            <a:avLst/>
          </a:prstGeom>
          <a:ln w="57150">
            <a:solidFill>
              <a:srgbClr val="FF0000"/>
            </a:solidFill>
          </a:ln>
        </p:spPr>
        <p:txBody>
          <a:bodyPr/>
          <a:lstStyle/>
          <a:p>
            <a:endParaRPr lang="en-US"/>
          </a:p>
        </p:txBody>
      </p:sp>
      <p:sp>
        <p:nvSpPr>
          <p:cNvPr id="4" name="Text 1">
            <a:extLst>
              <a:ext uri="{FF2B5EF4-FFF2-40B4-BE49-F238E27FC236}">
                <a16:creationId xmlns:a16="http://schemas.microsoft.com/office/drawing/2014/main" id="{235EE72F-2DF4-4BBC-B836-E156CD294378}"/>
              </a:ext>
            </a:extLst>
          </p:cNvPr>
          <p:cNvSpPr>
            <a:spLocks noGrp="1"/>
          </p:cNvSpPr>
          <p:nvPr/>
        </p:nvSpPr>
        <p:spPr>
          <a:xfrm>
            <a:off x="838202" y="8448676"/>
            <a:ext cx="1855010" cy="1152524"/>
          </a:xfrm>
          <a:prstGeom prst="rect">
            <a:avLst/>
          </a:prstGeom>
          <a:noFill/>
        </p:spPr>
        <p:txBody>
          <a:bodyPr wrap="square" lIns="25401" tIns="25401" rIns="25401" bIns="25401" anchor="t">
            <a:normAutofit lnSpcReduction="10000"/>
          </a:bodyPr>
          <a:lstStyle/>
          <a:p>
            <a:pPr>
              <a:lnSpc>
                <a:spcPct val="58500"/>
              </a:lnSpc>
              <a:buNone/>
            </a:pPr>
            <a:r>
              <a:rPr sz="11250" b="1" spc="-450">
                <a:solidFill>
                  <a:srgbClr val="E40046"/>
                </a:solidFill>
                <a:latin typeface="Frutiger"/>
                <a:ea typeface="Frutiger"/>
                <a:cs typeface="Frutiger"/>
              </a:rPr>
              <a:t>03</a:t>
            </a:r>
          </a:p>
        </p:txBody>
      </p:sp>
      <p:sp>
        <p:nvSpPr>
          <p:cNvPr id="5" name="Text 2">
            <a:extLst>
              <a:ext uri="{FF2B5EF4-FFF2-40B4-BE49-F238E27FC236}">
                <a16:creationId xmlns:a16="http://schemas.microsoft.com/office/drawing/2014/main" id="{E2855DD2-C834-48A4-ADA1-C139894E16A5}"/>
              </a:ext>
            </a:extLst>
          </p:cNvPr>
          <p:cNvSpPr>
            <a:spLocks noGrp="1"/>
          </p:cNvSpPr>
          <p:nvPr/>
        </p:nvSpPr>
        <p:spPr>
          <a:xfrm>
            <a:off x="3134171" y="7612561"/>
            <a:ext cx="10991061" cy="392311"/>
          </a:xfrm>
          <a:prstGeom prst="rect">
            <a:avLst/>
          </a:prstGeom>
          <a:noFill/>
        </p:spPr>
        <p:txBody>
          <a:bodyPr wrap="square" lIns="25401" tIns="25401" rIns="25401" bIns="25401" anchor="t">
            <a:normAutofit/>
          </a:bodyPr>
          <a:lstStyle/>
          <a:p>
            <a:pPr>
              <a:lnSpc>
                <a:spcPct val="120000"/>
              </a:lnSpc>
              <a:buNone/>
            </a:pPr>
            <a:r>
              <a:rPr sz="1801" b="1" spc="432" dirty="0">
                <a:solidFill>
                  <a:srgbClr val="B6BFC4"/>
                </a:solidFill>
                <a:latin typeface="Frutiger"/>
                <a:ea typeface="Frutiger"/>
                <a:cs typeface="Frutiger"/>
              </a:rPr>
              <a:t>LIVE DEMO 3  ·  DBT DOCS</a:t>
            </a:r>
          </a:p>
        </p:txBody>
      </p:sp>
      <p:sp>
        <p:nvSpPr>
          <p:cNvPr id="6" name="Text 3">
            <a:extLst>
              <a:ext uri="{FF2B5EF4-FFF2-40B4-BE49-F238E27FC236}">
                <a16:creationId xmlns:a16="http://schemas.microsoft.com/office/drawing/2014/main" id="{20892FFE-61C4-4001-81BF-E1ACD977F149}"/>
              </a:ext>
            </a:extLst>
          </p:cNvPr>
          <p:cNvSpPr>
            <a:spLocks noGrp="1"/>
          </p:cNvSpPr>
          <p:nvPr/>
        </p:nvSpPr>
        <p:spPr>
          <a:xfrm>
            <a:off x="3134171" y="8138220"/>
            <a:ext cx="10991061" cy="800100"/>
          </a:xfrm>
          <a:prstGeom prst="rect">
            <a:avLst/>
          </a:prstGeom>
          <a:noFill/>
        </p:spPr>
        <p:txBody>
          <a:bodyPr wrap="square" lIns="25401" tIns="25401" rIns="25401" bIns="25401" anchor="t">
            <a:normAutofit/>
          </a:bodyPr>
          <a:lstStyle/>
          <a:p>
            <a:pPr>
              <a:lnSpc>
                <a:spcPct val="77670"/>
              </a:lnSpc>
              <a:buNone/>
            </a:pPr>
            <a:r>
              <a:rPr sz="6000" b="1" spc="-121" dirty="0">
                <a:solidFill>
                  <a:srgbClr val="FFFFFF"/>
                </a:solidFill>
                <a:latin typeface="Frutiger"/>
                <a:ea typeface="Frutiger"/>
                <a:cs typeface="Frutiger"/>
              </a:rPr>
              <a:t>Follow the lineage</a:t>
            </a:r>
          </a:p>
        </p:txBody>
      </p:sp>
      <p:sp>
        <p:nvSpPr>
          <p:cNvPr id="7" name="Text 4">
            <a:extLst>
              <a:ext uri="{FF2B5EF4-FFF2-40B4-BE49-F238E27FC236}">
                <a16:creationId xmlns:a16="http://schemas.microsoft.com/office/drawing/2014/main" id="{C426275A-6120-4A60-960F-EDFEA0556A63}"/>
              </a:ext>
            </a:extLst>
          </p:cNvPr>
          <p:cNvSpPr>
            <a:spLocks noGrp="1"/>
          </p:cNvSpPr>
          <p:nvPr/>
        </p:nvSpPr>
        <p:spPr>
          <a:xfrm>
            <a:off x="3134171" y="9071670"/>
            <a:ext cx="10991061" cy="434281"/>
          </a:xfrm>
          <a:prstGeom prst="rect">
            <a:avLst/>
          </a:prstGeom>
          <a:noFill/>
        </p:spPr>
        <p:txBody>
          <a:bodyPr wrap="square" lIns="25401" tIns="25401" rIns="25401" bIns="25401" anchor="t">
            <a:normAutofit/>
          </a:bodyPr>
          <a:lstStyle/>
          <a:p>
            <a:pPr>
              <a:lnSpc>
                <a:spcPct val="104000"/>
              </a:lnSpc>
              <a:buNone/>
            </a:pPr>
            <a:r>
              <a:rPr sz="2400">
                <a:solidFill>
                  <a:srgbClr val="C7D0E5"/>
                </a:solidFill>
                <a:latin typeface="Frutiger"/>
                <a:ea typeface="Frutiger"/>
                <a:cs typeface="Frutiger"/>
              </a:rPr>
              <a:t>Find the model, read what it means, and see everything it depends on.</a:t>
            </a:r>
          </a:p>
        </p:txBody>
      </p:sp>
      <p:pic>
        <p:nvPicPr>
          <p:cNvPr id="908" name="Image 0"/>
          <p:cNvPicPr>
            <a:picLocks noChangeAspect="1"/>
          </p:cNvPicPr>
          <p:nvPr/>
        </p:nvPicPr>
        <p:blipFill>
          <a:blip r:embed="rId3"/>
          <a:srcRect t="-5" b="-5"/>
          <a:stretch/>
        </p:blipFill>
        <p:spPr>
          <a:xfrm>
            <a:off x="16412620" y="571500"/>
            <a:ext cx="1037182" cy="514350"/>
          </a:xfrm>
          <a:prstGeom prst="rect">
            <a:avLst/>
          </a:prstGeom>
        </p:spPr>
      </p:pic>
      <p:sp>
        <p:nvSpPr>
          <p:cNvPr id="100" name="Shape 100"/>
          <p:cNvSpPr/>
          <p:nvPr/>
        </p:nvSpPr>
        <p:spPr>
          <a:xfrm>
            <a:off x="838200" y="660400"/>
            <a:ext cx="7620000" cy="355600"/>
          </a:xfrm>
          <a:prstGeom prst="rect">
            <a:avLst/>
          </a:prstGeom>
          <a:noFill/>
          <a:ln>
            <a:noFill/>
          </a:ln>
        </p:spPr>
        <p:txBody>
          <a:bodyPr wrap="square" lIns="0" tIns="0" rIns="0" bIns="0" anchor="t">
            <a:normAutofit/>
          </a:bodyPr>
          <a:lstStyle/>
          <a:p>
            <a:pPr>
              <a:buNone/>
            </a:pPr>
            <a:r>
              <a:rPr lang="en-US" sz="1500" b="1" spc="200" dirty="0">
                <a:solidFill>
                  <a:srgbClr val="E40046"/>
                </a:solidFill>
                <a:latin typeface="Frutiger"/>
                <a:cs typeface="Frutiger"/>
              </a:rPr>
              <a:t>WHAT YOU’LL SEE  ·  ~4 MINUTES</a:t>
            </a:r>
          </a:p>
        </p:txBody>
      </p:sp>
      <p:sp>
        <p:nvSpPr>
          <p:cNvPr id="110" name="Shape 110"/>
          <p:cNvSpPr/>
          <p:nvPr/>
        </p:nvSpPr>
        <p:spPr>
          <a:xfrm>
            <a:off x="838200" y="1092200"/>
            <a:ext cx="457200" cy="457200"/>
          </a:xfrm>
          <a:prstGeom prst="ellipse">
            <a:avLst/>
          </a:prstGeom>
          <a:solidFill>
            <a:srgbClr val="001F6B"/>
          </a:solidFill>
          <a:ln>
            <a:noFill/>
          </a:ln>
        </p:spPr>
        <p:txBody>
          <a:bodyPr wrap="square" lIns="0" tIns="0" rIns="0" bIns="0" anchor="ctr">
            <a:normAutofit/>
          </a:bodyPr>
          <a:lstStyle/>
          <a:p>
            <a:pPr algn="ctr">
              <a:buNone/>
            </a:pPr>
            <a:r>
              <a:rPr lang="en-US" sz="1800" b="1" dirty="0">
                <a:solidFill>
                  <a:srgbClr val="FFFFFF"/>
                </a:solidFill>
                <a:latin typeface="Frutiger"/>
                <a:cs typeface="Frutiger"/>
              </a:rPr>
              <a:t>1</a:t>
            </a:r>
          </a:p>
        </p:txBody>
      </p:sp>
      <p:sp>
        <p:nvSpPr>
          <p:cNvPr id="111" name="Shape 111"/>
          <p:cNvSpPr/>
          <p:nvPr/>
        </p:nvSpPr>
        <p:spPr>
          <a:xfrm>
            <a:off x="1473200" y="1016000"/>
            <a:ext cx="7112000" cy="711200"/>
          </a:xfrm>
          <a:prstGeom prst="rect">
            <a:avLst/>
          </a:prstGeom>
          <a:noFill/>
          <a:ln>
            <a:noFill/>
          </a:ln>
        </p:spPr>
        <p:txBody>
          <a:bodyPr wrap="square" lIns="0" tIns="0" rIns="0" bIns="0" anchor="ctr">
            <a:normAutofit/>
          </a:bodyPr>
          <a:lstStyle/>
          <a:p>
            <a:pPr>
              <a:buNone/>
            </a:pPr>
            <a:r>
              <a:rPr lang="en-US" sz="2100" b="1" dirty="0">
                <a:solidFill>
                  <a:srgbClr val="001F6B"/>
                </a:solidFill>
                <a:latin typeface="Frutiger"/>
                <a:cs typeface="Frutiger"/>
              </a:rPr>
              <a:t>Open the docs site  </a:t>
            </a:r>
            <a:r>
              <a:rPr lang="en-US" sz="1900" dirty="0">
                <a:solidFill>
                  <a:srgbClr val="364750"/>
                </a:solidFill>
                <a:latin typeface="Frutiger"/>
                <a:cs typeface="Frutiger"/>
              </a:rPr>
              <a:t>customers: description, grain, columns — generated from the YAML you already wrote.</a:t>
            </a:r>
          </a:p>
        </p:txBody>
      </p:sp>
      <p:sp>
        <p:nvSpPr>
          <p:cNvPr id="112" name="Shape 112"/>
          <p:cNvSpPr/>
          <p:nvPr/>
        </p:nvSpPr>
        <p:spPr>
          <a:xfrm>
            <a:off x="838200" y="1879600"/>
            <a:ext cx="457200" cy="457200"/>
          </a:xfrm>
          <a:prstGeom prst="ellipse">
            <a:avLst/>
          </a:prstGeom>
          <a:solidFill>
            <a:srgbClr val="001F6B"/>
          </a:solidFill>
          <a:ln>
            <a:noFill/>
          </a:ln>
        </p:spPr>
        <p:txBody>
          <a:bodyPr wrap="square" lIns="0" tIns="0" rIns="0" bIns="0" anchor="ctr">
            <a:normAutofit/>
          </a:bodyPr>
          <a:lstStyle/>
          <a:p>
            <a:pPr algn="ctr">
              <a:buNone/>
            </a:pPr>
            <a:r>
              <a:rPr lang="en-US" sz="1800" b="1" dirty="0">
                <a:solidFill>
                  <a:srgbClr val="FFFFFF"/>
                </a:solidFill>
                <a:latin typeface="Frutiger"/>
                <a:cs typeface="Frutiger"/>
              </a:rPr>
              <a:t>2</a:t>
            </a:r>
          </a:p>
        </p:txBody>
      </p:sp>
      <p:sp>
        <p:nvSpPr>
          <p:cNvPr id="113" name="Shape 113"/>
          <p:cNvSpPr/>
          <p:nvPr/>
        </p:nvSpPr>
        <p:spPr>
          <a:xfrm>
            <a:off x="1473200" y="1803400"/>
            <a:ext cx="7112000" cy="711200"/>
          </a:xfrm>
          <a:prstGeom prst="rect">
            <a:avLst/>
          </a:prstGeom>
          <a:noFill/>
          <a:ln>
            <a:noFill/>
          </a:ln>
        </p:spPr>
        <p:txBody>
          <a:bodyPr wrap="square" lIns="0" tIns="0" rIns="0" bIns="0" anchor="ctr">
            <a:normAutofit/>
          </a:bodyPr>
          <a:lstStyle/>
          <a:p>
            <a:pPr>
              <a:buNone/>
            </a:pPr>
            <a:r>
              <a:rPr lang="en-US" sz="2100" b="1" dirty="0">
                <a:solidFill>
                  <a:srgbClr val="001F6B"/>
                </a:solidFill>
                <a:latin typeface="Frutiger"/>
                <a:cs typeface="Frutiger"/>
              </a:rPr>
              <a:t>Answer a real question  </a:t>
            </a:r>
            <a:r>
              <a:rPr lang="en-US" sz="1900" dirty="0">
                <a:solidFill>
                  <a:srgbClr val="364750"/>
                </a:solidFill>
                <a:latin typeface="Frutiger"/>
                <a:cs typeface="Frutiger"/>
              </a:rPr>
              <a:t>“Why is this customer still ‘new’ after twelve months?” The description says one order = new; nobody reads the SQL.</a:t>
            </a:r>
          </a:p>
        </p:txBody>
      </p:sp>
      <p:sp>
        <p:nvSpPr>
          <p:cNvPr id="114" name="Shape 114"/>
          <p:cNvSpPr/>
          <p:nvPr/>
        </p:nvSpPr>
        <p:spPr>
          <a:xfrm>
            <a:off x="838200" y="2667000"/>
            <a:ext cx="457200" cy="457200"/>
          </a:xfrm>
          <a:prstGeom prst="ellipse">
            <a:avLst/>
          </a:prstGeom>
          <a:solidFill>
            <a:srgbClr val="001F6B"/>
          </a:solidFill>
          <a:ln>
            <a:noFill/>
          </a:ln>
        </p:spPr>
        <p:txBody>
          <a:bodyPr wrap="square" lIns="0" tIns="0" rIns="0" bIns="0" anchor="ctr">
            <a:normAutofit/>
          </a:bodyPr>
          <a:lstStyle/>
          <a:p>
            <a:pPr algn="ctr">
              <a:buNone/>
            </a:pPr>
            <a:r>
              <a:rPr lang="en-US" sz="1800" b="1" dirty="0">
                <a:solidFill>
                  <a:srgbClr val="FFFFFF"/>
                </a:solidFill>
                <a:latin typeface="Frutiger"/>
                <a:cs typeface="Frutiger"/>
              </a:rPr>
              <a:t>3</a:t>
            </a:r>
          </a:p>
        </p:txBody>
      </p:sp>
      <p:sp>
        <p:nvSpPr>
          <p:cNvPr id="115" name="Shape 115"/>
          <p:cNvSpPr/>
          <p:nvPr/>
        </p:nvSpPr>
        <p:spPr>
          <a:xfrm>
            <a:off x="1473200" y="2590800"/>
            <a:ext cx="7112000" cy="711200"/>
          </a:xfrm>
          <a:prstGeom prst="rect">
            <a:avLst/>
          </a:prstGeom>
          <a:noFill/>
          <a:ln>
            <a:noFill/>
          </a:ln>
        </p:spPr>
        <p:txBody>
          <a:bodyPr wrap="square" lIns="0" tIns="0" rIns="0" bIns="0" anchor="ctr">
            <a:normAutofit/>
          </a:bodyPr>
          <a:lstStyle/>
          <a:p>
            <a:pPr>
              <a:buNone/>
            </a:pPr>
            <a:r>
              <a:rPr lang="en-US" sz="2100" b="1" dirty="0">
                <a:solidFill>
                  <a:srgbClr val="001F6B"/>
                </a:solidFill>
                <a:latin typeface="Frutiger"/>
                <a:cs typeface="Frutiger"/>
              </a:rPr>
              <a:t>Walk the lineage  </a:t>
            </a:r>
            <a:r>
              <a:rPr lang="en-US" sz="1900" dirty="0">
                <a:solidFill>
                  <a:srgbClr val="364750"/>
                </a:solidFill>
                <a:latin typeface="Frutiger"/>
                <a:cs typeface="Frutiger"/>
              </a:rPr>
              <a:t>Expand upstream: five sources, five staging views, order_items and orders — and where the reconciliation test lives.</a:t>
            </a:r>
          </a:p>
        </p:txBody>
      </p:sp>
      <p:sp>
        <p:nvSpPr>
          <p:cNvPr id="116" name="Shape 116"/>
          <p:cNvSpPr/>
          <p:nvPr/>
        </p:nvSpPr>
        <p:spPr>
          <a:xfrm>
            <a:off x="838200" y="3454400"/>
            <a:ext cx="457200" cy="457200"/>
          </a:xfrm>
          <a:prstGeom prst="ellipse">
            <a:avLst/>
          </a:prstGeom>
          <a:solidFill>
            <a:srgbClr val="001F6B"/>
          </a:solidFill>
          <a:ln>
            <a:noFill/>
          </a:ln>
        </p:spPr>
        <p:txBody>
          <a:bodyPr wrap="square" lIns="0" tIns="0" rIns="0" bIns="0" anchor="ctr">
            <a:normAutofit/>
          </a:bodyPr>
          <a:lstStyle/>
          <a:p>
            <a:pPr algn="ctr">
              <a:buNone/>
            </a:pPr>
            <a:r>
              <a:rPr lang="en-US" sz="1800" b="1" dirty="0">
                <a:solidFill>
                  <a:srgbClr val="FFFFFF"/>
                </a:solidFill>
                <a:latin typeface="Frutiger"/>
                <a:cs typeface="Frutiger"/>
              </a:rPr>
              <a:t>4</a:t>
            </a:r>
          </a:p>
        </p:txBody>
      </p:sp>
      <p:sp>
        <p:nvSpPr>
          <p:cNvPr id="117" name="Shape 117"/>
          <p:cNvSpPr/>
          <p:nvPr/>
        </p:nvSpPr>
        <p:spPr>
          <a:xfrm>
            <a:off x="1473200" y="3378200"/>
            <a:ext cx="7112000" cy="711200"/>
          </a:xfrm>
          <a:prstGeom prst="rect">
            <a:avLst/>
          </a:prstGeom>
          <a:noFill/>
          <a:ln>
            <a:noFill/>
          </a:ln>
        </p:spPr>
        <p:txBody>
          <a:bodyPr wrap="square" lIns="0" tIns="0" rIns="0" bIns="0" anchor="ctr">
            <a:normAutofit/>
          </a:bodyPr>
          <a:lstStyle/>
          <a:p>
            <a:pPr>
              <a:buNone/>
            </a:pPr>
            <a:r>
              <a:rPr lang="en-US" sz="2100" b="1" dirty="0">
                <a:solidFill>
                  <a:srgbClr val="001F6B"/>
                </a:solidFill>
                <a:latin typeface="Frutiger"/>
                <a:cs typeface="Frutiger"/>
              </a:rPr>
              <a:t>Select by graph  </a:t>
            </a:r>
            <a:r>
              <a:rPr lang="en-US" sz="1900" dirty="0">
                <a:solidFill>
                  <a:srgbClr val="364750"/>
                </a:solidFill>
                <a:latin typeface="Frutiger"/>
                <a:cs typeface="Frutiger"/>
              </a:rPr>
              <a:t>dbt ls --select +customers (ancestors) and stg_orders+ (descendants).</a:t>
            </a:r>
          </a:p>
        </p:txBody>
      </p:sp>
      <p:sp>
        <p:nvSpPr>
          <p:cNvPr id="120" name="Shape 120"/>
          <p:cNvSpPr/>
          <p:nvPr/>
        </p:nvSpPr>
        <p:spPr>
          <a:xfrm>
            <a:off x="9906000" y="660400"/>
            <a:ext cx="5588000" cy="355600"/>
          </a:xfrm>
          <a:prstGeom prst="rect">
            <a:avLst/>
          </a:prstGeom>
          <a:noFill/>
          <a:ln>
            <a:noFill/>
          </a:ln>
        </p:spPr>
        <p:txBody>
          <a:bodyPr wrap="square" lIns="0" tIns="0" rIns="0" bIns="0" anchor="t">
            <a:normAutofit/>
          </a:bodyPr>
          <a:lstStyle/>
          <a:p>
            <a:pPr>
              <a:buNone/>
            </a:pPr>
            <a:r>
              <a:rPr lang="en-US" sz="1500" b="1" spc="200" dirty="0">
                <a:solidFill>
                  <a:srgbClr val="E40046"/>
                </a:solidFill>
                <a:latin typeface="Frutiger"/>
                <a:cs typeface="Frutiger"/>
              </a:rPr>
              <a:t>COMMANDS</a:t>
            </a:r>
          </a:p>
        </p:txBody>
      </p:sp>
      <p:sp>
        <p:nvSpPr>
          <p:cNvPr id="121" name="Code 121"/>
          <p:cNvSpPr/>
          <p:nvPr/>
        </p:nvSpPr>
        <p:spPr>
          <a:xfrm>
            <a:off x="9906000" y="1066800"/>
            <a:ext cx="5969000" cy="2413000"/>
          </a:xfrm>
          <a:prstGeom prst="roundRect">
            <a:avLst>
              <a:gd name="adj" fmla="val 4000"/>
            </a:avLst>
          </a:prstGeom>
          <a:solidFill>
            <a:srgbClr val="0E1E4A"/>
          </a:solidFill>
          <a:ln>
            <a:noFill/>
          </a:ln>
        </p:spPr>
        <p:txBody>
          <a:bodyPr wrap="square" lIns="228600" tIns="203200" rIns="228600" bIns="228600" anchor="t">
            <a:normAutofit fontScale="92500"/>
          </a:bodyPr>
          <a:lstStyle/>
          <a:p>
            <a:pPr>
              <a:lnSpc>
                <a:spcPct val="116000"/>
              </a:lnSpc>
              <a:buNone/>
            </a:pPr>
            <a:r>
              <a:rPr lang="en-US" sz="1400" dirty="0">
                <a:solidFill>
                  <a:srgbClr val="8EC5FF"/>
                </a:solidFill>
                <a:latin typeface="Consolas"/>
                <a:cs typeface="Consolas"/>
              </a:rPr>
              <a:t>$ dbt docs generate</a:t>
            </a:r>
            <a:r>
              <a:rPr lang="en-US" sz="1400" dirty="0">
                <a:solidFill>
                  <a:srgbClr val="8E9DC5"/>
                </a:solidFill>
                <a:latin typeface="Consolas"/>
                <a:cs typeface="Consolas"/>
              </a:rPr>
              <a:t>      # builds catalog + manifest</a:t>
            </a:r>
          </a:p>
          <a:p>
            <a:pPr>
              <a:lnSpc>
                <a:spcPct val="116000"/>
              </a:lnSpc>
              <a:buNone/>
            </a:pPr>
            <a:r>
              <a:rPr lang="en-US" sz="1400" dirty="0">
                <a:solidFill>
                  <a:srgbClr val="8EC5FF"/>
                </a:solidFill>
                <a:latin typeface="Consolas"/>
                <a:cs typeface="Consolas"/>
              </a:rPr>
              <a:t>$ dbt docs serve --port 8080</a:t>
            </a:r>
          </a:p>
          <a:p>
            <a:pPr>
              <a:lnSpc>
                <a:spcPct val="116000"/>
              </a:lnSpc>
              <a:buNone/>
            </a:pPr>
            <a:r>
              <a:rPr lang="en-US" sz="1400" dirty="0">
                <a:solidFill>
                  <a:srgbClr val="8EC5FF"/>
                </a:solidFill>
                <a:latin typeface="Consolas"/>
                <a:cs typeface="Consolas"/>
              </a:rPr>
              <a:t>$ dbt ls --select +customers --resource-type model source</a:t>
            </a:r>
          </a:p>
          <a:p>
            <a:pPr>
              <a:lnSpc>
                <a:spcPct val="116000"/>
              </a:lnSpc>
              <a:buNone/>
            </a:pPr>
            <a:r>
              <a:rPr lang="en-US" sz="1400" dirty="0">
                <a:solidFill>
                  <a:srgbClr val="E8ECF5"/>
                </a:solidFill>
                <a:latin typeface="Consolas"/>
                <a:cs typeface="Consolas"/>
              </a:rPr>
              <a:t>  source:jaffle_shop.ecom.raw_customers  … raw_supplies</a:t>
            </a:r>
          </a:p>
          <a:p>
            <a:pPr>
              <a:lnSpc>
                <a:spcPct val="116000"/>
              </a:lnSpc>
              <a:buNone/>
            </a:pPr>
            <a:r>
              <a:rPr lang="en-US" sz="1400" dirty="0">
                <a:solidFill>
                  <a:srgbClr val="E8ECF5"/>
                </a:solidFill>
                <a:latin typeface="Consolas"/>
                <a:cs typeface="Consolas"/>
              </a:rPr>
              <a:t>  jaffle_shop.staging.stg_customers  … stg_supplies</a:t>
            </a:r>
          </a:p>
          <a:p>
            <a:pPr>
              <a:lnSpc>
                <a:spcPct val="116000"/>
              </a:lnSpc>
              <a:buNone/>
            </a:pPr>
            <a:r>
              <a:rPr lang="en-US" sz="1400" dirty="0">
                <a:solidFill>
                  <a:srgbClr val="E8ECF5"/>
                </a:solidFill>
                <a:latin typeface="Consolas"/>
                <a:cs typeface="Consolas"/>
              </a:rPr>
              <a:t>  jaffle_shop.marts.order_items</a:t>
            </a:r>
          </a:p>
          <a:p>
            <a:pPr>
              <a:lnSpc>
                <a:spcPct val="116000"/>
              </a:lnSpc>
              <a:buNone/>
            </a:pPr>
            <a:r>
              <a:rPr lang="en-US" sz="1400" dirty="0">
                <a:solidFill>
                  <a:srgbClr val="E8ECF5"/>
                </a:solidFill>
                <a:latin typeface="Consolas"/>
                <a:cs typeface="Consolas"/>
              </a:rPr>
              <a:t>  jaffle_shop.marts.orders</a:t>
            </a:r>
          </a:p>
          <a:p>
            <a:pPr>
              <a:lnSpc>
                <a:spcPct val="116000"/>
              </a:lnSpc>
              <a:buNone/>
            </a:pPr>
            <a:r>
              <a:rPr lang="en-US" sz="1400" dirty="0">
                <a:solidFill>
                  <a:srgbClr val="E8ECF5"/>
                </a:solidFill>
                <a:latin typeface="Consolas"/>
                <a:cs typeface="Consolas"/>
              </a:rPr>
              <a:t>  jaffle_shop.marts.customers</a:t>
            </a:r>
          </a:p>
        </p:txBody>
      </p:sp>
    </p:spTree>
    <p:extLst>
      <p:ext uri="{BB962C8B-B14F-4D97-AF65-F5344CB8AC3E}">
        <p14:creationId xmlns:p14="http://schemas.microsoft.com/office/powerpoint/2010/main" val="2244549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3AA81A4-4B55-4071-8D0D-8E66DAC85BE0}"/>
              </a:ext>
            </a:extLst>
          </p:cNvPr>
          <p:cNvSpPr>
            <a:spLocks noGrp="1"/>
          </p:cNvSpPr>
          <p:nvPr/>
        </p:nvSpPr>
        <p:spPr>
          <a:xfrm>
            <a:off x="838201" y="495302"/>
            <a:ext cx="15240000" cy="392311"/>
          </a:xfrm>
          <a:prstGeom prst="rect">
            <a:avLst/>
          </a:prstGeom>
          <a:noFill/>
        </p:spPr>
        <p:txBody>
          <a:bodyPr wrap="square" lIns="25401" tIns="25401" rIns="25401" bIns="25401" anchor="t">
            <a:normAutofit/>
          </a:bodyPr>
          <a:lstStyle/>
          <a:p>
            <a:pPr>
              <a:lnSpc>
                <a:spcPct val="120000"/>
              </a:lnSpc>
              <a:buNone/>
            </a:pPr>
            <a:r>
              <a:rPr sz="1801" b="1" spc="361">
                <a:solidFill>
                  <a:srgbClr val="E40046"/>
                </a:solidFill>
                <a:latin typeface="Frutiger"/>
                <a:ea typeface="Frutiger"/>
                <a:cs typeface="Frutiger"/>
              </a:rPr>
              <a:t>MICROSOFT DATA PLATFORMS</a:t>
            </a:r>
            <a:endParaRPr sz="1801"/>
          </a:p>
        </p:txBody>
      </p:sp>
      <p:sp>
        <p:nvSpPr>
          <p:cNvPr id="3" name="Text 1">
            <a:extLst>
              <a:ext uri="{FF2B5EF4-FFF2-40B4-BE49-F238E27FC236}">
                <a16:creationId xmlns:a16="http://schemas.microsoft.com/office/drawing/2014/main" id="{BCCFDF1D-25C9-4CBE-B374-B2E6938EB573}"/>
              </a:ext>
            </a:extLst>
          </p:cNvPr>
          <p:cNvSpPr>
            <a:spLocks noGrp="1"/>
          </p:cNvSpPr>
          <p:nvPr/>
        </p:nvSpPr>
        <p:spPr>
          <a:xfrm>
            <a:off x="838201" y="963812"/>
            <a:ext cx="15240000" cy="640407"/>
          </a:xfrm>
          <a:prstGeom prst="rect">
            <a:avLst/>
          </a:prstGeom>
          <a:noFill/>
        </p:spPr>
        <p:txBody>
          <a:bodyPr wrap="square" lIns="25401" tIns="25401" rIns="25401" bIns="25401" anchor="t">
            <a:normAutofit/>
          </a:bodyPr>
          <a:lstStyle/>
          <a:p>
            <a:pPr>
              <a:lnSpc>
                <a:spcPct val="79050"/>
              </a:lnSpc>
              <a:buNone/>
            </a:pPr>
            <a:r>
              <a:rPr sz="4651" b="1" spc="-69">
                <a:solidFill>
                  <a:srgbClr val="001F6B"/>
                </a:solidFill>
                <a:latin typeface="Frutiger"/>
                <a:ea typeface="Frutiger"/>
                <a:cs typeface="Frutiger"/>
              </a:rPr>
              <a:t>Pick your adapter</a:t>
            </a:r>
            <a:endParaRPr sz="4651"/>
          </a:p>
        </p:txBody>
      </p:sp>
      <p:pic>
        <p:nvPicPr>
          <p:cNvPr id="29" name="Image 0"/>
          <p:cNvPicPr>
            <a:picLocks noChangeAspect="1"/>
          </p:cNvPicPr>
          <p:nvPr/>
        </p:nvPicPr>
        <p:blipFill>
          <a:blip r:embed="rId3"/>
          <a:srcRect t="-5" b="-5"/>
          <a:stretch/>
        </p:blipFill>
        <p:spPr>
          <a:xfrm>
            <a:off x="16412620" y="571500"/>
            <a:ext cx="1037182" cy="514350"/>
          </a:xfrm>
          <a:prstGeom prst="rect">
            <a:avLst/>
          </a:prstGeom>
        </p:spPr>
      </p:pic>
      <p:sp>
        <p:nvSpPr>
          <p:cNvPr id="5" name="Shape 2">
            <a:extLst>
              <a:ext uri="{FF2B5EF4-FFF2-40B4-BE49-F238E27FC236}">
                <a16:creationId xmlns:a16="http://schemas.microsoft.com/office/drawing/2014/main" id="{EB3CBC50-008C-43C4-9C0B-DC3810711F60}"/>
              </a:ext>
            </a:extLst>
          </p:cNvPr>
          <p:cNvSpPr>
            <a:spLocks noGrp="1"/>
          </p:cNvSpPr>
          <p:nvPr/>
        </p:nvSpPr>
        <p:spPr>
          <a:xfrm>
            <a:off x="838202" y="1813769"/>
            <a:ext cx="16611600" cy="28574"/>
          </a:xfrm>
          <a:prstGeom prst="rect">
            <a:avLst/>
          </a:prstGeom>
          <a:solidFill>
            <a:srgbClr val="FF0000"/>
          </a:solidFill>
        </p:spPr>
        <p:txBody>
          <a:bodyPr/>
          <a:lstStyle/>
          <a:p>
            <a:endParaRPr sz="1801"/>
          </a:p>
        </p:txBody>
      </p:sp>
      <p:sp>
        <p:nvSpPr>
          <p:cNvPr id="6" name="Shape 3">
            <a:extLst>
              <a:ext uri="{FF2B5EF4-FFF2-40B4-BE49-F238E27FC236}">
                <a16:creationId xmlns:a16="http://schemas.microsoft.com/office/drawing/2014/main" id="{A2F5C3DE-A1D6-4F76-BA20-D1D1D174C82A}"/>
              </a:ext>
            </a:extLst>
          </p:cNvPr>
          <p:cNvSpPr>
            <a:spLocks noGrp="1"/>
          </p:cNvSpPr>
          <p:nvPr/>
        </p:nvSpPr>
        <p:spPr>
          <a:xfrm>
            <a:off x="838202" y="1880445"/>
            <a:ext cx="16611600" cy="28574"/>
          </a:xfrm>
          <a:prstGeom prst="rect">
            <a:avLst/>
          </a:prstGeom>
          <a:solidFill>
            <a:srgbClr val="3649A8"/>
          </a:solidFill>
        </p:spPr>
        <p:txBody>
          <a:bodyPr/>
          <a:lstStyle/>
          <a:p>
            <a:endParaRPr sz="1801"/>
          </a:p>
        </p:txBody>
      </p:sp>
      <p:sp>
        <p:nvSpPr>
          <p:cNvPr id="22" name="Shape 19">
            <a:extLst>
              <a:ext uri="{FF2B5EF4-FFF2-40B4-BE49-F238E27FC236}">
                <a16:creationId xmlns:a16="http://schemas.microsoft.com/office/drawing/2014/main" id="{1541A8EB-697F-4AB4-AB8A-D0B4D6C58098}"/>
              </a:ext>
            </a:extLst>
          </p:cNvPr>
          <p:cNvSpPr>
            <a:spLocks noGrp="1"/>
          </p:cNvSpPr>
          <p:nvPr/>
        </p:nvSpPr>
        <p:spPr>
          <a:xfrm>
            <a:off x="838202" y="9294615"/>
            <a:ext cx="16611600" cy="9525"/>
          </a:xfrm>
          <a:prstGeom prst="rect">
            <a:avLst/>
          </a:prstGeom>
          <a:solidFill>
            <a:srgbClr val="E2E7EB"/>
          </a:solidFill>
        </p:spPr>
        <p:txBody>
          <a:bodyPr/>
          <a:lstStyle/>
          <a:p>
            <a:endParaRPr sz="1801"/>
          </a:p>
        </p:txBody>
      </p:sp>
      <p:sp>
        <p:nvSpPr>
          <p:cNvPr id="23" name="Text 20">
            <a:extLst>
              <a:ext uri="{FF2B5EF4-FFF2-40B4-BE49-F238E27FC236}">
                <a16:creationId xmlns:a16="http://schemas.microsoft.com/office/drawing/2014/main" id="{E15C9716-E370-4C36-BAEA-9A2EA3E99FB3}"/>
              </a:ext>
            </a:extLst>
          </p:cNvPr>
          <p:cNvSpPr>
            <a:spLocks noGrp="1"/>
          </p:cNvSpPr>
          <p:nvPr/>
        </p:nvSpPr>
        <p:spPr>
          <a:xfrm>
            <a:off x="838201" y="9513691"/>
            <a:ext cx="7461945" cy="392311"/>
          </a:xfrm>
          <a:prstGeom prst="rect">
            <a:avLst/>
          </a:prstGeom>
          <a:noFill/>
        </p:spPr>
        <p:txBody>
          <a:bodyPr wrap="square" lIns="25401" tIns="25401" rIns="25401" bIns="25401" anchor="t">
            <a:normAutofit/>
          </a:bodyPr>
          <a:lstStyle/>
          <a:p>
            <a:pPr>
              <a:lnSpc>
                <a:spcPct val="124000"/>
              </a:lnSpc>
              <a:buNone/>
            </a:pPr>
            <a:r>
              <a:rPr sz="1801" dirty="0">
                <a:solidFill>
                  <a:srgbClr val="667780"/>
                </a:solidFill>
                <a:latin typeface="Frutiger"/>
                <a:ea typeface="Frutiger"/>
                <a:cs typeface="Frutiger"/>
              </a:rPr>
              <a:t>Getting started with dbt</a:t>
            </a:r>
            <a:endParaRPr sz="1801" dirty="0"/>
          </a:p>
        </p:txBody>
      </p:sp>
      <p:sp>
        <p:nvSpPr>
          <p:cNvPr id="25" name="Text 22">
            <a:extLst>
              <a:ext uri="{FF2B5EF4-FFF2-40B4-BE49-F238E27FC236}">
                <a16:creationId xmlns:a16="http://schemas.microsoft.com/office/drawing/2014/main" id="{0D167625-4BC5-4EC5-9AFD-330CEA05D3F3}"/>
              </a:ext>
            </a:extLst>
          </p:cNvPr>
          <p:cNvSpPr>
            <a:spLocks noGrp="1"/>
          </p:cNvSpPr>
          <p:nvPr/>
        </p:nvSpPr>
        <p:spPr>
          <a:xfrm>
            <a:off x="9987856" y="9513691"/>
            <a:ext cx="7461945" cy="392311"/>
          </a:xfrm>
          <a:prstGeom prst="rect">
            <a:avLst/>
          </a:prstGeom>
          <a:noFill/>
        </p:spPr>
        <p:txBody>
          <a:bodyPr wrap="square" lIns="25401" tIns="25401" rIns="25401" bIns="25401" anchor="t">
            <a:normAutofit/>
          </a:bodyPr>
          <a:lstStyle/>
          <a:p>
            <a:pPr algn="r">
              <a:lnSpc>
                <a:spcPct val="124000"/>
              </a:lnSpc>
              <a:buNone/>
            </a:pPr>
            <a:r>
              <a:rPr lang="en-US" sz="1801">
                <a:solidFill>
                  <a:srgbClr val="667780"/>
                </a:solidFill>
                <a:latin typeface="Frutiger"/>
                <a:ea typeface="Frutiger"/>
                <a:cs typeface="Frutiger"/>
              </a:rPr>
              <a:t>18</a:t>
            </a:r>
            <a:endParaRPr sz="1801"/>
          </a:p>
        </p:txBody>
      </p:sp>
      <p:graphicFrame>
        <p:nvGraphicFramePr>
          <p:cNvPr id="100" name="Table 100"/>
          <p:cNvGraphicFramePr>
            <a:graphicFrameLocks noGrp="1"/>
          </p:cNvGraphicFramePr>
          <p:nvPr/>
        </p:nvGraphicFramePr>
        <p:xfrm>
          <a:off x="838200" y="2362200"/>
          <a:ext cx="16611600" cy="4902200"/>
        </p:xfrm>
        <a:graphic>
          <a:graphicData uri="http://schemas.openxmlformats.org/drawingml/2006/table">
            <a:tbl>
              <a:tblPr/>
              <a:tblGrid>
                <a:gridCol w="3429000">
                  <a:extLst>
                    <a:ext uri="{9D8B030D-6E8A-4147-A177-3AD203B41FA5}">
                      <a16:colId xmlns:a16="http://schemas.microsoft.com/office/drawing/2014/main" val="20000"/>
                    </a:ext>
                  </a:extLst>
                </a:gridCol>
                <a:gridCol w="2921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gridCol w="6832600">
                  <a:extLst>
                    <a:ext uri="{9D8B030D-6E8A-4147-A177-3AD203B41FA5}">
                      <a16:colId xmlns:a16="http://schemas.microsoft.com/office/drawing/2014/main" val="20004"/>
                    </a:ext>
                  </a:extLst>
                </a:gridCol>
              </a:tblGrid>
              <a:tr h="558800">
                <a:tc>
                  <a:txBody>
                    <a:bodyPr/>
                    <a:lstStyle/>
                    <a:p>
                      <a:pPr algn="l">
                        <a:buNone/>
                      </a:pPr>
                      <a:r>
                        <a:rPr lang="en-US" sz="1900" b="1" dirty="0">
                          <a:solidFill>
                            <a:srgbClr val="FFFFFF"/>
                          </a:solidFill>
                          <a:latin typeface="Frutiger"/>
                          <a:cs typeface="Frutiger"/>
                        </a:rPr>
                        <a:t>Where your data lives</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001F6B"/>
                    </a:solidFill>
                  </a:tcPr>
                </a:tc>
                <a:tc>
                  <a:txBody>
                    <a:bodyPr/>
                    <a:lstStyle/>
                    <a:p>
                      <a:pPr algn="l">
                        <a:buNone/>
                      </a:pPr>
                      <a:r>
                        <a:rPr lang="en-US" sz="1900" b="1" dirty="0">
                          <a:solidFill>
                            <a:srgbClr val="FFFFFF"/>
                          </a:solidFill>
                          <a:latin typeface="Frutiger"/>
                          <a:cs typeface="Frutiger"/>
                        </a:rPr>
                        <a:t>Adapter</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001F6B"/>
                    </a:solidFill>
                  </a:tcPr>
                </a:tc>
                <a:tc>
                  <a:txBody>
                    <a:bodyPr/>
                    <a:lstStyle/>
                    <a:p>
                      <a:pPr algn="l">
                        <a:buNone/>
                      </a:pPr>
                      <a:r>
                        <a:rPr lang="en-US" sz="1900" b="1" dirty="0">
                          <a:solidFill>
                            <a:srgbClr val="FFFFFF"/>
                          </a:solidFill>
                          <a:latin typeface="Frutiger"/>
                          <a:cs typeface="Frutiger"/>
                        </a:rPr>
                        <a:t>Dialect</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001F6B"/>
                    </a:solidFill>
                  </a:tcPr>
                </a:tc>
                <a:tc>
                  <a:txBody>
                    <a:bodyPr/>
                    <a:lstStyle/>
                    <a:p>
                      <a:pPr algn="l">
                        <a:buNone/>
                      </a:pPr>
                      <a:r>
                        <a:rPr lang="en-US" sz="1900" b="1" dirty="0">
                          <a:solidFill>
                            <a:srgbClr val="FFFFFF"/>
                          </a:solidFill>
                          <a:latin typeface="Frutiger"/>
                          <a:cs typeface="Frutiger"/>
                        </a:rPr>
                        <a:t>Maintained by</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001F6B"/>
                    </a:solidFill>
                  </a:tcPr>
                </a:tc>
                <a:tc>
                  <a:txBody>
                    <a:bodyPr/>
                    <a:lstStyle/>
                    <a:p>
                      <a:pPr algn="l">
                        <a:buNone/>
                      </a:pPr>
                      <a:r>
                        <a:rPr lang="en-US" sz="1900" b="1" dirty="0">
                          <a:solidFill>
                            <a:srgbClr val="FFFFFF"/>
                          </a:solidFill>
                          <a:latin typeface="Frutiger"/>
                          <a:cs typeface="Frutiger"/>
                        </a:rPr>
                        <a:t>Notes for today</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001F6B"/>
                    </a:solidFill>
                  </a:tcPr>
                </a:tc>
                <a:extLst>
                  <a:ext uri="{0D108BD9-81ED-4DB2-BD59-A6C34878D82A}">
                    <a16:rowId xmlns:a16="http://schemas.microsoft.com/office/drawing/2014/main" val="10000"/>
                  </a:ext>
                </a:extLst>
              </a:tr>
              <a:tr h="838200">
                <a:tc>
                  <a:txBody>
                    <a:bodyPr/>
                    <a:lstStyle/>
                    <a:p>
                      <a:pPr algn="l">
                        <a:buNone/>
                      </a:pPr>
                      <a:r>
                        <a:rPr lang="en-US" sz="1900" b="1" dirty="0">
                          <a:solidFill>
                            <a:srgbClr val="364750"/>
                          </a:solidFill>
                          <a:latin typeface="Frutiger"/>
                          <a:cs typeface="Frutiger"/>
                        </a:rPr>
                        <a:t>Fabric Warehouse</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900" b="1" dirty="0">
                          <a:solidFill>
                            <a:srgbClr val="001F6B"/>
                          </a:solidFill>
                          <a:latin typeface="Consolas"/>
                          <a:cs typeface="Consolas"/>
                        </a:rPr>
                        <a:t>dbt-fabric 1.11</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900" dirty="0">
                          <a:solidFill>
                            <a:srgbClr val="364750"/>
                          </a:solidFill>
                          <a:latin typeface="Frutiger"/>
                          <a:cs typeface="Frutiger"/>
                        </a:rPr>
                        <a:t>T-SQL</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900" dirty="0">
                          <a:solidFill>
                            <a:srgbClr val="364750"/>
                          </a:solidFill>
                          <a:latin typeface="Frutiger"/>
                          <a:cs typeface="Frutiger"/>
                        </a:rPr>
                        <a:t>Microsoft</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900" dirty="0">
                          <a:solidFill>
                            <a:srgbClr val="364750"/>
                          </a:solidFill>
                          <a:latin typeface="Frutiger"/>
                          <a:cs typeface="Frutiger"/>
                        </a:rPr>
                        <a:t>Demos 1–3. Entra auth via az login or service principal. mssql-python driver — no ODBC install.</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extLst>
                  <a:ext uri="{0D108BD9-81ED-4DB2-BD59-A6C34878D82A}">
                    <a16:rowId xmlns:a16="http://schemas.microsoft.com/office/drawing/2014/main" val="10001"/>
                  </a:ext>
                </a:extLst>
              </a:tr>
              <a:tr h="990600">
                <a:tc>
                  <a:txBody>
                    <a:bodyPr/>
                    <a:lstStyle/>
                    <a:p>
                      <a:pPr algn="l">
                        <a:buNone/>
                      </a:pPr>
                      <a:r>
                        <a:rPr lang="en-US" sz="1900" b="1" dirty="0">
                          <a:solidFill>
                            <a:srgbClr val="364750"/>
                          </a:solidFill>
                          <a:latin typeface="Frutiger"/>
                          <a:cs typeface="Frutiger"/>
                        </a:rPr>
                        <a:t>Fabric Lakehouse</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900" b="1" dirty="0">
                          <a:solidFill>
                            <a:srgbClr val="001F6B"/>
                          </a:solidFill>
                          <a:latin typeface="Consolas"/>
                          <a:cs typeface="Consolas"/>
                        </a:rPr>
                        <a:t>dbt-fabricspark 1.13</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900" dirty="0">
                          <a:solidFill>
                            <a:srgbClr val="364750"/>
                          </a:solidFill>
                          <a:latin typeface="Frutiger"/>
                          <a:cs typeface="Frutiger"/>
                        </a:rPr>
                        <a:t>Spark SQL</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900" dirty="0">
                          <a:solidFill>
                            <a:srgbClr val="364750"/>
                          </a:solidFill>
                          <a:latin typeface="Frutiger"/>
                          <a:cs typeface="Frutiger"/>
                        </a:rPr>
                        <a:t>Microsoft</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900" dirty="0">
                          <a:solidFill>
                            <a:srgbClr val="364750"/>
                          </a:solidFill>
                          <a:latin typeface="Frutiger"/>
                          <a:cs typeface="Frutiger"/>
                        </a:rPr>
                        <a:t>Demo 4. Submits Spark via Livy — not the SQL analytics endpoint (read-only).</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extLst>
                  <a:ext uri="{0D108BD9-81ED-4DB2-BD59-A6C34878D82A}">
                    <a16:rowId xmlns:a16="http://schemas.microsoft.com/office/drawing/2014/main" val="10002"/>
                  </a:ext>
                </a:extLst>
              </a:tr>
              <a:tr h="838200">
                <a:tc>
                  <a:txBody>
                    <a:bodyPr/>
                    <a:lstStyle/>
                    <a:p>
                      <a:pPr algn="l">
                        <a:buNone/>
                      </a:pPr>
                      <a:r>
                        <a:rPr lang="en-US" sz="1900" b="1" dirty="0">
                          <a:solidFill>
                            <a:srgbClr val="364750"/>
                          </a:solidFill>
                          <a:latin typeface="Frutiger"/>
                          <a:cs typeface="Frutiger"/>
                        </a:rPr>
                        <a:t>Fabric SQL database</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900" b="1" dirty="0">
                          <a:solidFill>
                            <a:srgbClr val="001F6B"/>
                          </a:solidFill>
                          <a:latin typeface="Consolas"/>
                          <a:cs typeface="Consolas"/>
                        </a:rPr>
                        <a:t>dbt-sqlserver 1.11</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900" dirty="0">
                          <a:solidFill>
                            <a:srgbClr val="364750"/>
                          </a:solidFill>
                          <a:latin typeface="Frutiger"/>
                          <a:cs typeface="Frutiger"/>
                        </a:rPr>
                        <a:t>T-SQL</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900" dirty="0">
                          <a:solidFill>
                            <a:srgbClr val="364750"/>
                          </a:solidFill>
                          <a:latin typeface="Frutiger"/>
                          <a:cs typeface="Frutiger"/>
                        </a:rPr>
                        <a:t>Community (dbt-msft)</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900" dirty="0">
                          <a:solidFill>
                            <a:srgbClr val="364750"/>
                          </a:solidFill>
                          <a:latin typeface="Frutiger"/>
                          <a:cs typeface="Frutiger"/>
                        </a:rPr>
                        <a:t>Demo 5. Azure SQL adapter; builds our project, but not explicitly certified for Fabric SQL database.</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extLst>
                  <a:ext uri="{0D108BD9-81ED-4DB2-BD59-A6C34878D82A}">
                    <a16:rowId xmlns:a16="http://schemas.microsoft.com/office/drawing/2014/main" val="10003"/>
                  </a:ext>
                </a:extLst>
              </a:tr>
              <a:tr h="838200">
                <a:tc>
                  <a:txBody>
                    <a:bodyPr/>
                    <a:lstStyle/>
                    <a:p>
                      <a:pPr algn="l">
                        <a:buNone/>
                      </a:pPr>
                      <a:r>
                        <a:rPr lang="en-US" sz="1900" b="1" dirty="0">
                          <a:solidFill>
                            <a:srgbClr val="364750"/>
                          </a:solidFill>
                          <a:latin typeface="Frutiger"/>
                          <a:cs typeface="Frutiger"/>
                        </a:rPr>
                        <a:t>SQL Server 2017+ / Azure SQL</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900" b="1" dirty="0">
                          <a:solidFill>
                            <a:srgbClr val="B7791F"/>
                          </a:solidFill>
                          <a:latin typeface="Consolas"/>
                          <a:cs typeface="Consolas"/>
                        </a:rPr>
                        <a:t>dbt-sqlserver 1.11</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900" dirty="0">
                          <a:solidFill>
                            <a:srgbClr val="364750"/>
                          </a:solidFill>
                          <a:latin typeface="Frutiger"/>
                          <a:cs typeface="Frutiger"/>
                        </a:rPr>
                        <a:t>T-SQL</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900" dirty="0">
                          <a:solidFill>
                            <a:srgbClr val="364750"/>
                          </a:solidFill>
                          <a:latin typeface="Frutiger"/>
                          <a:cs typeface="Frutiger"/>
                        </a:rPr>
                        <a:t>Community (dbt-msft)</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900" dirty="0">
                          <a:solidFill>
                            <a:srgbClr val="364750"/>
                          </a:solidFill>
                          <a:latin typeface="Frutiger"/>
                          <a:cs typeface="Frutiger"/>
                        </a:rPr>
                        <a:t>Same adapter, not demoed today. ODBC Driver 18; Windows, SQL or Entra auth.</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extLst>
                  <a:ext uri="{0D108BD9-81ED-4DB2-BD59-A6C34878D82A}">
                    <a16:rowId xmlns:a16="http://schemas.microsoft.com/office/drawing/2014/main" val="10004"/>
                  </a:ext>
                </a:extLst>
              </a:tr>
              <a:tr h="838200">
                <a:tc>
                  <a:txBody>
                    <a:bodyPr/>
                    <a:lstStyle/>
                    <a:p>
                      <a:pPr algn="l">
                        <a:buNone/>
                      </a:pPr>
                      <a:r>
                        <a:rPr lang="en-US" sz="1900" b="1" dirty="0">
                          <a:solidFill>
                            <a:srgbClr val="364750"/>
                          </a:solidFill>
                          <a:latin typeface="Frutiger"/>
                          <a:cs typeface="Frutiger"/>
                        </a:rPr>
                        <a:t>Eventhouse / KQL, Power BI</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900" b="1" dirty="0">
                          <a:solidFill>
                            <a:srgbClr val="667780"/>
                          </a:solidFill>
                          <a:latin typeface="Consolas"/>
                          <a:cs typeface="Consolas"/>
                        </a:rPr>
                        <a:t>no adapter</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900" dirty="0">
                          <a:solidFill>
                            <a:srgbClr val="364750"/>
                          </a:solidFill>
                          <a:latin typeface="Frutiger"/>
                          <a:cs typeface="Frutiger"/>
                        </a:rPr>
                        <a:t>—</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900" dirty="0">
                          <a:solidFill>
                            <a:srgbClr val="364750"/>
                          </a:solidFill>
                          <a:latin typeface="Frutiger"/>
                          <a:cs typeface="Frutiger"/>
                        </a:rPr>
                        <a:t>—</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900" dirty="0">
                          <a:solidFill>
                            <a:srgbClr val="364750"/>
                          </a:solidFill>
                          <a:latin typeface="Frutiger"/>
                          <a:cs typeface="Frutiger"/>
                        </a:rPr>
                        <a:t>dbt marts feed the semantic model; they don’t replace it.</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extLst>
                  <a:ext uri="{0D108BD9-81ED-4DB2-BD59-A6C34878D82A}">
                    <a16:rowId xmlns:a16="http://schemas.microsoft.com/office/drawing/2014/main" val="10005"/>
                  </a:ext>
                </a:extLst>
              </a:tr>
            </a:tbl>
          </a:graphicData>
        </a:graphic>
      </p:graphicFrame>
      <p:sp>
        <p:nvSpPr>
          <p:cNvPr id="110" name="Shape 110"/>
          <p:cNvSpPr/>
          <p:nvPr/>
        </p:nvSpPr>
        <p:spPr>
          <a:xfrm>
            <a:off x="838200" y="7620000"/>
            <a:ext cx="7620000" cy="330200"/>
          </a:xfrm>
          <a:prstGeom prst="rect">
            <a:avLst/>
          </a:prstGeom>
          <a:noFill/>
          <a:ln>
            <a:noFill/>
          </a:ln>
        </p:spPr>
        <p:txBody>
          <a:bodyPr wrap="square" lIns="0" tIns="0" rIns="0" bIns="0" anchor="t">
            <a:normAutofit/>
          </a:bodyPr>
          <a:lstStyle/>
          <a:p>
            <a:pPr>
              <a:buNone/>
            </a:pPr>
            <a:r>
              <a:rPr lang="en-US" sz="1400" b="1" spc="150" dirty="0">
                <a:solidFill>
                  <a:srgbClr val="E40046"/>
                </a:solidFill>
                <a:latin typeface="Frutiger"/>
                <a:cs typeface="Frutiger"/>
              </a:rPr>
              <a:t>ONE PYTHON ENVIRONMENT PER ADAPTER</a:t>
            </a:r>
          </a:p>
        </p:txBody>
      </p:sp>
      <p:sp>
        <p:nvSpPr>
          <p:cNvPr id="111" name="Code 111"/>
          <p:cNvSpPr/>
          <p:nvPr/>
        </p:nvSpPr>
        <p:spPr>
          <a:xfrm>
            <a:off x="838200" y="7950200"/>
            <a:ext cx="9652000" cy="1168400"/>
          </a:xfrm>
          <a:prstGeom prst="roundRect">
            <a:avLst>
              <a:gd name="adj" fmla="val 4000"/>
            </a:avLst>
          </a:prstGeom>
          <a:solidFill>
            <a:srgbClr val="0E1E4A"/>
          </a:solidFill>
          <a:ln>
            <a:noFill/>
          </a:ln>
        </p:spPr>
        <p:txBody>
          <a:bodyPr wrap="square" lIns="228600" tIns="152400" rIns="228600" bIns="228600" anchor="t">
            <a:normAutofit lnSpcReduction="10000"/>
          </a:bodyPr>
          <a:lstStyle/>
          <a:p>
            <a:pPr>
              <a:lnSpc>
                <a:spcPct val="120000"/>
              </a:lnSpc>
              <a:buNone/>
            </a:pPr>
            <a:r>
              <a:rPr lang="en-US" sz="1500" dirty="0">
                <a:solidFill>
                  <a:srgbClr val="E8ECF5"/>
                </a:solidFill>
                <a:latin typeface="Consolas"/>
                <a:cs typeface="Consolas"/>
              </a:rPr>
              <a:t>uv venv .venv-warehouse --python 3.11</a:t>
            </a:r>
            <a:r>
              <a:rPr lang="en-US" sz="1500" dirty="0">
                <a:solidFill>
                  <a:srgbClr val="8E9DC5"/>
                </a:solidFill>
                <a:latin typeface="Consolas"/>
                <a:cs typeface="Consolas"/>
              </a:rPr>
              <a:t>  &amp;&amp;  </a:t>
            </a:r>
            <a:r>
              <a:rPr lang="en-US" sz="1500" dirty="0">
                <a:solidFill>
                  <a:srgbClr val="E8ECF5"/>
                </a:solidFill>
                <a:latin typeface="Consolas"/>
                <a:cs typeface="Consolas"/>
              </a:rPr>
              <a:t>.\.venv-warehouse\Scripts\Activate.ps1</a:t>
            </a:r>
          </a:p>
          <a:p>
            <a:pPr>
              <a:lnSpc>
                <a:spcPct val="120000"/>
              </a:lnSpc>
              <a:buNone/>
            </a:pPr>
            <a:r>
              <a:rPr lang="en-US" sz="1500" dirty="0">
                <a:solidFill>
                  <a:srgbClr val="8EC5FF"/>
                </a:solidFill>
                <a:latin typeface="Consolas"/>
                <a:cs typeface="Consolas"/>
              </a:rPr>
              <a:t>uv pip sync requirements/warehouse.txt</a:t>
            </a:r>
            <a:r>
              <a:rPr lang="en-US" sz="1500" dirty="0">
                <a:solidFill>
                  <a:srgbClr val="8E9DC5"/>
                </a:solidFill>
                <a:latin typeface="Consolas"/>
                <a:cs typeface="Consolas"/>
              </a:rPr>
              <a:t>   # pinned: dbt-core 1.11 + dbt-fabric 1.11.1</a:t>
            </a:r>
          </a:p>
          <a:p>
            <a:pPr>
              <a:lnSpc>
                <a:spcPct val="120000"/>
              </a:lnSpc>
              <a:buNone/>
            </a:pPr>
            <a:r>
              <a:rPr lang="en-US" sz="1500" dirty="0">
                <a:solidFill>
                  <a:srgbClr val="8EC5FF"/>
                </a:solidFill>
                <a:latin typeface="Consolas"/>
                <a:cs typeface="Consolas"/>
              </a:rPr>
              <a:t>dbt --version</a:t>
            </a:r>
            <a:r>
              <a:rPr lang="en-US" sz="1500" dirty="0">
                <a:solidFill>
                  <a:srgbClr val="8E9DC5"/>
                </a:solidFill>
                <a:latin typeface="Consolas"/>
                <a:cs typeface="Consolas"/>
              </a:rPr>
              <a:t>   # rehearse with the lock file, then stop upgrading</a:t>
            </a:r>
          </a:p>
        </p:txBody>
      </p:sp>
      <p:sp>
        <p:nvSpPr>
          <p:cNvPr id="112" name="Shape 112"/>
          <p:cNvSpPr/>
          <p:nvPr/>
        </p:nvSpPr>
        <p:spPr>
          <a:xfrm>
            <a:off x="10795000" y="7620000"/>
            <a:ext cx="6654800" cy="1498600"/>
          </a:xfrm>
          <a:prstGeom prst="rect">
            <a:avLst/>
          </a:prstGeom>
          <a:solidFill>
            <a:srgbClr val="F4F6FA"/>
          </a:solidFill>
          <a:ln>
            <a:noFill/>
          </a:ln>
        </p:spPr>
        <p:txBody>
          <a:bodyPr wrap="square" lIns="101600" tIns="101600" rIns="101600" bIns="101600" anchor="t">
            <a:normAutofit/>
          </a:bodyPr>
          <a:lstStyle/>
          <a:p>
            <a:endParaRPr lang="en-US"/>
          </a:p>
        </p:txBody>
      </p:sp>
      <p:sp>
        <p:nvSpPr>
          <p:cNvPr id="113" name="Shape 113"/>
          <p:cNvSpPr/>
          <p:nvPr/>
        </p:nvSpPr>
        <p:spPr>
          <a:xfrm>
            <a:off x="10998200" y="7721600"/>
            <a:ext cx="6273800" cy="1320800"/>
          </a:xfrm>
          <a:prstGeom prst="rect">
            <a:avLst/>
          </a:prstGeom>
          <a:noFill/>
          <a:ln>
            <a:noFill/>
          </a:ln>
        </p:spPr>
        <p:txBody>
          <a:bodyPr wrap="square" lIns="0" tIns="0" rIns="0" bIns="0" anchor="t">
            <a:normAutofit/>
          </a:bodyPr>
          <a:lstStyle/>
          <a:p>
            <a:pPr>
              <a:buNone/>
            </a:pPr>
            <a:r>
              <a:rPr lang="en-US" sz="2100" b="1" dirty="0">
                <a:solidFill>
                  <a:srgbClr val="001F6B"/>
                </a:solidFill>
                <a:latin typeface="Frutiger"/>
                <a:cs typeface="Frutiger"/>
              </a:rPr>
              <a:t>Same project, one profiles.yml, three targets</a:t>
            </a:r>
          </a:p>
          <a:p>
            <a:pPr>
              <a:lnSpc>
                <a:spcPct val="105000"/>
              </a:lnSpc>
              <a:spcBef>
                <a:spcPts val="500"/>
              </a:spcBef>
              <a:buNone/>
            </a:pPr>
            <a:r>
              <a:rPr lang="en-US" sz="1800" dirty="0">
                <a:solidFill>
                  <a:srgbClr val="364750"/>
                </a:solidFill>
                <a:latin typeface="Frutiger"/>
                <a:cs typeface="Frutiger"/>
              </a:rPr>
              <a:t>The target in profiles.yml chooses the adapter, not the models. Keep adapters in separate environments so their dependencies never collide, and pin the versions you rehearsed with.</a:t>
            </a:r>
          </a:p>
        </p:txBody>
      </p:sp>
    </p:spTree>
    <p:extLst>
      <p:ext uri="{BB962C8B-B14F-4D97-AF65-F5344CB8AC3E}">
        <p14:creationId xmlns:p14="http://schemas.microsoft.com/office/powerpoint/2010/main" val="27853678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287B7A3-6757-4F52-B407-E1C2426E2E36}"/>
              </a:ext>
            </a:extLst>
          </p:cNvPr>
          <p:cNvSpPr>
            <a:spLocks noGrp="1"/>
          </p:cNvSpPr>
          <p:nvPr/>
        </p:nvSpPr>
        <p:spPr>
          <a:xfrm>
            <a:off x="838201" y="495302"/>
            <a:ext cx="15240000" cy="392311"/>
          </a:xfrm>
          <a:prstGeom prst="rect">
            <a:avLst/>
          </a:prstGeom>
          <a:noFill/>
        </p:spPr>
        <p:txBody>
          <a:bodyPr wrap="square" lIns="25401" tIns="25401" rIns="25401" bIns="25401" anchor="t">
            <a:normAutofit/>
          </a:bodyPr>
          <a:lstStyle/>
          <a:p>
            <a:pPr>
              <a:lnSpc>
                <a:spcPct val="120000"/>
              </a:lnSpc>
              <a:buNone/>
            </a:pPr>
            <a:r>
              <a:rPr sz="1801" b="1" spc="361">
                <a:solidFill>
                  <a:srgbClr val="E40046"/>
                </a:solidFill>
                <a:latin typeface="Frutiger"/>
                <a:ea typeface="Frutiger"/>
                <a:cs typeface="Frutiger"/>
              </a:rPr>
              <a:t>PORTABILITY</a:t>
            </a:r>
            <a:endParaRPr sz="1801"/>
          </a:p>
        </p:txBody>
      </p:sp>
      <p:sp>
        <p:nvSpPr>
          <p:cNvPr id="3" name="Text 1">
            <a:extLst>
              <a:ext uri="{FF2B5EF4-FFF2-40B4-BE49-F238E27FC236}">
                <a16:creationId xmlns:a16="http://schemas.microsoft.com/office/drawing/2014/main" id="{2D0BB537-FBE2-412C-AB62-53C34BD675B2}"/>
              </a:ext>
            </a:extLst>
          </p:cNvPr>
          <p:cNvSpPr>
            <a:spLocks noGrp="1"/>
          </p:cNvSpPr>
          <p:nvPr/>
        </p:nvSpPr>
        <p:spPr>
          <a:xfrm>
            <a:off x="838201" y="963812"/>
            <a:ext cx="15240000" cy="640407"/>
          </a:xfrm>
          <a:prstGeom prst="rect">
            <a:avLst/>
          </a:prstGeom>
          <a:noFill/>
        </p:spPr>
        <p:txBody>
          <a:bodyPr wrap="square" lIns="25401" tIns="25401" rIns="25401" bIns="25401" anchor="t">
            <a:normAutofit/>
          </a:bodyPr>
          <a:lstStyle/>
          <a:p>
            <a:pPr>
              <a:lnSpc>
                <a:spcPct val="79050"/>
              </a:lnSpc>
              <a:buNone/>
            </a:pPr>
            <a:r>
              <a:rPr sz="4651" b="1" spc="-69">
                <a:solidFill>
                  <a:srgbClr val="001F6B"/>
                </a:solidFill>
                <a:latin typeface="Frutiger"/>
                <a:ea typeface="Frutiger"/>
                <a:cs typeface="Frutiger"/>
              </a:rPr>
              <a:t>Portable by design — with boundaries</a:t>
            </a:r>
            <a:endParaRPr sz="4651"/>
          </a:p>
        </p:txBody>
      </p:sp>
      <p:pic>
        <p:nvPicPr>
          <p:cNvPr id="41" name="Image 0"/>
          <p:cNvPicPr>
            <a:picLocks noChangeAspect="1"/>
          </p:cNvPicPr>
          <p:nvPr/>
        </p:nvPicPr>
        <p:blipFill>
          <a:blip r:embed="rId3"/>
          <a:srcRect t="-5" b="-5"/>
          <a:stretch/>
        </p:blipFill>
        <p:spPr>
          <a:xfrm>
            <a:off x="16412620" y="571500"/>
            <a:ext cx="1037182" cy="514350"/>
          </a:xfrm>
          <a:prstGeom prst="rect">
            <a:avLst/>
          </a:prstGeom>
        </p:spPr>
      </p:pic>
      <p:sp>
        <p:nvSpPr>
          <p:cNvPr id="5" name="Shape 2">
            <a:extLst>
              <a:ext uri="{FF2B5EF4-FFF2-40B4-BE49-F238E27FC236}">
                <a16:creationId xmlns:a16="http://schemas.microsoft.com/office/drawing/2014/main" id="{1CAE0FF6-6C5C-4C19-9B44-3ABD11600B8D}"/>
              </a:ext>
            </a:extLst>
          </p:cNvPr>
          <p:cNvSpPr>
            <a:spLocks noGrp="1"/>
          </p:cNvSpPr>
          <p:nvPr/>
        </p:nvSpPr>
        <p:spPr>
          <a:xfrm>
            <a:off x="838202" y="1813769"/>
            <a:ext cx="16611600" cy="28574"/>
          </a:xfrm>
          <a:prstGeom prst="rect">
            <a:avLst/>
          </a:prstGeom>
          <a:solidFill>
            <a:srgbClr val="FF0000"/>
          </a:solidFill>
        </p:spPr>
        <p:txBody>
          <a:bodyPr/>
          <a:lstStyle/>
          <a:p>
            <a:endParaRPr sz="1801"/>
          </a:p>
        </p:txBody>
      </p:sp>
      <p:sp>
        <p:nvSpPr>
          <p:cNvPr id="6" name="Shape 3">
            <a:extLst>
              <a:ext uri="{FF2B5EF4-FFF2-40B4-BE49-F238E27FC236}">
                <a16:creationId xmlns:a16="http://schemas.microsoft.com/office/drawing/2014/main" id="{12C300E8-1C1F-4049-A12A-AB1C2B99F8D9}"/>
              </a:ext>
            </a:extLst>
          </p:cNvPr>
          <p:cNvSpPr>
            <a:spLocks noGrp="1"/>
          </p:cNvSpPr>
          <p:nvPr/>
        </p:nvSpPr>
        <p:spPr>
          <a:xfrm>
            <a:off x="838202" y="1880445"/>
            <a:ext cx="16611600" cy="28574"/>
          </a:xfrm>
          <a:prstGeom prst="rect">
            <a:avLst/>
          </a:prstGeom>
          <a:solidFill>
            <a:srgbClr val="3649A8"/>
          </a:solidFill>
        </p:spPr>
        <p:txBody>
          <a:bodyPr/>
          <a:lstStyle/>
          <a:p>
            <a:endParaRPr sz="1801"/>
          </a:p>
        </p:txBody>
      </p:sp>
      <p:sp>
        <p:nvSpPr>
          <p:cNvPr id="34" name="Shape 31">
            <a:extLst>
              <a:ext uri="{FF2B5EF4-FFF2-40B4-BE49-F238E27FC236}">
                <a16:creationId xmlns:a16="http://schemas.microsoft.com/office/drawing/2014/main" id="{D97429B5-E5A2-4112-B59A-F5E4D8EAE007}"/>
              </a:ext>
            </a:extLst>
          </p:cNvPr>
          <p:cNvSpPr>
            <a:spLocks noGrp="1"/>
          </p:cNvSpPr>
          <p:nvPr/>
        </p:nvSpPr>
        <p:spPr>
          <a:xfrm>
            <a:off x="838202" y="9294615"/>
            <a:ext cx="16611600" cy="9525"/>
          </a:xfrm>
          <a:prstGeom prst="rect">
            <a:avLst/>
          </a:prstGeom>
          <a:solidFill>
            <a:srgbClr val="E2E7EB"/>
          </a:solidFill>
        </p:spPr>
        <p:txBody>
          <a:bodyPr/>
          <a:lstStyle/>
          <a:p>
            <a:endParaRPr sz="1801"/>
          </a:p>
        </p:txBody>
      </p:sp>
      <p:sp>
        <p:nvSpPr>
          <p:cNvPr id="35" name="Text 32">
            <a:extLst>
              <a:ext uri="{FF2B5EF4-FFF2-40B4-BE49-F238E27FC236}">
                <a16:creationId xmlns:a16="http://schemas.microsoft.com/office/drawing/2014/main" id="{F900C7D8-967D-49D5-933D-34E25CE4C78F}"/>
              </a:ext>
            </a:extLst>
          </p:cNvPr>
          <p:cNvSpPr>
            <a:spLocks noGrp="1"/>
          </p:cNvSpPr>
          <p:nvPr/>
        </p:nvSpPr>
        <p:spPr>
          <a:xfrm>
            <a:off x="838201" y="9513691"/>
            <a:ext cx="7461945" cy="392311"/>
          </a:xfrm>
          <a:prstGeom prst="rect">
            <a:avLst/>
          </a:prstGeom>
          <a:noFill/>
        </p:spPr>
        <p:txBody>
          <a:bodyPr wrap="square" lIns="25401" tIns="25401" rIns="25401" bIns="25401" anchor="t">
            <a:normAutofit/>
          </a:bodyPr>
          <a:lstStyle/>
          <a:p>
            <a:pPr>
              <a:lnSpc>
                <a:spcPct val="124000"/>
              </a:lnSpc>
              <a:buNone/>
            </a:pPr>
            <a:r>
              <a:rPr sz="1801" dirty="0">
                <a:solidFill>
                  <a:srgbClr val="667780"/>
                </a:solidFill>
                <a:latin typeface="Frutiger"/>
                <a:ea typeface="Frutiger"/>
                <a:cs typeface="Frutiger"/>
              </a:rPr>
              <a:t>Getting started with dbt</a:t>
            </a:r>
            <a:endParaRPr sz="1801" dirty="0"/>
          </a:p>
        </p:txBody>
      </p:sp>
      <p:sp>
        <p:nvSpPr>
          <p:cNvPr id="37" name="Text 34">
            <a:extLst>
              <a:ext uri="{FF2B5EF4-FFF2-40B4-BE49-F238E27FC236}">
                <a16:creationId xmlns:a16="http://schemas.microsoft.com/office/drawing/2014/main" id="{01C5E1DE-2C78-4E29-9A4C-3130ACEC655C}"/>
              </a:ext>
            </a:extLst>
          </p:cNvPr>
          <p:cNvSpPr>
            <a:spLocks noGrp="1"/>
          </p:cNvSpPr>
          <p:nvPr/>
        </p:nvSpPr>
        <p:spPr>
          <a:xfrm>
            <a:off x="9987856" y="9513691"/>
            <a:ext cx="7461945" cy="392311"/>
          </a:xfrm>
          <a:prstGeom prst="rect">
            <a:avLst/>
          </a:prstGeom>
          <a:noFill/>
        </p:spPr>
        <p:txBody>
          <a:bodyPr wrap="square" lIns="25401" tIns="25401" rIns="25401" bIns="25401" anchor="t">
            <a:normAutofit/>
          </a:bodyPr>
          <a:lstStyle/>
          <a:p>
            <a:pPr algn="r">
              <a:lnSpc>
                <a:spcPct val="124000"/>
              </a:lnSpc>
              <a:buNone/>
            </a:pPr>
            <a:r>
              <a:rPr lang="en-US" sz="1801">
                <a:solidFill>
                  <a:srgbClr val="667780"/>
                </a:solidFill>
                <a:latin typeface="Frutiger"/>
                <a:ea typeface="Frutiger"/>
                <a:cs typeface="Frutiger"/>
              </a:rPr>
              <a:t>19</a:t>
            </a:r>
            <a:endParaRPr sz="1801"/>
          </a:p>
        </p:txBody>
      </p:sp>
      <p:sp>
        <p:nvSpPr>
          <p:cNvPr id="100" name="Shape 100"/>
          <p:cNvSpPr/>
          <p:nvPr/>
        </p:nvSpPr>
        <p:spPr>
          <a:xfrm>
            <a:off x="838200" y="2362200"/>
            <a:ext cx="8255000" cy="36068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a:p>
        </p:txBody>
      </p:sp>
      <p:sp>
        <p:nvSpPr>
          <p:cNvPr id="101" name="Shape 101"/>
          <p:cNvSpPr/>
          <p:nvPr/>
        </p:nvSpPr>
        <p:spPr>
          <a:xfrm>
            <a:off x="838200" y="2362200"/>
            <a:ext cx="8255000" cy="584200"/>
          </a:xfrm>
          <a:prstGeom prst="rect">
            <a:avLst/>
          </a:prstGeom>
          <a:solidFill>
            <a:srgbClr val="E6F5EC"/>
          </a:solidFill>
          <a:ln>
            <a:noFill/>
          </a:ln>
        </p:spPr>
        <p:txBody>
          <a:bodyPr wrap="square" lIns="203200" tIns="25400" rIns="203200" bIns="25400" anchor="ctr">
            <a:normAutofit/>
          </a:bodyPr>
          <a:lstStyle/>
          <a:p>
            <a:pPr>
              <a:buNone/>
            </a:pPr>
            <a:r>
              <a:rPr lang="en-US" sz="2000" b="1" dirty="0">
                <a:solidFill>
                  <a:srgbClr val="14703F"/>
                </a:solidFill>
                <a:latin typeface="Frutiger"/>
                <a:cs typeface="Frutiger"/>
              </a:rPr>
              <a:t>Travels with the project</a:t>
            </a:r>
          </a:p>
        </p:txBody>
      </p:sp>
      <p:sp>
        <p:nvSpPr>
          <p:cNvPr id="102" name="Shape 102"/>
          <p:cNvSpPr/>
          <p:nvPr/>
        </p:nvSpPr>
        <p:spPr>
          <a:xfrm>
            <a:off x="1041400" y="3073400"/>
            <a:ext cx="330200" cy="508000"/>
          </a:xfrm>
          <a:prstGeom prst="rect">
            <a:avLst/>
          </a:prstGeom>
          <a:noFill/>
          <a:ln>
            <a:noFill/>
          </a:ln>
        </p:spPr>
        <p:txBody>
          <a:bodyPr wrap="square" lIns="0" tIns="0" rIns="0" bIns="0" anchor="ctr">
            <a:normAutofit/>
          </a:bodyPr>
          <a:lstStyle/>
          <a:p>
            <a:pPr algn="ctr">
              <a:buNone/>
            </a:pPr>
            <a:r>
              <a:rPr lang="en-US" sz="2100" b="1" dirty="0">
                <a:solidFill>
                  <a:srgbClr val="14703F"/>
                </a:solidFill>
                <a:latin typeface="Frutiger"/>
                <a:cs typeface="Frutiger"/>
              </a:rPr>
              <a:t>✓</a:t>
            </a:r>
          </a:p>
        </p:txBody>
      </p:sp>
      <p:sp>
        <p:nvSpPr>
          <p:cNvPr id="103" name="Shape 103"/>
          <p:cNvSpPr/>
          <p:nvPr/>
        </p:nvSpPr>
        <p:spPr>
          <a:xfrm>
            <a:off x="1447800" y="3073400"/>
            <a:ext cx="7493000" cy="508000"/>
          </a:xfrm>
          <a:prstGeom prst="rect">
            <a:avLst/>
          </a:prstGeom>
          <a:noFill/>
          <a:ln>
            <a:noFill/>
          </a:ln>
        </p:spPr>
        <p:txBody>
          <a:bodyPr wrap="square" lIns="0" tIns="0" rIns="0" bIns="0" anchor="ctr">
            <a:normAutofit/>
          </a:bodyPr>
          <a:lstStyle/>
          <a:p>
            <a:pPr>
              <a:lnSpc>
                <a:spcPct val="102000"/>
              </a:lnSpc>
              <a:buNone/>
            </a:pPr>
            <a:r>
              <a:rPr lang="en-US" sz="1900" dirty="0">
                <a:solidFill>
                  <a:srgbClr val="364750"/>
                </a:solidFill>
                <a:latin typeface="Frutiger"/>
                <a:cs typeface="Frutiger"/>
              </a:rPr>
              <a:t>Project structure, naming and ownership conventions</a:t>
            </a:r>
          </a:p>
        </p:txBody>
      </p:sp>
      <p:sp>
        <p:nvSpPr>
          <p:cNvPr id="104" name="Shape 104"/>
          <p:cNvSpPr/>
          <p:nvPr/>
        </p:nvSpPr>
        <p:spPr>
          <a:xfrm>
            <a:off x="1041400" y="3644900"/>
            <a:ext cx="330200" cy="508000"/>
          </a:xfrm>
          <a:prstGeom prst="rect">
            <a:avLst/>
          </a:prstGeom>
          <a:noFill/>
          <a:ln>
            <a:noFill/>
          </a:ln>
        </p:spPr>
        <p:txBody>
          <a:bodyPr wrap="square" lIns="0" tIns="0" rIns="0" bIns="0" anchor="ctr">
            <a:normAutofit/>
          </a:bodyPr>
          <a:lstStyle/>
          <a:p>
            <a:pPr algn="ctr">
              <a:buNone/>
            </a:pPr>
            <a:r>
              <a:rPr lang="en-US" sz="2100" b="1" dirty="0">
                <a:solidFill>
                  <a:srgbClr val="14703F"/>
                </a:solidFill>
                <a:latin typeface="Frutiger"/>
                <a:cs typeface="Frutiger"/>
              </a:rPr>
              <a:t>✓</a:t>
            </a:r>
          </a:p>
        </p:txBody>
      </p:sp>
      <p:sp>
        <p:nvSpPr>
          <p:cNvPr id="105" name="Shape 105"/>
          <p:cNvSpPr/>
          <p:nvPr/>
        </p:nvSpPr>
        <p:spPr>
          <a:xfrm>
            <a:off x="1447800" y="3644900"/>
            <a:ext cx="7493000" cy="508000"/>
          </a:xfrm>
          <a:prstGeom prst="rect">
            <a:avLst/>
          </a:prstGeom>
          <a:noFill/>
          <a:ln>
            <a:noFill/>
          </a:ln>
        </p:spPr>
        <p:txBody>
          <a:bodyPr wrap="square" lIns="0" tIns="0" rIns="0" bIns="0" anchor="ctr">
            <a:normAutofit/>
          </a:bodyPr>
          <a:lstStyle/>
          <a:p>
            <a:pPr>
              <a:lnSpc>
                <a:spcPct val="102000"/>
              </a:lnSpc>
              <a:buNone/>
            </a:pPr>
            <a:r>
              <a:rPr lang="en-US" sz="1900" dirty="0">
                <a:solidFill>
                  <a:srgbClr val="364750"/>
                </a:solidFill>
                <a:latin typeface="Frutiger"/>
                <a:cs typeface="Frutiger"/>
              </a:rPr>
              <a:t>Dependencies — the ref() graph and selection syntax</a:t>
            </a:r>
          </a:p>
        </p:txBody>
      </p:sp>
      <p:sp>
        <p:nvSpPr>
          <p:cNvPr id="106" name="Shape 106"/>
          <p:cNvSpPr/>
          <p:nvPr/>
        </p:nvSpPr>
        <p:spPr>
          <a:xfrm>
            <a:off x="1041400" y="4216400"/>
            <a:ext cx="330200" cy="508000"/>
          </a:xfrm>
          <a:prstGeom prst="rect">
            <a:avLst/>
          </a:prstGeom>
          <a:noFill/>
          <a:ln>
            <a:noFill/>
          </a:ln>
        </p:spPr>
        <p:txBody>
          <a:bodyPr wrap="square" lIns="0" tIns="0" rIns="0" bIns="0" anchor="ctr">
            <a:normAutofit/>
          </a:bodyPr>
          <a:lstStyle/>
          <a:p>
            <a:pPr algn="ctr">
              <a:buNone/>
            </a:pPr>
            <a:r>
              <a:rPr lang="en-US" sz="2100" b="1" dirty="0">
                <a:solidFill>
                  <a:srgbClr val="14703F"/>
                </a:solidFill>
                <a:latin typeface="Frutiger"/>
                <a:cs typeface="Frutiger"/>
              </a:rPr>
              <a:t>✓</a:t>
            </a:r>
          </a:p>
        </p:txBody>
      </p:sp>
      <p:sp>
        <p:nvSpPr>
          <p:cNvPr id="107" name="Shape 107"/>
          <p:cNvSpPr/>
          <p:nvPr/>
        </p:nvSpPr>
        <p:spPr>
          <a:xfrm>
            <a:off x="1447800" y="4216400"/>
            <a:ext cx="7493000" cy="508000"/>
          </a:xfrm>
          <a:prstGeom prst="rect">
            <a:avLst/>
          </a:prstGeom>
          <a:noFill/>
          <a:ln>
            <a:noFill/>
          </a:ln>
        </p:spPr>
        <p:txBody>
          <a:bodyPr wrap="square" lIns="0" tIns="0" rIns="0" bIns="0" anchor="ctr">
            <a:normAutofit/>
          </a:bodyPr>
          <a:lstStyle/>
          <a:p>
            <a:pPr>
              <a:lnSpc>
                <a:spcPct val="102000"/>
              </a:lnSpc>
              <a:buNone/>
            </a:pPr>
            <a:r>
              <a:rPr lang="en-US" sz="1900" dirty="0">
                <a:solidFill>
                  <a:srgbClr val="364750"/>
                </a:solidFill>
                <a:latin typeface="Frutiger"/>
                <a:cs typeface="Frutiger"/>
              </a:rPr>
              <a:t>Tests, descriptions and generated documentation</a:t>
            </a:r>
          </a:p>
        </p:txBody>
      </p:sp>
      <p:sp>
        <p:nvSpPr>
          <p:cNvPr id="108" name="Shape 108"/>
          <p:cNvSpPr/>
          <p:nvPr/>
        </p:nvSpPr>
        <p:spPr>
          <a:xfrm>
            <a:off x="1041400" y="4787900"/>
            <a:ext cx="330200" cy="508000"/>
          </a:xfrm>
          <a:prstGeom prst="rect">
            <a:avLst/>
          </a:prstGeom>
          <a:noFill/>
          <a:ln>
            <a:noFill/>
          </a:ln>
        </p:spPr>
        <p:txBody>
          <a:bodyPr wrap="square" lIns="0" tIns="0" rIns="0" bIns="0" anchor="ctr">
            <a:normAutofit/>
          </a:bodyPr>
          <a:lstStyle/>
          <a:p>
            <a:pPr algn="ctr">
              <a:buNone/>
            </a:pPr>
            <a:r>
              <a:rPr lang="en-US" sz="2100" b="1" dirty="0">
                <a:solidFill>
                  <a:srgbClr val="14703F"/>
                </a:solidFill>
                <a:latin typeface="Frutiger"/>
                <a:cs typeface="Frutiger"/>
              </a:rPr>
              <a:t>✓</a:t>
            </a:r>
          </a:p>
        </p:txBody>
      </p:sp>
      <p:sp>
        <p:nvSpPr>
          <p:cNvPr id="109" name="Shape 109"/>
          <p:cNvSpPr/>
          <p:nvPr/>
        </p:nvSpPr>
        <p:spPr>
          <a:xfrm>
            <a:off x="1447800" y="4787900"/>
            <a:ext cx="7493000" cy="508000"/>
          </a:xfrm>
          <a:prstGeom prst="rect">
            <a:avLst/>
          </a:prstGeom>
          <a:noFill/>
          <a:ln>
            <a:noFill/>
          </a:ln>
        </p:spPr>
        <p:txBody>
          <a:bodyPr wrap="square" lIns="0" tIns="0" rIns="0" bIns="0" anchor="ctr">
            <a:normAutofit/>
          </a:bodyPr>
          <a:lstStyle/>
          <a:p>
            <a:pPr>
              <a:lnSpc>
                <a:spcPct val="102000"/>
              </a:lnSpc>
              <a:buNone/>
            </a:pPr>
            <a:r>
              <a:rPr lang="en-US" sz="1900" dirty="0">
                <a:solidFill>
                  <a:srgbClr val="364750"/>
                </a:solidFill>
                <a:latin typeface="Frutiger"/>
                <a:cs typeface="Frutiger"/>
              </a:rPr>
              <a:t>Most of the SQL, if you stay in the common subset</a:t>
            </a:r>
          </a:p>
        </p:txBody>
      </p:sp>
      <p:sp>
        <p:nvSpPr>
          <p:cNvPr id="110" name="Shape 110"/>
          <p:cNvSpPr/>
          <p:nvPr/>
        </p:nvSpPr>
        <p:spPr>
          <a:xfrm>
            <a:off x="1041400" y="5359400"/>
            <a:ext cx="330200" cy="508000"/>
          </a:xfrm>
          <a:prstGeom prst="rect">
            <a:avLst/>
          </a:prstGeom>
          <a:noFill/>
          <a:ln>
            <a:noFill/>
          </a:ln>
        </p:spPr>
        <p:txBody>
          <a:bodyPr wrap="square" lIns="0" tIns="0" rIns="0" bIns="0" anchor="ctr">
            <a:normAutofit/>
          </a:bodyPr>
          <a:lstStyle/>
          <a:p>
            <a:pPr algn="ctr">
              <a:buNone/>
            </a:pPr>
            <a:r>
              <a:rPr lang="en-US" sz="2100" b="1" dirty="0">
                <a:solidFill>
                  <a:srgbClr val="14703F"/>
                </a:solidFill>
                <a:latin typeface="Frutiger"/>
                <a:cs typeface="Frutiger"/>
              </a:rPr>
              <a:t>✓</a:t>
            </a:r>
          </a:p>
        </p:txBody>
      </p:sp>
      <p:sp>
        <p:nvSpPr>
          <p:cNvPr id="111" name="Shape 111"/>
          <p:cNvSpPr/>
          <p:nvPr/>
        </p:nvSpPr>
        <p:spPr>
          <a:xfrm>
            <a:off x="1447800" y="5359400"/>
            <a:ext cx="7493000" cy="508000"/>
          </a:xfrm>
          <a:prstGeom prst="rect">
            <a:avLst/>
          </a:prstGeom>
          <a:noFill/>
          <a:ln>
            <a:noFill/>
          </a:ln>
        </p:spPr>
        <p:txBody>
          <a:bodyPr wrap="square" lIns="0" tIns="0" rIns="0" bIns="0" anchor="ctr">
            <a:normAutofit/>
          </a:bodyPr>
          <a:lstStyle/>
          <a:p>
            <a:pPr>
              <a:lnSpc>
                <a:spcPct val="102000"/>
              </a:lnSpc>
              <a:buNone/>
            </a:pPr>
            <a:r>
              <a:rPr lang="en-US" sz="1900" dirty="0">
                <a:solidFill>
                  <a:srgbClr val="364750"/>
                </a:solidFill>
                <a:latin typeface="Frutiger"/>
                <a:cs typeface="Frutiger"/>
              </a:rPr>
              <a:t>The workflow: branch → build → test → review → deploy</a:t>
            </a:r>
          </a:p>
        </p:txBody>
      </p:sp>
      <p:sp>
        <p:nvSpPr>
          <p:cNvPr id="120" name="Shape 120"/>
          <p:cNvSpPr/>
          <p:nvPr/>
        </p:nvSpPr>
        <p:spPr>
          <a:xfrm>
            <a:off x="9194800" y="2362200"/>
            <a:ext cx="8255000" cy="36068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a:p>
        </p:txBody>
      </p:sp>
      <p:sp>
        <p:nvSpPr>
          <p:cNvPr id="121" name="Shape 121"/>
          <p:cNvSpPr/>
          <p:nvPr/>
        </p:nvSpPr>
        <p:spPr>
          <a:xfrm>
            <a:off x="9194800" y="2362200"/>
            <a:ext cx="8255000" cy="584200"/>
          </a:xfrm>
          <a:prstGeom prst="rect">
            <a:avLst/>
          </a:prstGeom>
          <a:solidFill>
            <a:srgbClr val="FFF4DC"/>
          </a:solidFill>
          <a:ln>
            <a:noFill/>
          </a:ln>
        </p:spPr>
        <p:txBody>
          <a:bodyPr wrap="square" lIns="203200" tIns="25400" rIns="203200" bIns="25400" anchor="ctr">
            <a:normAutofit/>
          </a:bodyPr>
          <a:lstStyle/>
          <a:p>
            <a:pPr>
              <a:buNone/>
            </a:pPr>
            <a:r>
              <a:rPr lang="en-US" sz="2000" b="1" dirty="0">
                <a:solidFill>
                  <a:srgbClr val="8A5A12"/>
                </a:solidFill>
                <a:latin typeface="Frutiger"/>
                <a:cs typeface="Frutiger"/>
              </a:rPr>
              <a:t>Still needs a review</a:t>
            </a:r>
          </a:p>
        </p:txBody>
      </p:sp>
      <p:sp>
        <p:nvSpPr>
          <p:cNvPr id="122" name="Shape 122"/>
          <p:cNvSpPr/>
          <p:nvPr/>
        </p:nvSpPr>
        <p:spPr>
          <a:xfrm>
            <a:off x="9398000" y="3073400"/>
            <a:ext cx="330200" cy="508000"/>
          </a:xfrm>
          <a:prstGeom prst="rect">
            <a:avLst/>
          </a:prstGeom>
          <a:noFill/>
          <a:ln>
            <a:noFill/>
          </a:ln>
        </p:spPr>
        <p:txBody>
          <a:bodyPr wrap="square" lIns="0" tIns="0" rIns="0" bIns="0" anchor="ctr">
            <a:normAutofit/>
          </a:bodyPr>
          <a:lstStyle/>
          <a:p>
            <a:pPr algn="ctr">
              <a:buNone/>
            </a:pPr>
            <a:r>
              <a:rPr lang="en-US" sz="2100" b="1" dirty="0">
                <a:solidFill>
                  <a:srgbClr val="8A5A12"/>
                </a:solidFill>
                <a:latin typeface="Frutiger"/>
                <a:cs typeface="Frutiger"/>
              </a:rPr>
              <a:t>!</a:t>
            </a:r>
          </a:p>
        </p:txBody>
      </p:sp>
      <p:sp>
        <p:nvSpPr>
          <p:cNvPr id="123" name="Shape 123"/>
          <p:cNvSpPr/>
          <p:nvPr/>
        </p:nvSpPr>
        <p:spPr>
          <a:xfrm>
            <a:off x="9804400" y="3073400"/>
            <a:ext cx="7493000" cy="508000"/>
          </a:xfrm>
          <a:prstGeom prst="rect">
            <a:avLst/>
          </a:prstGeom>
          <a:noFill/>
          <a:ln>
            <a:noFill/>
          </a:ln>
        </p:spPr>
        <p:txBody>
          <a:bodyPr wrap="square" lIns="0" tIns="0" rIns="0" bIns="0" anchor="ctr">
            <a:normAutofit fontScale="92500"/>
          </a:bodyPr>
          <a:lstStyle/>
          <a:p>
            <a:pPr>
              <a:lnSpc>
                <a:spcPct val="102000"/>
              </a:lnSpc>
              <a:buNone/>
            </a:pPr>
            <a:r>
              <a:rPr lang="en-US" sz="1900" dirty="0">
                <a:solidFill>
                  <a:srgbClr val="364750"/>
                </a:solidFill>
                <a:latin typeface="Frutiger"/>
                <a:cs typeface="Frutiger"/>
              </a:rPr>
              <a:t>Dialect: TOP vs LIMIT, [brackets] vs `backticks`, date functions, string handling</a:t>
            </a:r>
          </a:p>
        </p:txBody>
      </p:sp>
      <p:sp>
        <p:nvSpPr>
          <p:cNvPr id="124" name="Shape 124"/>
          <p:cNvSpPr/>
          <p:nvPr/>
        </p:nvSpPr>
        <p:spPr>
          <a:xfrm>
            <a:off x="9398000" y="3644900"/>
            <a:ext cx="330200" cy="508000"/>
          </a:xfrm>
          <a:prstGeom prst="rect">
            <a:avLst/>
          </a:prstGeom>
          <a:noFill/>
          <a:ln>
            <a:noFill/>
          </a:ln>
        </p:spPr>
        <p:txBody>
          <a:bodyPr wrap="square" lIns="0" tIns="0" rIns="0" bIns="0" anchor="ctr">
            <a:normAutofit/>
          </a:bodyPr>
          <a:lstStyle/>
          <a:p>
            <a:pPr algn="ctr">
              <a:buNone/>
            </a:pPr>
            <a:r>
              <a:rPr lang="en-US" sz="2100" b="1" dirty="0">
                <a:solidFill>
                  <a:srgbClr val="8A5A12"/>
                </a:solidFill>
                <a:latin typeface="Frutiger"/>
                <a:cs typeface="Frutiger"/>
              </a:rPr>
              <a:t>!</a:t>
            </a:r>
          </a:p>
        </p:txBody>
      </p:sp>
      <p:sp>
        <p:nvSpPr>
          <p:cNvPr id="125" name="Shape 125"/>
          <p:cNvSpPr/>
          <p:nvPr/>
        </p:nvSpPr>
        <p:spPr>
          <a:xfrm>
            <a:off x="9804400" y="3644900"/>
            <a:ext cx="7493000" cy="508000"/>
          </a:xfrm>
          <a:prstGeom prst="rect">
            <a:avLst/>
          </a:prstGeom>
          <a:noFill/>
          <a:ln>
            <a:noFill/>
          </a:ln>
        </p:spPr>
        <p:txBody>
          <a:bodyPr wrap="square" lIns="0" tIns="0" rIns="0" bIns="0" anchor="ctr">
            <a:normAutofit/>
          </a:bodyPr>
          <a:lstStyle/>
          <a:p>
            <a:pPr>
              <a:lnSpc>
                <a:spcPct val="102000"/>
              </a:lnSpc>
              <a:buNone/>
            </a:pPr>
            <a:r>
              <a:rPr lang="en-US" sz="1900" dirty="0">
                <a:solidFill>
                  <a:srgbClr val="364750"/>
                </a:solidFill>
                <a:latin typeface="Frutiger"/>
                <a:cs typeface="Frutiger"/>
              </a:rPr>
              <a:t>Data types, collation, case-sensitivity and NULL semantics</a:t>
            </a:r>
          </a:p>
        </p:txBody>
      </p:sp>
      <p:sp>
        <p:nvSpPr>
          <p:cNvPr id="126" name="Shape 126"/>
          <p:cNvSpPr/>
          <p:nvPr/>
        </p:nvSpPr>
        <p:spPr>
          <a:xfrm>
            <a:off x="9398000" y="4216400"/>
            <a:ext cx="330200" cy="508000"/>
          </a:xfrm>
          <a:prstGeom prst="rect">
            <a:avLst/>
          </a:prstGeom>
          <a:noFill/>
          <a:ln>
            <a:noFill/>
          </a:ln>
        </p:spPr>
        <p:txBody>
          <a:bodyPr wrap="square" lIns="0" tIns="0" rIns="0" bIns="0" anchor="ctr">
            <a:normAutofit/>
          </a:bodyPr>
          <a:lstStyle/>
          <a:p>
            <a:pPr algn="ctr">
              <a:buNone/>
            </a:pPr>
            <a:r>
              <a:rPr lang="en-US" sz="2100" b="1" dirty="0">
                <a:solidFill>
                  <a:srgbClr val="8A5A12"/>
                </a:solidFill>
                <a:latin typeface="Frutiger"/>
                <a:cs typeface="Frutiger"/>
              </a:rPr>
              <a:t>!</a:t>
            </a:r>
          </a:p>
        </p:txBody>
      </p:sp>
      <p:sp>
        <p:nvSpPr>
          <p:cNvPr id="127" name="Shape 127"/>
          <p:cNvSpPr/>
          <p:nvPr/>
        </p:nvSpPr>
        <p:spPr>
          <a:xfrm>
            <a:off x="9804400" y="4216400"/>
            <a:ext cx="7493000" cy="508000"/>
          </a:xfrm>
          <a:prstGeom prst="rect">
            <a:avLst/>
          </a:prstGeom>
          <a:noFill/>
          <a:ln>
            <a:noFill/>
          </a:ln>
        </p:spPr>
        <p:txBody>
          <a:bodyPr wrap="square" lIns="0" tIns="0" rIns="0" bIns="0" anchor="ctr">
            <a:normAutofit/>
          </a:bodyPr>
          <a:lstStyle/>
          <a:p>
            <a:pPr>
              <a:lnSpc>
                <a:spcPct val="102000"/>
              </a:lnSpc>
              <a:buNone/>
            </a:pPr>
            <a:r>
              <a:rPr lang="en-US" sz="1900" dirty="0">
                <a:solidFill>
                  <a:srgbClr val="364750"/>
                </a:solidFill>
                <a:latin typeface="Frutiger"/>
                <a:cs typeface="Frutiger"/>
              </a:rPr>
              <a:t>Materializations and physical design (indexes, distribution, partitioning)</a:t>
            </a:r>
          </a:p>
        </p:txBody>
      </p:sp>
      <p:sp>
        <p:nvSpPr>
          <p:cNvPr id="128" name="Shape 128"/>
          <p:cNvSpPr/>
          <p:nvPr/>
        </p:nvSpPr>
        <p:spPr>
          <a:xfrm>
            <a:off x="9398000" y="4787900"/>
            <a:ext cx="330200" cy="508000"/>
          </a:xfrm>
          <a:prstGeom prst="rect">
            <a:avLst/>
          </a:prstGeom>
          <a:noFill/>
          <a:ln>
            <a:noFill/>
          </a:ln>
        </p:spPr>
        <p:txBody>
          <a:bodyPr wrap="square" lIns="0" tIns="0" rIns="0" bIns="0" anchor="ctr">
            <a:normAutofit/>
          </a:bodyPr>
          <a:lstStyle/>
          <a:p>
            <a:pPr algn="ctr">
              <a:buNone/>
            </a:pPr>
            <a:r>
              <a:rPr lang="en-US" sz="2100" b="1" dirty="0">
                <a:solidFill>
                  <a:srgbClr val="8A5A12"/>
                </a:solidFill>
                <a:latin typeface="Frutiger"/>
                <a:cs typeface="Frutiger"/>
              </a:rPr>
              <a:t>!</a:t>
            </a:r>
          </a:p>
        </p:txBody>
      </p:sp>
      <p:sp>
        <p:nvSpPr>
          <p:cNvPr id="129" name="Shape 129"/>
          <p:cNvSpPr/>
          <p:nvPr/>
        </p:nvSpPr>
        <p:spPr>
          <a:xfrm>
            <a:off x="9804400" y="4787900"/>
            <a:ext cx="7493000" cy="508000"/>
          </a:xfrm>
          <a:prstGeom prst="rect">
            <a:avLst/>
          </a:prstGeom>
          <a:noFill/>
          <a:ln>
            <a:noFill/>
          </a:ln>
        </p:spPr>
        <p:txBody>
          <a:bodyPr wrap="square" lIns="0" tIns="0" rIns="0" bIns="0" anchor="ctr">
            <a:normAutofit/>
          </a:bodyPr>
          <a:lstStyle/>
          <a:p>
            <a:pPr>
              <a:lnSpc>
                <a:spcPct val="102000"/>
              </a:lnSpc>
              <a:buNone/>
            </a:pPr>
            <a:r>
              <a:rPr lang="en-US" sz="1900" dirty="0">
                <a:solidFill>
                  <a:srgbClr val="364750"/>
                </a:solidFill>
                <a:latin typeface="Frutiger"/>
                <a:cs typeface="Frutiger"/>
              </a:rPr>
              <a:t>Authentication, schema creation and privileges on the new target</a:t>
            </a:r>
          </a:p>
        </p:txBody>
      </p:sp>
      <p:sp>
        <p:nvSpPr>
          <p:cNvPr id="130" name="Shape 130"/>
          <p:cNvSpPr/>
          <p:nvPr/>
        </p:nvSpPr>
        <p:spPr>
          <a:xfrm>
            <a:off x="9398000" y="5359400"/>
            <a:ext cx="330200" cy="508000"/>
          </a:xfrm>
          <a:prstGeom prst="rect">
            <a:avLst/>
          </a:prstGeom>
          <a:noFill/>
          <a:ln>
            <a:noFill/>
          </a:ln>
        </p:spPr>
        <p:txBody>
          <a:bodyPr wrap="square" lIns="0" tIns="0" rIns="0" bIns="0" anchor="ctr">
            <a:normAutofit/>
          </a:bodyPr>
          <a:lstStyle/>
          <a:p>
            <a:pPr algn="ctr">
              <a:buNone/>
            </a:pPr>
            <a:r>
              <a:rPr lang="en-US" sz="2100" b="1" dirty="0">
                <a:solidFill>
                  <a:srgbClr val="8A5A12"/>
                </a:solidFill>
                <a:latin typeface="Frutiger"/>
                <a:cs typeface="Frutiger"/>
              </a:rPr>
              <a:t>!</a:t>
            </a:r>
          </a:p>
        </p:txBody>
      </p:sp>
      <p:sp>
        <p:nvSpPr>
          <p:cNvPr id="131" name="Shape 131"/>
          <p:cNvSpPr/>
          <p:nvPr/>
        </p:nvSpPr>
        <p:spPr>
          <a:xfrm>
            <a:off x="9804400" y="5359400"/>
            <a:ext cx="7493000" cy="508000"/>
          </a:xfrm>
          <a:prstGeom prst="rect">
            <a:avLst/>
          </a:prstGeom>
          <a:noFill/>
          <a:ln>
            <a:noFill/>
          </a:ln>
        </p:spPr>
        <p:txBody>
          <a:bodyPr wrap="square" lIns="0" tIns="0" rIns="0" bIns="0" anchor="ctr">
            <a:normAutofit/>
          </a:bodyPr>
          <a:lstStyle/>
          <a:p>
            <a:pPr>
              <a:lnSpc>
                <a:spcPct val="102000"/>
              </a:lnSpc>
              <a:buNone/>
            </a:pPr>
            <a:r>
              <a:rPr lang="en-US" sz="1900" dirty="0">
                <a:solidFill>
                  <a:srgbClr val="364750"/>
                </a:solidFill>
                <a:latin typeface="Frutiger"/>
                <a:cs typeface="Frutiger"/>
              </a:rPr>
              <a:t>Packages and macros — each has its own support matrix</a:t>
            </a:r>
          </a:p>
        </p:txBody>
      </p:sp>
      <p:sp>
        <p:nvSpPr>
          <p:cNvPr id="140" name="Shape 140"/>
          <p:cNvSpPr/>
          <p:nvPr/>
        </p:nvSpPr>
        <p:spPr>
          <a:xfrm>
            <a:off x="838200" y="6248400"/>
            <a:ext cx="16611600" cy="381000"/>
          </a:xfrm>
          <a:prstGeom prst="rect">
            <a:avLst/>
          </a:prstGeom>
          <a:noFill/>
          <a:ln>
            <a:noFill/>
          </a:ln>
        </p:spPr>
        <p:txBody>
          <a:bodyPr wrap="square" lIns="0" tIns="0" rIns="0" bIns="0" anchor="t">
            <a:normAutofit fontScale="77500" lnSpcReduction="20000"/>
          </a:bodyPr>
          <a:lstStyle/>
          <a:p>
            <a:pPr>
              <a:buNone/>
            </a:pPr>
            <a:r>
              <a:rPr lang="en-US" sz="2000" b="1" dirty="0">
                <a:solidFill>
                  <a:srgbClr val="001F6B"/>
                </a:solidFill>
                <a:latin typeface="Frutiger"/>
                <a:cs typeface="Frutiger"/>
              </a:rPr>
              <a:t>One abstraction for one difference: </a:t>
            </a:r>
            <a:r>
              <a:rPr lang="en-US" sz="2000" dirty="0">
                <a:solidFill>
                  <a:srgbClr val="364750"/>
                </a:solidFill>
                <a:latin typeface="Frutiger"/>
                <a:cs typeface="Frutiger"/>
              </a:rPr>
              <a:t>a dispatch macro compiles to the target’s dialect. cents_to_dollars, to_bool and is_true cover this project’s three gaps; they are not a T-SQL → Spark translator.</a:t>
            </a:r>
          </a:p>
        </p:txBody>
      </p:sp>
      <p:sp>
        <p:nvSpPr>
          <p:cNvPr id="152" name="Shape 152"/>
          <p:cNvSpPr/>
          <p:nvPr/>
        </p:nvSpPr>
        <p:spPr>
          <a:xfrm>
            <a:off x="838200" y="6731000"/>
            <a:ext cx="5080000" cy="304800"/>
          </a:xfrm>
          <a:prstGeom prst="rect">
            <a:avLst/>
          </a:prstGeom>
          <a:noFill/>
          <a:ln>
            <a:noFill/>
          </a:ln>
        </p:spPr>
        <p:txBody>
          <a:bodyPr wrap="square" lIns="0" tIns="0" rIns="0" bIns="0" anchor="t">
            <a:normAutofit/>
          </a:bodyPr>
          <a:lstStyle/>
          <a:p>
            <a:pPr>
              <a:buNone/>
            </a:pPr>
            <a:r>
              <a:rPr lang="en-US" sz="1200" b="1" spc="150" dirty="0">
                <a:solidFill>
                  <a:srgbClr val="667780"/>
                </a:solidFill>
                <a:latin typeface="Frutiger"/>
                <a:cs typeface="Frutiger"/>
              </a:rPr>
              <a:t>YOU WRITE</a:t>
            </a:r>
          </a:p>
        </p:txBody>
      </p:sp>
      <p:sp>
        <p:nvSpPr>
          <p:cNvPr id="151" name="Code 151"/>
          <p:cNvSpPr/>
          <p:nvPr/>
        </p:nvSpPr>
        <p:spPr>
          <a:xfrm>
            <a:off x="838200" y="7035800"/>
            <a:ext cx="5080000" cy="1143000"/>
          </a:xfrm>
          <a:prstGeom prst="roundRect">
            <a:avLst>
              <a:gd name="adj" fmla="val 4000"/>
            </a:avLst>
          </a:prstGeom>
          <a:solidFill>
            <a:srgbClr val="0E1E4A"/>
          </a:solidFill>
          <a:ln>
            <a:noFill/>
          </a:ln>
        </p:spPr>
        <p:txBody>
          <a:bodyPr wrap="square" lIns="228600" tIns="177800" rIns="228600" bIns="228600" anchor="t">
            <a:normAutofit/>
          </a:bodyPr>
          <a:lstStyle/>
          <a:p>
            <a:pPr>
              <a:lnSpc>
                <a:spcPct val="120000"/>
              </a:lnSpc>
              <a:buNone/>
            </a:pPr>
            <a:r>
              <a:rPr lang="en-US" sz="1500" dirty="0">
                <a:solidFill>
                  <a:srgbClr val="FF8FA3"/>
                </a:solidFill>
                <a:latin typeface="Consolas"/>
                <a:cs typeface="Consolas"/>
              </a:rPr>
              <a:t>{{ cents_to_dollars('order_total') }}</a:t>
            </a:r>
          </a:p>
          <a:p>
            <a:pPr>
              <a:lnSpc>
                <a:spcPct val="120000"/>
              </a:lnSpc>
              <a:buNone/>
            </a:pPr>
            <a:r>
              <a:rPr lang="en-US" sz="1500" dirty="0">
                <a:solidFill>
                  <a:srgbClr val="8E9DC5"/>
                </a:solidFill>
                <a:latin typeface="Consolas"/>
                <a:cs typeface="Consolas"/>
              </a:rPr>
              <a:t>-- same model file, all three engines</a:t>
            </a:r>
          </a:p>
        </p:txBody>
      </p:sp>
      <p:cxnSp>
        <p:nvCxnSpPr>
          <p:cNvPr id="153" name="Line 153"/>
          <p:cNvCxnSpPr/>
          <p:nvPr/>
        </p:nvCxnSpPr>
        <p:spPr>
          <a:xfrm>
            <a:off x="5994400" y="7607300"/>
            <a:ext cx="558800" cy="0"/>
          </a:xfrm>
          <a:prstGeom prst="line">
            <a:avLst/>
          </a:prstGeom>
          <a:ln w="25400">
            <a:solidFill>
              <a:srgbClr val="667780"/>
            </a:solidFill>
            <a:tailEnd type="triangle" w="med" len="med"/>
          </a:ln>
        </p:spPr>
      </p:cxnSp>
      <p:sp>
        <p:nvSpPr>
          <p:cNvPr id="154" name="Shape 154"/>
          <p:cNvSpPr/>
          <p:nvPr/>
        </p:nvSpPr>
        <p:spPr>
          <a:xfrm>
            <a:off x="6604000" y="6731000"/>
            <a:ext cx="5080000" cy="304800"/>
          </a:xfrm>
          <a:prstGeom prst="rect">
            <a:avLst/>
          </a:prstGeom>
          <a:noFill/>
          <a:ln>
            <a:noFill/>
          </a:ln>
        </p:spPr>
        <p:txBody>
          <a:bodyPr wrap="square" lIns="0" tIns="0" rIns="0" bIns="0" anchor="t">
            <a:normAutofit/>
          </a:bodyPr>
          <a:lstStyle/>
          <a:p>
            <a:pPr>
              <a:buNone/>
            </a:pPr>
            <a:r>
              <a:rPr lang="en-US" sz="1200" b="1" spc="150" dirty="0">
                <a:solidFill>
                  <a:srgbClr val="667780"/>
                </a:solidFill>
                <a:latin typeface="Frutiger"/>
                <a:cs typeface="Frutiger"/>
              </a:rPr>
              <a:t>FABRIC WAREHOUSE  ·  T-SQL</a:t>
            </a:r>
          </a:p>
        </p:txBody>
      </p:sp>
      <p:sp>
        <p:nvSpPr>
          <p:cNvPr id="155" name="Code 155"/>
          <p:cNvSpPr/>
          <p:nvPr/>
        </p:nvSpPr>
        <p:spPr>
          <a:xfrm>
            <a:off x="6604000" y="7035800"/>
            <a:ext cx="5080000" cy="1143000"/>
          </a:xfrm>
          <a:prstGeom prst="roundRect">
            <a:avLst>
              <a:gd name="adj" fmla="val 4000"/>
            </a:avLst>
          </a:prstGeom>
          <a:solidFill>
            <a:srgbClr val="2B3A55"/>
          </a:solidFill>
          <a:ln>
            <a:noFill/>
          </a:ln>
        </p:spPr>
        <p:txBody>
          <a:bodyPr wrap="square" lIns="228600" tIns="177800" rIns="228600" bIns="228600" anchor="t">
            <a:normAutofit/>
          </a:bodyPr>
          <a:lstStyle/>
          <a:p>
            <a:pPr>
              <a:lnSpc>
                <a:spcPct val="120000"/>
              </a:lnSpc>
              <a:buNone/>
            </a:pPr>
            <a:r>
              <a:rPr lang="en-US" sz="1500" dirty="0">
                <a:solidFill>
                  <a:srgbClr val="8EC5FF"/>
                </a:solidFill>
                <a:latin typeface="Consolas"/>
                <a:cs typeface="Consolas"/>
              </a:rPr>
              <a:t>cast(</a:t>
            </a:r>
            <a:r>
              <a:rPr lang="en-US" sz="1500" dirty="0">
                <a:solidFill>
                  <a:srgbClr val="E8ECF5"/>
                </a:solidFill>
                <a:latin typeface="Consolas"/>
                <a:cs typeface="Consolas"/>
              </a:rPr>
              <a:t>order_total / 100.0 as numeric(16, 2))</a:t>
            </a:r>
          </a:p>
          <a:p>
            <a:pPr>
              <a:lnSpc>
                <a:spcPct val="120000"/>
              </a:lnSpc>
              <a:buNone/>
            </a:pPr>
            <a:r>
              <a:rPr lang="en-US" sz="1500" dirty="0">
                <a:solidFill>
                  <a:srgbClr val="8E9DC5"/>
                </a:solidFill>
                <a:latin typeface="Consolas"/>
                <a:cs typeface="Consolas"/>
              </a:rPr>
              <a:t>-- fabric__cents_to_dollars</a:t>
            </a:r>
          </a:p>
        </p:txBody>
      </p:sp>
      <p:cxnSp>
        <p:nvCxnSpPr>
          <p:cNvPr id="156" name="Line 156"/>
          <p:cNvCxnSpPr/>
          <p:nvPr/>
        </p:nvCxnSpPr>
        <p:spPr>
          <a:xfrm>
            <a:off x="11760200" y="7607300"/>
            <a:ext cx="558800" cy="0"/>
          </a:xfrm>
          <a:prstGeom prst="line">
            <a:avLst/>
          </a:prstGeom>
          <a:ln w="25400">
            <a:solidFill>
              <a:srgbClr val="667780"/>
            </a:solidFill>
            <a:tailEnd type="triangle" w="med" len="med"/>
          </a:ln>
        </p:spPr>
      </p:cxnSp>
      <p:sp>
        <p:nvSpPr>
          <p:cNvPr id="157" name="Shape 157"/>
          <p:cNvSpPr/>
          <p:nvPr/>
        </p:nvSpPr>
        <p:spPr>
          <a:xfrm>
            <a:off x="12369800" y="6731000"/>
            <a:ext cx="5080000" cy="304800"/>
          </a:xfrm>
          <a:prstGeom prst="rect">
            <a:avLst/>
          </a:prstGeom>
          <a:noFill/>
          <a:ln>
            <a:noFill/>
          </a:ln>
        </p:spPr>
        <p:txBody>
          <a:bodyPr wrap="square" lIns="0" tIns="0" rIns="0" bIns="0" anchor="t">
            <a:normAutofit/>
          </a:bodyPr>
          <a:lstStyle/>
          <a:p>
            <a:pPr>
              <a:buNone/>
            </a:pPr>
            <a:r>
              <a:rPr lang="en-US" sz="1200" b="1" spc="150" dirty="0">
                <a:solidFill>
                  <a:srgbClr val="667780"/>
                </a:solidFill>
                <a:latin typeface="Frutiger"/>
                <a:cs typeface="Frutiger"/>
              </a:rPr>
              <a:t>FABRIC LAKEHOUSE  ·  SPARK SQL</a:t>
            </a:r>
          </a:p>
        </p:txBody>
      </p:sp>
      <p:sp>
        <p:nvSpPr>
          <p:cNvPr id="158" name="Code 158"/>
          <p:cNvSpPr/>
          <p:nvPr/>
        </p:nvSpPr>
        <p:spPr>
          <a:xfrm>
            <a:off x="12369800" y="7035800"/>
            <a:ext cx="5080000" cy="1143000"/>
          </a:xfrm>
          <a:prstGeom prst="roundRect">
            <a:avLst>
              <a:gd name="adj" fmla="val 4000"/>
            </a:avLst>
          </a:prstGeom>
          <a:solidFill>
            <a:srgbClr val="2B3A55"/>
          </a:solidFill>
          <a:ln>
            <a:noFill/>
          </a:ln>
        </p:spPr>
        <p:txBody>
          <a:bodyPr wrap="square" lIns="228600" tIns="177800" rIns="228600" bIns="228600" anchor="t">
            <a:normAutofit/>
          </a:bodyPr>
          <a:lstStyle/>
          <a:p>
            <a:pPr>
              <a:lnSpc>
                <a:spcPct val="120000"/>
              </a:lnSpc>
              <a:buNone/>
            </a:pPr>
            <a:r>
              <a:rPr lang="en-US" sz="1500" dirty="0">
                <a:solidFill>
                  <a:srgbClr val="E8ECF5"/>
                </a:solidFill>
                <a:latin typeface="Consolas"/>
                <a:cs typeface="Consolas"/>
              </a:rPr>
              <a:t>cast(</a:t>
            </a:r>
            <a:r>
              <a:rPr lang="en-US" sz="1500" dirty="0">
                <a:solidFill>
                  <a:srgbClr val="8EC5FF"/>
                </a:solidFill>
                <a:latin typeface="Consolas"/>
                <a:cs typeface="Consolas"/>
              </a:rPr>
              <a:t>order_total / 100.0 as decimal(16, 2))</a:t>
            </a:r>
          </a:p>
          <a:p>
            <a:pPr>
              <a:lnSpc>
                <a:spcPct val="120000"/>
              </a:lnSpc>
              <a:buNone/>
            </a:pPr>
            <a:r>
              <a:rPr lang="en-US" sz="1500" dirty="0">
                <a:solidFill>
                  <a:srgbClr val="8E9DC5"/>
                </a:solidFill>
                <a:latin typeface="Consolas"/>
                <a:cs typeface="Consolas"/>
              </a:rPr>
              <a:t>-- default__cents_to_dollars</a:t>
            </a:r>
          </a:p>
        </p:txBody>
      </p:sp>
      <p:sp>
        <p:nvSpPr>
          <p:cNvPr id="160" name="Shape 160"/>
          <p:cNvSpPr/>
          <p:nvPr/>
        </p:nvSpPr>
        <p:spPr>
          <a:xfrm>
            <a:off x="838200" y="8382000"/>
            <a:ext cx="16611600" cy="635000"/>
          </a:xfrm>
          <a:prstGeom prst="rect">
            <a:avLst/>
          </a:prstGeom>
          <a:noFill/>
          <a:ln>
            <a:noFill/>
          </a:ln>
        </p:spPr>
        <p:txBody>
          <a:bodyPr wrap="square" lIns="0" tIns="0" rIns="0" bIns="0" anchor="t">
            <a:normAutofit/>
          </a:bodyPr>
          <a:lstStyle/>
          <a:p>
            <a:pPr>
              <a:lnSpc>
                <a:spcPct val="105000"/>
              </a:lnSpc>
              <a:buNone/>
            </a:pPr>
            <a:r>
              <a:rPr lang="en-US" sz="1800" dirty="0">
                <a:solidFill>
                  <a:srgbClr val="364750"/>
                </a:solidFill>
                <a:latin typeface="Frutiger"/>
                <a:cs typeface="Frutiger"/>
              </a:rPr>
              <a:t>Today’s project stays inside a deliberately portable subset — explicit columns and group-bys, simple joins, CASE, SUM, decimal casts — and the raw tables are loaded into each engine separately. </a:t>
            </a:r>
            <a:r>
              <a:rPr lang="en-US" sz="1800" b="1" dirty="0">
                <a:solidFill>
                  <a:srgbClr val="001F6B"/>
                </a:solidFill>
                <a:latin typeface="Frutiger"/>
                <a:cs typeface="Frutiger"/>
              </a:rPr>
              <a:t>Changing a target never moves data.</a:t>
            </a:r>
          </a:p>
        </p:txBody>
      </p:sp>
    </p:spTree>
    <p:extLst>
      <p:ext uri="{BB962C8B-B14F-4D97-AF65-F5344CB8AC3E}">
        <p14:creationId xmlns:p14="http://schemas.microsoft.com/office/powerpoint/2010/main" val="32452622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99A89D5-83CF-4C3E-9CF5-65C3BE887734}"/>
              </a:ext>
            </a:extLst>
          </p:cNvPr>
          <p:cNvSpPr>
            <a:spLocks noGrp="1"/>
          </p:cNvSpPr>
          <p:nvPr/>
        </p:nvSpPr>
        <p:spPr>
          <a:xfrm>
            <a:off x="0" y="3989190"/>
            <a:ext cx="18288000" cy="6297812"/>
          </a:xfrm>
          <a:custGeom>
            <a:avLst/>
            <a:gdLst/>
            <a:ahLst/>
            <a:cxnLst/>
            <a:rect l="0" t="0" r="0" b="0"/>
            <a:pathLst>
              <a:path w="18288000" h="6297811">
                <a:moveTo>
                  <a:pt x="0" y="1485900"/>
                </a:moveTo>
                <a:lnTo>
                  <a:pt x="18288000" y="0"/>
                </a:lnTo>
                <a:lnTo>
                  <a:pt x="18288000" y="6297811"/>
                </a:lnTo>
                <a:lnTo>
                  <a:pt x="0" y="6297811"/>
                </a:lnTo>
                <a:close/>
              </a:path>
            </a:pathLst>
          </a:custGeom>
          <a:solidFill>
            <a:srgbClr val="001F6B"/>
          </a:solidFill>
        </p:spPr>
        <p:txBody>
          <a:bodyPr/>
          <a:lstStyle/>
          <a:p>
            <a:endParaRPr sz="1801"/>
          </a:p>
        </p:txBody>
      </p:sp>
      <p:sp>
        <p:nvSpPr>
          <p:cNvPr id="900" name="Accent Line">
            <a:extLst>
              <a:ext uri="{FF2B5EF4-FFF2-40B4-BE49-F238E27FC236}">
                <a16:creationId xmlns:a16="http://schemas.microsoft.com/office/drawing/2014/main" id="{D5F61F5F-CE19-44ED-9D02-A5527460F025}"/>
              </a:ext>
            </a:extLst>
          </p:cNvPr>
          <p:cNvSpPr>
            <a:spLocks noGrp="1"/>
          </p:cNvSpPr>
          <p:nvPr/>
        </p:nvSpPr>
        <p:spPr>
          <a:xfrm flipV="1">
            <a:off x="0" y="3836790"/>
            <a:ext cx="18288000" cy="1485900"/>
          </a:xfrm>
          <a:prstGeom prst="line">
            <a:avLst/>
          </a:prstGeom>
          <a:ln w="57150">
            <a:solidFill>
              <a:srgbClr val="FF0000"/>
            </a:solidFill>
          </a:ln>
        </p:spPr>
        <p:txBody>
          <a:bodyPr/>
          <a:lstStyle/>
          <a:p>
            <a:endParaRPr lang="en-US"/>
          </a:p>
        </p:txBody>
      </p:sp>
      <p:sp>
        <p:nvSpPr>
          <p:cNvPr id="4" name="Text 1">
            <a:extLst>
              <a:ext uri="{FF2B5EF4-FFF2-40B4-BE49-F238E27FC236}">
                <a16:creationId xmlns:a16="http://schemas.microsoft.com/office/drawing/2014/main" id="{235EE72F-2DF4-4BBC-B836-E156CD294378}"/>
              </a:ext>
            </a:extLst>
          </p:cNvPr>
          <p:cNvSpPr>
            <a:spLocks noGrp="1"/>
          </p:cNvSpPr>
          <p:nvPr/>
        </p:nvSpPr>
        <p:spPr>
          <a:xfrm>
            <a:off x="838202" y="8448676"/>
            <a:ext cx="1855010" cy="1152524"/>
          </a:xfrm>
          <a:prstGeom prst="rect">
            <a:avLst/>
          </a:prstGeom>
          <a:noFill/>
        </p:spPr>
        <p:txBody>
          <a:bodyPr wrap="square" lIns="25401" tIns="25401" rIns="25401" bIns="25401" anchor="t">
            <a:normAutofit lnSpcReduction="10000"/>
          </a:bodyPr>
          <a:lstStyle/>
          <a:p>
            <a:pPr>
              <a:lnSpc>
                <a:spcPct val="58500"/>
              </a:lnSpc>
              <a:buNone/>
            </a:pPr>
            <a:r>
              <a:rPr sz="11250" b="1" spc="-450">
                <a:solidFill>
                  <a:srgbClr val="E40046"/>
                </a:solidFill>
                <a:latin typeface="Frutiger"/>
                <a:ea typeface="Frutiger"/>
                <a:cs typeface="Frutiger"/>
              </a:rPr>
              <a:t>04</a:t>
            </a:r>
          </a:p>
        </p:txBody>
      </p:sp>
      <p:sp>
        <p:nvSpPr>
          <p:cNvPr id="5" name="Text 2">
            <a:extLst>
              <a:ext uri="{FF2B5EF4-FFF2-40B4-BE49-F238E27FC236}">
                <a16:creationId xmlns:a16="http://schemas.microsoft.com/office/drawing/2014/main" id="{E2855DD2-C834-48A4-ADA1-C139894E16A5}"/>
              </a:ext>
            </a:extLst>
          </p:cNvPr>
          <p:cNvSpPr>
            <a:spLocks noGrp="1"/>
          </p:cNvSpPr>
          <p:nvPr/>
        </p:nvSpPr>
        <p:spPr>
          <a:xfrm>
            <a:off x="3134171" y="7612561"/>
            <a:ext cx="10991061" cy="392311"/>
          </a:xfrm>
          <a:prstGeom prst="rect">
            <a:avLst/>
          </a:prstGeom>
          <a:noFill/>
        </p:spPr>
        <p:txBody>
          <a:bodyPr wrap="square" lIns="25401" tIns="25401" rIns="25401" bIns="25401" anchor="t">
            <a:normAutofit/>
          </a:bodyPr>
          <a:lstStyle/>
          <a:p>
            <a:pPr>
              <a:lnSpc>
                <a:spcPct val="120000"/>
              </a:lnSpc>
              <a:buNone/>
            </a:pPr>
            <a:r>
              <a:rPr sz="1801" b="1" spc="432">
                <a:solidFill>
                  <a:srgbClr val="B6BFC4"/>
                </a:solidFill>
                <a:latin typeface="Frutiger"/>
                <a:ea typeface="Frutiger"/>
                <a:cs typeface="Frutiger"/>
              </a:rPr>
              <a:t>LIVE DEMO 4  ·  FABRIC LAKEHOUSE (SPARK)</a:t>
            </a:r>
          </a:p>
        </p:txBody>
      </p:sp>
      <p:sp>
        <p:nvSpPr>
          <p:cNvPr id="6" name="Text 3">
            <a:extLst>
              <a:ext uri="{FF2B5EF4-FFF2-40B4-BE49-F238E27FC236}">
                <a16:creationId xmlns:a16="http://schemas.microsoft.com/office/drawing/2014/main" id="{20892FFE-61C4-4001-81BF-E1ACD977F149}"/>
              </a:ext>
            </a:extLst>
          </p:cNvPr>
          <p:cNvSpPr>
            <a:spLocks noGrp="1"/>
          </p:cNvSpPr>
          <p:nvPr/>
        </p:nvSpPr>
        <p:spPr>
          <a:xfrm>
            <a:off x="3134171" y="8138220"/>
            <a:ext cx="10991061" cy="800100"/>
          </a:xfrm>
          <a:prstGeom prst="rect">
            <a:avLst/>
          </a:prstGeom>
          <a:noFill/>
        </p:spPr>
        <p:txBody>
          <a:bodyPr wrap="square" lIns="25401" tIns="25401" rIns="25401" bIns="25401" anchor="t">
            <a:normAutofit/>
          </a:bodyPr>
          <a:lstStyle/>
          <a:p>
            <a:pPr>
              <a:lnSpc>
                <a:spcPct val="77670"/>
              </a:lnSpc>
              <a:buNone/>
            </a:pPr>
            <a:r>
              <a:rPr sz="6000" b="1" spc="-121">
                <a:solidFill>
                  <a:srgbClr val="FFFFFF"/>
                </a:solidFill>
                <a:latin typeface="Frutiger"/>
                <a:ea typeface="Frutiger"/>
                <a:cs typeface="Frutiger"/>
              </a:rPr>
              <a:t>Change the engine</a:t>
            </a:r>
          </a:p>
        </p:txBody>
      </p:sp>
      <p:sp>
        <p:nvSpPr>
          <p:cNvPr id="7" name="Text 4">
            <a:extLst>
              <a:ext uri="{FF2B5EF4-FFF2-40B4-BE49-F238E27FC236}">
                <a16:creationId xmlns:a16="http://schemas.microsoft.com/office/drawing/2014/main" id="{C426275A-6120-4A60-960F-EDFEA0556A63}"/>
              </a:ext>
            </a:extLst>
          </p:cNvPr>
          <p:cNvSpPr>
            <a:spLocks noGrp="1"/>
          </p:cNvSpPr>
          <p:nvPr/>
        </p:nvSpPr>
        <p:spPr>
          <a:xfrm>
            <a:off x="3134171" y="9071670"/>
            <a:ext cx="10991061" cy="434281"/>
          </a:xfrm>
          <a:prstGeom prst="rect">
            <a:avLst/>
          </a:prstGeom>
          <a:noFill/>
        </p:spPr>
        <p:txBody>
          <a:bodyPr wrap="square" lIns="25401" tIns="25401" rIns="25401" bIns="25401" anchor="t">
            <a:normAutofit/>
          </a:bodyPr>
          <a:lstStyle/>
          <a:p>
            <a:pPr>
              <a:lnSpc>
                <a:spcPct val="104000"/>
              </a:lnSpc>
              <a:buNone/>
            </a:pPr>
            <a:r>
              <a:rPr sz="2400">
                <a:solidFill>
                  <a:srgbClr val="C7D0E5"/>
                </a:solidFill>
                <a:latin typeface="Frutiger"/>
                <a:ea typeface="Frutiger"/>
                <a:cs typeface="Frutiger"/>
              </a:rPr>
              <a:t>Keep the project. Change the connection. Compare the result.</a:t>
            </a:r>
          </a:p>
        </p:txBody>
      </p:sp>
      <p:pic>
        <p:nvPicPr>
          <p:cNvPr id="908" name="Image 0"/>
          <p:cNvPicPr>
            <a:picLocks noChangeAspect="1"/>
          </p:cNvPicPr>
          <p:nvPr/>
        </p:nvPicPr>
        <p:blipFill>
          <a:blip r:embed="rId3"/>
          <a:srcRect t="-5" b="-5"/>
          <a:stretch/>
        </p:blipFill>
        <p:spPr>
          <a:xfrm>
            <a:off x="16412620" y="571500"/>
            <a:ext cx="1037182" cy="514350"/>
          </a:xfrm>
          <a:prstGeom prst="rect">
            <a:avLst/>
          </a:prstGeom>
        </p:spPr>
      </p:pic>
      <p:sp>
        <p:nvSpPr>
          <p:cNvPr id="100" name="Shape 100"/>
          <p:cNvSpPr/>
          <p:nvPr/>
        </p:nvSpPr>
        <p:spPr>
          <a:xfrm>
            <a:off x="838200" y="660400"/>
            <a:ext cx="7620000" cy="355600"/>
          </a:xfrm>
          <a:prstGeom prst="rect">
            <a:avLst/>
          </a:prstGeom>
          <a:noFill/>
          <a:ln>
            <a:noFill/>
          </a:ln>
        </p:spPr>
        <p:txBody>
          <a:bodyPr wrap="square" lIns="0" tIns="0" rIns="0" bIns="0" anchor="t">
            <a:normAutofit/>
          </a:bodyPr>
          <a:lstStyle/>
          <a:p>
            <a:pPr>
              <a:buNone/>
            </a:pPr>
            <a:r>
              <a:rPr lang="en-US" sz="1500" b="1" spc="200" dirty="0">
                <a:solidFill>
                  <a:srgbClr val="E40046"/>
                </a:solidFill>
                <a:latin typeface="Frutiger"/>
                <a:cs typeface="Frutiger"/>
              </a:rPr>
              <a:t>WHAT YOU’LL SEE  ·  ~5 MINUTES</a:t>
            </a:r>
          </a:p>
        </p:txBody>
      </p:sp>
      <p:sp>
        <p:nvSpPr>
          <p:cNvPr id="110" name="Shape 110"/>
          <p:cNvSpPr/>
          <p:nvPr/>
        </p:nvSpPr>
        <p:spPr>
          <a:xfrm>
            <a:off x="838200" y="1092200"/>
            <a:ext cx="457200" cy="457200"/>
          </a:xfrm>
          <a:prstGeom prst="ellipse">
            <a:avLst/>
          </a:prstGeom>
          <a:solidFill>
            <a:srgbClr val="001F6B"/>
          </a:solidFill>
          <a:ln>
            <a:noFill/>
          </a:ln>
        </p:spPr>
        <p:txBody>
          <a:bodyPr wrap="square" lIns="0" tIns="0" rIns="0" bIns="0" anchor="ctr">
            <a:normAutofit/>
          </a:bodyPr>
          <a:lstStyle/>
          <a:p>
            <a:pPr algn="ctr">
              <a:buNone/>
            </a:pPr>
            <a:r>
              <a:rPr lang="en-US" sz="1800" b="1" dirty="0">
                <a:solidFill>
                  <a:srgbClr val="FFFFFF"/>
                </a:solidFill>
                <a:latin typeface="Frutiger"/>
                <a:cs typeface="Frutiger"/>
              </a:rPr>
              <a:t>1</a:t>
            </a:r>
          </a:p>
        </p:txBody>
      </p:sp>
      <p:sp>
        <p:nvSpPr>
          <p:cNvPr id="111" name="Shape 111"/>
          <p:cNvSpPr/>
          <p:nvPr/>
        </p:nvSpPr>
        <p:spPr>
          <a:xfrm>
            <a:off x="1473200" y="1016000"/>
            <a:ext cx="7112000" cy="711200"/>
          </a:xfrm>
          <a:prstGeom prst="rect">
            <a:avLst/>
          </a:prstGeom>
          <a:noFill/>
          <a:ln>
            <a:noFill/>
          </a:ln>
        </p:spPr>
        <p:txBody>
          <a:bodyPr wrap="square" lIns="0" tIns="0" rIns="0" bIns="0" anchor="ctr">
            <a:normAutofit/>
          </a:bodyPr>
          <a:lstStyle/>
          <a:p>
            <a:pPr>
              <a:buNone/>
            </a:pPr>
            <a:r>
              <a:rPr lang="en-US" sz="2100" b="1" dirty="0">
                <a:solidFill>
                  <a:srgbClr val="001F6B"/>
                </a:solidFill>
                <a:latin typeface="Frutiger"/>
                <a:cs typeface="Frutiger"/>
              </a:rPr>
              <a:t>Same files, new target  </a:t>
            </a:r>
            <a:r>
              <a:rPr lang="en-US" sz="1900" dirty="0">
                <a:solidFill>
                  <a:srgbClr val="364750"/>
                </a:solidFill>
                <a:latin typeface="Frutiger"/>
                <a:cs typeface="Frutiger"/>
              </a:rPr>
              <a:t>customers.sql is untouched. Only the target changes: dbt build --target lakehouse (adapter, workspace, lakehouse).</a:t>
            </a:r>
          </a:p>
        </p:txBody>
      </p:sp>
      <p:sp>
        <p:nvSpPr>
          <p:cNvPr id="112" name="Shape 112"/>
          <p:cNvSpPr/>
          <p:nvPr/>
        </p:nvSpPr>
        <p:spPr>
          <a:xfrm>
            <a:off x="838200" y="1879600"/>
            <a:ext cx="457200" cy="457200"/>
          </a:xfrm>
          <a:prstGeom prst="ellipse">
            <a:avLst/>
          </a:prstGeom>
          <a:solidFill>
            <a:srgbClr val="001F6B"/>
          </a:solidFill>
          <a:ln>
            <a:noFill/>
          </a:ln>
        </p:spPr>
        <p:txBody>
          <a:bodyPr wrap="square" lIns="0" tIns="0" rIns="0" bIns="0" anchor="ctr">
            <a:normAutofit/>
          </a:bodyPr>
          <a:lstStyle/>
          <a:p>
            <a:pPr algn="ctr">
              <a:buNone/>
            </a:pPr>
            <a:r>
              <a:rPr lang="en-US" sz="1800" b="1" dirty="0">
                <a:solidFill>
                  <a:srgbClr val="FFFFFF"/>
                </a:solidFill>
                <a:latin typeface="Frutiger"/>
                <a:cs typeface="Frutiger"/>
              </a:rPr>
              <a:t>2</a:t>
            </a:r>
          </a:p>
        </p:txBody>
      </p:sp>
      <p:sp>
        <p:nvSpPr>
          <p:cNvPr id="113" name="Shape 113"/>
          <p:cNvSpPr/>
          <p:nvPr/>
        </p:nvSpPr>
        <p:spPr>
          <a:xfrm>
            <a:off x="1473200" y="1803400"/>
            <a:ext cx="7112000" cy="711200"/>
          </a:xfrm>
          <a:prstGeom prst="rect">
            <a:avLst/>
          </a:prstGeom>
          <a:noFill/>
          <a:ln>
            <a:noFill/>
          </a:ln>
        </p:spPr>
        <p:txBody>
          <a:bodyPr wrap="square" lIns="0" tIns="0" rIns="0" bIns="0" anchor="ctr">
            <a:normAutofit fontScale="92500" lnSpcReduction="20000"/>
          </a:bodyPr>
          <a:lstStyle/>
          <a:p>
            <a:pPr>
              <a:buNone/>
            </a:pPr>
            <a:r>
              <a:rPr lang="en-US" sz="2100" b="1" dirty="0">
                <a:solidFill>
                  <a:srgbClr val="001F6B"/>
                </a:solidFill>
                <a:latin typeface="Frutiger"/>
                <a:cs typeface="Frutiger"/>
              </a:rPr>
              <a:t>dbt build --select customers  </a:t>
            </a:r>
            <a:r>
              <a:rPr lang="en-US" sz="1900" dirty="0">
                <a:solidFill>
                  <a:srgbClr val="364750"/>
                </a:solidFill>
                <a:latin typeface="Frutiger"/>
                <a:cs typeface="Frutiger"/>
              </a:rPr>
              <a:t>One mart and its four tests on Spark, ~2 minutes with a warm Livy session. The full 48-node build (~7 min) is the recording.</a:t>
            </a:r>
          </a:p>
        </p:txBody>
      </p:sp>
      <p:sp>
        <p:nvSpPr>
          <p:cNvPr id="114" name="Shape 114"/>
          <p:cNvSpPr/>
          <p:nvPr/>
        </p:nvSpPr>
        <p:spPr>
          <a:xfrm>
            <a:off x="838200" y="2667000"/>
            <a:ext cx="457200" cy="457200"/>
          </a:xfrm>
          <a:prstGeom prst="ellipse">
            <a:avLst/>
          </a:prstGeom>
          <a:solidFill>
            <a:srgbClr val="001F6B"/>
          </a:solidFill>
          <a:ln>
            <a:noFill/>
          </a:ln>
        </p:spPr>
        <p:txBody>
          <a:bodyPr wrap="square" lIns="0" tIns="0" rIns="0" bIns="0" anchor="ctr">
            <a:normAutofit/>
          </a:bodyPr>
          <a:lstStyle/>
          <a:p>
            <a:pPr algn="ctr">
              <a:buNone/>
            </a:pPr>
            <a:r>
              <a:rPr lang="en-US" sz="1800" b="1" dirty="0">
                <a:solidFill>
                  <a:srgbClr val="FFFFFF"/>
                </a:solidFill>
                <a:latin typeface="Frutiger"/>
                <a:cs typeface="Frutiger"/>
              </a:rPr>
              <a:t>3</a:t>
            </a:r>
          </a:p>
        </p:txBody>
      </p:sp>
      <p:sp>
        <p:nvSpPr>
          <p:cNvPr id="115" name="Shape 115"/>
          <p:cNvSpPr/>
          <p:nvPr/>
        </p:nvSpPr>
        <p:spPr>
          <a:xfrm>
            <a:off x="1473200" y="2590800"/>
            <a:ext cx="7112000" cy="711200"/>
          </a:xfrm>
          <a:prstGeom prst="rect">
            <a:avLst/>
          </a:prstGeom>
          <a:noFill/>
          <a:ln>
            <a:noFill/>
          </a:ln>
        </p:spPr>
        <p:txBody>
          <a:bodyPr wrap="square" lIns="0" tIns="0" rIns="0" bIns="0" anchor="ctr">
            <a:normAutofit/>
          </a:bodyPr>
          <a:lstStyle/>
          <a:p>
            <a:pPr>
              <a:buNone/>
            </a:pPr>
            <a:r>
              <a:rPr lang="en-US" sz="2100" b="1" dirty="0">
                <a:solidFill>
                  <a:srgbClr val="001F6B"/>
                </a:solidFill>
                <a:latin typeface="Frutiger"/>
                <a:cs typeface="Frutiger"/>
              </a:rPr>
              <a:t>Compare the compiled SQL  </a:t>
            </a:r>
            <a:r>
              <a:rPr lang="en-US" sz="1900" dirty="0">
                <a:solidFill>
                  <a:srgbClr val="364750"/>
                </a:solidFill>
                <a:latin typeface="Frutiger"/>
                <a:cs typeface="Frutiger"/>
              </a:rPr>
              <a:t>Relation names, quoting and the boolean macro output differ; the model does not.</a:t>
            </a:r>
          </a:p>
        </p:txBody>
      </p:sp>
      <p:sp>
        <p:nvSpPr>
          <p:cNvPr id="116" name="Shape 116"/>
          <p:cNvSpPr/>
          <p:nvPr/>
        </p:nvSpPr>
        <p:spPr>
          <a:xfrm>
            <a:off x="838200" y="3454400"/>
            <a:ext cx="457200" cy="457200"/>
          </a:xfrm>
          <a:prstGeom prst="ellipse">
            <a:avLst/>
          </a:prstGeom>
          <a:solidFill>
            <a:srgbClr val="001F6B"/>
          </a:solidFill>
          <a:ln>
            <a:noFill/>
          </a:ln>
        </p:spPr>
        <p:txBody>
          <a:bodyPr wrap="square" lIns="0" tIns="0" rIns="0" bIns="0" anchor="ctr">
            <a:normAutofit/>
          </a:bodyPr>
          <a:lstStyle/>
          <a:p>
            <a:pPr algn="ctr">
              <a:buNone/>
            </a:pPr>
            <a:r>
              <a:rPr lang="en-US" sz="1800" b="1" dirty="0">
                <a:solidFill>
                  <a:srgbClr val="FFFFFF"/>
                </a:solidFill>
                <a:latin typeface="Frutiger"/>
                <a:cs typeface="Frutiger"/>
              </a:rPr>
              <a:t>4</a:t>
            </a:r>
          </a:p>
        </p:txBody>
      </p:sp>
      <p:sp>
        <p:nvSpPr>
          <p:cNvPr id="117" name="Shape 117"/>
          <p:cNvSpPr/>
          <p:nvPr/>
        </p:nvSpPr>
        <p:spPr>
          <a:xfrm>
            <a:off x="1473200" y="3378200"/>
            <a:ext cx="7112000" cy="711200"/>
          </a:xfrm>
          <a:prstGeom prst="rect">
            <a:avLst/>
          </a:prstGeom>
          <a:noFill/>
          <a:ln>
            <a:noFill/>
          </a:ln>
        </p:spPr>
        <p:txBody>
          <a:bodyPr wrap="square" lIns="0" tIns="0" rIns="0" bIns="0" anchor="ctr">
            <a:normAutofit/>
          </a:bodyPr>
          <a:lstStyle/>
          <a:p>
            <a:pPr>
              <a:buNone/>
            </a:pPr>
            <a:r>
              <a:rPr lang="en-US" sz="2100" b="1" dirty="0">
                <a:solidFill>
                  <a:srgbClr val="001F6B"/>
                </a:solidFill>
                <a:latin typeface="Frutiger"/>
                <a:cs typeface="Frutiger"/>
              </a:rPr>
              <a:t>Query the Delta table  </a:t>
            </a:r>
            <a:r>
              <a:rPr lang="en-US" sz="1900" dirty="0">
                <a:solidFill>
                  <a:srgbClr val="364750"/>
                </a:solidFill>
                <a:latin typeface="Frutiger"/>
                <a:cs typeface="Frutiger"/>
              </a:rPr>
              <a:t>Same rows: 6 new, 929 returning — 671,425.37. Compare results, not wall-clock time.</a:t>
            </a:r>
          </a:p>
        </p:txBody>
      </p:sp>
      <p:sp>
        <p:nvSpPr>
          <p:cNvPr id="120" name="Shape 120"/>
          <p:cNvSpPr/>
          <p:nvPr/>
        </p:nvSpPr>
        <p:spPr>
          <a:xfrm>
            <a:off x="9906000" y="660400"/>
            <a:ext cx="5588000" cy="355600"/>
          </a:xfrm>
          <a:prstGeom prst="rect">
            <a:avLst/>
          </a:prstGeom>
          <a:noFill/>
          <a:ln>
            <a:noFill/>
          </a:ln>
        </p:spPr>
        <p:txBody>
          <a:bodyPr wrap="square" lIns="0" tIns="0" rIns="0" bIns="0" anchor="t">
            <a:normAutofit/>
          </a:bodyPr>
          <a:lstStyle/>
          <a:p>
            <a:pPr>
              <a:buNone/>
            </a:pPr>
            <a:r>
              <a:rPr lang="en-US" sz="1500" b="1" spc="200" dirty="0">
                <a:solidFill>
                  <a:srgbClr val="E40046"/>
                </a:solidFill>
                <a:latin typeface="Frutiger"/>
                <a:cs typeface="Frutiger"/>
              </a:rPr>
              <a:t>PROFILES.YML  ·  THE LAKEHOUSE TARGET</a:t>
            </a:r>
          </a:p>
        </p:txBody>
      </p:sp>
      <p:sp>
        <p:nvSpPr>
          <p:cNvPr id="121" name="Code 121"/>
          <p:cNvSpPr/>
          <p:nvPr/>
        </p:nvSpPr>
        <p:spPr>
          <a:xfrm>
            <a:off x="9906000" y="1066800"/>
            <a:ext cx="5969000" cy="2413000"/>
          </a:xfrm>
          <a:prstGeom prst="roundRect">
            <a:avLst>
              <a:gd name="adj" fmla="val 4000"/>
            </a:avLst>
          </a:prstGeom>
          <a:solidFill>
            <a:srgbClr val="0E1E4A"/>
          </a:solidFill>
          <a:ln>
            <a:noFill/>
          </a:ln>
        </p:spPr>
        <p:txBody>
          <a:bodyPr wrap="square" lIns="228600" tIns="203200" rIns="228600" bIns="228600" anchor="t">
            <a:normAutofit lnSpcReduction="10000"/>
          </a:bodyPr>
          <a:lstStyle/>
          <a:p>
            <a:pPr>
              <a:lnSpc>
                <a:spcPct val="116000"/>
              </a:lnSpc>
              <a:buNone/>
            </a:pPr>
            <a:r>
              <a:rPr lang="en-US" sz="1300" dirty="0">
                <a:solidFill>
                  <a:srgbClr val="8EC5FF"/>
                </a:solidFill>
                <a:latin typeface="Consolas"/>
                <a:cs typeface="Consolas"/>
              </a:rPr>
              <a:t>lakehouse:</a:t>
            </a:r>
          </a:p>
          <a:p>
            <a:pPr>
              <a:lnSpc>
                <a:spcPct val="116000"/>
              </a:lnSpc>
              <a:buNone/>
            </a:pPr>
            <a:r>
              <a:rPr lang="en-US" sz="1300" dirty="0">
                <a:solidFill>
                  <a:srgbClr val="8EC5FF"/>
                </a:solidFill>
                <a:latin typeface="Consolas"/>
                <a:cs typeface="Consolas"/>
              </a:rPr>
              <a:t>  type: </a:t>
            </a:r>
            <a:r>
              <a:rPr lang="en-US" sz="1300" dirty="0">
                <a:solidFill>
                  <a:srgbClr val="FFD27F"/>
                </a:solidFill>
                <a:latin typeface="Consolas"/>
                <a:cs typeface="Consolas"/>
              </a:rPr>
              <a:t>fabricspark</a:t>
            </a:r>
            <a:r>
              <a:rPr lang="en-US" sz="1300" dirty="0">
                <a:solidFill>
                  <a:srgbClr val="8EC5FF"/>
                </a:solidFill>
                <a:latin typeface="Consolas"/>
                <a:cs typeface="Consolas"/>
              </a:rPr>
              <a:t>        method: </a:t>
            </a:r>
            <a:r>
              <a:rPr lang="en-US" sz="1300" dirty="0">
                <a:solidFill>
                  <a:srgbClr val="FFD27F"/>
                </a:solidFill>
                <a:latin typeface="Consolas"/>
                <a:cs typeface="Consolas"/>
              </a:rPr>
              <a:t>livy</a:t>
            </a:r>
          </a:p>
          <a:p>
            <a:pPr>
              <a:lnSpc>
                <a:spcPct val="116000"/>
              </a:lnSpc>
              <a:buNone/>
            </a:pPr>
            <a:r>
              <a:rPr lang="en-US" sz="1300" dirty="0">
                <a:solidFill>
                  <a:srgbClr val="8EC5FF"/>
                </a:solidFill>
                <a:latin typeface="Consolas"/>
                <a:cs typeface="Consolas"/>
              </a:rPr>
              <a:t>  endpoint: </a:t>
            </a:r>
            <a:r>
              <a:rPr lang="en-US" sz="1300" dirty="0">
                <a:solidFill>
                  <a:srgbClr val="FFD27F"/>
                </a:solidFill>
                <a:latin typeface="Consolas"/>
                <a:cs typeface="Consolas"/>
              </a:rPr>
              <a:t>https://api.fabric.microsoft.com/v1</a:t>
            </a:r>
          </a:p>
          <a:p>
            <a:pPr>
              <a:lnSpc>
                <a:spcPct val="116000"/>
              </a:lnSpc>
              <a:buNone/>
            </a:pPr>
            <a:r>
              <a:rPr lang="en-US" sz="1300" dirty="0">
                <a:solidFill>
                  <a:srgbClr val="8EC5FF"/>
                </a:solidFill>
                <a:latin typeface="Consolas"/>
                <a:cs typeface="Consolas"/>
              </a:rPr>
              <a:t>  workspaceid: </a:t>
            </a:r>
            <a:r>
              <a:rPr lang="en-US" sz="1300" dirty="0">
                <a:solidFill>
                  <a:srgbClr val="FF8FA3"/>
                </a:solidFill>
                <a:latin typeface="Consolas"/>
                <a:cs typeface="Consolas"/>
              </a:rPr>
              <a:t>"{{ env_var('DBT_FABRIC_WORKSPACE_ID') }}"</a:t>
            </a:r>
          </a:p>
          <a:p>
            <a:pPr>
              <a:lnSpc>
                <a:spcPct val="116000"/>
              </a:lnSpc>
              <a:buNone/>
            </a:pPr>
            <a:r>
              <a:rPr lang="en-US" sz="1300" dirty="0">
                <a:solidFill>
                  <a:srgbClr val="8EC5FF"/>
                </a:solidFill>
                <a:latin typeface="Consolas"/>
                <a:cs typeface="Consolas"/>
              </a:rPr>
              <a:t>  lakehouseid: </a:t>
            </a:r>
            <a:r>
              <a:rPr lang="en-US" sz="1300" dirty="0">
                <a:solidFill>
                  <a:srgbClr val="FF8FA3"/>
                </a:solidFill>
                <a:latin typeface="Consolas"/>
                <a:cs typeface="Consolas"/>
              </a:rPr>
              <a:t>"{{ env_var('DBT_LAKEHOUSE_ID') }}"</a:t>
            </a:r>
          </a:p>
          <a:p>
            <a:pPr>
              <a:lnSpc>
                <a:spcPct val="116000"/>
              </a:lnSpc>
              <a:buNone/>
            </a:pPr>
            <a:r>
              <a:rPr lang="en-US" sz="1300" dirty="0">
                <a:solidFill>
                  <a:srgbClr val="8EC5FF"/>
                </a:solidFill>
                <a:latin typeface="Consolas"/>
                <a:cs typeface="Consolas"/>
              </a:rPr>
              <a:t>  lakehouse: </a:t>
            </a:r>
            <a:r>
              <a:rPr lang="en-US" sz="1300" dirty="0">
                <a:solidFill>
                  <a:srgbClr val="FF8FA3"/>
                </a:solidFill>
                <a:latin typeface="Consolas"/>
                <a:cs typeface="Consolas"/>
              </a:rPr>
              <a:t>LH_Jaffle_Shop   schema: jaffle_shop</a:t>
            </a:r>
          </a:p>
          <a:p>
            <a:pPr>
              <a:lnSpc>
                <a:spcPct val="116000"/>
              </a:lnSpc>
              <a:buNone/>
            </a:pPr>
            <a:r>
              <a:rPr lang="en-US" sz="1300" dirty="0">
                <a:solidFill>
                  <a:srgbClr val="8EC5FF"/>
                </a:solidFill>
                <a:latin typeface="Consolas"/>
                <a:cs typeface="Consolas"/>
              </a:rPr>
              <a:t>  authentication: </a:t>
            </a:r>
            <a:r>
              <a:rPr lang="en-US" sz="1300" dirty="0">
                <a:solidFill>
                  <a:srgbClr val="FFD27F"/>
                </a:solidFill>
                <a:latin typeface="Consolas"/>
                <a:cs typeface="Consolas"/>
              </a:rPr>
              <a:t>CLI</a:t>
            </a:r>
            <a:r>
              <a:rPr lang="en-US" sz="1300" dirty="0">
                <a:solidFill>
                  <a:srgbClr val="8EC5FF"/>
                </a:solidFill>
                <a:latin typeface="Consolas"/>
                <a:cs typeface="Consolas"/>
              </a:rPr>
              <a:t>   spark_config: { name: dbt-jaffle-shop }</a:t>
            </a:r>
          </a:p>
          <a:p>
            <a:pPr>
              <a:lnSpc>
                <a:spcPct val="116000"/>
              </a:lnSpc>
              <a:buNone/>
            </a:pPr>
            <a:r>
              <a:rPr lang="en-US" sz="1300" dirty="0">
                <a:solidFill>
                  <a:srgbClr val="8EC5FF"/>
                </a:solidFill>
                <a:latin typeface="Consolas"/>
                <a:cs typeface="Consolas"/>
              </a:rPr>
              <a:t>  reuse_session: </a:t>
            </a:r>
            <a:r>
              <a:rPr lang="en-US" sz="1300" dirty="0">
                <a:solidFill>
                  <a:srgbClr val="FFD27F"/>
                </a:solidFill>
                <a:latin typeface="Consolas"/>
                <a:cs typeface="Consolas"/>
              </a:rPr>
              <a:t>true     threads: 4</a:t>
            </a:r>
          </a:p>
        </p:txBody>
      </p:sp>
    </p:spTree>
    <p:extLst>
      <p:ext uri="{BB962C8B-B14F-4D97-AF65-F5344CB8AC3E}">
        <p14:creationId xmlns:p14="http://schemas.microsoft.com/office/powerpoint/2010/main" val="3479821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BF2AD33-830A-48C5-90B4-ADC3835E0158}"/>
              </a:ext>
            </a:extLst>
          </p:cNvPr>
          <p:cNvSpPr>
            <a:spLocks noGrp="1"/>
          </p:cNvSpPr>
          <p:nvPr/>
        </p:nvSpPr>
        <p:spPr>
          <a:xfrm>
            <a:off x="838201" y="495302"/>
            <a:ext cx="15240000" cy="392311"/>
          </a:xfrm>
          <a:prstGeom prst="rect">
            <a:avLst/>
          </a:prstGeom>
          <a:noFill/>
        </p:spPr>
        <p:txBody>
          <a:bodyPr wrap="square" lIns="25401" tIns="25401" rIns="25401" bIns="25401" anchor="t">
            <a:normAutofit/>
          </a:bodyPr>
          <a:lstStyle/>
          <a:p>
            <a:pPr>
              <a:lnSpc>
                <a:spcPct val="120000"/>
              </a:lnSpc>
              <a:buNone/>
            </a:pPr>
            <a:r>
              <a:rPr sz="1801" b="1" spc="361">
                <a:solidFill>
                  <a:srgbClr val="E40046"/>
                </a:solidFill>
                <a:latin typeface="Frutiger"/>
                <a:ea typeface="Frutiger"/>
                <a:cs typeface="Frutiger"/>
              </a:rPr>
              <a:t>FABRIC SPARK</a:t>
            </a:r>
            <a:endParaRPr sz="1801"/>
          </a:p>
        </p:txBody>
      </p:sp>
      <p:sp>
        <p:nvSpPr>
          <p:cNvPr id="3" name="Text 1">
            <a:extLst>
              <a:ext uri="{FF2B5EF4-FFF2-40B4-BE49-F238E27FC236}">
                <a16:creationId xmlns:a16="http://schemas.microsoft.com/office/drawing/2014/main" id="{4EC90D35-304A-4ED8-BF67-87162AFBE388}"/>
              </a:ext>
            </a:extLst>
          </p:cNvPr>
          <p:cNvSpPr>
            <a:spLocks noGrp="1"/>
          </p:cNvSpPr>
          <p:nvPr/>
        </p:nvSpPr>
        <p:spPr>
          <a:xfrm>
            <a:off x="838201" y="963812"/>
            <a:ext cx="15240000" cy="640407"/>
          </a:xfrm>
          <a:prstGeom prst="rect">
            <a:avLst/>
          </a:prstGeom>
          <a:noFill/>
        </p:spPr>
        <p:txBody>
          <a:bodyPr wrap="square" lIns="25401" tIns="25401" rIns="25401" bIns="25401" anchor="t">
            <a:normAutofit/>
          </a:bodyPr>
          <a:lstStyle/>
          <a:p>
            <a:pPr>
              <a:lnSpc>
                <a:spcPct val="79050"/>
              </a:lnSpc>
              <a:buNone/>
            </a:pPr>
            <a:r>
              <a:rPr sz="4651" b="1" spc="-69" dirty="0">
                <a:solidFill>
                  <a:srgbClr val="001F6B"/>
                </a:solidFill>
                <a:latin typeface="Frutiger"/>
                <a:ea typeface="Frutiger"/>
                <a:cs typeface="Frutiger"/>
              </a:rPr>
              <a:t>dbt on the Lakehouse — how it actually runs</a:t>
            </a:r>
            <a:endParaRPr sz="4651" dirty="0"/>
          </a:p>
        </p:txBody>
      </p:sp>
      <p:pic>
        <p:nvPicPr>
          <p:cNvPr id="32" name="Image 0"/>
          <p:cNvPicPr>
            <a:picLocks noChangeAspect="1"/>
          </p:cNvPicPr>
          <p:nvPr/>
        </p:nvPicPr>
        <p:blipFill>
          <a:blip r:embed="rId3"/>
          <a:srcRect t="-5" b="-5"/>
          <a:stretch/>
        </p:blipFill>
        <p:spPr>
          <a:xfrm>
            <a:off x="16412620" y="571500"/>
            <a:ext cx="1037182" cy="514350"/>
          </a:xfrm>
          <a:prstGeom prst="rect">
            <a:avLst/>
          </a:prstGeom>
        </p:spPr>
      </p:pic>
      <p:sp>
        <p:nvSpPr>
          <p:cNvPr id="5" name="Shape 2">
            <a:extLst>
              <a:ext uri="{FF2B5EF4-FFF2-40B4-BE49-F238E27FC236}">
                <a16:creationId xmlns:a16="http://schemas.microsoft.com/office/drawing/2014/main" id="{619AE5D7-7CB4-4BEA-BB3F-D06573D3768F}"/>
              </a:ext>
            </a:extLst>
          </p:cNvPr>
          <p:cNvSpPr>
            <a:spLocks noGrp="1"/>
          </p:cNvSpPr>
          <p:nvPr/>
        </p:nvSpPr>
        <p:spPr>
          <a:xfrm>
            <a:off x="838202" y="1813769"/>
            <a:ext cx="16611600" cy="28574"/>
          </a:xfrm>
          <a:prstGeom prst="rect">
            <a:avLst/>
          </a:prstGeom>
          <a:solidFill>
            <a:srgbClr val="FF0000"/>
          </a:solidFill>
        </p:spPr>
        <p:txBody>
          <a:bodyPr/>
          <a:lstStyle/>
          <a:p>
            <a:endParaRPr sz="1801"/>
          </a:p>
        </p:txBody>
      </p:sp>
      <p:sp>
        <p:nvSpPr>
          <p:cNvPr id="6" name="Shape 3">
            <a:extLst>
              <a:ext uri="{FF2B5EF4-FFF2-40B4-BE49-F238E27FC236}">
                <a16:creationId xmlns:a16="http://schemas.microsoft.com/office/drawing/2014/main" id="{4913CC0E-0FDB-4091-96BC-623E005C1433}"/>
              </a:ext>
            </a:extLst>
          </p:cNvPr>
          <p:cNvSpPr>
            <a:spLocks noGrp="1"/>
          </p:cNvSpPr>
          <p:nvPr/>
        </p:nvSpPr>
        <p:spPr>
          <a:xfrm>
            <a:off x="838202" y="1880445"/>
            <a:ext cx="16611600" cy="28574"/>
          </a:xfrm>
          <a:prstGeom prst="rect">
            <a:avLst/>
          </a:prstGeom>
          <a:solidFill>
            <a:srgbClr val="3649A8"/>
          </a:solidFill>
        </p:spPr>
        <p:txBody>
          <a:bodyPr/>
          <a:lstStyle/>
          <a:p>
            <a:endParaRPr sz="1801"/>
          </a:p>
        </p:txBody>
      </p:sp>
      <p:sp>
        <p:nvSpPr>
          <p:cNvPr id="25" name="Shape 22">
            <a:extLst>
              <a:ext uri="{FF2B5EF4-FFF2-40B4-BE49-F238E27FC236}">
                <a16:creationId xmlns:a16="http://schemas.microsoft.com/office/drawing/2014/main" id="{B765AE01-8B3A-4F2B-9234-E1B2735FE6D0}"/>
              </a:ext>
            </a:extLst>
          </p:cNvPr>
          <p:cNvSpPr>
            <a:spLocks noGrp="1"/>
          </p:cNvSpPr>
          <p:nvPr/>
        </p:nvSpPr>
        <p:spPr>
          <a:xfrm>
            <a:off x="838202" y="9294615"/>
            <a:ext cx="16611600" cy="9525"/>
          </a:xfrm>
          <a:prstGeom prst="rect">
            <a:avLst/>
          </a:prstGeom>
          <a:solidFill>
            <a:srgbClr val="E2E7EB"/>
          </a:solidFill>
        </p:spPr>
        <p:txBody>
          <a:bodyPr/>
          <a:lstStyle/>
          <a:p>
            <a:endParaRPr sz="1801"/>
          </a:p>
        </p:txBody>
      </p:sp>
      <p:sp>
        <p:nvSpPr>
          <p:cNvPr id="26" name="Text 23">
            <a:extLst>
              <a:ext uri="{FF2B5EF4-FFF2-40B4-BE49-F238E27FC236}">
                <a16:creationId xmlns:a16="http://schemas.microsoft.com/office/drawing/2014/main" id="{5C5AFE6D-27B1-4C09-BBBE-19FE36BD27C8}"/>
              </a:ext>
            </a:extLst>
          </p:cNvPr>
          <p:cNvSpPr>
            <a:spLocks noGrp="1"/>
          </p:cNvSpPr>
          <p:nvPr/>
        </p:nvSpPr>
        <p:spPr>
          <a:xfrm>
            <a:off x="838201" y="9513691"/>
            <a:ext cx="7461945" cy="392311"/>
          </a:xfrm>
          <a:prstGeom prst="rect">
            <a:avLst/>
          </a:prstGeom>
          <a:noFill/>
        </p:spPr>
        <p:txBody>
          <a:bodyPr wrap="square" lIns="25401" tIns="25401" rIns="25401" bIns="25401" anchor="t">
            <a:normAutofit/>
          </a:bodyPr>
          <a:lstStyle/>
          <a:p>
            <a:pPr>
              <a:lnSpc>
                <a:spcPct val="124000"/>
              </a:lnSpc>
              <a:buNone/>
            </a:pPr>
            <a:r>
              <a:rPr sz="1801" dirty="0">
                <a:solidFill>
                  <a:srgbClr val="667780"/>
                </a:solidFill>
                <a:latin typeface="Frutiger"/>
                <a:ea typeface="Frutiger"/>
                <a:cs typeface="Frutiger"/>
              </a:rPr>
              <a:t>Getting started with dbt</a:t>
            </a:r>
            <a:endParaRPr sz="1801" dirty="0"/>
          </a:p>
        </p:txBody>
      </p:sp>
      <p:sp>
        <p:nvSpPr>
          <p:cNvPr id="28" name="Text 25">
            <a:extLst>
              <a:ext uri="{FF2B5EF4-FFF2-40B4-BE49-F238E27FC236}">
                <a16:creationId xmlns:a16="http://schemas.microsoft.com/office/drawing/2014/main" id="{E1A6A13E-D079-4787-BA2C-26179E45E0AB}"/>
              </a:ext>
            </a:extLst>
          </p:cNvPr>
          <p:cNvSpPr>
            <a:spLocks noGrp="1"/>
          </p:cNvSpPr>
          <p:nvPr/>
        </p:nvSpPr>
        <p:spPr>
          <a:xfrm>
            <a:off x="9987856" y="9513691"/>
            <a:ext cx="7461945" cy="392311"/>
          </a:xfrm>
          <a:prstGeom prst="rect">
            <a:avLst/>
          </a:prstGeom>
          <a:noFill/>
        </p:spPr>
        <p:txBody>
          <a:bodyPr wrap="square" lIns="25401" tIns="25401" rIns="25401" bIns="25401" anchor="t">
            <a:normAutofit/>
          </a:bodyPr>
          <a:lstStyle/>
          <a:p>
            <a:pPr algn="r">
              <a:lnSpc>
                <a:spcPct val="124000"/>
              </a:lnSpc>
              <a:buNone/>
            </a:pPr>
            <a:r>
              <a:rPr lang="en-US" sz="1801">
                <a:solidFill>
                  <a:srgbClr val="667780"/>
                </a:solidFill>
                <a:latin typeface="Frutiger"/>
                <a:ea typeface="Frutiger"/>
                <a:cs typeface="Frutiger"/>
              </a:rPr>
              <a:t>21</a:t>
            </a:r>
            <a:endParaRPr sz="1801"/>
          </a:p>
        </p:txBody>
      </p:sp>
      <p:sp>
        <p:nvSpPr>
          <p:cNvPr id="100" name="Shape 100"/>
          <p:cNvSpPr/>
          <p:nvPr/>
        </p:nvSpPr>
        <p:spPr>
          <a:xfrm>
            <a:off x="838200" y="2413000"/>
            <a:ext cx="3708400" cy="1905000"/>
          </a:xfrm>
          <a:prstGeom prst="rect">
            <a:avLst/>
          </a:prstGeom>
          <a:solidFill>
            <a:srgbClr val="F4F6FA"/>
          </a:solidFill>
          <a:ln>
            <a:noFill/>
          </a:ln>
        </p:spPr>
        <p:txBody>
          <a:bodyPr wrap="square" lIns="101600" tIns="101600" rIns="101600" bIns="101600" anchor="t">
            <a:normAutofit/>
          </a:bodyPr>
          <a:lstStyle/>
          <a:p>
            <a:endParaRPr lang="en-US"/>
          </a:p>
        </p:txBody>
      </p:sp>
      <p:sp>
        <p:nvSpPr>
          <p:cNvPr id="101" name="Shape 101"/>
          <p:cNvSpPr/>
          <p:nvPr/>
        </p:nvSpPr>
        <p:spPr>
          <a:xfrm>
            <a:off x="1041400" y="2590800"/>
            <a:ext cx="3302000" cy="1651000"/>
          </a:xfrm>
          <a:prstGeom prst="rect">
            <a:avLst/>
          </a:prstGeom>
          <a:noFill/>
          <a:ln>
            <a:noFill/>
          </a:ln>
        </p:spPr>
        <p:txBody>
          <a:bodyPr wrap="square" lIns="0" tIns="0" rIns="0" bIns="0" anchor="t">
            <a:normAutofit/>
          </a:bodyPr>
          <a:lstStyle/>
          <a:p>
            <a:pPr>
              <a:buNone/>
            </a:pPr>
            <a:r>
              <a:rPr lang="en-US" sz="2200" b="1" dirty="0">
                <a:solidFill>
                  <a:srgbClr val="001F6B"/>
                </a:solidFill>
                <a:latin typeface="Frutiger"/>
                <a:cs typeface="Frutiger"/>
              </a:rPr>
              <a:t>dbt Core</a:t>
            </a:r>
          </a:p>
          <a:p>
            <a:pPr>
              <a:spcBef>
                <a:spcPts val="100"/>
              </a:spcBef>
              <a:buNone/>
            </a:pPr>
            <a:r>
              <a:rPr lang="en-US" sz="1400" dirty="0">
                <a:solidFill>
                  <a:srgbClr val="667780"/>
                </a:solidFill>
                <a:latin typeface="Consolas"/>
                <a:cs typeface="Consolas"/>
              </a:rPr>
              <a:t>laptop · agent · notebook</a:t>
            </a:r>
          </a:p>
          <a:p>
            <a:pPr>
              <a:lnSpc>
                <a:spcPct val="104000"/>
              </a:lnSpc>
              <a:spcBef>
                <a:spcPts val="600"/>
              </a:spcBef>
              <a:buNone/>
            </a:pPr>
            <a:r>
              <a:rPr lang="en-US" sz="1800" dirty="0">
                <a:solidFill>
                  <a:srgbClr val="001F6B"/>
                </a:solidFill>
                <a:latin typeface="Frutiger"/>
                <a:cs typeface="Frutiger"/>
              </a:rPr>
              <a:t>dbt-fabricspark compiles the project and submits Spark SQL</a:t>
            </a:r>
          </a:p>
        </p:txBody>
      </p:sp>
      <p:cxnSp>
        <p:nvCxnSpPr>
          <p:cNvPr id="110" name="Line 110"/>
          <p:cNvCxnSpPr/>
          <p:nvPr/>
        </p:nvCxnSpPr>
        <p:spPr>
          <a:xfrm>
            <a:off x="4622800" y="3365500"/>
            <a:ext cx="431800" cy="0"/>
          </a:xfrm>
          <a:prstGeom prst="line">
            <a:avLst/>
          </a:prstGeom>
          <a:ln w="31750">
            <a:solidFill>
              <a:srgbClr val="667780"/>
            </a:solidFill>
            <a:tailEnd type="triangle" w="med" len="med"/>
          </a:ln>
        </p:spPr>
      </p:cxnSp>
      <p:sp>
        <p:nvSpPr>
          <p:cNvPr id="102" name="Shape 102"/>
          <p:cNvSpPr/>
          <p:nvPr/>
        </p:nvSpPr>
        <p:spPr>
          <a:xfrm>
            <a:off x="5130800" y="2413000"/>
            <a:ext cx="3708400" cy="1905000"/>
          </a:xfrm>
          <a:prstGeom prst="rect">
            <a:avLst/>
          </a:prstGeom>
          <a:solidFill>
            <a:srgbClr val="F4F6FA"/>
          </a:solidFill>
          <a:ln>
            <a:noFill/>
          </a:ln>
        </p:spPr>
        <p:txBody>
          <a:bodyPr wrap="square" lIns="101600" tIns="101600" rIns="101600" bIns="101600" anchor="t">
            <a:normAutofit/>
          </a:bodyPr>
          <a:lstStyle/>
          <a:p>
            <a:endParaRPr lang="en-US"/>
          </a:p>
        </p:txBody>
      </p:sp>
      <p:sp>
        <p:nvSpPr>
          <p:cNvPr id="103" name="Shape 103"/>
          <p:cNvSpPr/>
          <p:nvPr/>
        </p:nvSpPr>
        <p:spPr>
          <a:xfrm>
            <a:off x="5334000" y="2590800"/>
            <a:ext cx="3302000" cy="1651000"/>
          </a:xfrm>
          <a:prstGeom prst="rect">
            <a:avLst/>
          </a:prstGeom>
          <a:noFill/>
          <a:ln>
            <a:noFill/>
          </a:ln>
        </p:spPr>
        <p:txBody>
          <a:bodyPr wrap="square" lIns="0" tIns="0" rIns="0" bIns="0" anchor="t">
            <a:normAutofit/>
          </a:bodyPr>
          <a:lstStyle/>
          <a:p>
            <a:pPr>
              <a:buNone/>
            </a:pPr>
            <a:r>
              <a:rPr lang="en-US" sz="2200" b="1" dirty="0">
                <a:solidFill>
                  <a:srgbClr val="001F6B"/>
                </a:solidFill>
                <a:latin typeface="Frutiger"/>
                <a:cs typeface="Frutiger"/>
              </a:rPr>
              <a:t>Livy endpoint</a:t>
            </a:r>
          </a:p>
          <a:p>
            <a:pPr>
              <a:spcBef>
                <a:spcPts val="100"/>
              </a:spcBef>
              <a:buNone/>
            </a:pPr>
            <a:r>
              <a:rPr lang="en-US" sz="1400" dirty="0">
                <a:solidFill>
                  <a:srgbClr val="667780"/>
                </a:solidFill>
                <a:latin typeface="Consolas"/>
                <a:cs typeface="Consolas"/>
              </a:rPr>
              <a:t>api.fabric.microsoft.com</a:t>
            </a:r>
          </a:p>
          <a:p>
            <a:pPr>
              <a:lnSpc>
                <a:spcPct val="104000"/>
              </a:lnSpc>
              <a:spcBef>
                <a:spcPts val="600"/>
              </a:spcBef>
              <a:buNone/>
            </a:pPr>
            <a:r>
              <a:rPr lang="en-US" sz="1800" dirty="0">
                <a:solidFill>
                  <a:srgbClr val="001F6B"/>
                </a:solidFill>
                <a:latin typeface="Frutiger"/>
                <a:cs typeface="Frutiger"/>
              </a:rPr>
              <a:t>REST API that opens or reuses a Spark session in your workspace</a:t>
            </a:r>
          </a:p>
        </p:txBody>
      </p:sp>
      <p:cxnSp>
        <p:nvCxnSpPr>
          <p:cNvPr id="111" name="Line 111"/>
          <p:cNvCxnSpPr/>
          <p:nvPr/>
        </p:nvCxnSpPr>
        <p:spPr>
          <a:xfrm>
            <a:off x="8915400" y="3365500"/>
            <a:ext cx="431800" cy="0"/>
          </a:xfrm>
          <a:prstGeom prst="line">
            <a:avLst/>
          </a:prstGeom>
          <a:ln w="31750">
            <a:solidFill>
              <a:srgbClr val="667780"/>
            </a:solidFill>
            <a:tailEnd type="triangle" w="med" len="med"/>
          </a:ln>
        </p:spPr>
      </p:cxnSp>
      <p:sp>
        <p:nvSpPr>
          <p:cNvPr id="104" name="Shape 104"/>
          <p:cNvSpPr/>
          <p:nvPr/>
        </p:nvSpPr>
        <p:spPr>
          <a:xfrm>
            <a:off x="9423400" y="2413000"/>
            <a:ext cx="3708400" cy="1905000"/>
          </a:xfrm>
          <a:prstGeom prst="rect">
            <a:avLst/>
          </a:prstGeom>
          <a:solidFill>
            <a:srgbClr val="001F6B"/>
          </a:solidFill>
          <a:ln>
            <a:noFill/>
          </a:ln>
        </p:spPr>
        <p:txBody>
          <a:bodyPr wrap="square" lIns="101600" tIns="101600" rIns="101600" bIns="101600" anchor="t">
            <a:normAutofit/>
          </a:bodyPr>
          <a:lstStyle/>
          <a:p>
            <a:endParaRPr lang="en-US"/>
          </a:p>
        </p:txBody>
      </p:sp>
      <p:sp>
        <p:nvSpPr>
          <p:cNvPr id="105" name="Shape 105"/>
          <p:cNvSpPr/>
          <p:nvPr/>
        </p:nvSpPr>
        <p:spPr>
          <a:xfrm>
            <a:off x="9626600" y="2590800"/>
            <a:ext cx="3302000" cy="1651000"/>
          </a:xfrm>
          <a:prstGeom prst="rect">
            <a:avLst/>
          </a:prstGeom>
          <a:noFill/>
          <a:ln>
            <a:noFill/>
          </a:ln>
        </p:spPr>
        <p:txBody>
          <a:bodyPr wrap="square" lIns="0" tIns="0" rIns="0" bIns="0" anchor="t">
            <a:normAutofit/>
          </a:bodyPr>
          <a:lstStyle/>
          <a:p>
            <a:pPr>
              <a:buNone/>
            </a:pPr>
            <a:r>
              <a:rPr lang="en-US" sz="2200" b="1" dirty="0">
                <a:solidFill>
                  <a:srgbClr val="FFFFFF"/>
                </a:solidFill>
                <a:latin typeface="Frutiger"/>
                <a:cs typeface="Frutiger"/>
              </a:rPr>
              <a:t>Spark session</a:t>
            </a:r>
          </a:p>
          <a:p>
            <a:pPr>
              <a:spcBef>
                <a:spcPts val="100"/>
              </a:spcBef>
              <a:buNone/>
            </a:pPr>
            <a:r>
              <a:rPr lang="en-US" sz="1400" dirty="0">
                <a:solidFill>
                  <a:srgbClr val="FFFFFF"/>
                </a:solidFill>
                <a:latin typeface="Consolas"/>
                <a:cs typeface="Consolas"/>
              </a:rPr>
              <a:t>your Fabric capacity</a:t>
            </a:r>
          </a:p>
          <a:p>
            <a:pPr>
              <a:lnSpc>
                <a:spcPct val="104000"/>
              </a:lnSpc>
              <a:spcBef>
                <a:spcPts val="600"/>
              </a:spcBef>
              <a:buNone/>
            </a:pPr>
            <a:r>
              <a:rPr lang="en-US" sz="1800" dirty="0">
                <a:solidFill>
                  <a:srgbClr val="FFFFFF"/>
                </a:solidFill>
                <a:latin typeface="Frutiger"/>
                <a:cs typeface="Frutiger"/>
              </a:rPr>
              <a:t>Runs CREATE TABLE … AS SELECT; starter pool or custom pool</a:t>
            </a:r>
          </a:p>
        </p:txBody>
      </p:sp>
      <p:cxnSp>
        <p:nvCxnSpPr>
          <p:cNvPr id="112" name="Line 112"/>
          <p:cNvCxnSpPr/>
          <p:nvPr/>
        </p:nvCxnSpPr>
        <p:spPr>
          <a:xfrm>
            <a:off x="13208000" y="3365500"/>
            <a:ext cx="431800" cy="0"/>
          </a:xfrm>
          <a:prstGeom prst="line">
            <a:avLst/>
          </a:prstGeom>
          <a:ln w="31750">
            <a:solidFill>
              <a:srgbClr val="667780"/>
            </a:solidFill>
            <a:tailEnd type="triangle" w="med" len="med"/>
          </a:ln>
        </p:spPr>
      </p:cxnSp>
      <p:sp>
        <p:nvSpPr>
          <p:cNvPr id="106" name="Shape 106"/>
          <p:cNvSpPr/>
          <p:nvPr/>
        </p:nvSpPr>
        <p:spPr>
          <a:xfrm>
            <a:off x="13716000" y="2413000"/>
            <a:ext cx="3708400" cy="1905000"/>
          </a:xfrm>
          <a:prstGeom prst="rect">
            <a:avLst/>
          </a:prstGeom>
          <a:solidFill>
            <a:srgbClr val="E40046"/>
          </a:solidFill>
          <a:ln>
            <a:noFill/>
          </a:ln>
        </p:spPr>
        <p:txBody>
          <a:bodyPr wrap="square" lIns="101600" tIns="101600" rIns="101600" bIns="101600" anchor="t">
            <a:normAutofit/>
          </a:bodyPr>
          <a:lstStyle/>
          <a:p>
            <a:endParaRPr lang="en-US"/>
          </a:p>
        </p:txBody>
      </p:sp>
      <p:sp>
        <p:nvSpPr>
          <p:cNvPr id="107" name="Shape 107"/>
          <p:cNvSpPr/>
          <p:nvPr/>
        </p:nvSpPr>
        <p:spPr>
          <a:xfrm>
            <a:off x="13919200" y="2590800"/>
            <a:ext cx="3302000" cy="1651000"/>
          </a:xfrm>
          <a:prstGeom prst="rect">
            <a:avLst/>
          </a:prstGeom>
          <a:noFill/>
          <a:ln>
            <a:noFill/>
          </a:ln>
        </p:spPr>
        <p:txBody>
          <a:bodyPr wrap="square" lIns="0" tIns="0" rIns="0" bIns="0" anchor="t">
            <a:normAutofit/>
          </a:bodyPr>
          <a:lstStyle/>
          <a:p>
            <a:pPr>
              <a:buNone/>
            </a:pPr>
            <a:r>
              <a:rPr lang="en-US" sz="2200" b="1" dirty="0">
                <a:solidFill>
                  <a:srgbClr val="FFFFFF"/>
                </a:solidFill>
                <a:latin typeface="Frutiger"/>
                <a:cs typeface="Frutiger"/>
              </a:rPr>
              <a:t>Delta tables</a:t>
            </a:r>
          </a:p>
          <a:p>
            <a:pPr>
              <a:spcBef>
                <a:spcPts val="100"/>
              </a:spcBef>
              <a:buNone/>
            </a:pPr>
            <a:r>
              <a:rPr lang="en-US" sz="1400" dirty="0">
                <a:solidFill>
                  <a:srgbClr val="FFFFFF"/>
                </a:solidFill>
                <a:latin typeface="Consolas"/>
                <a:cs typeface="Consolas"/>
              </a:rPr>
              <a:t>LH_Jaffle_Shop.jaffle_shop.*</a:t>
            </a:r>
          </a:p>
          <a:p>
            <a:pPr>
              <a:lnSpc>
                <a:spcPct val="104000"/>
              </a:lnSpc>
              <a:spcBef>
                <a:spcPts val="600"/>
              </a:spcBef>
              <a:buNone/>
            </a:pPr>
            <a:r>
              <a:rPr lang="en-US" sz="1800" dirty="0">
                <a:solidFill>
                  <a:srgbClr val="FFFFFF"/>
                </a:solidFill>
                <a:latin typeface="Frutiger"/>
                <a:cs typeface="Frutiger"/>
              </a:rPr>
              <a:t>Views and tables land in the Lakehouse; readable by notebooks and the SQL endpoint</a:t>
            </a:r>
          </a:p>
        </p:txBody>
      </p:sp>
      <p:sp>
        <p:nvSpPr>
          <p:cNvPr id="120" name="Shape 120"/>
          <p:cNvSpPr/>
          <p:nvPr/>
        </p:nvSpPr>
        <p:spPr>
          <a:xfrm>
            <a:off x="838200" y="4470400"/>
            <a:ext cx="16611600" cy="381000"/>
          </a:xfrm>
          <a:prstGeom prst="rect">
            <a:avLst/>
          </a:prstGeom>
          <a:noFill/>
          <a:ln>
            <a:noFill/>
          </a:ln>
        </p:spPr>
        <p:txBody>
          <a:bodyPr wrap="square" lIns="0" tIns="0" rIns="0" bIns="0" anchor="t">
            <a:normAutofit/>
          </a:bodyPr>
          <a:lstStyle/>
          <a:p>
            <a:pPr>
              <a:buNone/>
            </a:pPr>
            <a:r>
              <a:rPr lang="en-US" sz="1800" b="1" dirty="0">
                <a:solidFill>
                  <a:srgbClr val="001F6B"/>
                </a:solidFill>
                <a:latin typeface="Frutiger"/>
                <a:cs typeface="Frutiger"/>
              </a:rPr>
              <a:t>Downstream: </a:t>
            </a:r>
            <a:r>
              <a:rPr lang="en-US" sz="1800" dirty="0">
                <a:solidFill>
                  <a:srgbClr val="364750"/>
                </a:solidFill>
                <a:latin typeface="Frutiger"/>
                <a:cs typeface="Frutiger"/>
              </a:rPr>
              <a:t>Power BI (Direct Lake) and the SQL analytics endpoint read those Delta tables. The endpoint is read-only — dbt never writes through it.</a:t>
            </a:r>
          </a:p>
        </p:txBody>
      </p:sp>
      <p:sp>
        <p:nvSpPr>
          <p:cNvPr id="130" name="Shape 130"/>
          <p:cNvSpPr/>
          <p:nvPr/>
        </p:nvSpPr>
        <p:spPr>
          <a:xfrm>
            <a:off x="838200" y="5054600"/>
            <a:ext cx="8178800" cy="18796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a:p>
        </p:txBody>
      </p:sp>
      <p:sp>
        <p:nvSpPr>
          <p:cNvPr id="131" name="Shape 131"/>
          <p:cNvSpPr/>
          <p:nvPr/>
        </p:nvSpPr>
        <p:spPr>
          <a:xfrm>
            <a:off x="838200" y="5054600"/>
            <a:ext cx="76200" cy="1879600"/>
          </a:xfrm>
          <a:prstGeom prst="rect">
            <a:avLst/>
          </a:prstGeom>
          <a:solidFill>
            <a:srgbClr val="8E9DC5"/>
          </a:solidFill>
          <a:ln>
            <a:noFill/>
          </a:ln>
        </p:spPr>
        <p:txBody>
          <a:bodyPr wrap="square" lIns="101600" tIns="101600" rIns="101600" bIns="101600" anchor="t">
            <a:normAutofit/>
          </a:bodyPr>
          <a:lstStyle/>
          <a:p>
            <a:endParaRPr lang="en-US"/>
          </a:p>
        </p:txBody>
      </p:sp>
      <p:sp>
        <p:nvSpPr>
          <p:cNvPr id="132" name="Shape 132"/>
          <p:cNvSpPr/>
          <p:nvPr/>
        </p:nvSpPr>
        <p:spPr>
          <a:xfrm>
            <a:off x="1117600" y="5207000"/>
            <a:ext cx="7670800" cy="1625600"/>
          </a:xfrm>
          <a:prstGeom prst="rect">
            <a:avLst/>
          </a:prstGeom>
          <a:noFill/>
          <a:ln>
            <a:noFill/>
          </a:ln>
        </p:spPr>
        <p:txBody>
          <a:bodyPr wrap="square" lIns="0" tIns="0" rIns="0" bIns="0" anchor="t">
            <a:normAutofit/>
          </a:bodyPr>
          <a:lstStyle/>
          <a:p>
            <a:pPr>
              <a:buNone/>
            </a:pPr>
            <a:r>
              <a:rPr lang="en-US" sz="2000" b="1" dirty="0">
                <a:solidFill>
                  <a:srgbClr val="001F6B"/>
                </a:solidFill>
                <a:latin typeface="Frutiger"/>
                <a:cs typeface="Frutiger"/>
              </a:rPr>
              <a:t>Schema-enabled vs schema-less</a:t>
            </a:r>
          </a:p>
          <a:p>
            <a:pPr>
              <a:lnSpc>
                <a:spcPct val="105000"/>
              </a:lnSpc>
              <a:spcBef>
                <a:spcPts val="500"/>
              </a:spcBef>
              <a:buNone/>
            </a:pPr>
            <a:r>
              <a:rPr lang="en-US" sz="1800" dirty="0">
                <a:solidFill>
                  <a:srgbClr val="364750"/>
                </a:solidFill>
                <a:latin typeface="Frutiger"/>
                <a:cs typeface="Frutiger"/>
              </a:rPr>
              <a:t>Schema-enabled Lakehouse: lakehouse name + a separate schema (jaffle_shop). Schema-less: the schema field is the lakehouse name. Get this wrong and it looks like a missing table, not an auth error.</a:t>
            </a:r>
          </a:p>
        </p:txBody>
      </p:sp>
      <p:sp>
        <p:nvSpPr>
          <p:cNvPr id="133" name="Shape 133"/>
          <p:cNvSpPr/>
          <p:nvPr/>
        </p:nvSpPr>
        <p:spPr>
          <a:xfrm>
            <a:off x="9271000" y="5054600"/>
            <a:ext cx="8178800" cy="18796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a:p>
        </p:txBody>
      </p:sp>
      <p:sp>
        <p:nvSpPr>
          <p:cNvPr id="134" name="Shape 134"/>
          <p:cNvSpPr/>
          <p:nvPr/>
        </p:nvSpPr>
        <p:spPr>
          <a:xfrm>
            <a:off x="9271000" y="5054600"/>
            <a:ext cx="76200" cy="1879600"/>
          </a:xfrm>
          <a:prstGeom prst="rect">
            <a:avLst/>
          </a:prstGeom>
          <a:solidFill>
            <a:srgbClr val="8E9DC5"/>
          </a:solidFill>
          <a:ln>
            <a:noFill/>
          </a:ln>
        </p:spPr>
        <p:txBody>
          <a:bodyPr wrap="square" lIns="101600" tIns="101600" rIns="101600" bIns="101600" anchor="t">
            <a:normAutofit/>
          </a:bodyPr>
          <a:lstStyle/>
          <a:p>
            <a:endParaRPr lang="en-US"/>
          </a:p>
        </p:txBody>
      </p:sp>
      <p:sp>
        <p:nvSpPr>
          <p:cNvPr id="135" name="Shape 135"/>
          <p:cNvSpPr/>
          <p:nvPr/>
        </p:nvSpPr>
        <p:spPr>
          <a:xfrm>
            <a:off x="9550400" y="5207000"/>
            <a:ext cx="7670800" cy="1625600"/>
          </a:xfrm>
          <a:prstGeom prst="rect">
            <a:avLst/>
          </a:prstGeom>
          <a:noFill/>
          <a:ln>
            <a:noFill/>
          </a:ln>
        </p:spPr>
        <p:txBody>
          <a:bodyPr wrap="square" lIns="0" tIns="0" rIns="0" bIns="0" anchor="t">
            <a:normAutofit/>
          </a:bodyPr>
          <a:lstStyle/>
          <a:p>
            <a:pPr>
              <a:buNone/>
            </a:pPr>
            <a:r>
              <a:rPr lang="en-US" sz="2000" b="1" dirty="0">
                <a:solidFill>
                  <a:srgbClr val="001F6B"/>
                </a:solidFill>
                <a:latin typeface="Frutiger"/>
                <a:cs typeface="Frutiger"/>
              </a:rPr>
              <a:t>Sessions and startup</a:t>
            </a:r>
          </a:p>
          <a:p>
            <a:pPr>
              <a:lnSpc>
                <a:spcPct val="105000"/>
              </a:lnSpc>
              <a:spcBef>
                <a:spcPts val="500"/>
              </a:spcBef>
              <a:buNone/>
            </a:pPr>
            <a:r>
              <a:rPr lang="en-US" sz="1800" dirty="0">
                <a:solidFill>
                  <a:srgbClr val="364750"/>
                </a:solidFill>
                <a:latin typeface="Frutiger"/>
                <a:cs typeface="Frutiger"/>
              </a:rPr>
              <a:t>reuse_session: true skips startup when a valid session exists, but it isn’t a latency guarantee. Warm up before the talk; don’t change pool settings on stage.</a:t>
            </a:r>
          </a:p>
        </p:txBody>
      </p:sp>
      <p:sp>
        <p:nvSpPr>
          <p:cNvPr id="136" name="Shape 136"/>
          <p:cNvSpPr/>
          <p:nvPr/>
        </p:nvSpPr>
        <p:spPr>
          <a:xfrm>
            <a:off x="838200" y="7112000"/>
            <a:ext cx="8178800" cy="18796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a:p>
        </p:txBody>
      </p:sp>
      <p:sp>
        <p:nvSpPr>
          <p:cNvPr id="137" name="Shape 137"/>
          <p:cNvSpPr/>
          <p:nvPr/>
        </p:nvSpPr>
        <p:spPr>
          <a:xfrm>
            <a:off x="838200" y="7112000"/>
            <a:ext cx="76200" cy="1879600"/>
          </a:xfrm>
          <a:prstGeom prst="rect">
            <a:avLst/>
          </a:prstGeom>
          <a:solidFill>
            <a:srgbClr val="8E9DC5"/>
          </a:solidFill>
          <a:ln>
            <a:noFill/>
          </a:ln>
        </p:spPr>
        <p:txBody>
          <a:bodyPr wrap="square" lIns="101600" tIns="101600" rIns="101600" bIns="101600" anchor="t">
            <a:normAutofit/>
          </a:bodyPr>
          <a:lstStyle/>
          <a:p>
            <a:endParaRPr lang="en-US"/>
          </a:p>
        </p:txBody>
      </p:sp>
      <p:sp>
        <p:nvSpPr>
          <p:cNvPr id="138" name="Shape 138"/>
          <p:cNvSpPr/>
          <p:nvPr/>
        </p:nvSpPr>
        <p:spPr>
          <a:xfrm>
            <a:off x="1117600" y="7264400"/>
            <a:ext cx="7670800" cy="1625600"/>
          </a:xfrm>
          <a:prstGeom prst="rect">
            <a:avLst/>
          </a:prstGeom>
          <a:noFill/>
          <a:ln>
            <a:noFill/>
          </a:ln>
        </p:spPr>
        <p:txBody>
          <a:bodyPr wrap="square" lIns="0" tIns="0" rIns="0" bIns="0" anchor="t">
            <a:normAutofit/>
          </a:bodyPr>
          <a:lstStyle/>
          <a:p>
            <a:pPr>
              <a:buNone/>
            </a:pPr>
            <a:r>
              <a:rPr lang="en-US" sz="2000" b="1" dirty="0">
                <a:solidFill>
                  <a:srgbClr val="001F6B"/>
                </a:solidFill>
                <a:latin typeface="Frutiger"/>
                <a:cs typeface="Frutiger"/>
              </a:rPr>
              <a:t>Identity</a:t>
            </a:r>
          </a:p>
          <a:p>
            <a:pPr>
              <a:lnSpc>
                <a:spcPct val="105000"/>
              </a:lnSpc>
              <a:spcBef>
                <a:spcPts val="500"/>
              </a:spcBef>
              <a:buNone/>
            </a:pPr>
            <a:r>
              <a:rPr lang="en-US" sz="1800" dirty="0">
                <a:solidFill>
                  <a:srgbClr val="364750"/>
                </a:solidFill>
                <a:latin typeface="Frutiger"/>
                <a:cs typeface="Frutiger"/>
              </a:rPr>
              <a:t>Interactive: authentication: CLI after az login. Automation: service principal with the matching profile fields and tenant settings. In a Fabric notebook: authentication: fabric_notebook.</a:t>
            </a:r>
          </a:p>
        </p:txBody>
      </p:sp>
      <p:sp>
        <p:nvSpPr>
          <p:cNvPr id="139" name="Shape 139"/>
          <p:cNvSpPr/>
          <p:nvPr/>
        </p:nvSpPr>
        <p:spPr>
          <a:xfrm>
            <a:off x="9271000" y="7112000"/>
            <a:ext cx="8178800" cy="18796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a:p>
        </p:txBody>
      </p:sp>
      <p:sp>
        <p:nvSpPr>
          <p:cNvPr id="140" name="Shape 140"/>
          <p:cNvSpPr/>
          <p:nvPr/>
        </p:nvSpPr>
        <p:spPr>
          <a:xfrm>
            <a:off x="9271000" y="7112000"/>
            <a:ext cx="76200" cy="1879600"/>
          </a:xfrm>
          <a:prstGeom prst="rect">
            <a:avLst/>
          </a:prstGeom>
          <a:solidFill>
            <a:srgbClr val="E40046"/>
          </a:solidFill>
          <a:ln>
            <a:noFill/>
          </a:ln>
        </p:spPr>
        <p:txBody>
          <a:bodyPr wrap="square" lIns="101600" tIns="101600" rIns="101600" bIns="101600" anchor="t">
            <a:normAutofit/>
          </a:bodyPr>
          <a:lstStyle/>
          <a:p>
            <a:endParaRPr lang="en-US"/>
          </a:p>
        </p:txBody>
      </p:sp>
      <p:sp>
        <p:nvSpPr>
          <p:cNvPr id="141" name="Shape 141"/>
          <p:cNvSpPr/>
          <p:nvPr/>
        </p:nvSpPr>
        <p:spPr>
          <a:xfrm>
            <a:off x="9550400" y="7264400"/>
            <a:ext cx="7670800" cy="1625600"/>
          </a:xfrm>
          <a:prstGeom prst="rect">
            <a:avLst/>
          </a:prstGeom>
          <a:noFill/>
          <a:ln>
            <a:noFill/>
          </a:ln>
        </p:spPr>
        <p:txBody>
          <a:bodyPr wrap="square" lIns="0" tIns="0" rIns="0" bIns="0" anchor="t">
            <a:normAutofit/>
          </a:bodyPr>
          <a:lstStyle/>
          <a:p>
            <a:pPr>
              <a:buNone/>
            </a:pPr>
            <a:r>
              <a:rPr lang="en-US" sz="2000" b="1" dirty="0">
                <a:solidFill>
                  <a:srgbClr val="001F6B"/>
                </a:solidFill>
                <a:latin typeface="Frutiger"/>
                <a:cs typeface="Frutiger"/>
              </a:rPr>
              <a:t>Keep the boundaries</a:t>
            </a:r>
          </a:p>
          <a:p>
            <a:pPr>
              <a:lnSpc>
                <a:spcPct val="105000"/>
              </a:lnSpc>
              <a:spcBef>
                <a:spcPts val="500"/>
              </a:spcBef>
              <a:buNone/>
            </a:pPr>
            <a:r>
              <a:rPr lang="en-US" sz="1800" dirty="0">
                <a:solidFill>
                  <a:srgbClr val="364750"/>
                </a:solidFill>
                <a:latin typeface="Frutiger"/>
                <a:cs typeface="Frutiger"/>
              </a:rPr>
              <a:t>Newer connection modes, unit tests and advanced incremental strategies are release-specific. Today’s path — table builds, data tests, Livy — is the documented one.</a:t>
            </a:r>
          </a:p>
        </p:txBody>
      </p:sp>
    </p:spTree>
    <p:extLst>
      <p:ext uri="{BB962C8B-B14F-4D97-AF65-F5344CB8AC3E}">
        <p14:creationId xmlns:p14="http://schemas.microsoft.com/office/powerpoint/2010/main" val="37841231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BF2AD33-830A-48C5-90B4-ADC3835E0158}"/>
              </a:ext>
            </a:extLst>
          </p:cNvPr>
          <p:cNvSpPr>
            <a:spLocks noGrp="1"/>
          </p:cNvSpPr>
          <p:nvPr/>
        </p:nvSpPr>
        <p:spPr>
          <a:xfrm>
            <a:off x="838201" y="495302"/>
            <a:ext cx="15240000" cy="392311"/>
          </a:xfrm>
          <a:prstGeom prst="rect">
            <a:avLst/>
          </a:prstGeom>
          <a:noFill/>
        </p:spPr>
        <p:txBody>
          <a:bodyPr wrap="square" lIns="25401" tIns="25401" rIns="25401" bIns="25401" anchor="t">
            <a:normAutofit/>
          </a:bodyPr>
          <a:lstStyle/>
          <a:p>
            <a:pPr>
              <a:lnSpc>
                <a:spcPct val="120000"/>
              </a:lnSpc>
              <a:buNone/>
            </a:pPr>
            <a:r>
              <a:rPr sz="1801" b="1" spc="361">
                <a:solidFill>
                  <a:srgbClr val="E40046"/>
                </a:solidFill>
                <a:latin typeface="Frutiger"/>
                <a:ea typeface="Frutiger"/>
                <a:cs typeface="Frutiger"/>
              </a:rPr>
              <a:t>DBT CLI</a:t>
            </a:r>
            <a:endParaRPr sz="1801"/>
          </a:p>
        </p:txBody>
      </p:sp>
      <p:sp>
        <p:nvSpPr>
          <p:cNvPr id="3" name="Text 1">
            <a:extLst>
              <a:ext uri="{FF2B5EF4-FFF2-40B4-BE49-F238E27FC236}">
                <a16:creationId xmlns:a16="http://schemas.microsoft.com/office/drawing/2014/main" id="{4EC90D35-304A-4ED8-BF67-87162AFBE388}"/>
              </a:ext>
            </a:extLst>
          </p:cNvPr>
          <p:cNvSpPr>
            <a:spLocks noGrp="1"/>
          </p:cNvSpPr>
          <p:nvPr/>
        </p:nvSpPr>
        <p:spPr>
          <a:xfrm>
            <a:off x="838201" y="963812"/>
            <a:ext cx="15240000" cy="640407"/>
          </a:xfrm>
          <a:prstGeom prst="rect">
            <a:avLst/>
          </a:prstGeom>
          <a:noFill/>
        </p:spPr>
        <p:txBody>
          <a:bodyPr wrap="square" lIns="25401" tIns="25401" rIns="25401" bIns="25401" anchor="t">
            <a:normAutofit/>
          </a:bodyPr>
          <a:lstStyle/>
          <a:p>
            <a:pPr>
              <a:lnSpc>
                <a:spcPct val="79050"/>
              </a:lnSpc>
              <a:buNone/>
            </a:pPr>
            <a:r>
              <a:rPr sz="4651" b="1" spc="-69" dirty="0">
                <a:solidFill>
                  <a:srgbClr val="001F6B"/>
                </a:solidFill>
                <a:latin typeface="Frutiger"/>
                <a:ea typeface="Frutiger"/>
                <a:cs typeface="Frutiger"/>
              </a:rPr>
              <a:t>The dbt commands — what each one does</a:t>
            </a:r>
            <a:endParaRPr sz="4651" dirty="0"/>
          </a:p>
        </p:txBody>
      </p:sp>
      <p:pic>
        <p:nvPicPr>
          <p:cNvPr id="32" name="Image 0"/>
          <p:cNvPicPr>
            <a:picLocks noChangeAspect="1"/>
          </p:cNvPicPr>
          <p:nvPr/>
        </p:nvPicPr>
        <p:blipFill>
          <a:blip r:embed="rId3"/>
          <a:srcRect t="-5" b="-5"/>
          <a:stretch/>
        </p:blipFill>
        <p:spPr>
          <a:xfrm>
            <a:off x="16412620" y="571500"/>
            <a:ext cx="1037182" cy="514350"/>
          </a:xfrm>
          <a:prstGeom prst="rect">
            <a:avLst/>
          </a:prstGeom>
        </p:spPr>
      </p:pic>
      <p:sp>
        <p:nvSpPr>
          <p:cNvPr id="5" name="Shape 2">
            <a:extLst>
              <a:ext uri="{FF2B5EF4-FFF2-40B4-BE49-F238E27FC236}">
                <a16:creationId xmlns:a16="http://schemas.microsoft.com/office/drawing/2014/main" id="{619AE5D7-7CB4-4BEA-BB3F-D06573D3768F}"/>
              </a:ext>
            </a:extLst>
          </p:cNvPr>
          <p:cNvSpPr>
            <a:spLocks noGrp="1"/>
          </p:cNvSpPr>
          <p:nvPr/>
        </p:nvSpPr>
        <p:spPr>
          <a:xfrm>
            <a:off x="838202" y="1813769"/>
            <a:ext cx="16611600" cy="28574"/>
          </a:xfrm>
          <a:prstGeom prst="rect">
            <a:avLst/>
          </a:prstGeom>
          <a:solidFill>
            <a:srgbClr val="FF0000"/>
          </a:solidFill>
        </p:spPr>
        <p:txBody>
          <a:bodyPr/>
          <a:lstStyle/>
          <a:p>
            <a:endParaRPr sz="1801"/>
          </a:p>
        </p:txBody>
      </p:sp>
      <p:sp>
        <p:nvSpPr>
          <p:cNvPr id="6" name="Shape 3">
            <a:extLst>
              <a:ext uri="{FF2B5EF4-FFF2-40B4-BE49-F238E27FC236}">
                <a16:creationId xmlns:a16="http://schemas.microsoft.com/office/drawing/2014/main" id="{4913CC0E-0FDB-4091-96BC-623E005C1433}"/>
              </a:ext>
            </a:extLst>
          </p:cNvPr>
          <p:cNvSpPr>
            <a:spLocks noGrp="1"/>
          </p:cNvSpPr>
          <p:nvPr/>
        </p:nvSpPr>
        <p:spPr>
          <a:xfrm>
            <a:off x="838202" y="1880445"/>
            <a:ext cx="16611600" cy="28574"/>
          </a:xfrm>
          <a:prstGeom prst="rect">
            <a:avLst/>
          </a:prstGeom>
          <a:solidFill>
            <a:srgbClr val="3649A8"/>
          </a:solidFill>
        </p:spPr>
        <p:txBody>
          <a:bodyPr/>
          <a:lstStyle/>
          <a:p>
            <a:endParaRPr sz="1801"/>
          </a:p>
        </p:txBody>
      </p:sp>
      <p:sp>
        <p:nvSpPr>
          <p:cNvPr id="25" name="Shape 22">
            <a:extLst>
              <a:ext uri="{FF2B5EF4-FFF2-40B4-BE49-F238E27FC236}">
                <a16:creationId xmlns:a16="http://schemas.microsoft.com/office/drawing/2014/main" id="{B765AE01-8B3A-4F2B-9234-E1B2735FE6D0}"/>
              </a:ext>
            </a:extLst>
          </p:cNvPr>
          <p:cNvSpPr>
            <a:spLocks noGrp="1"/>
          </p:cNvSpPr>
          <p:nvPr/>
        </p:nvSpPr>
        <p:spPr>
          <a:xfrm>
            <a:off x="838202" y="9294615"/>
            <a:ext cx="16611600" cy="9525"/>
          </a:xfrm>
          <a:prstGeom prst="rect">
            <a:avLst/>
          </a:prstGeom>
          <a:solidFill>
            <a:srgbClr val="E2E7EB"/>
          </a:solidFill>
        </p:spPr>
        <p:txBody>
          <a:bodyPr/>
          <a:lstStyle/>
          <a:p>
            <a:endParaRPr sz="1801"/>
          </a:p>
        </p:txBody>
      </p:sp>
      <p:sp>
        <p:nvSpPr>
          <p:cNvPr id="26" name="Text 23">
            <a:extLst>
              <a:ext uri="{FF2B5EF4-FFF2-40B4-BE49-F238E27FC236}">
                <a16:creationId xmlns:a16="http://schemas.microsoft.com/office/drawing/2014/main" id="{5C5AFE6D-27B1-4C09-BBBE-19FE36BD27C8}"/>
              </a:ext>
            </a:extLst>
          </p:cNvPr>
          <p:cNvSpPr>
            <a:spLocks noGrp="1"/>
          </p:cNvSpPr>
          <p:nvPr/>
        </p:nvSpPr>
        <p:spPr>
          <a:xfrm>
            <a:off x="838201" y="9513691"/>
            <a:ext cx="7461945" cy="392311"/>
          </a:xfrm>
          <a:prstGeom prst="rect">
            <a:avLst/>
          </a:prstGeom>
          <a:noFill/>
        </p:spPr>
        <p:txBody>
          <a:bodyPr wrap="square" lIns="25401" tIns="25401" rIns="25401" bIns="25401" anchor="t">
            <a:normAutofit/>
          </a:bodyPr>
          <a:lstStyle/>
          <a:p>
            <a:pPr>
              <a:lnSpc>
                <a:spcPct val="124000"/>
              </a:lnSpc>
              <a:buNone/>
            </a:pPr>
            <a:r>
              <a:rPr sz="1801" dirty="0">
                <a:solidFill>
                  <a:srgbClr val="667780"/>
                </a:solidFill>
                <a:latin typeface="Frutiger"/>
                <a:ea typeface="Frutiger"/>
                <a:cs typeface="Frutiger"/>
              </a:rPr>
              <a:t>Getting started with dbt</a:t>
            </a:r>
            <a:endParaRPr sz="1801" dirty="0"/>
          </a:p>
        </p:txBody>
      </p:sp>
      <p:sp>
        <p:nvSpPr>
          <p:cNvPr id="28" name="Text 25">
            <a:extLst>
              <a:ext uri="{FF2B5EF4-FFF2-40B4-BE49-F238E27FC236}">
                <a16:creationId xmlns:a16="http://schemas.microsoft.com/office/drawing/2014/main" id="{E1A6A13E-D079-4787-BA2C-26179E45E0AB}"/>
              </a:ext>
            </a:extLst>
          </p:cNvPr>
          <p:cNvSpPr>
            <a:spLocks noGrp="1"/>
          </p:cNvSpPr>
          <p:nvPr/>
        </p:nvSpPr>
        <p:spPr>
          <a:xfrm>
            <a:off x="9987856" y="9513691"/>
            <a:ext cx="7461945" cy="392311"/>
          </a:xfrm>
          <a:prstGeom prst="rect">
            <a:avLst/>
          </a:prstGeom>
          <a:noFill/>
        </p:spPr>
        <p:txBody>
          <a:bodyPr wrap="square" lIns="25401" tIns="25401" rIns="25401" bIns="25401" anchor="t">
            <a:normAutofit/>
          </a:bodyPr>
          <a:lstStyle/>
          <a:p>
            <a:pPr algn="r">
              <a:lnSpc>
                <a:spcPct val="124000"/>
              </a:lnSpc>
              <a:buNone/>
            </a:pPr>
            <a:r>
              <a:rPr lang="en-US" sz="1801">
                <a:solidFill>
                  <a:srgbClr val="667780"/>
                </a:solidFill>
                <a:latin typeface="Frutiger"/>
                <a:ea typeface="Frutiger"/>
                <a:cs typeface="Frutiger"/>
              </a:rPr>
              <a:t>22</a:t>
            </a:r>
            <a:endParaRPr sz="1801"/>
          </a:p>
        </p:txBody>
      </p:sp>
      <p:sp>
        <p:nvSpPr>
          <p:cNvPr id="200" name="Shape 200"/>
          <p:cNvSpPr/>
          <p:nvPr/>
        </p:nvSpPr>
        <p:spPr>
          <a:xfrm>
            <a:off x="838200" y="2413000"/>
            <a:ext cx="12446000" cy="838200"/>
          </a:xfrm>
          <a:prstGeom prst="rect">
            <a:avLst/>
          </a:prstGeom>
          <a:solidFill>
            <a:srgbClr val="F5F7FA"/>
          </a:solidFill>
          <a:ln w="9525">
            <a:solidFill>
              <a:srgbClr val="DCE1E6"/>
            </a:solidFill>
          </a:ln>
        </p:spPr>
        <p:txBody>
          <a:bodyPr/>
          <a:lstStyle/>
          <a:p>
            <a:endParaRPr lang="en-US"/>
          </a:p>
        </p:txBody>
      </p:sp>
      <p:sp>
        <p:nvSpPr>
          <p:cNvPr id="201" name="Shape 201"/>
          <p:cNvSpPr/>
          <p:nvPr/>
        </p:nvSpPr>
        <p:spPr>
          <a:xfrm>
            <a:off x="838200" y="2413000"/>
            <a:ext cx="76200" cy="838200"/>
          </a:xfrm>
          <a:prstGeom prst="rect">
            <a:avLst/>
          </a:prstGeom>
          <a:solidFill>
            <a:srgbClr val="001F6B"/>
          </a:solidFill>
          <a:ln>
            <a:noFill/>
          </a:ln>
        </p:spPr>
        <p:txBody>
          <a:bodyPr/>
          <a:lstStyle/>
          <a:p>
            <a:endParaRPr lang="en-US"/>
          </a:p>
        </p:txBody>
      </p:sp>
      <p:sp>
        <p:nvSpPr>
          <p:cNvPr id="202" name="Shape 202"/>
          <p:cNvSpPr/>
          <p:nvPr/>
        </p:nvSpPr>
        <p:spPr>
          <a:xfrm>
            <a:off x="1143000" y="2413000"/>
            <a:ext cx="3175000" cy="838200"/>
          </a:xfrm>
          <a:prstGeom prst="rect">
            <a:avLst/>
          </a:prstGeom>
          <a:noFill/>
          <a:ln>
            <a:noFill/>
          </a:ln>
        </p:spPr>
        <p:txBody>
          <a:bodyPr wrap="square" lIns="0" tIns="0" rIns="0" bIns="0" anchor="ctr">
            <a:normAutofit/>
          </a:bodyPr>
          <a:lstStyle/>
          <a:p>
            <a:pPr>
              <a:buNone/>
            </a:pPr>
            <a:r>
              <a:rPr lang="en-US" sz="2200" b="1" dirty="0">
                <a:solidFill>
                  <a:srgbClr val="001F6B"/>
                </a:solidFill>
                <a:latin typeface="Consolas"/>
                <a:cs typeface="Consolas"/>
              </a:rPr>
              <a:t>dbt run</a:t>
            </a:r>
          </a:p>
        </p:txBody>
      </p:sp>
      <p:sp>
        <p:nvSpPr>
          <p:cNvPr id="203" name="Shape 203"/>
          <p:cNvSpPr/>
          <p:nvPr/>
        </p:nvSpPr>
        <p:spPr>
          <a:xfrm>
            <a:off x="4521200" y="2413000"/>
            <a:ext cx="8509000" cy="838200"/>
          </a:xfrm>
          <a:prstGeom prst="rect">
            <a:avLst/>
          </a:prstGeom>
          <a:noFill/>
          <a:ln>
            <a:noFill/>
          </a:ln>
        </p:spPr>
        <p:txBody>
          <a:bodyPr wrap="square" lIns="0" tIns="0" rIns="0" bIns="0" anchor="ctr">
            <a:normAutofit/>
          </a:bodyPr>
          <a:lstStyle/>
          <a:p>
            <a:pPr>
              <a:buNone/>
            </a:pPr>
            <a:r>
              <a:rPr lang="en-US" sz="1800" dirty="0">
                <a:solidFill>
                  <a:srgbClr val="364750"/>
                </a:solidFill>
                <a:latin typeface="Frutiger"/>
                <a:cs typeface="Frutiger"/>
              </a:rPr>
              <a:t>Compiles your models to SQL and executes them against the warehouse — builds tables and views.</a:t>
            </a:r>
          </a:p>
        </p:txBody>
      </p:sp>
      <p:sp>
        <p:nvSpPr>
          <p:cNvPr id="204" name="Shape 204"/>
          <p:cNvSpPr/>
          <p:nvPr/>
        </p:nvSpPr>
        <p:spPr>
          <a:xfrm>
            <a:off x="838200" y="3352800"/>
            <a:ext cx="12446000" cy="838200"/>
          </a:xfrm>
          <a:prstGeom prst="rect">
            <a:avLst/>
          </a:prstGeom>
          <a:solidFill>
            <a:srgbClr val="F5F7FA"/>
          </a:solidFill>
          <a:ln w="9525">
            <a:solidFill>
              <a:srgbClr val="DCE1E6"/>
            </a:solidFill>
          </a:ln>
        </p:spPr>
        <p:txBody>
          <a:bodyPr/>
          <a:lstStyle/>
          <a:p>
            <a:endParaRPr lang="en-US"/>
          </a:p>
        </p:txBody>
      </p:sp>
      <p:sp>
        <p:nvSpPr>
          <p:cNvPr id="205" name="Shape 205"/>
          <p:cNvSpPr/>
          <p:nvPr/>
        </p:nvSpPr>
        <p:spPr>
          <a:xfrm>
            <a:off x="838200" y="3352800"/>
            <a:ext cx="76200" cy="838200"/>
          </a:xfrm>
          <a:prstGeom prst="rect">
            <a:avLst/>
          </a:prstGeom>
          <a:solidFill>
            <a:srgbClr val="E40046"/>
          </a:solidFill>
          <a:ln>
            <a:noFill/>
          </a:ln>
        </p:spPr>
        <p:txBody>
          <a:bodyPr/>
          <a:lstStyle/>
          <a:p>
            <a:endParaRPr lang="en-US"/>
          </a:p>
        </p:txBody>
      </p:sp>
      <p:sp>
        <p:nvSpPr>
          <p:cNvPr id="206" name="Shape 206"/>
          <p:cNvSpPr/>
          <p:nvPr/>
        </p:nvSpPr>
        <p:spPr>
          <a:xfrm>
            <a:off x="1143000" y="3352800"/>
            <a:ext cx="3175000" cy="838200"/>
          </a:xfrm>
          <a:prstGeom prst="rect">
            <a:avLst/>
          </a:prstGeom>
          <a:noFill/>
          <a:ln>
            <a:noFill/>
          </a:ln>
        </p:spPr>
        <p:txBody>
          <a:bodyPr wrap="square" lIns="0" tIns="0" rIns="0" bIns="0" anchor="ctr">
            <a:normAutofit/>
          </a:bodyPr>
          <a:lstStyle/>
          <a:p>
            <a:pPr>
              <a:buNone/>
            </a:pPr>
            <a:r>
              <a:rPr lang="en-US" sz="2200" b="1" dirty="0">
                <a:solidFill>
                  <a:srgbClr val="E40046"/>
                </a:solidFill>
                <a:latin typeface="Consolas"/>
                <a:cs typeface="Consolas"/>
              </a:rPr>
              <a:t>dbt build</a:t>
            </a:r>
          </a:p>
        </p:txBody>
      </p:sp>
      <p:sp>
        <p:nvSpPr>
          <p:cNvPr id="207" name="Shape 207"/>
          <p:cNvSpPr/>
          <p:nvPr/>
        </p:nvSpPr>
        <p:spPr>
          <a:xfrm>
            <a:off x="4521200" y="3352800"/>
            <a:ext cx="8509000" cy="838200"/>
          </a:xfrm>
          <a:prstGeom prst="rect">
            <a:avLst/>
          </a:prstGeom>
          <a:noFill/>
          <a:ln>
            <a:noFill/>
          </a:ln>
        </p:spPr>
        <p:txBody>
          <a:bodyPr wrap="square" lIns="0" tIns="0" rIns="0" bIns="0" anchor="ctr">
            <a:normAutofit/>
          </a:bodyPr>
          <a:lstStyle/>
          <a:p>
            <a:pPr>
              <a:buNone/>
            </a:pPr>
            <a:r>
              <a:rPr lang="en-US" sz="1800" dirty="0">
                <a:solidFill>
                  <a:srgbClr val="364750"/>
                </a:solidFill>
                <a:latin typeface="Frutiger"/>
                <a:cs typeface="Frutiger"/>
              </a:rPr>
              <a:t>Runs models, tests, seeds and snapshots together in DAG order; stops downstream on failure. The default here.</a:t>
            </a:r>
          </a:p>
        </p:txBody>
      </p:sp>
      <p:sp>
        <p:nvSpPr>
          <p:cNvPr id="208" name="Shape 208"/>
          <p:cNvSpPr/>
          <p:nvPr/>
        </p:nvSpPr>
        <p:spPr>
          <a:xfrm>
            <a:off x="838200" y="4292600"/>
            <a:ext cx="12446000" cy="838200"/>
          </a:xfrm>
          <a:prstGeom prst="rect">
            <a:avLst/>
          </a:prstGeom>
          <a:solidFill>
            <a:srgbClr val="F5F7FA"/>
          </a:solidFill>
          <a:ln w="9525">
            <a:solidFill>
              <a:srgbClr val="DCE1E6"/>
            </a:solidFill>
          </a:ln>
        </p:spPr>
        <p:txBody>
          <a:bodyPr/>
          <a:lstStyle/>
          <a:p>
            <a:endParaRPr lang="en-US"/>
          </a:p>
        </p:txBody>
      </p:sp>
      <p:sp>
        <p:nvSpPr>
          <p:cNvPr id="209" name="Shape 209"/>
          <p:cNvSpPr/>
          <p:nvPr/>
        </p:nvSpPr>
        <p:spPr>
          <a:xfrm>
            <a:off x="838200" y="4292600"/>
            <a:ext cx="76200" cy="838200"/>
          </a:xfrm>
          <a:prstGeom prst="rect">
            <a:avLst/>
          </a:prstGeom>
          <a:solidFill>
            <a:srgbClr val="001F6B"/>
          </a:solidFill>
          <a:ln>
            <a:noFill/>
          </a:ln>
        </p:spPr>
        <p:txBody>
          <a:bodyPr/>
          <a:lstStyle/>
          <a:p>
            <a:endParaRPr lang="en-US"/>
          </a:p>
        </p:txBody>
      </p:sp>
      <p:sp>
        <p:nvSpPr>
          <p:cNvPr id="210" name="Shape 210"/>
          <p:cNvSpPr/>
          <p:nvPr/>
        </p:nvSpPr>
        <p:spPr>
          <a:xfrm>
            <a:off x="1143000" y="4292600"/>
            <a:ext cx="3175000" cy="838200"/>
          </a:xfrm>
          <a:prstGeom prst="rect">
            <a:avLst/>
          </a:prstGeom>
          <a:noFill/>
          <a:ln>
            <a:noFill/>
          </a:ln>
        </p:spPr>
        <p:txBody>
          <a:bodyPr wrap="square" lIns="0" tIns="0" rIns="0" bIns="0" anchor="ctr">
            <a:normAutofit/>
          </a:bodyPr>
          <a:lstStyle/>
          <a:p>
            <a:pPr>
              <a:buNone/>
            </a:pPr>
            <a:r>
              <a:rPr lang="en-US" sz="2200" b="1" dirty="0">
                <a:solidFill>
                  <a:srgbClr val="001F6B"/>
                </a:solidFill>
                <a:latin typeface="Consolas"/>
                <a:cs typeface="Consolas"/>
              </a:rPr>
              <a:t>dbt seed</a:t>
            </a:r>
          </a:p>
        </p:txBody>
      </p:sp>
      <p:sp>
        <p:nvSpPr>
          <p:cNvPr id="211" name="Shape 211"/>
          <p:cNvSpPr/>
          <p:nvPr/>
        </p:nvSpPr>
        <p:spPr>
          <a:xfrm>
            <a:off x="4521200" y="4292600"/>
            <a:ext cx="8509000" cy="838200"/>
          </a:xfrm>
          <a:prstGeom prst="rect">
            <a:avLst/>
          </a:prstGeom>
          <a:noFill/>
          <a:ln>
            <a:noFill/>
          </a:ln>
        </p:spPr>
        <p:txBody>
          <a:bodyPr wrap="square" lIns="0" tIns="0" rIns="0" bIns="0" anchor="ctr">
            <a:normAutofit/>
          </a:bodyPr>
          <a:lstStyle/>
          <a:p>
            <a:pPr>
              <a:buNone/>
            </a:pPr>
            <a:r>
              <a:rPr lang="en-US" sz="1800" dirty="0">
                <a:solidFill>
                  <a:srgbClr val="364750"/>
                </a:solidFill>
                <a:latin typeface="Frutiger"/>
                <a:cs typeface="Frutiger"/>
              </a:rPr>
              <a:t>Loads CSV files from the seeds folder into the warehouse as tables — small static reference data.</a:t>
            </a:r>
          </a:p>
        </p:txBody>
      </p:sp>
      <p:sp>
        <p:nvSpPr>
          <p:cNvPr id="212" name="Shape 212"/>
          <p:cNvSpPr/>
          <p:nvPr/>
        </p:nvSpPr>
        <p:spPr>
          <a:xfrm>
            <a:off x="838200" y="5232400"/>
            <a:ext cx="12446000" cy="838200"/>
          </a:xfrm>
          <a:prstGeom prst="rect">
            <a:avLst/>
          </a:prstGeom>
          <a:solidFill>
            <a:srgbClr val="F5F7FA"/>
          </a:solidFill>
          <a:ln w="9525">
            <a:solidFill>
              <a:srgbClr val="DCE1E6"/>
            </a:solidFill>
          </a:ln>
        </p:spPr>
        <p:txBody>
          <a:bodyPr/>
          <a:lstStyle/>
          <a:p>
            <a:endParaRPr lang="en-US"/>
          </a:p>
        </p:txBody>
      </p:sp>
      <p:sp>
        <p:nvSpPr>
          <p:cNvPr id="213" name="Shape 213"/>
          <p:cNvSpPr/>
          <p:nvPr/>
        </p:nvSpPr>
        <p:spPr>
          <a:xfrm>
            <a:off x="838200" y="5232400"/>
            <a:ext cx="76200" cy="838200"/>
          </a:xfrm>
          <a:prstGeom prst="rect">
            <a:avLst/>
          </a:prstGeom>
          <a:solidFill>
            <a:srgbClr val="001F6B"/>
          </a:solidFill>
          <a:ln>
            <a:noFill/>
          </a:ln>
        </p:spPr>
        <p:txBody>
          <a:bodyPr/>
          <a:lstStyle/>
          <a:p>
            <a:endParaRPr lang="en-US"/>
          </a:p>
        </p:txBody>
      </p:sp>
      <p:sp>
        <p:nvSpPr>
          <p:cNvPr id="214" name="Shape 214"/>
          <p:cNvSpPr/>
          <p:nvPr/>
        </p:nvSpPr>
        <p:spPr>
          <a:xfrm>
            <a:off x="1143000" y="5232400"/>
            <a:ext cx="3175000" cy="838200"/>
          </a:xfrm>
          <a:prstGeom prst="rect">
            <a:avLst/>
          </a:prstGeom>
          <a:noFill/>
          <a:ln>
            <a:noFill/>
          </a:ln>
        </p:spPr>
        <p:txBody>
          <a:bodyPr wrap="square" lIns="0" tIns="0" rIns="0" bIns="0" anchor="ctr">
            <a:normAutofit/>
          </a:bodyPr>
          <a:lstStyle/>
          <a:p>
            <a:pPr>
              <a:buNone/>
            </a:pPr>
            <a:r>
              <a:rPr lang="en-US" sz="2200" b="1" dirty="0">
                <a:solidFill>
                  <a:srgbClr val="001F6B"/>
                </a:solidFill>
                <a:latin typeface="Consolas"/>
                <a:cs typeface="Consolas"/>
              </a:rPr>
              <a:t>dbt compile</a:t>
            </a:r>
          </a:p>
        </p:txBody>
      </p:sp>
      <p:sp>
        <p:nvSpPr>
          <p:cNvPr id="215" name="Shape 215"/>
          <p:cNvSpPr/>
          <p:nvPr/>
        </p:nvSpPr>
        <p:spPr>
          <a:xfrm>
            <a:off x="4521200" y="5232400"/>
            <a:ext cx="8509000" cy="838200"/>
          </a:xfrm>
          <a:prstGeom prst="rect">
            <a:avLst/>
          </a:prstGeom>
          <a:noFill/>
          <a:ln>
            <a:noFill/>
          </a:ln>
        </p:spPr>
        <p:txBody>
          <a:bodyPr wrap="square" lIns="0" tIns="0" rIns="0" bIns="0" anchor="ctr">
            <a:normAutofit/>
          </a:bodyPr>
          <a:lstStyle/>
          <a:p>
            <a:pPr>
              <a:buNone/>
            </a:pPr>
            <a:r>
              <a:rPr lang="en-US" sz="1800" dirty="0">
                <a:solidFill>
                  <a:srgbClr val="364750"/>
                </a:solidFill>
                <a:latin typeface="Frutiger"/>
                <a:cs typeface="Frutiger"/>
              </a:rPr>
              <a:t>Generates the SQL without executing it — inspect what dbt will run in the target folder.</a:t>
            </a:r>
          </a:p>
        </p:txBody>
      </p:sp>
      <p:sp>
        <p:nvSpPr>
          <p:cNvPr id="216" name="Shape 216"/>
          <p:cNvSpPr/>
          <p:nvPr/>
        </p:nvSpPr>
        <p:spPr>
          <a:xfrm>
            <a:off x="838200" y="6172200"/>
            <a:ext cx="12446000" cy="838200"/>
          </a:xfrm>
          <a:prstGeom prst="rect">
            <a:avLst/>
          </a:prstGeom>
          <a:solidFill>
            <a:srgbClr val="F5F7FA"/>
          </a:solidFill>
          <a:ln w="9525">
            <a:solidFill>
              <a:srgbClr val="DCE1E6"/>
            </a:solidFill>
          </a:ln>
        </p:spPr>
        <p:txBody>
          <a:bodyPr/>
          <a:lstStyle/>
          <a:p>
            <a:endParaRPr lang="en-US"/>
          </a:p>
        </p:txBody>
      </p:sp>
      <p:sp>
        <p:nvSpPr>
          <p:cNvPr id="217" name="Shape 217"/>
          <p:cNvSpPr/>
          <p:nvPr/>
        </p:nvSpPr>
        <p:spPr>
          <a:xfrm>
            <a:off x="838200" y="6172200"/>
            <a:ext cx="76200" cy="838200"/>
          </a:xfrm>
          <a:prstGeom prst="rect">
            <a:avLst/>
          </a:prstGeom>
          <a:solidFill>
            <a:srgbClr val="001F6B"/>
          </a:solidFill>
          <a:ln>
            <a:noFill/>
          </a:ln>
        </p:spPr>
        <p:txBody>
          <a:bodyPr/>
          <a:lstStyle/>
          <a:p>
            <a:endParaRPr lang="en-US"/>
          </a:p>
        </p:txBody>
      </p:sp>
      <p:sp>
        <p:nvSpPr>
          <p:cNvPr id="218" name="Shape 218"/>
          <p:cNvSpPr/>
          <p:nvPr/>
        </p:nvSpPr>
        <p:spPr>
          <a:xfrm>
            <a:off x="1143000" y="6172200"/>
            <a:ext cx="3175000" cy="838200"/>
          </a:xfrm>
          <a:prstGeom prst="rect">
            <a:avLst/>
          </a:prstGeom>
          <a:noFill/>
          <a:ln>
            <a:noFill/>
          </a:ln>
        </p:spPr>
        <p:txBody>
          <a:bodyPr wrap="square" lIns="0" tIns="0" rIns="0" bIns="0" anchor="ctr">
            <a:normAutofit/>
          </a:bodyPr>
          <a:lstStyle/>
          <a:p>
            <a:pPr>
              <a:buNone/>
            </a:pPr>
            <a:r>
              <a:rPr lang="en-US" sz="2200" b="1" dirty="0">
                <a:solidFill>
                  <a:srgbClr val="001F6B"/>
                </a:solidFill>
                <a:latin typeface="Consolas"/>
                <a:cs typeface="Consolas"/>
              </a:rPr>
              <a:t>dbt test</a:t>
            </a:r>
          </a:p>
        </p:txBody>
      </p:sp>
      <p:sp>
        <p:nvSpPr>
          <p:cNvPr id="219" name="Shape 219"/>
          <p:cNvSpPr/>
          <p:nvPr/>
        </p:nvSpPr>
        <p:spPr>
          <a:xfrm>
            <a:off x="4521200" y="6172200"/>
            <a:ext cx="8509000" cy="838200"/>
          </a:xfrm>
          <a:prstGeom prst="rect">
            <a:avLst/>
          </a:prstGeom>
          <a:noFill/>
          <a:ln>
            <a:noFill/>
          </a:ln>
        </p:spPr>
        <p:txBody>
          <a:bodyPr wrap="square" lIns="0" tIns="0" rIns="0" bIns="0" anchor="ctr">
            <a:normAutofit/>
          </a:bodyPr>
          <a:lstStyle/>
          <a:p>
            <a:pPr>
              <a:buNone/>
            </a:pPr>
            <a:r>
              <a:rPr lang="en-US" sz="1800" dirty="0">
                <a:solidFill>
                  <a:srgbClr val="364750"/>
                </a:solidFill>
                <a:latin typeface="Frutiger"/>
                <a:cs typeface="Frutiger"/>
              </a:rPr>
              <a:t>Runs data tests (unique, not_null, relationships, custom SQL) against built models.</a:t>
            </a:r>
          </a:p>
        </p:txBody>
      </p:sp>
      <p:sp>
        <p:nvSpPr>
          <p:cNvPr id="220" name="Shape 220"/>
          <p:cNvSpPr/>
          <p:nvPr/>
        </p:nvSpPr>
        <p:spPr>
          <a:xfrm>
            <a:off x="838200" y="7112000"/>
            <a:ext cx="12446000" cy="838200"/>
          </a:xfrm>
          <a:prstGeom prst="rect">
            <a:avLst/>
          </a:prstGeom>
          <a:solidFill>
            <a:srgbClr val="F5F7FA"/>
          </a:solidFill>
          <a:ln w="9525">
            <a:solidFill>
              <a:srgbClr val="DCE1E6"/>
            </a:solidFill>
          </a:ln>
        </p:spPr>
        <p:txBody>
          <a:bodyPr/>
          <a:lstStyle/>
          <a:p>
            <a:endParaRPr lang="en-US"/>
          </a:p>
        </p:txBody>
      </p:sp>
      <p:sp>
        <p:nvSpPr>
          <p:cNvPr id="221" name="Shape 221"/>
          <p:cNvSpPr/>
          <p:nvPr/>
        </p:nvSpPr>
        <p:spPr>
          <a:xfrm>
            <a:off x="838200" y="7112000"/>
            <a:ext cx="76200" cy="838200"/>
          </a:xfrm>
          <a:prstGeom prst="rect">
            <a:avLst/>
          </a:prstGeom>
          <a:solidFill>
            <a:srgbClr val="001F6B"/>
          </a:solidFill>
          <a:ln>
            <a:noFill/>
          </a:ln>
        </p:spPr>
        <p:txBody>
          <a:bodyPr/>
          <a:lstStyle/>
          <a:p>
            <a:endParaRPr lang="en-US"/>
          </a:p>
        </p:txBody>
      </p:sp>
      <p:sp>
        <p:nvSpPr>
          <p:cNvPr id="222" name="Shape 222"/>
          <p:cNvSpPr/>
          <p:nvPr/>
        </p:nvSpPr>
        <p:spPr>
          <a:xfrm>
            <a:off x="1143000" y="7112000"/>
            <a:ext cx="3175000" cy="838200"/>
          </a:xfrm>
          <a:prstGeom prst="rect">
            <a:avLst/>
          </a:prstGeom>
          <a:noFill/>
          <a:ln>
            <a:noFill/>
          </a:ln>
        </p:spPr>
        <p:txBody>
          <a:bodyPr wrap="square" lIns="0" tIns="0" rIns="0" bIns="0" anchor="ctr">
            <a:normAutofit/>
          </a:bodyPr>
          <a:lstStyle/>
          <a:p>
            <a:pPr>
              <a:buNone/>
            </a:pPr>
            <a:r>
              <a:rPr lang="en-US" sz="2200" b="1" dirty="0">
                <a:solidFill>
                  <a:srgbClr val="001F6B"/>
                </a:solidFill>
                <a:latin typeface="Consolas"/>
                <a:cs typeface="Consolas"/>
              </a:rPr>
              <a:t>dbt snapshot</a:t>
            </a:r>
          </a:p>
        </p:txBody>
      </p:sp>
      <p:sp>
        <p:nvSpPr>
          <p:cNvPr id="223" name="Shape 223"/>
          <p:cNvSpPr/>
          <p:nvPr/>
        </p:nvSpPr>
        <p:spPr>
          <a:xfrm>
            <a:off x="4521200" y="7112000"/>
            <a:ext cx="8509000" cy="838200"/>
          </a:xfrm>
          <a:prstGeom prst="rect">
            <a:avLst/>
          </a:prstGeom>
          <a:noFill/>
          <a:ln>
            <a:noFill/>
          </a:ln>
        </p:spPr>
        <p:txBody>
          <a:bodyPr wrap="square" lIns="0" tIns="0" rIns="0" bIns="0" anchor="ctr">
            <a:normAutofit/>
          </a:bodyPr>
          <a:lstStyle/>
          <a:p>
            <a:pPr>
              <a:buNone/>
            </a:pPr>
            <a:r>
              <a:rPr lang="en-US" sz="1800" dirty="0">
                <a:solidFill>
                  <a:srgbClr val="364750"/>
                </a:solidFill>
                <a:latin typeface="Frutiger"/>
                <a:cs typeface="Frutiger"/>
              </a:rPr>
              <a:t>Captures slowly changing dimensions by recording row changes over time (SCD Type 2).</a:t>
            </a:r>
          </a:p>
        </p:txBody>
      </p:sp>
      <p:sp>
        <p:nvSpPr>
          <p:cNvPr id="224" name="Shape 224"/>
          <p:cNvSpPr/>
          <p:nvPr/>
        </p:nvSpPr>
        <p:spPr>
          <a:xfrm>
            <a:off x="838200" y="8051800"/>
            <a:ext cx="12446000" cy="838200"/>
          </a:xfrm>
          <a:prstGeom prst="rect">
            <a:avLst/>
          </a:prstGeom>
          <a:solidFill>
            <a:srgbClr val="F5F7FA"/>
          </a:solidFill>
          <a:ln w="9525">
            <a:solidFill>
              <a:srgbClr val="DCE1E6"/>
            </a:solidFill>
          </a:ln>
        </p:spPr>
        <p:txBody>
          <a:bodyPr/>
          <a:lstStyle/>
          <a:p>
            <a:endParaRPr lang="en-US"/>
          </a:p>
        </p:txBody>
      </p:sp>
      <p:sp>
        <p:nvSpPr>
          <p:cNvPr id="225" name="Shape 225"/>
          <p:cNvSpPr/>
          <p:nvPr/>
        </p:nvSpPr>
        <p:spPr>
          <a:xfrm>
            <a:off x="838200" y="8051800"/>
            <a:ext cx="76200" cy="838200"/>
          </a:xfrm>
          <a:prstGeom prst="rect">
            <a:avLst/>
          </a:prstGeom>
          <a:solidFill>
            <a:srgbClr val="001F6B"/>
          </a:solidFill>
          <a:ln>
            <a:noFill/>
          </a:ln>
        </p:spPr>
        <p:txBody>
          <a:bodyPr/>
          <a:lstStyle/>
          <a:p>
            <a:endParaRPr lang="en-US"/>
          </a:p>
        </p:txBody>
      </p:sp>
      <p:sp>
        <p:nvSpPr>
          <p:cNvPr id="226" name="Shape 226"/>
          <p:cNvSpPr/>
          <p:nvPr/>
        </p:nvSpPr>
        <p:spPr>
          <a:xfrm>
            <a:off x="1143000" y="8051800"/>
            <a:ext cx="3175000" cy="838200"/>
          </a:xfrm>
          <a:prstGeom prst="rect">
            <a:avLst/>
          </a:prstGeom>
          <a:noFill/>
          <a:ln>
            <a:noFill/>
          </a:ln>
        </p:spPr>
        <p:txBody>
          <a:bodyPr wrap="square" lIns="0" tIns="0" rIns="0" bIns="0" anchor="ctr">
            <a:normAutofit/>
          </a:bodyPr>
          <a:lstStyle/>
          <a:p>
            <a:pPr>
              <a:buNone/>
            </a:pPr>
            <a:r>
              <a:rPr lang="en-US" sz="2200" b="1" dirty="0">
                <a:solidFill>
                  <a:srgbClr val="001F6B"/>
                </a:solidFill>
                <a:latin typeface="Consolas"/>
                <a:cs typeface="Consolas"/>
              </a:rPr>
              <a:t>dbt docs generate</a:t>
            </a:r>
          </a:p>
        </p:txBody>
      </p:sp>
      <p:sp>
        <p:nvSpPr>
          <p:cNvPr id="227" name="Shape 227"/>
          <p:cNvSpPr/>
          <p:nvPr/>
        </p:nvSpPr>
        <p:spPr>
          <a:xfrm>
            <a:off x="4521200" y="8051800"/>
            <a:ext cx="8509000" cy="838200"/>
          </a:xfrm>
          <a:prstGeom prst="rect">
            <a:avLst/>
          </a:prstGeom>
          <a:noFill/>
          <a:ln>
            <a:noFill/>
          </a:ln>
        </p:spPr>
        <p:txBody>
          <a:bodyPr wrap="square" lIns="0" tIns="0" rIns="0" bIns="0" anchor="ctr">
            <a:normAutofit/>
          </a:bodyPr>
          <a:lstStyle/>
          <a:p>
            <a:pPr>
              <a:buNone/>
            </a:pPr>
            <a:r>
              <a:rPr lang="en-US" sz="1800" dirty="0">
                <a:solidFill>
                  <a:srgbClr val="364750"/>
                </a:solidFill>
                <a:latin typeface="Frutiger"/>
                <a:cs typeface="Frutiger"/>
              </a:rPr>
              <a:t>Builds the documentation site and lineage graph from your project metadata.</a:t>
            </a:r>
          </a:p>
        </p:txBody>
      </p:sp>
      <p:sp>
        <p:nvSpPr>
          <p:cNvPr id="228" name="Shape 228"/>
          <p:cNvSpPr/>
          <p:nvPr/>
        </p:nvSpPr>
        <p:spPr>
          <a:xfrm>
            <a:off x="13792200" y="8890000"/>
            <a:ext cx="3657600" cy="355600"/>
          </a:xfrm>
          <a:prstGeom prst="rect">
            <a:avLst/>
          </a:prstGeom>
          <a:noFill/>
          <a:ln>
            <a:noFill/>
          </a:ln>
        </p:spPr>
        <p:txBody>
          <a:bodyPr wrap="square" lIns="0" tIns="0" rIns="0" bIns="0" anchor="ctr">
            <a:normAutofit/>
          </a:bodyPr>
          <a:lstStyle/>
          <a:p>
            <a:pPr algn="ctr">
              <a:buNone/>
            </a:pPr>
            <a:r>
              <a:rPr lang="en-US" sz="1400" dirty="0">
                <a:solidFill>
                  <a:srgbClr val="667780"/>
                </a:solidFill>
                <a:latin typeface="Frutiger"/>
                <a:cs typeface="Frutiger"/>
              </a:rPr>
              <a:t>Command picker in the Fabric dbt experience</a:t>
            </a:r>
          </a:p>
        </p:txBody>
      </p:sp>
      <p:pic>
        <p:nvPicPr>
          <p:cNvPr id="4" name="Picture 3">
            <a:extLst>
              <a:ext uri="{FF2B5EF4-FFF2-40B4-BE49-F238E27FC236}">
                <a16:creationId xmlns:a16="http://schemas.microsoft.com/office/drawing/2014/main" id="{9E6B41D7-ED5F-6315-D7DA-E7C4CFCC6AC9}"/>
              </a:ext>
            </a:extLst>
          </p:cNvPr>
          <p:cNvPicPr>
            <a:picLocks noChangeAspect="1"/>
          </p:cNvPicPr>
          <p:nvPr/>
        </p:nvPicPr>
        <p:blipFill>
          <a:blip r:embed="rId4"/>
          <a:stretch>
            <a:fillRect/>
          </a:stretch>
        </p:blipFill>
        <p:spPr>
          <a:xfrm>
            <a:off x="14147800" y="2413000"/>
            <a:ext cx="3008924" cy="6350000"/>
          </a:xfrm>
          <a:prstGeom prst="rect">
            <a:avLst/>
          </a:prstGeom>
        </p:spPr>
      </p:pic>
    </p:spTree>
    <p:extLst>
      <p:ext uri="{BB962C8B-B14F-4D97-AF65-F5344CB8AC3E}">
        <p14:creationId xmlns:p14="http://schemas.microsoft.com/office/powerpoint/2010/main" val="20417740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99A89D5-83CF-4C3E-9CF5-65C3BE887734}"/>
              </a:ext>
            </a:extLst>
          </p:cNvPr>
          <p:cNvSpPr>
            <a:spLocks noGrp="1"/>
          </p:cNvSpPr>
          <p:nvPr/>
        </p:nvSpPr>
        <p:spPr>
          <a:xfrm>
            <a:off x="0" y="3989190"/>
            <a:ext cx="18288000" cy="6297812"/>
          </a:xfrm>
          <a:custGeom>
            <a:avLst/>
            <a:gdLst/>
            <a:ahLst/>
            <a:cxnLst/>
            <a:rect l="0" t="0" r="0" b="0"/>
            <a:pathLst>
              <a:path w="18288000" h="6297811">
                <a:moveTo>
                  <a:pt x="0" y="1485900"/>
                </a:moveTo>
                <a:lnTo>
                  <a:pt x="18288000" y="0"/>
                </a:lnTo>
                <a:lnTo>
                  <a:pt x="18288000" y="6297811"/>
                </a:lnTo>
                <a:lnTo>
                  <a:pt x="0" y="6297811"/>
                </a:lnTo>
                <a:close/>
              </a:path>
            </a:pathLst>
          </a:custGeom>
          <a:solidFill>
            <a:srgbClr val="001F6B"/>
          </a:solidFill>
        </p:spPr>
        <p:txBody>
          <a:bodyPr/>
          <a:lstStyle/>
          <a:p>
            <a:endParaRPr sz="1801"/>
          </a:p>
        </p:txBody>
      </p:sp>
      <p:sp>
        <p:nvSpPr>
          <p:cNvPr id="900" name="Accent Line">
            <a:extLst>
              <a:ext uri="{FF2B5EF4-FFF2-40B4-BE49-F238E27FC236}">
                <a16:creationId xmlns:a16="http://schemas.microsoft.com/office/drawing/2014/main" id="{D5F61F5F-CE19-44ED-9D02-A5527460F025}"/>
              </a:ext>
            </a:extLst>
          </p:cNvPr>
          <p:cNvSpPr>
            <a:spLocks noGrp="1"/>
          </p:cNvSpPr>
          <p:nvPr/>
        </p:nvSpPr>
        <p:spPr>
          <a:xfrm flipV="1">
            <a:off x="0" y="3836790"/>
            <a:ext cx="18288000" cy="1485900"/>
          </a:xfrm>
          <a:prstGeom prst="line">
            <a:avLst/>
          </a:prstGeom>
          <a:ln w="57150">
            <a:solidFill>
              <a:srgbClr val="FF0000"/>
            </a:solidFill>
          </a:ln>
        </p:spPr>
        <p:txBody>
          <a:bodyPr/>
          <a:lstStyle/>
          <a:p>
            <a:endParaRPr lang="en-US"/>
          </a:p>
        </p:txBody>
      </p:sp>
      <p:sp>
        <p:nvSpPr>
          <p:cNvPr id="4" name="Text 1">
            <a:extLst>
              <a:ext uri="{FF2B5EF4-FFF2-40B4-BE49-F238E27FC236}">
                <a16:creationId xmlns:a16="http://schemas.microsoft.com/office/drawing/2014/main" id="{235EE72F-2DF4-4BBC-B836-E156CD294378}"/>
              </a:ext>
            </a:extLst>
          </p:cNvPr>
          <p:cNvSpPr>
            <a:spLocks noGrp="1"/>
          </p:cNvSpPr>
          <p:nvPr/>
        </p:nvSpPr>
        <p:spPr>
          <a:xfrm>
            <a:off x="838202" y="8448676"/>
            <a:ext cx="1855010" cy="1152524"/>
          </a:xfrm>
          <a:prstGeom prst="rect">
            <a:avLst/>
          </a:prstGeom>
          <a:noFill/>
        </p:spPr>
        <p:txBody>
          <a:bodyPr wrap="square" lIns="25401" tIns="25401" rIns="25401" bIns="25401" anchor="t">
            <a:normAutofit lnSpcReduction="10000"/>
          </a:bodyPr>
          <a:lstStyle/>
          <a:p>
            <a:pPr>
              <a:lnSpc>
                <a:spcPct val="58500"/>
              </a:lnSpc>
              <a:buNone/>
            </a:pPr>
            <a:r>
              <a:rPr sz="11250" b="1" spc="-450">
                <a:solidFill>
                  <a:srgbClr val="E40046"/>
                </a:solidFill>
                <a:latin typeface="Frutiger"/>
                <a:ea typeface="Frutiger"/>
                <a:cs typeface="Frutiger"/>
              </a:rPr>
              <a:t>05</a:t>
            </a:r>
          </a:p>
        </p:txBody>
      </p:sp>
      <p:sp>
        <p:nvSpPr>
          <p:cNvPr id="5" name="Text 2">
            <a:extLst>
              <a:ext uri="{FF2B5EF4-FFF2-40B4-BE49-F238E27FC236}">
                <a16:creationId xmlns:a16="http://schemas.microsoft.com/office/drawing/2014/main" id="{E2855DD2-C834-48A4-ADA1-C139894E16A5}"/>
              </a:ext>
            </a:extLst>
          </p:cNvPr>
          <p:cNvSpPr>
            <a:spLocks noGrp="1"/>
          </p:cNvSpPr>
          <p:nvPr/>
        </p:nvSpPr>
        <p:spPr>
          <a:xfrm>
            <a:off x="3134171" y="7612561"/>
            <a:ext cx="10991061" cy="392311"/>
          </a:xfrm>
          <a:prstGeom prst="rect">
            <a:avLst/>
          </a:prstGeom>
          <a:noFill/>
        </p:spPr>
        <p:txBody>
          <a:bodyPr wrap="square" lIns="25401" tIns="25401" rIns="25401" bIns="25401" anchor="t">
            <a:normAutofit/>
          </a:bodyPr>
          <a:lstStyle/>
          <a:p>
            <a:pPr>
              <a:lnSpc>
                <a:spcPct val="120000"/>
              </a:lnSpc>
              <a:buNone/>
            </a:pPr>
            <a:r>
              <a:rPr sz="1801" b="1" spc="432">
                <a:solidFill>
                  <a:srgbClr val="B6BFC4"/>
                </a:solidFill>
                <a:latin typeface="Frutiger"/>
                <a:ea typeface="Frutiger"/>
                <a:cs typeface="Frutiger"/>
              </a:rPr>
              <a:t>OPTIONAL DEMO 5  ·  FABRIC SQL DATABASE</a:t>
            </a:r>
          </a:p>
        </p:txBody>
      </p:sp>
      <p:sp>
        <p:nvSpPr>
          <p:cNvPr id="6" name="Text 3">
            <a:extLst>
              <a:ext uri="{FF2B5EF4-FFF2-40B4-BE49-F238E27FC236}">
                <a16:creationId xmlns:a16="http://schemas.microsoft.com/office/drawing/2014/main" id="{20892FFE-61C4-4001-81BF-E1ACD977F149}"/>
              </a:ext>
            </a:extLst>
          </p:cNvPr>
          <p:cNvSpPr>
            <a:spLocks noGrp="1"/>
          </p:cNvSpPr>
          <p:nvPr/>
        </p:nvSpPr>
        <p:spPr>
          <a:xfrm>
            <a:off x="3134171" y="8138220"/>
            <a:ext cx="10991061" cy="800100"/>
          </a:xfrm>
          <a:prstGeom prst="rect">
            <a:avLst/>
          </a:prstGeom>
          <a:noFill/>
        </p:spPr>
        <p:txBody>
          <a:bodyPr wrap="square" lIns="25401" tIns="25401" rIns="25401" bIns="25401" anchor="t">
            <a:normAutofit/>
          </a:bodyPr>
          <a:lstStyle/>
          <a:p>
            <a:pPr>
              <a:lnSpc>
                <a:spcPct val="77670"/>
              </a:lnSpc>
              <a:buNone/>
            </a:pPr>
            <a:r>
              <a:rPr sz="6000" b="1" spc="-121">
                <a:solidFill>
                  <a:srgbClr val="FFFFFF"/>
                </a:solidFill>
                <a:latin typeface="Frutiger"/>
                <a:ea typeface="Frutiger"/>
                <a:cs typeface="Frutiger"/>
              </a:rPr>
              <a:t>Same project, third engine</a:t>
            </a:r>
          </a:p>
        </p:txBody>
      </p:sp>
      <p:sp>
        <p:nvSpPr>
          <p:cNvPr id="7" name="Text 4">
            <a:extLst>
              <a:ext uri="{FF2B5EF4-FFF2-40B4-BE49-F238E27FC236}">
                <a16:creationId xmlns:a16="http://schemas.microsoft.com/office/drawing/2014/main" id="{C426275A-6120-4A60-960F-EDFEA0556A63}"/>
              </a:ext>
            </a:extLst>
          </p:cNvPr>
          <p:cNvSpPr>
            <a:spLocks noGrp="1"/>
          </p:cNvSpPr>
          <p:nvPr/>
        </p:nvSpPr>
        <p:spPr>
          <a:xfrm>
            <a:off x="3134171" y="9071670"/>
            <a:ext cx="10991061" cy="434281"/>
          </a:xfrm>
          <a:prstGeom prst="rect">
            <a:avLst/>
          </a:prstGeom>
          <a:noFill/>
        </p:spPr>
        <p:txBody>
          <a:bodyPr wrap="square" lIns="25401" tIns="25401" rIns="25401" bIns="25401" anchor="t">
            <a:normAutofit fontScale="92500"/>
          </a:bodyPr>
          <a:lstStyle/>
          <a:p>
            <a:pPr>
              <a:lnSpc>
                <a:spcPct val="104000"/>
              </a:lnSpc>
              <a:buNone/>
            </a:pPr>
            <a:r>
              <a:rPr sz="2400">
                <a:solidFill>
                  <a:srgbClr val="C7D0E5"/>
                </a:solidFill>
                <a:latin typeface="Frutiger"/>
                <a:ea typeface="Frutiger"/>
                <a:cs typeface="Frutiger"/>
              </a:rPr>
              <a:t>The identical project against the Fabric SQL database through dbt-sqlserver — no code changes.</a:t>
            </a:r>
          </a:p>
        </p:txBody>
      </p:sp>
      <p:pic>
        <p:nvPicPr>
          <p:cNvPr id="908" name="Image 0"/>
          <p:cNvPicPr>
            <a:picLocks noChangeAspect="1"/>
          </p:cNvPicPr>
          <p:nvPr/>
        </p:nvPicPr>
        <p:blipFill>
          <a:blip r:embed="rId3"/>
          <a:srcRect t="-5" b="-5"/>
          <a:stretch/>
        </p:blipFill>
        <p:spPr>
          <a:xfrm>
            <a:off x="16412620" y="571500"/>
            <a:ext cx="1037182" cy="514350"/>
          </a:xfrm>
          <a:prstGeom prst="rect">
            <a:avLst/>
          </a:prstGeom>
        </p:spPr>
      </p:pic>
      <p:sp>
        <p:nvSpPr>
          <p:cNvPr id="100" name="Shape 100"/>
          <p:cNvSpPr/>
          <p:nvPr/>
        </p:nvSpPr>
        <p:spPr>
          <a:xfrm>
            <a:off x="838200" y="660400"/>
            <a:ext cx="8890000" cy="355600"/>
          </a:xfrm>
          <a:prstGeom prst="rect">
            <a:avLst/>
          </a:prstGeom>
          <a:noFill/>
          <a:ln>
            <a:noFill/>
          </a:ln>
        </p:spPr>
        <p:txBody>
          <a:bodyPr wrap="square" lIns="0" tIns="0" rIns="0" bIns="0" anchor="t">
            <a:normAutofit/>
          </a:bodyPr>
          <a:lstStyle/>
          <a:p>
            <a:pPr>
              <a:buNone/>
            </a:pPr>
            <a:r>
              <a:rPr lang="en-US" sz="1500" b="1" spc="200" dirty="0">
                <a:solidFill>
                  <a:srgbClr val="B7791F"/>
                </a:solidFill>
                <a:latin typeface="Frutiger"/>
                <a:cs typeface="Frutiger"/>
              </a:rPr>
              <a:t>IF TIME ALLOWS  ·  ~4 MINUTES  ·  SKIP WITHOUT LOSING THE STORY</a:t>
            </a:r>
          </a:p>
        </p:txBody>
      </p:sp>
      <p:sp>
        <p:nvSpPr>
          <p:cNvPr id="110" name="Shape 110"/>
          <p:cNvSpPr/>
          <p:nvPr/>
        </p:nvSpPr>
        <p:spPr>
          <a:xfrm>
            <a:off x="838200" y="1092200"/>
            <a:ext cx="457200" cy="457200"/>
          </a:xfrm>
          <a:prstGeom prst="ellipse">
            <a:avLst/>
          </a:prstGeom>
          <a:solidFill>
            <a:srgbClr val="667780"/>
          </a:solidFill>
          <a:ln>
            <a:noFill/>
          </a:ln>
        </p:spPr>
        <p:txBody>
          <a:bodyPr wrap="square" lIns="0" tIns="0" rIns="0" bIns="0" anchor="ctr">
            <a:normAutofit/>
          </a:bodyPr>
          <a:lstStyle/>
          <a:p>
            <a:pPr algn="ctr">
              <a:buNone/>
            </a:pPr>
            <a:r>
              <a:rPr lang="en-US" sz="1800" b="1" dirty="0">
                <a:solidFill>
                  <a:srgbClr val="FFFFFF"/>
                </a:solidFill>
                <a:latin typeface="Frutiger"/>
                <a:cs typeface="Frutiger"/>
              </a:rPr>
              <a:t>1</a:t>
            </a:r>
          </a:p>
        </p:txBody>
      </p:sp>
      <p:sp>
        <p:nvSpPr>
          <p:cNvPr id="111" name="Shape 111"/>
          <p:cNvSpPr/>
          <p:nvPr/>
        </p:nvSpPr>
        <p:spPr>
          <a:xfrm>
            <a:off x="1473200" y="1016000"/>
            <a:ext cx="7112000" cy="711200"/>
          </a:xfrm>
          <a:prstGeom prst="rect">
            <a:avLst/>
          </a:prstGeom>
          <a:noFill/>
          <a:ln>
            <a:noFill/>
          </a:ln>
        </p:spPr>
        <p:txBody>
          <a:bodyPr wrap="square" lIns="0" tIns="0" rIns="0" bIns="0" anchor="ctr">
            <a:normAutofit/>
          </a:bodyPr>
          <a:lstStyle/>
          <a:p>
            <a:pPr>
              <a:buNone/>
            </a:pPr>
            <a:r>
              <a:rPr lang="en-US" sz="2100" b="1" dirty="0">
                <a:solidFill>
                  <a:srgbClr val="001F6B"/>
                </a:solidFill>
                <a:latin typeface="Frutiger"/>
                <a:cs typeface="Frutiger"/>
              </a:rPr>
              <a:t>Switch environments  </a:t>
            </a:r>
            <a:r>
              <a:rPr lang="en-US" sz="1900" dirty="0">
                <a:solidFill>
                  <a:srgbClr val="364750"/>
                </a:solidFill>
                <a:latin typeface="Frutiger"/>
                <a:cs typeface="Frutiger"/>
              </a:rPr>
              <a:t>Activate .venv-sqldb and use --target sqldb — type: sqlserver, ODBC Driver 18, Entra auth via az login.</a:t>
            </a:r>
          </a:p>
        </p:txBody>
      </p:sp>
      <p:sp>
        <p:nvSpPr>
          <p:cNvPr id="112" name="Shape 112"/>
          <p:cNvSpPr/>
          <p:nvPr/>
        </p:nvSpPr>
        <p:spPr>
          <a:xfrm>
            <a:off x="838200" y="1879600"/>
            <a:ext cx="457200" cy="457200"/>
          </a:xfrm>
          <a:prstGeom prst="ellipse">
            <a:avLst/>
          </a:prstGeom>
          <a:solidFill>
            <a:srgbClr val="667780"/>
          </a:solidFill>
          <a:ln>
            <a:noFill/>
          </a:ln>
        </p:spPr>
        <p:txBody>
          <a:bodyPr wrap="square" lIns="0" tIns="0" rIns="0" bIns="0" anchor="ctr">
            <a:normAutofit/>
          </a:bodyPr>
          <a:lstStyle/>
          <a:p>
            <a:pPr algn="ctr">
              <a:buNone/>
            </a:pPr>
            <a:r>
              <a:rPr lang="en-US" sz="1800" b="1" dirty="0">
                <a:solidFill>
                  <a:srgbClr val="FFFFFF"/>
                </a:solidFill>
                <a:latin typeface="Frutiger"/>
                <a:cs typeface="Frutiger"/>
              </a:rPr>
              <a:t>2</a:t>
            </a:r>
          </a:p>
        </p:txBody>
      </p:sp>
      <p:sp>
        <p:nvSpPr>
          <p:cNvPr id="113" name="Shape 113"/>
          <p:cNvSpPr/>
          <p:nvPr/>
        </p:nvSpPr>
        <p:spPr>
          <a:xfrm>
            <a:off x="1473200" y="1803400"/>
            <a:ext cx="7112000" cy="711200"/>
          </a:xfrm>
          <a:prstGeom prst="rect">
            <a:avLst/>
          </a:prstGeom>
          <a:noFill/>
          <a:ln>
            <a:noFill/>
          </a:ln>
        </p:spPr>
        <p:txBody>
          <a:bodyPr wrap="square" lIns="0" tIns="0" rIns="0" bIns="0" anchor="ctr">
            <a:normAutofit/>
          </a:bodyPr>
          <a:lstStyle/>
          <a:p>
            <a:pPr>
              <a:buNone/>
            </a:pPr>
            <a:r>
              <a:rPr lang="en-US" sz="2100" b="1" dirty="0">
                <a:solidFill>
                  <a:srgbClr val="001F6B"/>
                </a:solidFill>
                <a:latin typeface="Frutiger"/>
                <a:cs typeface="Frutiger"/>
              </a:rPr>
              <a:t>dbt debug  </a:t>
            </a:r>
            <a:r>
              <a:rPr lang="en-US" sz="1900" dirty="0">
                <a:solidFill>
                  <a:srgbClr val="364750"/>
                </a:solidFill>
                <a:latin typeface="Frutiger"/>
                <a:cs typeface="Frutiger"/>
              </a:rPr>
              <a:t>Connectivity, permissions and profile in one command. Login alone isn’t enough: create, replace, drop.</a:t>
            </a:r>
          </a:p>
        </p:txBody>
      </p:sp>
      <p:sp>
        <p:nvSpPr>
          <p:cNvPr id="114" name="Shape 114"/>
          <p:cNvSpPr/>
          <p:nvPr/>
        </p:nvSpPr>
        <p:spPr>
          <a:xfrm>
            <a:off x="838200" y="2667000"/>
            <a:ext cx="457200" cy="457200"/>
          </a:xfrm>
          <a:prstGeom prst="ellipse">
            <a:avLst/>
          </a:prstGeom>
          <a:solidFill>
            <a:srgbClr val="667780"/>
          </a:solidFill>
          <a:ln>
            <a:noFill/>
          </a:ln>
        </p:spPr>
        <p:txBody>
          <a:bodyPr wrap="square" lIns="0" tIns="0" rIns="0" bIns="0" anchor="ctr">
            <a:normAutofit/>
          </a:bodyPr>
          <a:lstStyle/>
          <a:p>
            <a:pPr algn="ctr">
              <a:buNone/>
            </a:pPr>
            <a:r>
              <a:rPr lang="en-US" sz="1800" b="1" dirty="0">
                <a:solidFill>
                  <a:srgbClr val="FFFFFF"/>
                </a:solidFill>
                <a:latin typeface="Frutiger"/>
                <a:cs typeface="Frutiger"/>
              </a:rPr>
              <a:t>3</a:t>
            </a:r>
          </a:p>
        </p:txBody>
      </p:sp>
      <p:sp>
        <p:nvSpPr>
          <p:cNvPr id="115" name="Shape 115"/>
          <p:cNvSpPr/>
          <p:nvPr/>
        </p:nvSpPr>
        <p:spPr>
          <a:xfrm>
            <a:off x="1473200" y="2590800"/>
            <a:ext cx="7112000" cy="711200"/>
          </a:xfrm>
          <a:prstGeom prst="rect">
            <a:avLst/>
          </a:prstGeom>
          <a:noFill/>
          <a:ln>
            <a:noFill/>
          </a:ln>
        </p:spPr>
        <p:txBody>
          <a:bodyPr wrap="square" lIns="0" tIns="0" rIns="0" bIns="0" anchor="ctr">
            <a:normAutofit/>
          </a:bodyPr>
          <a:lstStyle/>
          <a:p>
            <a:pPr>
              <a:buNone/>
            </a:pPr>
            <a:r>
              <a:rPr lang="en-US" sz="2100" b="1" dirty="0">
                <a:solidFill>
                  <a:srgbClr val="001F6B"/>
                </a:solidFill>
                <a:latin typeface="Frutiger"/>
                <a:cs typeface="Frutiger"/>
              </a:rPr>
              <a:t>dbt build  </a:t>
            </a:r>
            <a:r>
              <a:rPr lang="en-US" sz="1900" dirty="0">
                <a:solidFill>
                  <a:srgbClr val="364750"/>
                </a:solidFill>
                <a:latin typeface="Frutiger"/>
                <a:cs typeface="Frutiger"/>
              </a:rPr>
              <a:t>Identical model files. dbt-sqlserver writes T-SQL DDL; the result is the same 671,425.37.</a:t>
            </a:r>
          </a:p>
        </p:txBody>
      </p:sp>
      <p:sp>
        <p:nvSpPr>
          <p:cNvPr id="116" name="Shape 116"/>
          <p:cNvSpPr/>
          <p:nvPr/>
        </p:nvSpPr>
        <p:spPr>
          <a:xfrm>
            <a:off x="838200" y="3454400"/>
            <a:ext cx="457200" cy="457200"/>
          </a:xfrm>
          <a:prstGeom prst="ellipse">
            <a:avLst/>
          </a:prstGeom>
          <a:solidFill>
            <a:srgbClr val="667780"/>
          </a:solidFill>
          <a:ln>
            <a:noFill/>
          </a:ln>
        </p:spPr>
        <p:txBody>
          <a:bodyPr wrap="square" lIns="0" tIns="0" rIns="0" bIns="0" anchor="ctr">
            <a:normAutofit/>
          </a:bodyPr>
          <a:lstStyle/>
          <a:p>
            <a:pPr algn="ctr">
              <a:buNone/>
            </a:pPr>
            <a:r>
              <a:rPr lang="en-US" sz="1800" b="1" dirty="0">
                <a:solidFill>
                  <a:srgbClr val="FFFFFF"/>
                </a:solidFill>
                <a:latin typeface="Frutiger"/>
                <a:cs typeface="Frutiger"/>
              </a:rPr>
              <a:t>4</a:t>
            </a:r>
          </a:p>
        </p:txBody>
      </p:sp>
      <p:sp>
        <p:nvSpPr>
          <p:cNvPr id="117" name="Shape 117"/>
          <p:cNvSpPr/>
          <p:nvPr/>
        </p:nvSpPr>
        <p:spPr>
          <a:xfrm>
            <a:off x="1473200" y="3378200"/>
            <a:ext cx="7112000" cy="711200"/>
          </a:xfrm>
          <a:prstGeom prst="rect">
            <a:avLst/>
          </a:prstGeom>
          <a:noFill/>
          <a:ln>
            <a:noFill/>
          </a:ln>
        </p:spPr>
        <p:txBody>
          <a:bodyPr wrap="square" lIns="0" tIns="0" rIns="0" bIns="0" anchor="ctr">
            <a:normAutofit fontScale="92500" lnSpcReduction="20000"/>
          </a:bodyPr>
          <a:lstStyle/>
          <a:p>
            <a:pPr>
              <a:buNone/>
            </a:pPr>
            <a:r>
              <a:rPr lang="en-US" sz="2100" b="1" dirty="0">
                <a:solidFill>
                  <a:srgbClr val="001F6B"/>
                </a:solidFill>
                <a:latin typeface="Frutiger"/>
                <a:cs typeface="Frutiger"/>
              </a:rPr>
              <a:t>Where would this run for real?  </a:t>
            </a:r>
            <a:r>
              <a:rPr lang="en-US" sz="1900" dirty="0">
                <a:solidFill>
                  <a:srgbClr val="364750"/>
                </a:solidFill>
                <a:latin typeface="Frutiger"/>
                <a:cs typeface="Frutiger"/>
              </a:rPr>
              <a:t>The Fabric dbt job (Azure SQL adapter, service principal) or the Azure DevOps pipeline — same command, different host.</a:t>
            </a:r>
          </a:p>
        </p:txBody>
      </p:sp>
      <p:sp>
        <p:nvSpPr>
          <p:cNvPr id="120" name="Shape 120"/>
          <p:cNvSpPr/>
          <p:nvPr/>
        </p:nvSpPr>
        <p:spPr>
          <a:xfrm>
            <a:off x="9906000" y="660400"/>
            <a:ext cx="5588000" cy="355600"/>
          </a:xfrm>
          <a:prstGeom prst="rect">
            <a:avLst/>
          </a:prstGeom>
          <a:noFill/>
          <a:ln>
            <a:noFill/>
          </a:ln>
        </p:spPr>
        <p:txBody>
          <a:bodyPr wrap="square" lIns="0" tIns="0" rIns="0" bIns="0" anchor="t">
            <a:normAutofit/>
          </a:bodyPr>
          <a:lstStyle/>
          <a:p>
            <a:pPr>
              <a:buNone/>
            </a:pPr>
            <a:r>
              <a:rPr lang="en-US" sz="1500" b="1" spc="200" dirty="0">
                <a:solidFill>
                  <a:srgbClr val="E40046"/>
                </a:solidFill>
                <a:latin typeface="Frutiger"/>
                <a:cs typeface="Frutiger"/>
              </a:rPr>
              <a:t>PROFILES.YML  ·  THE SQLDB TARGET</a:t>
            </a:r>
          </a:p>
        </p:txBody>
      </p:sp>
      <p:sp>
        <p:nvSpPr>
          <p:cNvPr id="121" name="Code 121"/>
          <p:cNvSpPr/>
          <p:nvPr/>
        </p:nvSpPr>
        <p:spPr>
          <a:xfrm>
            <a:off x="9906000" y="1066800"/>
            <a:ext cx="5969000" cy="2413000"/>
          </a:xfrm>
          <a:prstGeom prst="roundRect">
            <a:avLst>
              <a:gd name="adj" fmla="val 4000"/>
            </a:avLst>
          </a:prstGeom>
          <a:solidFill>
            <a:srgbClr val="0E1E4A"/>
          </a:solidFill>
          <a:ln>
            <a:noFill/>
          </a:ln>
        </p:spPr>
        <p:txBody>
          <a:bodyPr wrap="square" lIns="228600" tIns="203200" rIns="228600" bIns="228600" anchor="t">
            <a:normAutofit fontScale="92500" lnSpcReduction="10000"/>
          </a:bodyPr>
          <a:lstStyle/>
          <a:p>
            <a:pPr>
              <a:lnSpc>
                <a:spcPct val="118000"/>
              </a:lnSpc>
              <a:buNone/>
            </a:pPr>
            <a:r>
              <a:rPr lang="en-US" sz="1300" dirty="0">
                <a:solidFill>
                  <a:srgbClr val="8EC5FF"/>
                </a:solidFill>
                <a:latin typeface="Consolas"/>
                <a:cs typeface="Consolas"/>
              </a:rPr>
              <a:t>sqldb:</a:t>
            </a:r>
          </a:p>
          <a:p>
            <a:pPr>
              <a:lnSpc>
                <a:spcPct val="118000"/>
              </a:lnSpc>
              <a:buNone/>
            </a:pPr>
            <a:r>
              <a:rPr lang="en-US" sz="1300" dirty="0">
                <a:solidFill>
                  <a:srgbClr val="8EC5FF"/>
                </a:solidFill>
                <a:latin typeface="Consolas"/>
                <a:cs typeface="Consolas"/>
              </a:rPr>
              <a:t>  type: </a:t>
            </a:r>
            <a:r>
              <a:rPr lang="en-US" sz="1300" dirty="0">
                <a:solidFill>
                  <a:srgbClr val="FFD27F"/>
                </a:solidFill>
                <a:latin typeface="Consolas"/>
                <a:cs typeface="Consolas"/>
              </a:rPr>
              <a:t>sqlserver</a:t>
            </a:r>
            <a:r>
              <a:rPr lang="en-US" sz="1300" dirty="0">
                <a:solidFill>
                  <a:srgbClr val="8EC5FF"/>
                </a:solidFill>
                <a:latin typeface="Consolas"/>
                <a:cs typeface="Consolas"/>
              </a:rPr>
              <a:t>      driver: </a:t>
            </a:r>
            <a:r>
              <a:rPr lang="en-US" sz="1300" dirty="0">
                <a:solidFill>
                  <a:srgbClr val="FFD27F"/>
                </a:solidFill>
                <a:latin typeface="Consolas"/>
                <a:cs typeface="Consolas"/>
              </a:rPr>
              <a:t>ODBC Driver 18 for SQL Server</a:t>
            </a:r>
          </a:p>
          <a:p>
            <a:pPr>
              <a:lnSpc>
                <a:spcPct val="118000"/>
              </a:lnSpc>
              <a:buNone/>
            </a:pPr>
            <a:r>
              <a:rPr lang="en-US" sz="1300" dirty="0">
                <a:solidFill>
                  <a:srgbClr val="8EC5FF"/>
                </a:solidFill>
                <a:latin typeface="Consolas"/>
                <a:cs typeface="Consolas"/>
              </a:rPr>
              <a:t>  server: </a:t>
            </a:r>
            <a:r>
              <a:rPr lang="en-US" sz="1300" dirty="0">
                <a:solidFill>
                  <a:srgbClr val="FF8FA3"/>
                </a:solidFill>
                <a:latin typeface="Consolas"/>
                <a:cs typeface="Consolas"/>
              </a:rPr>
              <a:t>"{{ env_var('DBT_SQLDB_HOST') }}"</a:t>
            </a:r>
          </a:p>
          <a:p>
            <a:pPr>
              <a:lnSpc>
                <a:spcPct val="118000"/>
              </a:lnSpc>
              <a:buNone/>
            </a:pPr>
            <a:r>
              <a:rPr lang="en-US" sz="1300" dirty="0">
                <a:solidFill>
                  <a:srgbClr val="8EC5FF"/>
                </a:solidFill>
                <a:latin typeface="Consolas"/>
                <a:cs typeface="Consolas"/>
              </a:rPr>
              <a:t>  database: </a:t>
            </a:r>
            <a:r>
              <a:rPr lang="en-US" sz="1300" dirty="0">
                <a:solidFill>
                  <a:srgbClr val="FFD27F"/>
                </a:solidFill>
                <a:latin typeface="Consolas"/>
                <a:cs typeface="Consolas"/>
              </a:rPr>
              <a:t>"{{ env_var('DBT_SQLDB_NAME') }}"</a:t>
            </a:r>
            <a:r>
              <a:rPr lang="en-US" sz="1300" dirty="0">
                <a:solidFill>
                  <a:srgbClr val="8EC5FF"/>
                </a:solidFill>
                <a:latin typeface="Consolas"/>
                <a:cs typeface="Consolas"/>
              </a:rPr>
              <a:t>   schema: </a:t>
            </a:r>
            <a:r>
              <a:rPr lang="en-US" sz="1300" dirty="0">
                <a:solidFill>
                  <a:srgbClr val="FFD27F"/>
                </a:solidFill>
                <a:latin typeface="Consolas"/>
                <a:cs typeface="Consolas"/>
              </a:rPr>
              <a:t>jaffle_shop</a:t>
            </a:r>
          </a:p>
          <a:p>
            <a:pPr>
              <a:lnSpc>
                <a:spcPct val="118000"/>
              </a:lnSpc>
              <a:buNone/>
            </a:pPr>
            <a:r>
              <a:rPr lang="en-US" sz="1300" dirty="0">
                <a:solidFill>
                  <a:srgbClr val="8EC5FF"/>
                </a:solidFill>
                <a:latin typeface="Consolas"/>
                <a:cs typeface="Consolas"/>
              </a:rPr>
              <a:t>  authentication: </a:t>
            </a:r>
            <a:r>
              <a:rPr lang="en-US" sz="1300" dirty="0">
                <a:solidFill>
                  <a:srgbClr val="FFD27F"/>
                </a:solidFill>
                <a:latin typeface="Consolas"/>
                <a:cs typeface="Consolas"/>
              </a:rPr>
              <a:t>CLI</a:t>
            </a:r>
            <a:r>
              <a:rPr lang="en-US" sz="1300" dirty="0">
                <a:solidFill>
                  <a:srgbClr val="8E9DC5"/>
                </a:solidFill>
                <a:latin typeface="Consolas"/>
                <a:cs typeface="Consolas"/>
              </a:rPr>
              <a:t>     # az login; environment for automation</a:t>
            </a:r>
          </a:p>
          <a:p>
            <a:pPr>
              <a:lnSpc>
                <a:spcPct val="118000"/>
              </a:lnSpc>
              <a:buNone/>
            </a:pPr>
            <a:r>
              <a:rPr lang="en-US" sz="1300" dirty="0">
                <a:solidFill>
                  <a:srgbClr val="8EC5FF"/>
                </a:solidFill>
                <a:latin typeface="Consolas"/>
                <a:cs typeface="Consolas"/>
              </a:rPr>
              <a:t>  schema_authorization: </a:t>
            </a:r>
            <a:r>
              <a:rPr lang="en-US" sz="1300" dirty="0">
                <a:solidFill>
                  <a:srgbClr val="FFD27F"/>
                </a:solidFill>
                <a:latin typeface="Consolas"/>
                <a:cs typeface="Consolas"/>
              </a:rPr>
              <a:t>dbo</a:t>
            </a:r>
            <a:r>
              <a:rPr lang="en-US" sz="1300" dirty="0">
                <a:solidFill>
                  <a:srgbClr val="8EC5FF"/>
                </a:solidFill>
                <a:latin typeface="Consolas"/>
                <a:cs typeface="Consolas"/>
              </a:rPr>
              <a:t>   # workspace identities are not db users</a:t>
            </a:r>
          </a:p>
          <a:p>
            <a:pPr>
              <a:lnSpc>
                <a:spcPct val="118000"/>
              </a:lnSpc>
              <a:buNone/>
            </a:pPr>
            <a:r>
              <a:rPr lang="en-US" sz="1300" dirty="0">
                <a:solidFill>
                  <a:srgbClr val="8EC5FF"/>
                </a:solidFill>
                <a:latin typeface="Consolas"/>
                <a:cs typeface="Consolas"/>
              </a:rPr>
              <a:t>  encrypt: </a:t>
            </a:r>
            <a:r>
              <a:rPr lang="en-US" sz="1300" dirty="0">
                <a:solidFill>
                  <a:srgbClr val="FFD27F"/>
                </a:solidFill>
                <a:latin typeface="Consolas"/>
                <a:cs typeface="Consolas"/>
              </a:rPr>
              <a:t>true</a:t>
            </a:r>
            <a:r>
              <a:rPr lang="en-US" sz="1300" dirty="0">
                <a:solidFill>
                  <a:srgbClr val="8EC5FF"/>
                </a:solidFill>
                <a:latin typeface="Consolas"/>
                <a:cs typeface="Consolas"/>
              </a:rPr>
              <a:t>   trust_cert: false</a:t>
            </a:r>
          </a:p>
        </p:txBody>
      </p:sp>
    </p:spTree>
    <p:extLst>
      <p:ext uri="{BB962C8B-B14F-4D97-AF65-F5344CB8AC3E}">
        <p14:creationId xmlns:p14="http://schemas.microsoft.com/office/powerpoint/2010/main" val="30984021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8DD8E74-1DB1-4509-B6B8-8F85DE69EC33}"/>
              </a:ext>
            </a:extLst>
          </p:cNvPr>
          <p:cNvSpPr>
            <a:spLocks noGrp="1"/>
          </p:cNvSpPr>
          <p:nvPr/>
        </p:nvSpPr>
        <p:spPr>
          <a:xfrm>
            <a:off x="838201" y="495302"/>
            <a:ext cx="15240000" cy="392311"/>
          </a:xfrm>
          <a:prstGeom prst="rect">
            <a:avLst/>
          </a:prstGeom>
          <a:noFill/>
        </p:spPr>
        <p:txBody>
          <a:bodyPr wrap="square" lIns="25401" tIns="25401" rIns="25401" bIns="25401" anchor="t">
            <a:normAutofit/>
          </a:bodyPr>
          <a:lstStyle/>
          <a:p>
            <a:pPr>
              <a:lnSpc>
                <a:spcPct val="120000"/>
              </a:lnSpc>
              <a:buNone/>
            </a:pPr>
            <a:r>
              <a:rPr sz="1801" b="1" spc="361">
                <a:solidFill>
                  <a:srgbClr val="E40046"/>
                </a:solidFill>
                <a:latin typeface="Frutiger"/>
                <a:ea typeface="Frutiger"/>
                <a:cs typeface="Frutiger"/>
              </a:rPr>
              <a:t>FROM LAPTOP TO PIPELINE</a:t>
            </a:r>
            <a:endParaRPr sz="1801"/>
          </a:p>
        </p:txBody>
      </p:sp>
      <p:sp>
        <p:nvSpPr>
          <p:cNvPr id="3" name="Text 1">
            <a:extLst>
              <a:ext uri="{FF2B5EF4-FFF2-40B4-BE49-F238E27FC236}">
                <a16:creationId xmlns:a16="http://schemas.microsoft.com/office/drawing/2014/main" id="{454A5393-1907-4275-B9E9-C410BF0DBCDF}"/>
              </a:ext>
            </a:extLst>
          </p:cNvPr>
          <p:cNvSpPr>
            <a:spLocks noGrp="1"/>
          </p:cNvSpPr>
          <p:nvPr/>
        </p:nvSpPr>
        <p:spPr>
          <a:xfrm>
            <a:off x="838201" y="963812"/>
            <a:ext cx="15240000" cy="640407"/>
          </a:xfrm>
          <a:prstGeom prst="rect">
            <a:avLst/>
          </a:prstGeom>
          <a:noFill/>
        </p:spPr>
        <p:txBody>
          <a:bodyPr wrap="square" lIns="25401" tIns="25401" rIns="25401" bIns="25401" anchor="t">
            <a:normAutofit/>
          </a:bodyPr>
          <a:lstStyle/>
          <a:p>
            <a:pPr>
              <a:lnSpc>
                <a:spcPct val="79050"/>
              </a:lnSpc>
              <a:buNone/>
            </a:pPr>
            <a:r>
              <a:rPr sz="4651" b="1" spc="-69">
                <a:solidFill>
                  <a:srgbClr val="001F6B"/>
                </a:solidFill>
                <a:latin typeface="Frutiger"/>
                <a:ea typeface="Frutiger"/>
                <a:cs typeface="Frutiger"/>
              </a:rPr>
              <a:t>Run the same project as a job</a:t>
            </a:r>
            <a:endParaRPr sz="4651"/>
          </a:p>
        </p:txBody>
      </p:sp>
      <p:pic>
        <p:nvPicPr>
          <p:cNvPr id="30" name="Image 0"/>
          <p:cNvPicPr>
            <a:picLocks noChangeAspect="1"/>
          </p:cNvPicPr>
          <p:nvPr/>
        </p:nvPicPr>
        <p:blipFill>
          <a:blip r:embed="rId3"/>
          <a:srcRect t="-5" b="-5"/>
          <a:stretch/>
        </p:blipFill>
        <p:spPr>
          <a:xfrm>
            <a:off x="16412620" y="571500"/>
            <a:ext cx="1037182" cy="514350"/>
          </a:xfrm>
          <a:prstGeom prst="rect">
            <a:avLst/>
          </a:prstGeom>
        </p:spPr>
      </p:pic>
      <p:sp>
        <p:nvSpPr>
          <p:cNvPr id="5" name="Shape 2">
            <a:extLst>
              <a:ext uri="{FF2B5EF4-FFF2-40B4-BE49-F238E27FC236}">
                <a16:creationId xmlns:a16="http://schemas.microsoft.com/office/drawing/2014/main" id="{96506226-AB52-43FB-ABA8-E1F967B1C350}"/>
              </a:ext>
            </a:extLst>
          </p:cNvPr>
          <p:cNvSpPr>
            <a:spLocks noGrp="1"/>
          </p:cNvSpPr>
          <p:nvPr/>
        </p:nvSpPr>
        <p:spPr>
          <a:xfrm>
            <a:off x="838202" y="1813769"/>
            <a:ext cx="16611600" cy="28574"/>
          </a:xfrm>
          <a:prstGeom prst="rect">
            <a:avLst/>
          </a:prstGeom>
          <a:solidFill>
            <a:srgbClr val="FF0000"/>
          </a:solidFill>
        </p:spPr>
        <p:txBody>
          <a:bodyPr/>
          <a:lstStyle/>
          <a:p>
            <a:endParaRPr sz="1801"/>
          </a:p>
        </p:txBody>
      </p:sp>
      <p:sp>
        <p:nvSpPr>
          <p:cNvPr id="6" name="Shape 3">
            <a:extLst>
              <a:ext uri="{FF2B5EF4-FFF2-40B4-BE49-F238E27FC236}">
                <a16:creationId xmlns:a16="http://schemas.microsoft.com/office/drawing/2014/main" id="{B53C8AF0-E782-40B7-9807-7A9BA9D5C057}"/>
              </a:ext>
            </a:extLst>
          </p:cNvPr>
          <p:cNvSpPr>
            <a:spLocks noGrp="1"/>
          </p:cNvSpPr>
          <p:nvPr/>
        </p:nvSpPr>
        <p:spPr>
          <a:xfrm>
            <a:off x="838202" y="1880445"/>
            <a:ext cx="16611600" cy="28574"/>
          </a:xfrm>
          <a:prstGeom prst="rect">
            <a:avLst/>
          </a:prstGeom>
          <a:solidFill>
            <a:srgbClr val="3649A8"/>
          </a:solidFill>
        </p:spPr>
        <p:txBody>
          <a:bodyPr/>
          <a:lstStyle/>
          <a:p>
            <a:endParaRPr sz="1801"/>
          </a:p>
        </p:txBody>
      </p:sp>
      <p:sp>
        <p:nvSpPr>
          <p:cNvPr id="23" name="Shape 20">
            <a:extLst>
              <a:ext uri="{FF2B5EF4-FFF2-40B4-BE49-F238E27FC236}">
                <a16:creationId xmlns:a16="http://schemas.microsoft.com/office/drawing/2014/main" id="{986EBE02-E6C2-4A57-82D2-230CA7D18A38}"/>
              </a:ext>
            </a:extLst>
          </p:cNvPr>
          <p:cNvSpPr>
            <a:spLocks noGrp="1"/>
          </p:cNvSpPr>
          <p:nvPr/>
        </p:nvSpPr>
        <p:spPr>
          <a:xfrm>
            <a:off x="838202" y="9294615"/>
            <a:ext cx="16611600" cy="9525"/>
          </a:xfrm>
          <a:prstGeom prst="rect">
            <a:avLst/>
          </a:prstGeom>
          <a:solidFill>
            <a:srgbClr val="E2E7EB"/>
          </a:solidFill>
        </p:spPr>
        <p:txBody>
          <a:bodyPr/>
          <a:lstStyle/>
          <a:p>
            <a:endParaRPr sz="1801"/>
          </a:p>
        </p:txBody>
      </p:sp>
      <p:sp>
        <p:nvSpPr>
          <p:cNvPr id="24" name="Text 21">
            <a:extLst>
              <a:ext uri="{FF2B5EF4-FFF2-40B4-BE49-F238E27FC236}">
                <a16:creationId xmlns:a16="http://schemas.microsoft.com/office/drawing/2014/main" id="{81383D1B-3B45-4C05-9C8A-439B28F8A2D2}"/>
              </a:ext>
            </a:extLst>
          </p:cNvPr>
          <p:cNvSpPr>
            <a:spLocks noGrp="1"/>
          </p:cNvSpPr>
          <p:nvPr/>
        </p:nvSpPr>
        <p:spPr>
          <a:xfrm>
            <a:off x="838201" y="9513691"/>
            <a:ext cx="7461945" cy="392311"/>
          </a:xfrm>
          <a:prstGeom prst="rect">
            <a:avLst/>
          </a:prstGeom>
          <a:noFill/>
        </p:spPr>
        <p:txBody>
          <a:bodyPr wrap="square" lIns="25401" tIns="25401" rIns="25401" bIns="25401" anchor="t">
            <a:normAutofit/>
          </a:bodyPr>
          <a:lstStyle/>
          <a:p>
            <a:pPr>
              <a:lnSpc>
                <a:spcPct val="124000"/>
              </a:lnSpc>
              <a:buNone/>
            </a:pPr>
            <a:r>
              <a:rPr sz="1801" dirty="0">
                <a:solidFill>
                  <a:srgbClr val="667780"/>
                </a:solidFill>
                <a:latin typeface="Frutiger"/>
                <a:ea typeface="Frutiger"/>
                <a:cs typeface="Frutiger"/>
              </a:rPr>
              <a:t>Getting started with dbt</a:t>
            </a:r>
            <a:endParaRPr sz="1801" dirty="0"/>
          </a:p>
        </p:txBody>
      </p:sp>
      <p:sp>
        <p:nvSpPr>
          <p:cNvPr id="26" name="Text 23">
            <a:extLst>
              <a:ext uri="{FF2B5EF4-FFF2-40B4-BE49-F238E27FC236}">
                <a16:creationId xmlns:a16="http://schemas.microsoft.com/office/drawing/2014/main" id="{57053F5A-4F41-40B1-B3CE-278E9D4C84A8}"/>
              </a:ext>
            </a:extLst>
          </p:cNvPr>
          <p:cNvSpPr>
            <a:spLocks noGrp="1"/>
          </p:cNvSpPr>
          <p:nvPr/>
        </p:nvSpPr>
        <p:spPr>
          <a:xfrm>
            <a:off x="9987856" y="9513691"/>
            <a:ext cx="7461945" cy="392311"/>
          </a:xfrm>
          <a:prstGeom prst="rect">
            <a:avLst/>
          </a:prstGeom>
          <a:noFill/>
        </p:spPr>
        <p:txBody>
          <a:bodyPr wrap="square" lIns="25401" tIns="25401" rIns="25401" bIns="25401" anchor="t">
            <a:normAutofit/>
          </a:bodyPr>
          <a:lstStyle/>
          <a:p>
            <a:pPr algn="r">
              <a:lnSpc>
                <a:spcPct val="124000"/>
              </a:lnSpc>
              <a:buNone/>
            </a:pPr>
            <a:r>
              <a:rPr lang="en-US" sz="1801">
                <a:solidFill>
                  <a:srgbClr val="667780"/>
                </a:solidFill>
                <a:latin typeface="Frutiger"/>
                <a:ea typeface="Frutiger"/>
                <a:cs typeface="Frutiger"/>
              </a:rPr>
              <a:t>23</a:t>
            </a:r>
            <a:endParaRPr sz="1801"/>
          </a:p>
        </p:txBody>
      </p:sp>
      <p:sp>
        <p:nvSpPr>
          <p:cNvPr id="100" name="Shape 100"/>
          <p:cNvSpPr/>
          <p:nvPr/>
        </p:nvSpPr>
        <p:spPr>
          <a:xfrm>
            <a:off x="838200" y="2362200"/>
            <a:ext cx="3048000" cy="1117600"/>
          </a:xfrm>
          <a:prstGeom prst="homePlate">
            <a:avLst>
              <a:gd name="adj" fmla="val 22000"/>
            </a:avLst>
          </a:prstGeom>
          <a:solidFill>
            <a:srgbClr val="F4F6FA"/>
          </a:solidFill>
          <a:ln>
            <a:noFill/>
          </a:ln>
        </p:spPr>
        <p:txBody>
          <a:bodyPr wrap="square" lIns="228600" tIns="50800" rIns="381000" bIns="50800" anchor="ctr">
            <a:normAutofit/>
          </a:bodyPr>
          <a:lstStyle/>
          <a:p>
            <a:pPr>
              <a:buNone/>
            </a:pPr>
            <a:r>
              <a:rPr lang="en-US" sz="1400" b="1" spc="150" dirty="0">
                <a:solidFill>
                  <a:srgbClr val="E40046"/>
                </a:solidFill>
                <a:latin typeface="Frutiger"/>
                <a:cs typeface="Frutiger"/>
              </a:rPr>
              <a:t>DEVELOP</a:t>
            </a:r>
          </a:p>
          <a:p>
            <a:pPr>
              <a:spcBef>
                <a:spcPts val="200"/>
              </a:spcBef>
              <a:buNone/>
            </a:pPr>
            <a:r>
              <a:rPr lang="en-US" sz="1600" dirty="0">
                <a:solidFill>
                  <a:srgbClr val="364750"/>
                </a:solidFill>
                <a:latin typeface="Frutiger"/>
                <a:cs typeface="Frutiger"/>
              </a:rPr>
              <a:t>your own schema or lakehouse</a:t>
            </a:r>
          </a:p>
        </p:txBody>
      </p:sp>
      <p:sp>
        <p:nvSpPr>
          <p:cNvPr id="101" name="Shape 101"/>
          <p:cNvSpPr/>
          <p:nvPr/>
        </p:nvSpPr>
        <p:spPr>
          <a:xfrm>
            <a:off x="4229100" y="2362200"/>
            <a:ext cx="3048000" cy="1117600"/>
          </a:xfrm>
          <a:prstGeom prst="homePlate">
            <a:avLst>
              <a:gd name="adj" fmla="val 22000"/>
            </a:avLst>
          </a:prstGeom>
          <a:solidFill>
            <a:srgbClr val="001F6B"/>
          </a:solidFill>
          <a:ln>
            <a:noFill/>
          </a:ln>
        </p:spPr>
        <p:txBody>
          <a:bodyPr wrap="square" lIns="228600" tIns="50800" rIns="381000" bIns="50800" anchor="ctr">
            <a:normAutofit/>
          </a:bodyPr>
          <a:lstStyle/>
          <a:p>
            <a:pPr>
              <a:buNone/>
            </a:pPr>
            <a:r>
              <a:rPr lang="en-US" sz="1400" b="1" spc="150" dirty="0">
                <a:solidFill>
                  <a:srgbClr val="FFFFFF"/>
                </a:solidFill>
                <a:latin typeface="Frutiger"/>
                <a:cs typeface="Frutiger"/>
              </a:rPr>
              <a:t>PULL REQUEST</a:t>
            </a:r>
          </a:p>
          <a:p>
            <a:pPr>
              <a:spcBef>
                <a:spcPts val="200"/>
              </a:spcBef>
              <a:buNone/>
            </a:pPr>
            <a:r>
              <a:rPr lang="en-US" sz="1600" dirty="0">
                <a:solidFill>
                  <a:srgbClr val="FFFFFF"/>
                </a:solidFill>
                <a:latin typeface="Frutiger"/>
                <a:cs typeface="Frutiger"/>
              </a:rPr>
              <a:t>CI builds + tests in an isolated target</a:t>
            </a:r>
          </a:p>
        </p:txBody>
      </p:sp>
      <p:sp>
        <p:nvSpPr>
          <p:cNvPr id="102" name="Shape 102"/>
          <p:cNvSpPr/>
          <p:nvPr/>
        </p:nvSpPr>
        <p:spPr>
          <a:xfrm>
            <a:off x="7620000" y="2362200"/>
            <a:ext cx="3048000" cy="1117600"/>
          </a:xfrm>
          <a:prstGeom prst="homePlate">
            <a:avLst>
              <a:gd name="adj" fmla="val 22000"/>
            </a:avLst>
          </a:prstGeom>
          <a:solidFill>
            <a:srgbClr val="F4F6FA"/>
          </a:solidFill>
          <a:ln>
            <a:noFill/>
          </a:ln>
        </p:spPr>
        <p:txBody>
          <a:bodyPr wrap="square" lIns="228600" tIns="50800" rIns="381000" bIns="50800" anchor="ctr">
            <a:normAutofit/>
          </a:bodyPr>
          <a:lstStyle/>
          <a:p>
            <a:pPr>
              <a:buNone/>
            </a:pPr>
            <a:r>
              <a:rPr lang="en-US" sz="1400" b="1" spc="150" dirty="0">
                <a:solidFill>
                  <a:srgbClr val="E40046"/>
                </a:solidFill>
                <a:latin typeface="Frutiger"/>
                <a:cs typeface="Frutiger"/>
              </a:rPr>
              <a:t>MERGE</a:t>
            </a:r>
          </a:p>
          <a:p>
            <a:pPr>
              <a:spcBef>
                <a:spcPts val="200"/>
              </a:spcBef>
              <a:buNone/>
            </a:pPr>
            <a:r>
              <a:rPr lang="en-US" sz="1600" dirty="0">
                <a:solidFill>
                  <a:srgbClr val="364750"/>
                </a:solidFill>
                <a:latin typeface="Frutiger"/>
                <a:cs typeface="Frutiger"/>
              </a:rPr>
              <a:t>code changes — not data</a:t>
            </a:r>
          </a:p>
        </p:txBody>
      </p:sp>
      <p:sp>
        <p:nvSpPr>
          <p:cNvPr id="103" name="Shape 103"/>
          <p:cNvSpPr/>
          <p:nvPr/>
        </p:nvSpPr>
        <p:spPr>
          <a:xfrm>
            <a:off x="11010900" y="2362200"/>
            <a:ext cx="3048000" cy="1117600"/>
          </a:xfrm>
          <a:prstGeom prst="homePlate">
            <a:avLst>
              <a:gd name="adj" fmla="val 22000"/>
            </a:avLst>
          </a:prstGeom>
          <a:solidFill>
            <a:srgbClr val="001F6B"/>
          </a:solidFill>
          <a:ln>
            <a:noFill/>
          </a:ln>
        </p:spPr>
        <p:txBody>
          <a:bodyPr wrap="square" lIns="228600" tIns="50800" rIns="381000" bIns="50800" anchor="ctr">
            <a:normAutofit/>
          </a:bodyPr>
          <a:lstStyle/>
          <a:p>
            <a:pPr>
              <a:buNone/>
            </a:pPr>
            <a:r>
              <a:rPr lang="en-US" sz="1400" b="1" spc="150" dirty="0">
                <a:solidFill>
                  <a:srgbClr val="FFFFFF"/>
                </a:solidFill>
                <a:latin typeface="Frutiger"/>
                <a:cs typeface="Frutiger"/>
              </a:rPr>
              <a:t>SCHEDULED RUN</a:t>
            </a:r>
          </a:p>
          <a:p>
            <a:pPr>
              <a:spcBef>
                <a:spcPts val="200"/>
              </a:spcBef>
              <a:buNone/>
            </a:pPr>
            <a:r>
              <a:rPr lang="en-US" sz="1600" dirty="0">
                <a:solidFill>
                  <a:srgbClr val="FFFFFF"/>
                </a:solidFill>
                <a:latin typeface="Frutiger"/>
                <a:cs typeface="Frutiger"/>
              </a:rPr>
              <a:t>after ingestion succeeds</a:t>
            </a:r>
          </a:p>
        </p:txBody>
      </p:sp>
      <p:sp>
        <p:nvSpPr>
          <p:cNvPr id="104" name="Shape 104"/>
          <p:cNvSpPr/>
          <p:nvPr/>
        </p:nvSpPr>
        <p:spPr>
          <a:xfrm>
            <a:off x="14401800" y="2362200"/>
            <a:ext cx="3048000" cy="1117600"/>
          </a:xfrm>
          <a:prstGeom prst="homePlate">
            <a:avLst>
              <a:gd name="adj" fmla="val 22000"/>
            </a:avLst>
          </a:prstGeom>
          <a:solidFill>
            <a:srgbClr val="F4F6FA"/>
          </a:solidFill>
          <a:ln>
            <a:noFill/>
          </a:ln>
        </p:spPr>
        <p:txBody>
          <a:bodyPr wrap="square" lIns="228600" tIns="50800" rIns="381000" bIns="50800" anchor="ctr">
            <a:normAutofit/>
          </a:bodyPr>
          <a:lstStyle/>
          <a:p>
            <a:pPr>
              <a:buNone/>
            </a:pPr>
            <a:r>
              <a:rPr lang="en-US" sz="1400" b="1" spc="150" dirty="0">
                <a:solidFill>
                  <a:srgbClr val="E40046"/>
                </a:solidFill>
                <a:latin typeface="Frutiger"/>
                <a:cs typeface="Frutiger"/>
              </a:rPr>
              <a:t>PUBLISH</a:t>
            </a:r>
          </a:p>
          <a:p>
            <a:pPr>
              <a:spcBef>
                <a:spcPts val="200"/>
              </a:spcBef>
              <a:buNone/>
            </a:pPr>
            <a:r>
              <a:rPr lang="en-US" sz="1600" dirty="0">
                <a:solidFill>
                  <a:srgbClr val="364750"/>
                </a:solidFill>
                <a:latin typeface="Frutiger"/>
                <a:cs typeface="Frutiger"/>
              </a:rPr>
              <a:t>refresh the semantic model</a:t>
            </a:r>
          </a:p>
        </p:txBody>
      </p:sp>
      <p:sp>
        <p:nvSpPr>
          <p:cNvPr id="110" name="Shape 110"/>
          <p:cNvSpPr/>
          <p:nvPr/>
        </p:nvSpPr>
        <p:spPr>
          <a:xfrm>
            <a:off x="838200" y="3759200"/>
            <a:ext cx="8128000" cy="330200"/>
          </a:xfrm>
          <a:prstGeom prst="rect">
            <a:avLst/>
          </a:prstGeom>
          <a:noFill/>
          <a:ln>
            <a:noFill/>
          </a:ln>
        </p:spPr>
        <p:txBody>
          <a:bodyPr wrap="square" lIns="0" tIns="0" rIns="0" bIns="0" anchor="t">
            <a:normAutofit/>
          </a:bodyPr>
          <a:lstStyle/>
          <a:p>
            <a:pPr>
              <a:buNone/>
            </a:pPr>
            <a:r>
              <a:rPr lang="en-US" sz="1300" b="1" spc="150" dirty="0">
                <a:solidFill>
                  <a:srgbClr val="E40046"/>
                </a:solidFill>
                <a:latin typeface="Frutiger"/>
                <a:cs typeface="Frutiger"/>
              </a:rPr>
              <a:t>AZURE-PIPELINES.YML  ·  EXCERPT</a:t>
            </a:r>
          </a:p>
        </p:txBody>
      </p:sp>
      <p:sp>
        <p:nvSpPr>
          <p:cNvPr id="111" name="Code 111"/>
          <p:cNvSpPr/>
          <p:nvPr/>
        </p:nvSpPr>
        <p:spPr>
          <a:xfrm>
            <a:off x="838200" y="4089400"/>
            <a:ext cx="8128000" cy="2489200"/>
          </a:xfrm>
          <a:prstGeom prst="roundRect">
            <a:avLst>
              <a:gd name="adj" fmla="val 4000"/>
            </a:avLst>
          </a:prstGeom>
          <a:solidFill>
            <a:srgbClr val="0E1E4A"/>
          </a:solidFill>
          <a:ln>
            <a:noFill/>
          </a:ln>
        </p:spPr>
        <p:txBody>
          <a:bodyPr wrap="square" lIns="228600" tIns="203200" rIns="228600" bIns="228600" anchor="t">
            <a:normAutofit lnSpcReduction="10000"/>
          </a:bodyPr>
          <a:lstStyle/>
          <a:p>
            <a:pPr>
              <a:lnSpc>
                <a:spcPct val="118000"/>
              </a:lnSpc>
              <a:buNone/>
            </a:pPr>
            <a:r>
              <a:rPr lang="en-US" sz="1500" dirty="0">
                <a:solidFill>
                  <a:srgbClr val="8EC5FF"/>
                </a:solidFill>
                <a:latin typeface="Consolas"/>
                <a:cs typeface="Consolas"/>
              </a:rPr>
              <a:t>pool: </a:t>
            </a:r>
            <a:r>
              <a:rPr lang="en-US" sz="1500" dirty="0">
                <a:solidFill>
                  <a:srgbClr val="E8ECF5"/>
                </a:solidFill>
                <a:latin typeface="Consolas"/>
                <a:cs typeface="Consolas"/>
              </a:rPr>
              <a:t>{ vmImage: </a:t>
            </a:r>
            <a:r>
              <a:rPr lang="en-US" sz="1500" dirty="0">
                <a:solidFill>
                  <a:srgbClr val="FFD27F"/>
                </a:solidFill>
                <a:latin typeface="Consolas"/>
                <a:cs typeface="Consolas"/>
              </a:rPr>
              <a:t>ubuntu-latest</a:t>
            </a:r>
            <a:r>
              <a:rPr lang="en-US" sz="1500" dirty="0">
                <a:solidFill>
                  <a:srgbClr val="E8ECF5"/>
                </a:solidFill>
                <a:latin typeface="Consolas"/>
                <a:cs typeface="Consolas"/>
              </a:rPr>
              <a:t> }</a:t>
            </a:r>
            <a:r>
              <a:rPr lang="en-US" sz="1500" dirty="0">
                <a:solidFill>
                  <a:srgbClr val="8E9DC5"/>
                </a:solidFill>
                <a:latin typeface="Consolas"/>
                <a:cs typeface="Consolas"/>
              </a:rPr>
              <a:t>   # Fabric is reachable from a hosted agent</a:t>
            </a:r>
          </a:p>
          <a:p>
            <a:pPr>
              <a:lnSpc>
                <a:spcPct val="118000"/>
              </a:lnSpc>
              <a:buNone/>
            </a:pPr>
            <a:r>
              <a:rPr lang="en-US" sz="1500" dirty="0">
                <a:solidFill>
                  <a:srgbClr val="8EC5FF"/>
                </a:solidFill>
                <a:latin typeface="Consolas"/>
                <a:cs typeface="Consolas"/>
              </a:rPr>
              <a:t>steps:</a:t>
            </a:r>
          </a:p>
          <a:p>
            <a:pPr>
              <a:lnSpc>
                <a:spcPct val="118000"/>
              </a:lnSpc>
              <a:buNone/>
            </a:pPr>
            <a:r>
              <a:rPr lang="en-US" sz="1500" dirty="0">
                <a:solidFill>
                  <a:srgbClr val="8EC5FF"/>
                </a:solidFill>
                <a:latin typeface="Consolas"/>
                <a:cs typeface="Consolas"/>
              </a:rPr>
              <a:t>  - script: </a:t>
            </a:r>
            <a:r>
              <a:rPr lang="en-US" sz="1500" dirty="0">
                <a:solidFill>
                  <a:srgbClr val="E8ECF5"/>
                </a:solidFill>
                <a:latin typeface="Consolas"/>
                <a:cs typeface="Consolas"/>
              </a:rPr>
              <a:t>pip install -r requirements/warehouse.txt</a:t>
            </a:r>
          </a:p>
          <a:p>
            <a:pPr>
              <a:lnSpc>
                <a:spcPct val="118000"/>
              </a:lnSpc>
              <a:buNone/>
            </a:pPr>
            <a:r>
              <a:rPr lang="en-US" sz="1500" dirty="0">
                <a:solidFill>
                  <a:srgbClr val="8EC5FF"/>
                </a:solidFill>
                <a:latin typeface="Consolas"/>
                <a:cs typeface="Consolas"/>
              </a:rPr>
              <a:t>  - script: </a:t>
            </a:r>
            <a:r>
              <a:rPr lang="en-US" sz="1500" dirty="0">
                <a:solidFill>
                  <a:srgbClr val="E8ECF5"/>
                </a:solidFill>
                <a:latin typeface="Consolas"/>
                <a:cs typeface="Consolas"/>
              </a:rPr>
              <a:t>dbt build --target ci   # schema ci_$(Build.BuildId)</a:t>
            </a:r>
          </a:p>
          <a:p>
            <a:pPr>
              <a:lnSpc>
                <a:spcPct val="118000"/>
              </a:lnSpc>
              <a:buNone/>
            </a:pPr>
            <a:r>
              <a:rPr lang="en-US" sz="1500" dirty="0">
                <a:solidFill>
                  <a:srgbClr val="8EC5FF"/>
                </a:solidFill>
                <a:latin typeface="Consolas"/>
                <a:cs typeface="Consolas"/>
              </a:rPr>
              <a:t>    env: </a:t>
            </a:r>
            <a:r>
              <a:rPr lang="en-US" sz="1500" dirty="0">
                <a:solidFill>
                  <a:srgbClr val="E8ECF5"/>
                </a:solidFill>
                <a:latin typeface="Consolas"/>
                <a:cs typeface="Consolas"/>
              </a:rPr>
              <a:t>{ AZURE_CLIENT_SECRET: $(AZURE_CLIENT_SECRET), … }</a:t>
            </a:r>
          </a:p>
          <a:p>
            <a:pPr>
              <a:lnSpc>
                <a:spcPct val="118000"/>
              </a:lnSpc>
              <a:buNone/>
            </a:pPr>
            <a:r>
              <a:rPr lang="en-US" sz="1500" dirty="0">
                <a:solidFill>
                  <a:srgbClr val="8EC5FF"/>
                </a:solidFill>
                <a:latin typeface="Consolas"/>
                <a:cs typeface="Consolas"/>
              </a:rPr>
              <a:t>  - publish: </a:t>
            </a:r>
            <a:r>
              <a:rPr lang="en-US" sz="1500" dirty="0">
                <a:solidFill>
                  <a:srgbClr val="E8ECF5"/>
                </a:solidFill>
                <a:latin typeface="Consolas"/>
                <a:cs typeface="Consolas"/>
              </a:rPr>
              <a:t>jaffle_shop/target</a:t>
            </a:r>
            <a:r>
              <a:rPr lang="en-US" sz="1500" dirty="0">
                <a:solidFill>
                  <a:srgbClr val="8E9DC5"/>
                </a:solidFill>
                <a:latin typeface="Consolas"/>
                <a:cs typeface="Consolas"/>
              </a:rPr>
              <a:t>   # manifest.json, run_results.json</a:t>
            </a:r>
          </a:p>
          <a:p>
            <a:pPr>
              <a:lnSpc>
                <a:spcPct val="118000"/>
              </a:lnSpc>
              <a:buNone/>
            </a:pPr>
            <a:r>
              <a:rPr lang="en-US" sz="1500" dirty="0">
                <a:solidFill>
                  <a:srgbClr val="8E9DC5"/>
                </a:solidFill>
                <a:latin typeface="Consolas"/>
                <a:cs typeface="Consolas"/>
              </a:rPr>
              <a:t># exit code ≠ 0 fails the stage — nothing downstream runs</a:t>
            </a:r>
          </a:p>
        </p:txBody>
      </p:sp>
      <p:sp>
        <p:nvSpPr>
          <p:cNvPr id="112" name="Shape 112"/>
          <p:cNvSpPr/>
          <p:nvPr/>
        </p:nvSpPr>
        <p:spPr>
          <a:xfrm>
            <a:off x="9398000" y="3759200"/>
            <a:ext cx="8051800" cy="330200"/>
          </a:xfrm>
          <a:prstGeom prst="rect">
            <a:avLst/>
          </a:prstGeom>
          <a:noFill/>
          <a:ln>
            <a:noFill/>
          </a:ln>
        </p:spPr>
        <p:txBody>
          <a:bodyPr wrap="square" lIns="0" tIns="0" rIns="0" bIns="0" anchor="t">
            <a:normAutofit/>
          </a:bodyPr>
          <a:lstStyle/>
          <a:p>
            <a:pPr>
              <a:buNone/>
            </a:pPr>
            <a:r>
              <a:rPr lang="en-US" sz="1300" b="1" spc="150" dirty="0">
                <a:solidFill>
                  <a:srgbClr val="E40046"/>
                </a:solidFill>
                <a:latin typeface="Frutiger"/>
                <a:cs typeface="Frutiger"/>
              </a:rPr>
              <a:t>SMALL OPERATIONAL DEFAULTS THAT ARE ENOUGH TO START</a:t>
            </a:r>
          </a:p>
        </p:txBody>
      </p:sp>
      <p:sp>
        <p:nvSpPr>
          <p:cNvPr id="113" name="Shape 113"/>
          <p:cNvSpPr/>
          <p:nvPr/>
        </p:nvSpPr>
        <p:spPr>
          <a:xfrm>
            <a:off x="9398000" y="4089400"/>
            <a:ext cx="8051800" cy="2489200"/>
          </a:xfrm>
          <a:prstGeom prst="rect">
            <a:avLst/>
          </a:prstGeom>
          <a:noFill/>
          <a:ln>
            <a:noFill/>
          </a:ln>
        </p:spPr>
        <p:txBody>
          <a:bodyPr wrap="square" lIns="0" tIns="0" rIns="0" bIns="0" anchor="t">
            <a:normAutofit/>
          </a:bodyPr>
          <a:lstStyle/>
          <a:p>
            <a:pPr marL="279400" indent="-279400">
              <a:lnSpc>
                <a:spcPct val="104000"/>
              </a:lnSpc>
              <a:spcBef>
                <a:spcPts val="500"/>
              </a:spcBef>
              <a:buClr>
                <a:srgbClr val="E40046"/>
              </a:buClr>
              <a:buFont typeface="Arial"/>
              <a:buChar char="•"/>
            </a:pPr>
            <a:r>
              <a:rPr lang="en-US" sz="1800" dirty="0">
                <a:solidFill>
                  <a:srgbClr val="364750"/>
                </a:solidFill>
                <a:latin typeface="Frutiger"/>
                <a:cs typeface="Frutiger"/>
              </a:rPr>
              <a:t>Pinned dependencies from a rehearsed lock file</a:t>
            </a:r>
          </a:p>
          <a:p>
            <a:pPr marL="279400" indent="-279400">
              <a:lnSpc>
                <a:spcPct val="104000"/>
              </a:lnSpc>
              <a:spcBef>
                <a:spcPts val="500"/>
              </a:spcBef>
              <a:buClr>
                <a:srgbClr val="E40046"/>
              </a:buClr>
              <a:buFont typeface="Arial"/>
              <a:buChar char="•"/>
            </a:pPr>
            <a:r>
              <a:rPr lang="en-US" sz="1800" dirty="0">
                <a:solidFill>
                  <a:srgbClr val="364750"/>
                </a:solidFill>
                <a:latin typeface="Frutiger"/>
                <a:cs typeface="Frutiger"/>
              </a:rPr>
              <a:t>A service identity: least-privilege read on inputs, write on the target</a:t>
            </a:r>
          </a:p>
          <a:p>
            <a:pPr marL="279400" indent="-279400">
              <a:lnSpc>
                <a:spcPct val="104000"/>
              </a:lnSpc>
              <a:spcBef>
                <a:spcPts val="500"/>
              </a:spcBef>
              <a:buClr>
                <a:srgbClr val="E40046"/>
              </a:buClr>
              <a:buFont typeface="Arial"/>
              <a:buChar char="•"/>
            </a:pPr>
            <a:r>
              <a:rPr lang="en-US" sz="1800" dirty="0">
                <a:solidFill>
                  <a:srgbClr val="364750"/>
                </a:solidFill>
                <a:latin typeface="Frutiger"/>
                <a:cs typeface="Frutiger"/>
              </a:rPr>
              <a:t>A unique target per developer and per CI run — a Git branch does not create a schema</a:t>
            </a:r>
          </a:p>
          <a:p>
            <a:pPr marL="279400" indent="-279400">
              <a:lnSpc>
                <a:spcPct val="104000"/>
              </a:lnSpc>
              <a:spcBef>
                <a:spcPts val="500"/>
              </a:spcBef>
              <a:buClr>
                <a:srgbClr val="E40046"/>
              </a:buClr>
              <a:buFont typeface="Arial"/>
              <a:buChar char="•"/>
            </a:pPr>
            <a:r>
              <a:rPr lang="en-US" sz="1800" dirty="0">
                <a:solidFill>
                  <a:srgbClr val="364750"/>
                </a:solidFill>
                <a:latin typeface="Frutiger"/>
                <a:cs typeface="Frutiger"/>
              </a:rPr>
              <a:t>Alerts on non-zero exit; artifacts retained per run for diagnosis</a:t>
            </a:r>
          </a:p>
          <a:p>
            <a:pPr marL="279400" indent="-279400">
              <a:lnSpc>
                <a:spcPct val="104000"/>
              </a:lnSpc>
              <a:spcBef>
                <a:spcPts val="500"/>
              </a:spcBef>
              <a:buClr>
                <a:srgbClr val="E40046"/>
              </a:buClr>
              <a:buFont typeface="Arial"/>
              <a:buChar char="•"/>
            </a:pPr>
            <a:r>
              <a:rPr lang="en-US" sz="1800" dirty="0">
                <a:solidFill>
                  <a:srgbClr val="364750"/>
                </a:solidFill>
                <a:latin typeface="Frutiger"/>
                <a:cs typeface="Frutiger"/>
              </a:rPr>
              <a:t>An explicit publish step — a green build is not a release</a:t>
            </a:r>
          </a:p>
        </p:txBody>
      </p:sp>
      <p:sp>
        <p:nvSpPr>
          <p:cNvPr id="120" name="Shape 120"/>
          <p:cNvSpPr/>
          <p:nvPr/>
        </p:nvSpPr>
        <p:spPr>
          <a:xfrm>
            <a:off x="838200" y="6858000"/>
            <a:ext cx="16611600" cy="330200"/>
          </a:xfrm>
          <a:prstGeom prst="rect">
            <a:avLst/>
          </a:prstGeom>
          <a:noFill/>
          <a:ln>
            <a:noFill/>
          </a:ln>
        </p:spPr>
        <p:txBody>
          <a:bodyPr wrap="square" lIns="0" tIns="0" rIns="0" bIns="0" anchor="t">
            <a:normAutofit/>
          </a:bodyPr>
          <a:lstStyle/>
          <a:p>
            <a:pPr>
              <a:buNone/>
            </a:pPr>
            <a:r>
              <a:rPr lang="en-US" sz="1300" b="1" spc="150" dirty="0">
                <a:solidFill>
                  <a:srgbClr val="E40046"/>
                </a:solidFill>
                <a:latin typeface="Frutiger"/>
                <a:cs typeface="Frutiger"/>
              </a:rPr>
              <a:t>WHERE THE JOB CAN LIVE — FOUR HOSTS, ONE COMMAND</a:t>
            </a:r>
          </a:p>
        </p:txBody>
      </p:sp>
      <p:sp>
        <p:nvSpPr>
          <p:cNvPr id="130" name="Shape 130"/>
          <p:cNvSpPr/>
          <p:nvPr/>
        </p:nvSpPr>
        <p:spPr>
          <a:xfrm>
            <a:off x="838200" y="7188200"/>
            <a:ext cx="3924300" cy="1905000"/>
          </a:xfrm>
          <a:prstGeom prst="rect">
            <a:avLst/>
          </a:prstGeom>
          <a:solidFill>
            <a:srgbClr val="F4F6FA"/>
          </a:solidFill>
          <a:ln>
            <a:noFill/>
          </a:ln>
        </p:spPr>
        <p:txBody>
          <a:bodyPr wrap="square" lIns="101600" tIns="101600" rIns="101600" bIns="101600" anchor="t">
            <a:normAutofit/>
          </a:bodyPr>
          <a:lstStyle/>
          <a:p>
            <a:endParaRPr lang="en-US"/>
          </a:p>
        </p:txBody>
      </p:sp>
      <p:sp>
        <p:nvSpPr>
          <p:cNvPr id="131" name="Shape 131"/>
          <p:cNvSpPr/>
          <p:nvPr/>
        </p:nvSpPr>
        <p:spPr>
          <a:xfrm>
            <a:off x="838200" y="7188200"/>
            <a:ext cx="3924300" cy="63500"/>
          </a:xfrm>
          <a:prstGeom prst="rect">
            <a:avLst/>
          </a:prstGeom>
          <a:solidFill>
            <a:srgbClr val="001F6B"/>
          </a:solidFill>
          <a:ln>
            <a:noFill/>
          </a:ln>
        </p:spPr>
        <p:txBody>
          <a:bodyPr wrap="square" lIns="101600" tIns="101600" rIns="101600" bIns="101600" anchor="t">
            <a:normAutofit fontScale="25000" lnSpcReduction="20000"/>
          </a:bodyPr>
          <a:lstStyle/>
          <a:p>
            <a:endParaRPr lang="en-US"/>
          </a:p>
        </p:txBody>
      </p:sp>
      <p:sp>
        <p:nvSpPr>
          <p:cNvPr id="132" name="Shape 132"/>
          <p:cNvSpPr/>
          <p:nvPr/>
        </p:nvSpPr>
        <p:spPr>
          <a:xfrm>
            <a:off x="1016000" y="7366000"/>
            <a:ext cx="3568700" cy="1651000"/>
          </a:xfrm>
          <a:prstGeom prst="rect">
            <a:avLst/>
          </a:prstGeom>
          <a:noFill/>
          <a:ln>
            <a:noFill/>
          </a:ln>
        </p:spPr>
        <p:txBody>
          <a:bodyPr wrap="square" lIns="0" tIns="0" rIns="0" bIns="0" anchor="t">
            <a:normAutofit/>
          </a:bodyPr>
          <a:lstStyle/>
          <a:p>
            <a:pPr>
              <a:buNone/>
            </a:pPr>
            <a:r>
              <a:rPr lang="en-US" sz="1800" b="1" dirty="0">
                <a:solidFill>
                  <a:srgbClr val="001F6B"/>
                </a:solidFill>
                <a:latin typeface="Frutiger"/>
                <a:cs typeface="Frutiger"/>
              </a:rPr>
              <a:t>Azure DevOps / GitHub agent</a:t>
            </a:r>
          </a:p>
          <a:p>
            <a:pPr>
              <a:lnSpc>
                <a:spcPct val="104000"/>
              </a:lnSpc>
              <a:spcBef>
                <a:spcPts val="400"/>
              </a:spcBef>
              <a:buNone/>
            </a:pPr>
            <a:r>
              <a:rPr lang="en-US" sz="1500" dirty="0">
                <a:solidFill>
                  <a:srgbClr val="364750"/>
                </a:solidFill>
                <a:latin typeface="Frutiger"/>
                <a:cs typeface="Frutiger"/>
              </a:rPr>
              <a:t>A hosted agent reaches Fabric; a self-hosted agent only when the target is on-prem. Service principal identity, secrets from the pipeline library.</a:t>
            </a:r>
          </a:p>
        </p:txBody>
      </p:sp>
      <p:sp>
        <p:nvSpPr>
          <p:cNvPr id="4" name="Shape 132"/>
          <p:cNvSpPr/>
          <p:nvPr/>
        </p:nvSpPr>
        <p:spPr>
          <a:xfrm>
            <a:off x="5067300" y="7188200"/>
            <a:ext cx="3924300" cy="1905000"/>
          </a:xfrm>
          <a:prstGeom prst="rect">
            <a:avLst/>
          </a:prstGeom>
          <a:solidFill>
            <a:srgbClr val="FFFFFF"/>
          </a:solidFill>
          <a:ln w="19050">
            <a:solidFill>
              <a:srgbClr val="E40046"/>
            </a:solidFill>
          </a:ln>
        </p:spPr>
        <p:txBody>
          <a:bodyPr wrap="square" lIns="101600" tIns="101600" rIns="101600" bIns="101600" anchor="t">
            <a:normAutofit/>
          </a:bodyPr>
          <a:lstStyle/>
          <a:p>
            <a:endParaRPr lang="en-US"/>
          </a:p>
        </p:txBody>
      </p:sp>
      <p:sp>
        <p:nvSpPr>
          <p:cNvPr id="133" name="Shape 133"/>
          <p:cNvSpPr/>
          <p:nvPr/>
        </p:nvSpPr>
        <p:spPr>
          <a:xfrm>
            <a:off x="5067300" y="7188200"/>
            <a:ext cx="3924300" cy="63500"/>
          </a:xfrm>
          <a:prstGeom prst="rect">
            <a:avLst/>
          </a:prstGeom>
          <a:solidFill>
            <a:srgbClr val="E40046"/>
          </a:solidFill>
          <a:ln>
            <a:noFill/>
          </a:ln>
        </p:spPr>
        <p:txBody>
          <a:bodyPr wrap="square" lIns="101600" tIns="101600" rIns="101600" bIns="101600" anchor="t">
            <a:normAutofit fontScale="25000" lnSpcReduction="20000"/>
          </a:bodyPr>
          <a:lstStyle/>
          <a:p>
            <a:endParaRPr lang="en-US"/>
          </a:p>
        </p:txBody>
      </p:sp>
      <p:sp>
        <p:nvSpPr>
          <p:cNvPr id="134" name="Shape 134"/>
          <p:cNvSpPr/>
          <p:nvPr/>
        </p:nvSpPr>
        <p:spPr>
          <a:xfrm>
            <a:off x="5245100" y="7366000"/>
            <a:ext cx="3568700" cy="1651000"/>
          </a:xfrm>
          <a:prstGeom prst="rect">
            <a:avLst/>
          </a:prstGeom>
          <a:noFill/>
          <a:ln>
            <a:noFill/>
          </a:ln>
        </p:spPr>
        <p:txBody>
          <a:bodyPr wrap="square" lIns="0" tIns="0" rIns="0" bIns="0" anchor="t">
            <a:normAutofit/>
          </a:bodyPr>
          <a:lstStyle/>
          <a:p>
            <a:pPr>
              <a:buNone/>
            </a:pPr>
            <a:r>
              <a:rPr lang="en-US" sz="1800" b="1" dirty="0">
                <a:solidFill>
                  <a:srgbClr val="001F6B"/>
                </a:solidFill>
                <a:latin typeface="Frutiger"/>
                <a:cs typeface="Frutiger"/>
              </a:rPr>
              <a:t>Fabric dbt job (preview)</a:t>
            </a:r>
          </a:p>
          <a:p>
            <a:pPr>
              <a:lnSpc>
                <a:spcPct val="104000"/>
              </a:lnSpc>
              <a:spcBef>
                <a:spcPts val="400"/>
              </a:spcBef>
              <a:buNone/>
            </a:pPr>
            <a:r>
              <a:rPr lang="en-US" sz="1500" dirty="0">
                <a:solidFill>
                  <a:srgbClr val="364750"/>
                </a:solidFill>
                <a:latin typeface="Frutiger"/>
                <a:cs typeface="Frutiger"/>
              </a:rPr>
              <a:t>A native workspace item: managed runtime, built-in schedule, run history in the monitoring hub. Pulls the project from GitHub on every run. See next slide.</a:t>
            </a:r>
          </a:p>
        </p:txBody>
      </p:sp>
      <p:sp>
        <p:nvSpPr>
          <p:cNvPr id="7" name="Shape 134"/>
          <p:cNvSpPr/>
          <p:nvPr/>
        </p:nvSpPr>
        <p:spPr>
          <a:xfrm>
            <a:off x="9296400" y="7188200"/>
            <a:ext cx="3924300" cy="1905000"/>
          </a:xfrm>
          <a:prstGeom prst="rect">
            <a:avLst/>
          </a:prstGeom>
          <a:solidFill>
            <a:srgbClr val="F4F6FA"/>
          </a:solidFill>
          <a:ln>
            <a:noFill/>
          </a:ln>
        </p:spPr>
        <p:txBody>
          <a:bodyPr wrap="square" lIns="101600" tIns="101600" rIns="101600" bIns="101600" anchor="t">
            <a:normAutofit/>
          </a:bodyPr>
          <a:lstStyle/>
          <a:p>
            <a:endParaRPr lang="en-US"/>
          </a:p>
        </p:txBody>
      </p:sp>
      <p:sp>
        <p:nvSpPr>
          <p:cNvPr id="135" name="Shape 135"/>
          <p:cNvSpPr/>
          <p:nvPr/>
        </p:nvSpPr>
        <p:spPr>
          <a:xfrm>
            <a:off x="9296400" y="7188200"/>
            <a:ext cx="3924300" cy="63500"/>
          </a:xfrm>
          <a:prstGeom prst="rect">
            <a:avLst/>
          </a:prstGeom>
          <a:solidFill>
            <a:srgbClr val="001F6B"/>
          </a:solidFill>
          <a:ln>
            <a:noFill/>
          </a:ln>
        </p:spPr>
        <p:txBody>
          <a:bodyPr wrap="square" lIns="101600" tIns="101600" rIns="101600" bIns="101600" anchor="t">
            <a:normAutofit fontScale="25000" lnSpcReduction="20000"/>
          </a:bodyPr>
          <a:lstStyle/>
          <a:p>
            <a:endParaRPr lang="en-US"/>
          </a:p>
        </p:txBody>
      </p:sp>
      <p:sp>
        <p:nvSpPr>
          <p:cNvPr id="136" name="Shape 136"/>
          <p:cNvSpPr/>
          <p:nvPr/>
        </p:nvSpPr>
        <p:spPr>
          <a:xfrm>
            <a:off x="9474200" y="7366000"/>
            <a:ext cx="3568700" cy="1651000"/>
          </a:xfrm>
          <a:prstGeom prst="rect">
            <a:avLst/>
          </a:prstGeom>
          <a:noFill/>
          <a:ln>
            <a:noFill/>
          </a:ln>
        </p:spPr>
        <p:txBody>
          <a:bodyPr wrap="square" lIns="0" tIns="0" rIns="0" bIns="0" anchor="t">
            <a:normAutofit/>
          </a:bodyPr>
          <a:lstStyle/>
          <a:p>
            <a:pPr>
              <a:buNone/>
            </a:pPr>
            <a:r>
              <a:rPr lang="en-US" sz="1800" b="1" dirty="0">
                <a:solidFill>
                  <a:srgbClr val="001F6B"/>
                </a:solidFill>
                <a:latin typeface="Frutiger"/>
                <a:cs typeface="Frutiger"/>
              </a:rPr>
              <a:t>Fabric notebook</a:t>
            </a:r>
          </a:p>
          <a:p>
            <a:pPr>
              <a:lnSpc>
                <a:spcPct val="104000"/>
              </a:lnSpc>
              <a:spcBef>
                <a:spcPts val="400"/>
              </a:spcBef>
              <a:buNone/>
            </a:pPr>
            <a:r>
              <a:rPr lang="en-US" sz="1500" dirty="0">
                <a:solidFill>
                  <a:srgbClr val="364750"/>
                </a:solidFill>
                <a:latin typeface="Frutiger"/>
                <a:cs typeface="Frutiger"/>
              </a:rPr>
              <a:t>A Python notebook runs the same project: notebookutils auth for the Warehouse, fabric_notebook for the Lakehouse (own Livy session), an access token for the SQL database.</a:t>
            </a:r>
          </a:p>
        </p:txBody>
      </p:sp>
      <p:sp>
        <p:nvSpPr>
          <p:cNvPr id="8" name="Shape 136"/>
          <p:cNvSpPr/>
          <p:nvPr/>
        </p:nvSpPr>
        <p:spPr>
          <a:xfrm>
            <a:off x="13525500" y="7188200"/>
            <a:ext cx="3924300" cy="1905000"/>
          </a:xfrm>
          <a:prstGeom prst="rect">
            <a:avLst/>
          </a:prstGeom>
          <a:solidFill>
            <a:srgbClr val="F4F6FA"/>
          </a:solidFill>
          <a:ln>
            <a:noFill/>
          </a:ln>
        </p:spPr>
        <p:txBody>
          <a:bodyPr wrap="square" lIns="101600" tIns="101600" rIns="101600" bIns="101600" anchor="t">
            <a:normAutofit/>
          </a:bodyPr>
          <a:lstStyle/>
          <a:p>
            <a:endParaRPr lang="en-US"/>
          </a:p>
        </p:txBody>
      </p:sp>
      <p:sp>
        <p:nvSpPr>
          <p:cNvPr id="137" name="Shape 137"/>
          <p:cNvSpPr/>
          <p:nvPr/>
        </p:nvSpPr>
        <p:spPr>
          <a:xfrm>
            <a:off x="13525500" y="7188200"/>
            <a:ext cx="3924300" cy="63500"/>
          </a:xfrm>
          <a:prstGeom prst="rect">
            <a:avLst/>
          </a:prstGeom>
          <a:solidFill>
            <a:srgbClr val="001F6B"/>
          </a:solidFill>
          <a:ln>
            <a:noFill/>
          </a:ln>
        </p:spPr>
        <p:txBody>
          <a:bodyPr wrap="square" lIns="101600" tIns="101600" rIns="101600" bIns="101600" anchor="t">
            <a:normAutofit fontScale="25000" lnSpcReduction="20000"/>
          </a:bodyPr>
          <a:lstStyle/>
          <a:p>
            <a:endParaRPr lang="en-US"/>
          </a:p>
        </p:txBody>
      </p:sp>
      <p:sp>
        <p:nvSpPr>
          <p:cNvPr id="138" name="Shape 138"/>
          <p:cNvSpPr/>
          <p:nvPr/>
        </p:nvSpPr>
        <p:spPr>
          <a:xfrm>
            <a:off x="13703300" y="7366000"/>
            <a:ext cx="3568700" cy="1651000"/>
          </a:xfrm>
          <a:prstGeom prst="rect">
            <a:avLst/>
          </a:prstGeom>
          <a:noFill/>
          <a:ln>
            <a:noFill/>
          </a:ln>
        </p:spPr>
        <p:txBody>
          <a:bodyPr wrap="square" lIns="0" tIns="0" rIns="0" bIns="0" anchor="t">
            <a:normAutofit/>
          </a:bodyPr>
          <a:lstStyle/>
          <a:p>
            <a:pPr>
              <a:buNone/>
            </a:pPr>
            <a:r>
              <a:rPr lang="en-US" sz="1800" b="1" dirty="0">
                <a:solidFill>
                  <a:srgbClr val="001F6B"/>
                </a:solidFill>
                <a:latin typeface="Frutiger"/>
                <a:cs typeface="Frutiger"/>
              </a:rPr>
              <a:t>Container or orchestrator</a:t>
            </a:r>
          </a:p>
          <a:p>
            <a:pPr>
              <a:lnSpc>
                <a:spcPct val="104000"/>
              </a:lnSpc>
              <a:spcBef>
                <a:spcPts val="400"/>
              </a:spcBef>
              <a:buNone/>
            </a:pPr>
            <a:r>
              <a:rPr lang="en-US" sz="1500" dirty="0">
                <a:solidFill>
                  <a:srgbClr val="364750"/>
                </a:solidFill>
                <a:latin typeface="Frutiger"/>
                <a:cs typeface="Frutiger"/>
              </a:rPr>
              <a:t>Airflow, a scheduled container or a cron job: any host with Python, the adapter and network access can run the same dbt build.</a:t>
            </a:r>
          </a:p>
        </p:txBody>
      </p:sp>
    </p:spTree>
    <p:extLst>
      <p:ext uri="{BB962C8B-B14F-4D97-AF65-F5344CB8AC3E}">
        <p14:creationId xmlns:p14="http://schemas.microsoft.com/office/powerpoint/2010/main" val="8244940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BF2AD33-830A-48C5-90B4-ADC3835E0158}"/>
              </a:ext>
            </a:extLst>
          </p:cNvPr>
          <p:cNvSpPr>
            <a:spLocks noGrp="1"/>
          </p:cNvSpPr>
          <p:nvPr/>
        </p:nvSpPr>
        <p:spPr>
          <a:xfrm>
            <a:off x="838201" y="495302"/>
            <a:ext cx="15240000" cy="392311"/>
          </a:xfrm>
          <a:prstGeom prst="rect">
            <a:avLst/>
          </a:prstGeom>
          <a:noFill/>
        </p:spPr>
        <p:txBody>
          <a:bodyPr wrap="square" lIns="25401" tIns="25401" rIns="25401" bIns="25401" anchor="t">
            <a:normAutofit/>
          </a:bodyPr>
          <a:lstStyle/>
          <a:p>
            <a:pPr>
              <a:lnSpc>
                <a:spcPct val="120000"/>
              </a:lnSpc>
              <a:buNone/>
            </a:pPr>
            <a:r>
              <a:rPr sz="1801" b="1" spc="361">
                <a:solidFill>
                  <a:srgbClr val="E40046"/>
                </a:solidFill>
                <a:latin typeface="Frutiger"/>
                <a:ea typeface="Frutiger"/>
                <a:cs typeface="Frutiger"/>
              </a:rPr>
              <a:t>EXECUTION OPTIONS  ·  FABRIC-NATIVE</a:t>
            </a:r>
            <a:endParaRPr sz="1801"/>
          </a:p>
        </p:txBody>
      </p:sp>
      <p:sp>
        <p:nvSpPr>
          <p:cNvPr id="3" name="Text 1">
            <a:extLst>
              <a:ext uri="{FF2B5EF4-FFF2-40B4-BE49-F238E27FC236}">
                <a16:creationId xmlns:a16="http://schemas.microsoft.com/office/drawing/2014/main" id="{4EC90D35-304A-4ED8-BF67-87162AFBE388}"/>
              </a:ext>
            </a:extLst>
          </p:cNvPr>
          <p:cNvSpPr>
            <a:spLocks noGrp="1"/>
          </p:cNvSpPr>
          <p:nvPr/>
        </p:nvSpPr>
        <p:spPr>
          <a:xfrm>
            <a:off x="838201" y="963812"/>
            <a:ext cx="15240000" cy="640407"/>
          </a:xfrm>
          <a:prstGeom prst="rect">
            <a:avLst/>
          </a:prstGeom>
          <a:noFill/>
        </p:spPr>
        <p:txBody>
          <a:bodyPr wrap="square" lIns="25401" tIns="25401" rIns="25401" bIns="25401" anchor="t">
            <a:normAutofit/>
          </a:bodyPr>
          <a:lstStyle/>
          <a:p>
            <a:pPr>
              <a:lnSpc>
                <a:spcPct val="79050"/>
              </a:lnSpc>
              <a:buNone/>
            </a:pPr>
            <a:r>
              <a:rPr sz="4651" b="1" spc="-69" dirty="0">
                <a:solidFill>
                  <a:srgbClr val="001F6B"/>
                </a:solidFill>
                <a:latin typeface="Frutiger"/>
                <a:ea typeface="Frutiger"/>
                <a:cs typeface="Frutiger"/>
              </a:rPr>
              <a:t>The Fabric dbt job: dbt without the plumbing</a:t>
            </a:r>
            <a:endParaRPr sz="4651" dirty="0"/>
          </a:p>
        </p:txBody>
      </p:sp>
      <p:pic>
        <p:nvPicPr>
          <p:cNvPr id="32" name="Image 0"/>
          <p:cNvPicPr>
            <a:picLocks noChangeAspect="1"/>
          </p:cNvPicPr>
          <p:nvPr/>
        </p:nvPicPr>
        <p:blipFill>
          <a:blip r:embed="rId3"/>
          <a:srcRect t="-5" b="-5"/>
          <a:stretch/>
        </p:blipFill>
        <p:spPr>
          <a:xfrm>
            <a:off x="16412620" y="571500"/>
            <a:ext cx="1037182" cy="514350"/>
          </a:xfrm>
          <a:prstGeom prst="rect">
            <a:avLst/>
          </a:prstGeom>
        </p:spPr>
      </p:pic>
      <p:sp>
        <p:nvSpPr>
          <p:cNvPr id="5" name="Shape 2">
            <a:extLst>
              <a:ext uri="{FF2B5EF4-FFF2-40B4-BE49-F238E27FC236}">
                <a16:creationId xmlns:a16="http://schemas.microsoft.com/office/drawing/2014/main" id="{619AE5D7-7CB4-4BEA-BB3F-D06573D3768F}"/>
              </a:ext>
            </a:extLst>
          </p:cNvPr>
          <p:cNvSpPr>
            <a:spLocks noGrp="1"/>
          </p:cNvSpPr>
          <p:nvPr/>
        </p:nvSpPr>
        <p:spPr>
          <a:xfrm>
            <a:off x="838202" y="1813769"/>
            <a:ext cx="16611600" cy="28574"/>
          </a:xfrm>
          <a:prstGeom prst="rect">
            <a:avLst/>
          </a:prstGeom>
          <a:solidFill>
            <a:srgbClr val="FF0000"/>
          </a:solidFill>
        </p:spPr>
        <p:txBody>
          <a:bodyPr/>
          <a:lstStyle/>
          <a:p>
            <a:endParaRPr sz="1801"/>
          </a:p>
        </p:txBody>
      </p:sp>
      <p:sp>
        <p:nvSpPr>
          <p:cNvPr id="6" name="Shape 3">
            <a:extLst>
              <a:ext uri="{FF2B5EF4-FFF2-40B4-BE49-F238E27FC236}">
                <a16:creationId xmlns:a16="http://schemas.microsoft.com/office/drawing/2014/main" id="{4913CC0E-0FDB-4091-96BC-623E005C1433}"/>
              </a:ext>
            </a:extLst>
          </p:cNvPr>
          <p:cNvSpPr>
            <a:spLocks noGrp="1"/>
          </p:cNvSpPr>
          <p:nvPr/>
        </p:nvSpPr>
        <p:spPr>
          <a:xfrm>
            <a:off x="838202" y="1880445"/>
            <a:ext cx="16611600" cy="28574"/>
          </a:xfrm>
          <a:prstGeom prst="rect">
            <a:avLst/>
          </a:prstGeom>
          <a:solidFill>
            <a:srgbClr val="3649A8"/>
          </a:solidFill>
        </p:spPr>
        <p:txBody>
          <a:bodyPr/>
          <a:lstStyle/>
          <a:p>
            <a:endParaRPr sz="1801"/>
          </a:p>
        </p:txBody>
      </p:sp>
      <p:sp>
        <p:nvSpPr>
          <p:cNvPr id="25" name="Shape 22">
            <a:extLst>
              <a:ext uri="{FF2B5EF4-FFF2-40B4-BE49-F238E27FC236}">
                <a16:creationId xmlns:a16="http://schemas.microsoft.com/office/drawing/2014/main" id="{B765AE01-8B3A-4F2B-9234-E1B2735FE6D0}"/>
              </a:ext>
            </a:extLst>
          </p:cNvPr>
          <p:cNvSpPr>
            <a:spLocks noGrp="1"/>
          </p:cNvSpPr>
          <p:nvPr/>
        </p:nvSpPr>
        <p:spPr>
          <a:xfrm>
            <a:off x="838202" y="9294615"/>
            <a:ext cx="16611600" cy="9525"/>
          </a:xfrm>
          <a:prstGeom prst="rect">
            <a:avLst/>
          </a:prstGeom>
          <a:solidFill>
            <a:srgbClr val="E2E7EB"/>
          </a:solidFill>
        </p:spPr>
        <p:txBody>
          <a:bodyPr/>
          <a:lstStyle/>
          <a:p>
            <a:endParaRPr sz="1801"/>
          </a:p>
        </p:txBody>
      </p:sp>
      <p:sp>
        <p:nvSpPr>
          <p:cNvPr id="26" name="Text 23">
            <a:extLst>
              <a:ext uri="{FF2B5EF4-FFF2-40B4-BE49-F238E27FC236}">
                <a16:creationId xmlns:a16="http://schemas.microsoft.com/office/drawing/2014/main" id="{5C5AFE6D-27B1-4C09-BBBE-19FE36BD27C8}"/>
              </a:ext>
            </a:extLst>
          </p:cNvPr>
          <p:cNvSpPr>
            <a:spLocks noGrp="1"/>
          </p:cNvSpPr>
          <p:nvPr/>
        </p:nvSpPr>
        <p:spPr>
          <a:xfrm>
            <a:off x="838201" y="9513691"/>
            <a:ext cx="7461945" cy="392311"/>
          </a:xfrm>
          <a:prstGeom prst="rect">
            <a:avLst/>
          </a:prstGeom>
          <a:noFill/>
        </p:spPr>
        <p:txBody>
          <a:bodyPr wrap="square" lIns="25401" tIns="25401" rIns="25401" bIns="25401" anchor="t">
            <a:normAutofit/>
          </a:bodyPr>
          <a:lstStyle/>
          <a:p>
            <a:pPr>
              <a:lnSpc>
                <a:spcPct val="124000"/>
              </a:lnSpc>
              <a:buNone/>
            </a:pPr>
            <a:r>
              <a:rPr sz="1801" dirty="0">
                <a:solidFill>
                  <a:srgbClr val="667780"/>
                </a:solidFill>
                <a:latin typeface="Frutiger"/>
                <a:ea typeface="Frutiger"/>
                <a:cs typeface="Frutiger"/>
              </a:rPr>
              <a:t>Getting started with dbt</a:t>
            </a:r>
            <a:endParaRPr sz="1801" dirty="0"/>
          </a:p>
        </p:txBody>
      </p:sp>
      <p:sp>
        <p:nvSpPr>
          <p:cNvPr id="28" name="Text 25">
            <a:extLst>
              <a:ext uri="{FF2B5EF4-FFF2-40B4-BE49-F238E27FC236}">
                <a16:creationId xmlns:a16="http://schemas.microsoft.com/office/drawing/2014/main" id="{E1A6A13E-D079-4787-BA2C-26179E45E0AB}"/>
              </a:ext>
            </a:extLst>
          </p:cNvPr>
          <p:cNvSpPr>
            <a:spLocks noGrp="1"/>
          </p:cNvSpPr>
          <p:nvPr/>
        </p:nvSpPr>
        <p:spPr>
          <a:xfrm>
            <a:off x="9987856" y="9513691"/>
            <a:ext cx="7461945" cy="392311"/>
          </a:xfrm>
          <a:prstGeom prst="rect">
            <a:avLst/>
          </a:prstGeom>
          <a:noFill/>
        </p:spPr>
        <p:txBody>
          <a:bodyPr wrap="square" lIns="25401" tIns="25401" rIns="25401" bIns="25401" anchor="t">
            <a:normAutofit/>
          </a:bodyPr>
          <a:lstStyle/>
          <a:p>
            <a:pPr algn="r">
              <a:lnSpc>
                <a:spcPct val="124000"/>
              </a:lnSpc>
              <a:buNone/>
            </a:pPr>
            <a:r>
              <a:rPr lang="en-US" sz="1801">
                <a:solidFill>
                  <a:srgbClr val="667780"/>
                </a:solidFill>
                <a:latin typeface="Frutiger"/>
                <a:ea typeface="Frutiger"/>
                <a:cs typeface="Frutiger"/>
              </a:rPr>
              <a:t>24</a:t>
            </a:r>
            <a:endParaRPr sz="1801"/>
          </a:p>
        </p:txBody>
      </p:sp>
      <p:sp>
        <p:nvSpPr>
          <p:cNvPr id="100" name="Shape 100"/>
          <p:cNvSpPr/>
          <p:nvPr/>
        </p:nvSpPr>
        <p:spPr>
          <a:xfrm>
            <a:off x="838200" y="2311400"/>
            <a:ext cx="16611600" cy="330200"/>
          </a:xfrm>
          <a:prstGeom prst="rect">
            <a:avLst/>
          </a:prstGeom>
          <a:noFill/>
          <a:ln>
            <a:noFill/>
          </a:ln>
        </p:spPr>
        <p:txBody>
          <a:bodyPr wrap="square" lIns="0" tIns="0" rIns="0" bIns="0" anchor="t">
            <a:normAutofit/>
          </a:bodyPr>
          <a:lstStyle/>
          <a:p>
            <a:pPr>
              <a:buNone/>
            </a:pPr>
            <a:r>
              <a:rPr lang="en-US" sz="1300" b="1" spc="150" dirty="0">
                <a:solidFill>
                  <a:srgbClr val="E40046"/>
                </a:solidFill>
                <a:latin typeface="Frutiger"/>
                <a:cs typeface="Frutiger"/>
              </a:rPr>
              <a:t>WHAT IT IS  ·  PUBLIC PREVIEW, TENANT ADMIN MUST ENABLE IT</a:t>
            </a:r>
          </a:p>
        </p:txBody>
      </p:sp>
      <p:sp>
        <p:nvSpPr>
          <p:cNvPr id="101" name="Shape 101"/>
          <p:cNvSpPr/>
          <p:nvPr/>
        </p:nvSpPr>
        <p:spPr>
          <a:xfrm>
            <a:off x="838200" y="2641600"/>
            <a:ext cx="3886200" cy="914400"/>
          </a:xfrm>
          <a:prstGeom prst="homePlate">
            <a:avLst>
              <a:gd name="adj" fmla="val 20000"/>
            </a:avLst>
          </a:prstGeom>
          <a:solidFill>
            <a:srgbClr val="F4F6FA"/>
          </a:solidFill>
          <a:ln>
            <a:noFill/>
          </a:ln>
        </p:spPr>
        <p:txBody>
          <a:bodyPr wrap="square" lIns="203200" tIns="25400" rIns="355600" bIns="25400" anchor="ctr">
            <a:normAutofit/>
          </a:bodyPr>
          <a:lstStyle/>
          <a:p>
            <a:pPr>
              <a:buNone/>
            </a:pPr>
            <a:r>
              <a:rPr lang="en-US" sz="1700" b="1" dirty="0">
                <a:solidFill>
                  <a:srgbClr val="001F6B"/>
                </a:solidFill>
                <a:latin typeface="Frutiger"/>
                <a:cs typeface="Frutiger"/>
              </a:rPr>
              <a:t>New item → dbt job</a:t>
            </a:r>
          </a:p>
          <a:p>
            <a:pPr>
              <a:spcBef>
                <a:spcPts val="100"/>
              </a:spcBef>
              <a:buNone/>
            </a:pPr>
            <a:r>
              <a:rPr lang="en-US" sz="1500" dirty="0">
                <a:solidFill>
                  <a:srgbClr val="364750"/>
                </a:solidFill>
                <a:latin typeface="Frutiger"/>
                <a:cs typeface="Frutiger"/>
              </a:rPr>
              <a:t>in the workspace, under Prepare Data</a:t>
            </a:r>
          </a:p>
        </p:txBody>
      </p:sp>
      <p:sp>
        <p:nvSpPr>
          <p:cNvPr id="102" name="Shape 102"/>
          <p:cNvSpPr/>
          <p:nvPr/>
        </p:nvSpPr>
        <p:spPr>
          <a:xfrm>
            <a:off x="5080000" y="2641600"/>
            <a:ext cx="3886200" cy="914400"/>
          </a:xfrm>
          <a:prstGeom prst="homePlate">
            <a:avLst>
              <a:gd name="adj" fmla="val 20000"/>
            </a:avLst>
          </a:prstGeom>
          <a:solidFill>
            <a:srgbClr val="F4F6FA"/>
          </a:solidFill>
          <a:ln>
            <a:noFill/>
          </a:ln>
        </p:spPr>
        <p:txBody>
          <a:bodyPr wrap="square" lIns="203200" tIns="25400" rIns="355600" bIns="25400" anchor="ctr">
            <a:normAutofit/>
          </a:bodyPr>
          <a:lstStyle/>
          <a:p>
            <a:pPr>
              <a:buNone/>
            </a:pPr>
            <a:r>
              <a:rPr lang="en-US" sz="1700" b="1" dirty="0">
                <a:solidFill>
                  <a:srgbClr val="001F6B"/>
                </a:solidFill>
                <a:latin typeface="Frutiger"/>
                <a:cs typeface="Frutiger"/>
              </a:rPr>
              <a:t>Bring the project</a:t>
            </a:r>
          </a:p>
          <a:p>
            <a:pPr>
              <a:spcBef>
                <a:spcPts val="100"/>
              </a:spcBef>
              <a:buNone/>
            </a:pPr>
            <a:r>
              <a:rPr lang="en-US" sz="1500" dirty="0">
                <a:solidFill>
                  <a:srgbClr val="364750"/>
                </a:solidFill>
                <a:latin typeface="Frutiger"/>
                <a:cs typeface="Frutiger"/>
              </a:rPr>
              <a:t>upload files, start from the sample, or connect a GitHub repo</a:t>
            </a:r>
          </a:p>
        </p:txBody>
      </p:sp>
      <p:sp>
        <p:nvSpPr>
          <p:cNvPr id="103" name="Shape 103"/>
          <p:cNvSpPr/>
          <p:nvPr/>
        </p:nvSpPr>
        <p:spPr>
          <a:xfrm>
            <a:off x="9321800" y="2641600"/>
            <a:ext cx="3886200" cy="914400"/>
          </a:xfrm>
          <a:prstGeom prst="homePlate">
            <a:avLst>
              <a:gd name="adj" fmla="val 20000"/>
            </a:avLst>
          </a:prstGeom>
          <a:solidFill>
            <a:srgbClr val="F4F6FA"/>
          </a:solidFill>
          <a:ln>
            <a:noFill/>
          </a:ln>
        </p:spPr>
        <p:txBody>
          <a:bodyPr wrap="square" lIns="203200" tIns="25400" rIns="355600" bIns="25400" anchor="ctr">
            <a:normAutofit/>
          </a:bodyPr>
          <a:lstStyle/>
          <a:p>
            <a:pPr>
              <a:buNone/>
            </a:pPr>
            <a:r>
              <a:rPr lang="en-US" sz="1700" b="1" dirty="0">
                <a:solidFill>
                  <a:srgbClr val="001F6B"/>
                </a:solidFill>
                <a:latin typeface="Frutiger"/>
                <a:cs typeface="Frutiger"/>
              </a:rPr>
              <a:t>Pick the connection</a:t>
            </a:r>
          </a:p>
          <a:p>
            <a:pPr>
              <a:spcBef>
                <a:spcPts val="100"/>
              </a:spcBef>
              <a:buNone/>
            </a:pPr>
            <a:r>
              <a:rPr lang="en-US" sz="1500" dirty="0">
                <a:solidFill>
                  <a:srgbClr val="364750"/>
                </a:solidFill>
                <a:latin typeface="Frutiger"/>
                <a:cs typeface="Frutiger"/>
              </a:rPr>
              <a:t>Warehouse · Lakehouse · Azure SQL · Snowflake · PostgreSQL</a:t>
            </a:r>
          </a:p>
        </p:txBody>
      </p:sp>
      <p:sp>
        <p:nvSpPr>
          <p:cNvPr id="104" name="Shape 104"/>
          <p:cNvSpPr/>
          <p:nvPr/>
        </p:nvSpPr>
        <p:spPr>
          <a:xfrm>
            <a:off x="13563600" y="2641600"/>
            <a:ext cx="3886200" cy="914400"/>
          </a:xfrm>
          <a:prstGeom prst="homePlate">
            <a:avLst>
              <a:gd name="adj" fmla="val 20000"/>
            </a:avLst>
          </a:prstGeom>
          <a:solidFill>
            <a:srgbClr val="001F6B"/>
          </a:solidFill>
          <a:ln>
            <a:noFill/>
          </a:ln>
        </p:spPr>
        <p:txBody>
          <a:bodyPr wrap="square" lIns="203200" tIns="25400" rIns="355600" bIns="25400" anchor="ctr">
            <a:normAutofit/>
          </a:bodyPr>
          <a:lstStyle/>
          <a:p>
            <a:pPr>
              <a:buNone/>
            </a:pPr>
            <a:r>
              <a:rPr lang="en-US" sz="1700" b="1" dirty="0">
                <a:solidFill>
                  <a:srgbClr val="FFFFFF"/>
                </a:solidFill>
                <a:latin typeface="Frutiger"/>
                <a:cs typeface="Frutiger"/>
              </a:rPr>
              <a:t>Run or schedule</a:t>
            </a:r>
          </a:p>
          <a:p>
            <a:pPr>
              <a:spcBef>
                <a:spcPts val="100"/>
              </a:spcBef>
              <a:buNone/>
            </a:pPr>
            <a:r>
              <a:rPr lang="en-US" sz="1500" dirty="0">
                <a:solidFill>
                  <a:srgbClr val="FFFFFF"/>
                </a:solidFill>
                <a:latin typeface="Frutiger"/>
                <a:cs typeface="Frutiger"/>
              </a:rPr>
              <a:t>from the UI; logs and artifacts land in OneLake</a:t>
            </a:r>
          </a:p>
        </p:txBody>
      </p:sp>
      <p:sp>
        <p:nvSpPr>
          <p:cNvPr id="106" name="Shape 106"/>
          <p:cNvSpPr/>
          <p:nvPr/>
        </p:nvSpPr>
        <p:spPr>
          <a:xfrm>
            <a:off x="838200" y="3657600"/>
            <a:ext cx="16611600" cy="381000"/>
          </a:xfrm>
          <a:prstGeom prst="rect">
            <a:avLst/>
          </a:prstGeom>
          <a:noFill/>
          <a:ln>
            <a:noFill/>
          </a:ln>
        </p:spPr>
        <p:txBody>
          <a:bodyPr wrap="square" lIns="0" tIns="0" rIns="0" bIns="0" anchor="t">
            <a:normAutofit fontScale="85000" lnSpcReduction="10000"/>
          </a:bodyPr>
          <a:lstStyle/>
          <a:p>
            <a:pPr>
              <a:buNone/>
            </a:pPr>
            <a:r>
              <a:rPr lang="en-US" sz="1700" b="1" dirty="0">
                <a:solidFill>
                  <a:srgbClr val="001F6B"/>
                </a:solidFill>
                <a:latin typeface="Frutiger"/>
                <a:cs typeface="Frutiger"/>
              </a:rPr>
              <a:t>Same dbt Core project, same commands. </a:t>
            </a:r>
            <a:r>
              <a:rPr lang="en-US" sz="1700" dirty="0">
                <a:solidFill>
                  <a:srgbClr val="364750"/>
                </a:solidFill>
                <a:latin typeface="Frutiger"/>
                <a:cs typeface="Frutiger"/>
              </a:rPr>
              <a:t>Microsoft hosts the runtime (v1.0 = dbt Core 1.11 + pinned adapters: dbt-fabric 1.10, dbt-fabricspark 1.12, dbt-sqlserver 1.9) — you stop owning Python environments, agents and cron.</a:t>
            </a:r>
          </a:p>
        </p:txBody>
      </p:sp>
      <p:sp>
        <p:nvSpPr>
          <p:cNvPr id="120" name="Shape 120"/>
          <p:cNvSpPr/>
          <p:nvPr/>
        </p:nvSpPr>
        <p:spPr>
          <a:xfrm>
            <a:off x="838200" y="4191000"/>
            <a:ext cx="8255000" cy="40386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a:p>
        </p:txBody>
      </p:sp>
      <p:sp>
        <p:nvSpPr>
          <p:cNvPr id="121" name="Shape 121"/>
          <p:cNvSpPr/>
          <p:nvPr/>
        </p:nvSpPr>
        <p:spPr>
          <a:xfrm>
            <a:off x="838200" y="4191000"/>
            <a:ext cx="8255000" cy="533400"/>
          </a:xfrm>
          <a:prstGeom prst="rect">
            <a:avLst/>
          </a:prstGeom>
          <a:solidFill>
            <a:srgbClr val="E6F5EC"/>
          </a:solidFill>
          <a:ln>
            <a:noFill/>
          </a:ln>
        </p:spPr>
        <p:txBody>
          <a:bodyPr wrap="square" lIns="203200" tIns="25400" rIns="203200" bIns="25400" anchor="ctr">
            <a:normAutofit/>
          </a:bodyPr>
          <a:lstStyle/>
          <a:p>
            <a:pPr>
              <a:buNone/>
            </a:pPr>
            <a:r>
              <a:rPr lang="en-US" sz="1900" b="1" dirty="0">
                <a:solidFill>
                  <a:srgbClr val="1E8E5A"/>
                </a:solidFill>
                <a:latin typeface="Frutiger"/>
                <a:cs typeface="Frutiger"/>
              </a:rPr>
              <a:t>Advantages</a:t>
            </a:r>
          </a:p>
        </p:txBody>
      </p:sp>
      <p:sp>
        <p:nvSpPr>
          <p:cNvPr id="122" name="Shape 122"/>
          <p:cNvSpPr/>
          <p:nvPr/>
        </p:nvSpPr>
        <p:spPr>
          <a:xfrm>
            <a:off x="1016000" y="4826000"/>
            <a:ext cx="304800" cy="508000"/>
          </a:xfrm>
          <a:prstGeom prst="rect">
            <a:avLst/>
          </a:prstGeom>
          <a:noFill/>
          <a:ln>
            <a:noFill/>
          </a:ln>
        </p:spPr>
        <p:txBody>
          <a:bodyPr wrap="square" lIns="0" tIns="0" rIns="0" bIns="0" anchor="ctr">
            <a:normAutofit/>
          </a:bodyPr>
          <a:lstStyle/>
          <a:p>
            <a:pPr algn="ctr">
              <a:buNone/>
            </a:pPr>
            <a:r>
              <a:rPr lang="en-US" sz="1800" b="1" dirty="0">
                <a:solidFill>
                  <a:srgbClr val="1E8E5A"/>
                </a:solidFill>
                <a:latin typeface="Frutiger"/>
                <a:cs typeface="Frutiger"/>
              </a:rPr>
              <a:t>✓</a:t>
            </a:r>
          </a:p>
        </p:txBody>
      </p:sp>
      <p:sp>
        <p:nvSpPr>
          <p:cNvPr id="123" name="Shape 123"/>
          <p:cNvSpPr/>
          <p:nvPr/>
        </p:nvSpPr>
        <p:spPr>
          <a:xfrm>
            <a:off x="1397000" y="4826000"/>
            <a:ext cx="7543800" cy="508000"/>
          </a:xfrm>
          <a:prstGeom prst="rect">
            <a:avLst/>
          </a:prstGeom>
          <a:noFill/>
          <a:ln>
            <a:noFill/>
          </a:ln>
        </p:spPr>
        <p:txBody>
          <a:bodyPr wrap="square" lIns="0" tIns="0" rIns="0" bIns="0" anchor="ctr">
            <a:normAutofit/>
          </a:bodyPr>
          <a:lstStyle/>
          <a:p>
            <a:pPr>
              <a:lnSpc>
                <a:spcPct val="100000"/>
              </a:lnSpc>
              <a:buNone/>
            </a:pPr>
            <a:r>
              <a:rPr lang="en-US" sz="1600" dirty="0">
                <a:solidFill>
                  <a:srgbClr val="364750"/>
                </a:solidFill>
                <a:latin typeface="Frutiger"/>
                <a:cs typeface="Frutiger"/>
              </a:rPr>
              <a:t>Nothing to install or patch — the managed runtime replaces venvs, lock files and build agents</a:t>
            </a:r>
          </a:p>
        </p:txBody>
      </p:sp>
      <p:sp>
        <p:nvSpPr>
          <p:cNvPr id="124" name="Shape 124"/>
          <p:cNvSpPr/>
          <p:nvPr/>
        </p:nvSpPr>
        <p:spPr>
          <a:xfrm>
            <a:off x="1016000" y="5384800"/>
            <a:ext cx="304800" cy="508000"/>
          </a:xfrm>
          <a:prstGeom prst="rect">
            <a:avLst/>
          </a:prstGeom>
          <a:noFill/>
          <a:ln>
            <a:noFill/>
          </a:ln>
        </p:spPr>
        <p:txBody>
          <a:bodyPr wrap="square" lIns="0" tIns="0" rIns="0" bIns="0" anchor="ctr">
            <a:normAutofit/>
          </a:bodyPr>
          <a:lstStyle/>
          <a:p>
            <a:pPr algn="ctr">
              <a:buNone/>
            </a:pPr>
            <a:r>
              <a:rPr lang="en-US" sz="1800" b="1" dirty="0">
                <a:solidFill>
                  <a:srgbClr val="1E8E5A"/>
                </a:solidFill>
                <a:latin typeface="Frutiger"/>
                <a:cs typeface="Frutiger"/>
              </a:rPr>
              <a:t>✓</a:t>
            </a:r>
          </a:p>
        </p:txBody>
      </p:sp>
      <p:sp>
        <p:nvSpPr>
          <p:cNvPr id="125" name="Shape 125"/>
          <p:cNvSpPr/>
          <p:nvPr/>
        </p:nvSpPr>
        <p:spPr>
          <a:xfrm>
            <a:off x="1397000" y="5384800"/>
            <a:ext cx="7543800" cy="508000"/>
          </a:xfrm>
          <a:prstGeom prst="rect">
            <a:avLst/>
          </a:prstGeom>
          <a:noFill/>
          <a:ln>
            <a:noFill/>
          </a:ln>
        </p:spPr>
        <p:txBody>
          <a:bodyPr wrap="square" lIns="0" tIns="0" rIns="0" bIns="0" anchor="ctr">
            <a:normAutofit/>
          </a:bodyPr>
          <a:lstStyle/>
          <a:p>
            <a:pPr>
              <a:lnSpc>
                <a:spcPct val="100000"/>
              </a:lnSpc>
              <a:buNone/>
            </a:pPr>
            <a:r>
              <a:rPr lang="en-US" sz="1600" dirty="0">
                <a:solidFill>
                  <a:srgbClr val="364750"/>
                </a:solidFill>
                <a:latin typeface="Frutiger"/>
                <a:cs typeface="Frutiger"/>
              </a:rPr>
              <a:t>Scheduling, run history and alerts in the Fabric monitoring hub you already use</a:t>
            </a:r>
          </a:p>
        </p:txBody>
      </p:sp>
      <p:sp>
        <p:nvSpPr>
          <p:cNvPr id="126" name="Shape 126"/>
          <p:cNvSpPr/>
          <p:nvPr/>
        </p:nvSpPr>
        <p:spPr>
          <a:xfrm>
            <a:off x="1016000" y="5943600"/>
            <a:ext cx="304800" cy="508000"/>
          </a:xfrm>
          <a:prstGeom prst="rect">
            <a:avLst/>
          </a:prstGeom>
          <a:noFill/>
          <a:ln>
            <a:noFill/>
          </a:ln>
        </p:spPr>
        <p:txBody>
          <a:bodyPr wrap="square" lIns="0" tIns="0" rIns="0" bIns="0" anchor="ctr">
            <a:normAutofit/>
          </a:bodyPr>
          <a:lstStyle/>
          <a:p>
            <a:pPr algn="ctr">
              <a:buNone/>
            </a:pPr>
            <a:r>
              <a:rPr lang="en-US" sz="1800" b="1" dirty="0">
                <a:solidFill>
                  <a:srgbClr val="1E8E5A"/>
                </a:solidFill>
                <a:latin typeface="Frutiger"/>
                <a:cs typeface="Frutiger"/>
              </a:rPr>
              <a:t>✓</a:t>
            </a:r>
          </a:p>
        </p:txBody>
      </p:sp>
      <p:sp>
        <p:nvSpPr>
          <p:cNvPr id="127" name="Shape 127"/>
          <p:cNvSpPr/>
          <p:nvPr/>
        </p:nvSpPr>
        <p:spPr>
          <a:xfrm>
            <a:off x="1397000" y="5943600"/>
            <a:ext cx="7543800" cy="508000"/>
          </a:xfrm>
          <a:prstGeom prst="rect">
            <a:avLst/>
          </a:prstGeom>
          <a:noFill/>
          <a:ln>
            <a:noFill/>
          </a:ln>
        </p:spPr>
        <p:txBody>
          <a:bodyPr wrap="square" lIns="0" tIns="0" rIns="0" bIns="0" anchor="ctr">
            <a:normAutofit/>
          </a:bodyPr>
          <a:lstStyle/>
          <a:p>
            <a:pPr>
              <a:lnSpc>
                <a:spcPct val="100000"/>
              </a:lnSpc>
              <a:buNone/>
            </a:pPr>
            <a:r>
              <a:rPr lang="en-US" sz="1600" dirty="0">
                <a:solidFill>
                  <a:srgbClr val="364750"/>
                </a:solidFill>
                <a:latin typeface="Frutiger"/>
                <a:cs typeface="Frutiger"/>
              </a:rPr>
              <a:t>Runs under Fabric identity and workspace permissions; no separate secret store</a:t>
            </a:r>
          </a:p>
        </p:txBody>
      </p:sp>
      <p:sp>
        <p:nvSpPr>
          <p:cNvPr id="128" name="Shape 128"/>
          <p:cNvSpPr/>
          <p:nvPr/>
        </p:nvSpPr>
        <p:spPr>
          <a:xfrm>
            <a:off x="1016000" y="6502400"/>
            <a:ext cx="304800" cy="508000"/>
          </a:xfrm>
          <a:prstGeom prst="rect">
            <a:avLst/>
          </a:prstGeom>
          <a:noFill/>
          <a:ln>
            <a:noFill/>
          </a:ln>
        </p:spPr>
        <p:txBody>
          <a:bodyPr wrap="square" lIns="0" tIns="0" rIns="0" bIns="0" anchor="ctr">
            <a:normAutofit/>
          </a:bodyPr>
          <a:lstStyle/>
          <a:p>
            <a:pPr algn="ctr">
              <a:buNone/>
            </a:pPr>
            <a:r>
              <a:rPr lang="en-US" sz="1800" b="1" dirty="0">
                <a:solidFill>
                  <a:srgbClr val="1E8E5A"/>
                </a:solidFill>
                <a:latin typeface="Frutiger"/>
                <a:cs typeface="Frutiger"/>
              </a:rPr>
              <a:t>✓</a:t>
            </a:r>
          </a:p>
        </p:txBody>
      </p:sp>
      <p:sp>
        <p:nvSpPr>
          <p:cNvPr id="129" name="Shape 129"/>
          <p:cNvSpPr/>
          <p:nvPr/>
        </p:nvSpPr>
        <p:spPr>
          <a:xfrm>
            <a:off x="1397000" y="6502400"/>
            <a:ext cx="7543800" cy="508000"/>
          </a:xfrm>
          <a:prstGeom prst="rect">
            <a:avLst/>
          </a:prstGeom>
          <a:noFill/>
          <a:ln>
            <a:noFill/>
          </a:ln>
        </p:spPr>
        <p:txBody>
          <a:bodyPr wrap="square" lIns="0" tIns="0" rIns="0" bIns="0" anchor="ctr">
            <a:normAutofit/>
          </a:bodyPr>
          <a:lstStyle/>
          <a:p>
            <a:pPr>
              <a:lnSpc>
                <a:spcPct val="100000"/>
              </a:lnSpc>
              <a:buNone/>
            </a:pPr>
            <a:r>
              <a:rPr lang="en-US" sz="1600" dirty="0">
                <a:solidFill>
                  <a:srgbClr val="364750"/>
                </a:solidFill>
                <a:latin typeface="Frutiger"/>
                <a:cs typeface="Frutiger"/>
              </a:rPr>
              <a:t>Lives in the workspace and runs as a Data Factory pipeline activity — “ingest, then transform” in one pipeline</a:t>
            </a:r>
          </a:p>
        </p:txBody>
      </p:sp>
      <p:sp>
        <p:nvSpPr>
          <p:cNvPr id="130" name="Shape 130"/>
          <p:cNvSpPr/>
          <p:nvPr/>
        </p:nvSpPr>
        <p:spPr>
          <a:xfrm>
            <a:off x="1016000" y="7061200"/>
            <a:ext cx="304800" cy="508000"/>
          </a:xfrm>
          <a:prstGeom prst="rect">
            <a:avLst/>
          </a:prstGeom>
          <a:noFill/>
          <a:ln>
            <a:noFill/>
          </a:ln>
        </p:spPr>
        <p:txBody>
          <a:bodyPr wrap="square" lIns="0" tIns="0" rIns="0" bIns="0" anchor="ctr">
            <a:normAutofit/>
          </a:bodyPr>
          <a:lstStyle/>
          <a:p>
            <a:pPr algn="ctr">
              <a:buNone/>
            </a:pPr>
            <a:r>
              <a:rPr lang="en-US" sz="1800" b="1" dirty="0">
                <a:solidFill>
                  <a:srgbClr val="1E8E5A"/>
                </a:solidFill>
                <a:latin typeface="Frutiger"/>
                <a:cs typeface="Frutiger"/>
              </a:rPr>
              <a:t>✓</a:t>
            </a:r>
          </a:p>
        </p:txBody>
      </p:sp>
      <p:sp>
        <p:nvSpPr>
          <p:cNvPr id="131" name="Shape 131"/>
          <p:cNvSpPr/>
          <p:nvPr/>
        </p:nvSpPr>
        <p:spPr>
          <a:xfrm>
            <a:off x="1397000" y="7061200"/>
            <a:ext cx="7543800" cy="508000"/>
          </a:xfrm>
          <a:prstGeom prst="rect">
            <a:avLst/>
          </a:prstGeom>
          <a:noFill/>
          <a:ln>
            <a:noFill/>
          </a:ln>
        </p:spPr>
        <p:txBody>
          <a:bodyPr wrap="square" lIns="0" tIns="0" rIns="0" bIns="0" anchor="ctr">
            <a:normAutofit/>
          </a:bodyPr>
          <a:lstStyle/>
          <a:p>
            <a:pPr>
              <a:lnSpc>
                <a:spcPct val="100000"/>
              </a:lnSpc>
              <a:buNone/>
            </a:pPr>
            <a:r>
              <a:rPr lang="en-US" sz="1600" dirty="0">
                <a:solidFill>
                  <a:srgbClr val="364750"/>
                </a:solidFill>
                <a:latin typeface="Frutiger"/>
                <a:cs typeface="Frutiger"/>
              </a:rPr>
              <a:t>Sits inside Fabric CI/CD (Git integration, deployment pipelines)</a:t>
            </a:r>
          </a:p>
        </p:txBody>
      </p:sp>
      <p:sp>
        <p:nvSpPr>
          <p:cNvPr id="132" name="Shape 132"/>
          <p:cNvSpPr/>
          <p:nvPr/>
        </p:nvSpPr>
        <p:spPr>
          <a:xfrm>
            <a:off x="1016000" y="7620000"/>
            <a:ext cx="304800" cy="508000"/>
          </a:xfrm>
          <a:prstGeom prst="rect">
            <a:avLst/>
          </a:prstGeom>
          <a:noFill/>
          <a:ln>
            <a:noFill/>
          </a:ln>
        </p:spPr>
        <p:txBody>
          <a:bodyPr wrap="square" lIns="0" tIns="0" rIns="0" bIns="0" anchor="ctr">
            <a:normAutofit/>
          </a:bodyPr>
          <a:lstStyle/>
          <a:p>
            <a:pPr algn="ctr">
              <a:buNone/>
            </a:pPr>
            <a:r>
              <a:rPr lang="en-US" sz="1800" b="1" dirty="0">
                <a:solidFill>
                  <a:srgbClr val="1E8E5A"/>
                </a:solidFill>
                <a:latin typeface="Frutiger"/>
                <a:cs typeface="Frutiger"/>
              </a:rPr>
              <a:t>✓</a:t>
            </a:r>
          </a:p>
        </p:txBody>
      </p:sp>
      <p:sp>
        <p:nvSpPr>
          <p:cNvPr id="133" name="Shape 133"/>
          <p:cNvSpPr/>
          <p:nvPr/>
        </p:nvSpPr>
        <p:spPr>
          <a:xfrm>
            <a:off x="1397000" y="7620000"/>
            <a:ext cx="7543800" cy="508000"/>
          </a:xfrm>
          <a:prstGeom prst="rect">
            <a:avLst/>
          </a:prstGeom>
          <a:noFill/>
          <a:ln>
            <a:noFill/>
          </a:ln>
        </p:spPr>
        <p:txBody>
          <a:bodyPr wrap="square" lIns="0" tIns="0" rIns="0" bIns="0" anchor="ctr">
            <a:normAutofit/>
          </a:bodyPr>
          <a:lstStyle/>
          <a:p>
            <a:pPr>
              <a:lnSpc>
                <a:spcPct val="100000"/>
              </a:lnSpc>
              <a:buNone/>
            </a:pPr>
            <a:r>
              <a:rPr lang="en-US" sz="1600" dirty="0">
                <a:solidFill>
                  <a:srgbClr val="364750"/>
                </a:solidFill>
                <a:latin typeface="Frutiger"/>
                <a:cs typeface="Frutiger"/>
              </a:rPr>
              <a:t>Packages such as </a:t>
            </a:r>
            <a:r>
              <a:rPr lang="en-US" sz="1600" dirty="0" err="1">
                <a:solidFill>
                  <a:srgbClr val="364750"/>
                </a:solidFill>
                <a:latin typeface="Frutiger"/>
                <a:cs typeface="Frutiger"/>
              </a:rPr>
              <a:t>dbt_utils</a:t>
            </a:r>
            <a:r>
              <a:rPr lang="en-US" sz="1600" dirty="0">
                <a:solidFill>
                  <a:srgbClr val="364750"/>
                </a:solidFill>
                <a:latin typeface="Frutiger"/>
                <a:cs typeface="Frutiger"/>
              </a:rPr>
              <a:t> install from packages.yml at run time</a:t>
            </a:r>
          </a:p>
        </p:txBody>
      </p:sp>
      <p:sp>
        <p:nvSpPr>
          <p:cNvPr id="140" name="Shape 140"/>
          <p:cNvSpPr/>
          <p:nvPr/>
        </p:nvSpPr>
        <p:spPr>
          <a:xfrm>
            <a:off x="9194800" y="4191000"/>
            <a:ext cx="8255000" cy="40386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a:p>
        </p:txBody>
      </p:sp>
      <p:sp>
        <p:nvSpPr>
          <p:cNvPr id="141" name="Shape 141"/>
          <p:cNvSpPr/>
          <p:nvPr/>
        </p:nvSpPr>
        <p:spPr>
          <a:xfrm>
            <a:off x="9194800" y="4191000"/>
            <a:ext cx="8255000" cy="533400"/>
          </a:xfrm>
          <a:prstGeom prst="rect">
            <a:avLst/>
          </a:prstGeom>
          <a:solidFill>
            <a:srgbClr val="FFF4DC"/>
          </a:solidFill>
          <a:ln>
            <a:noFill/>
          </a:ln>
        </p:spPr>
        <p:txBody>
          <a:bodyPr wrap="square" lIns="203200" tIns="25400" rIns="203200" bIns="25400" anchor="ctr">
            <a:normAutofit/>
          </a:bodyPr>
          <a:lstStyle/>
          <a:p>
            <a:pPr>
              <a:buNone/>
            </a:pPr>
            <a:r>
              <a:rPr lang="en-US" sz="1900" b="1" dirty="0">
                <a:solidFill>
                  <a:srgbClr val="B7791F"/>
                </a:solidFill>
                <a:latin typeface="Frutiger"/>
                <a:cs typeface="Frutiger"/>
              </a:rPr>
              <a:t>Trade-offs</a:t>
            </a:r>
          </a:p>
        </p:txBody>
      </p:sp>
      <p:sp>
        <p:nvSpPr>
          <p:cNvPr id="142" name="Shape 142"/>
          <p:cNvSpPr/>
          <p:nvPr/>
        </p:nvSpPr>
        <p:spPr>
          <a:xfrm>
            <a:off x="9372600" y="4826000"/>
            <a:ext cx="304800" cy="508000"/>
          </a:xfrm>
          <a:prstGeom prst="rect">
            <a:avLst/>
          </a:prstGeom>
          <a:noFill/>
          <a:ln>
            <a:noFill/>
          </a:ln>
        </p:spPr>
        <p:txBody>
          <a:bodyPr wrap="square" lIns="0" tIns="0" rIns="0" bIns="0" anchor="ctr">
            <a:normAutofit/>
          </a:bodyPr>
          <a:lstStyle/>
          <a:p>
            <a:pPr algn="ctr">
              <a:buNone/>
            </a:pPr>
            <a:r>
              <a:rPr lang="en-US" sz="1800" b="1" dirty="0">
                <a:solidFill>
                  <a:srgbClr val="B7791F"/>
                </a:solidFill>
                <a:latin typeface="Frutiger"/>
                <a:cs typeface="Frutiger"/>
              </a:rPr>
              <a:t>!</a:t>
            </a:r>
          </a:p>
        </p:txBody>
      </p:sp>
      <p:sp>
        <p:nvSpPr>
          <p:cNvPr id="143" name="Shape 143"/>
          <p:cNvSpPr/>
          <p:nvPr/>
        </p:nvSpPr>
        <p:spPr>
          <a:xfrm>
            <a:off x="9753600" y="4826000"/>
            <a:ext cx="7543800" cy="508000"/>
          </a:xfrm>
          <a:prstGeom prst="rect">
            <a:avLst/>
          </a:prstGeom>
          <a:noFill/>
          <a:ln>
            <a:noFill/>
          </a:ln>
        </p:spPr>
        <p:txBody>
          <a:bodyPr wrap="square" lIns="0" tIns="0" rIns="0" bIns="0" anchor="ctr">
            <a:normAutofit/>
          </a:bodyPr>
          <a:lstStyle/>
          <a:p>
            <a:pPr>
              <a:lnSpc>
                <a:spcPct val="100000"/>
              </a:lnSpc>
              <a:buNone/>
            </a:pPr>
            <a:r>
              <a:rPr lang="en-US" sz="1600" dirty="0">
                <a:solidFill>
                  <a:srgbClr val="364750"/>
                </a:solidFill>
                <a:latin typeface="Frutiger"/>
                <a:cs typeface="Frutiger"/>
              </a:rPr>
              <a:t>Preview: features, limits and adapter list are still moving — re-check before committing</a:t>
            </a:r>
          </a:p>
        </p:txBody>
      </p:sp>
      <p:sp>
        <p:nvSpPr>
          <p:cNvPr id="144" name="Shape 144"/>
          <p:cNvSpPr/>
          <p:nvPr/>
        </p:nvSpPr>
        <p:spPr>
          <a:xfrm>
            <a:off x="9372600" y="5384800"/>
            <a:ext cx="304800" cy="508000"/>
          </a:xfrm>
          <a:prstGeom prst="rect">
            <a:avLst/>
          </a:prstGeom>
          <a:noFill/>
          <a:ln>
            <a:noFill/>
          </a:ln>
        </p:spPr>
        <p:txBody>
          <a:bodyPr wrap="square" lIns="0" tIns="0" rIns="0" bIns="0" anchor="ctr">
            <a:normAutofit/>
          </a:bodyPr>
          <a:lstStyle/>
          <a:p>
            <a:pPr algn="ctr">
              <a:buNone/>
            </a:pPr>
            <a:r>
              <a:rPr lang="en-US" sz="1800" b="1" dirty="0">
                <a:solidFill>
                  <a:srgbClr val="B7791F"/>
                </a:solidFill>
                <a:latin typeface="Frutiger"/>
                <a:cs typeface="Frutiger"/>
              </a:rPr>
              <a:t>!</a:t>
            </a:r>
          </a:p>
        </p:txBody>
      </p:sp>
      <p:sp>
        <p:nvSpPr>
          <p:cNvPr id="145" name="Shape 145"/>
          <p:cNvSpPr/>
          <p:nvPr/>
        </p:nvSpPr>
        <p:spPr>
          <a:xfrm>
            <a:off x="9753600" y="5384800"/>
            <a:ext cx="7543800" cy="508000"/>
          </a:xfrm>
          <a:prstGeom prst="rect">
            <a:avLst/>
          </a:prstGeom>
          <a:noFill/>
          <a:ln>
            <a:noFill/>
          </a:ln>
        </p:spPr>
        <p:txBody>
          <a:bodyPr wrap="square" lIns="0" tIns="0" rIns="0" bIns="0" anchor="ctr">
            <a:normAutofit/>
          </a:bodyPr>
          <a:lstStyle/>
          <a:p>
            <a:pPr>
              <a:lnSpc>
                <a:spcPct val="100000"/>
              </a:lnSpc>
              <a:buNone/>
            </a:pPr>
            <a:r>
              <a:rPr lang="en-US" sz="1600" dirty="0">
                <a:solidFill>
                  <a:srgbClr val="364750"/>
                </a:solidFill>
                <a:latin typeface="Frutiger"/>
                <a:cs typeface="Frutiger"/>
              </a:rPr>
              <a:t>Warehouse, Lakehouse, Azure SQL, Snowflake, PostgreSQL today; on-prem SQL Server is not a target; Fabric SQL database only via the Azure SQL adapter</a:t>
            </a:r>
          </a:p>
        </p:txBody>
      </p:sp>
      <p:sp>
        <p:nvSpPr>
          <p:cNvPr id="146" name="Shape 146"/>
          <p:cNvSpPr/>
          <p:nvPr/>
        </p:nvSpPr>
        <p:spPr>
          <a:xfrm>
            <a:off x="9372600" y="5943600"/>
            <a:ext cx="304800" cy="508000"/>
          </a:xfrm>
          <a:prstGeom prst="rect">
            <a:avLst/>
          </a:prstGeom>
          <a:noFill/>
          <a:ln>
            <a:noFill/>
          </a:ln>
        </p:spPr>
        <p:txBody>
          <a:bodyPr wrap="square" lIns="0" tIns="0" rIns="0" bIns="0" anchor="ctr">
            <a:normAutofit/>
          </a:bodyPr>
          <a:lstStyle/>
          <a:p>
            <a:pPr algn="ctr">
              <a:buNone/>
            </a:pPr>
            <a:r>
              <a:rPr lang="en-US" sz="1800" b="1" dirty="0">
                <a:solidFill>
                  <a:srgbClr val="B7791F"/>
                </a:solidFill>
                <a:latin typeface="Frutiger"/>
                <a:cs typeface="Frutiger"/>
              </a:rPr>
              <a:t>!</a:t>
            </a:r>
          </a:p>
        </p:txBody>
      </p:sp>
      <p:sp>
        <p:nvSpPr>
          <p:cNvPr id="147" name="Shape 147"/>
          <p:cNvSpPr/>
          <p:nvPr/>
        </p:nvSpPr>
        <p:spPr>
          <a:xfrm>
            <a:off x="9753600" y="5943600"/>
            <a:ext cx="7543800" cy="508000"/>
          </a:xfrm>
          <a:prstGeom prst="rect">
            <a:avLst/>
          </a:prstGeom>
          <a:noFill/>
          <a:ln>
            <a:noFill/>
          </a:ln>
        </p:spPr>
        <p:txBody>
          <a:bodyPr wrap="square" lIns="0" tIns="0" rIns="0" bIns="0" anchor="ctr">
            <a:normAutofit/>
          </a:bodyPr>
          <a:lstStyle/>
          <a:p>
            <a:pPr>
              <a:lnSpc>
                <a:spcPct val="100000"/>
              </a:lnSpc>
              <a:buNone/>
            </a:pPr>
            <a:r>
              <a:rPr lang="en-US" sz="1600" dirty="0">
                <a:solidFill>
                  <a:srgbClr val="364750"/>
                </a:solidFill>
                <a:latin typeface="Frutiger"/>
                <a:cs typeface="Frutiger"/>
              </a:rPr>
              <a:t>No build caching or state: every run compiles fresh — no state:modified+ or --defer for selective CI</a:t>
            </a:r>
          </a:p>
        </p:txBody>
      </p:sp>
      <p:sp>
        <p:nvSpPr>
          <p:cNvPr id="148" name="Shape 148"/>
          <p:cNvSpPr/>
          <p:nvPr/>
        </p:nvSpPr>
        <p:spPr>
          <a:xfrm>
            <a:off x="9372600" y="6502400"/>
            <a:ext cx="304800" cy="508000"/>
          </a:xfrm>
          <a:prstGeom prst="rect">
            <a:avLst/>
          </a:prstGeom>
          <a:noFill/>
          <a:ln>
            <a:noFill/>
          </a:ln>
        </p:spPr>
        <p:txBody>
          <a:bodyPr wrap="square" lIns="0" tIns="0" rIns="0" bIns="0" anchor="ctr">
            <a:normAutofit/>
          </a:bodyPr>
          <a:lstStyle/>
          <a:p>
            <a:pPr algn="ctr">
              <a:buNone/>
            </a:pPr>
            <a:r>
              <a:rPr lang="en-US" sz="1800" b="1" dirty="0">
                <a:solidFill>
                  <a:srgbClr val="B7791F"/>
                </a:solidFill>
                <a:latin typeface="Frutiger"/>
                <a:cs typeface="Frutiger"/>
              </a:rPr>
              <a:t>!</a:t>
            </a:r>
          </a:p>
        </p:txBody>
      </p:sp>
      <p:sp>
        <p:nvSpPr>
          <p:cNvPr id="149" name="Shape 149"/>
          <p:cNvSpPr/>
          <p:nvPr/>
        </p:nvSpPr>
        <p:spPr>
          <a:xfrm>
            <a:off x="9753600" y="6502400"/>
            <a:ext cx="7543800" cy="508000"/>
          </a:xfrm>
          <a:prstGeom prst="rect">
            <a:avLst/>
          </a:prstGeom>
          <a:noFill/>
          <a:ln>
            <a:noFill/>
          </a:ln>
        </p:spPr>
        <p:txBody>
          <a:bodyPr wrap="square" lIns="0" tIns="0" rIns="0" bIns="0" anchor="ctr">
            <a:normAutofit/>
          </a:bodyPr>
          <a:lstStyle/>
          <a:p>
            <a:pPr>
              <a:lnSpc>
                <a:spcPct val="100000"/>
              </a:lnSpc>
              <a:buNone/>
            </a:pPr>
            <a:r>
              <a:rPr lang="en-US" sz="1600" dirty="0">
                <a:solidFill>
                  <a:srgbClr val="364750"/>
                </a:solidFill>
                <a:latin typeface="Frutiger"/>
                <a:cs typeface="Frutiger"/>
              </a:rPr>
              <a:t>Docs are generated to OneLake but not rendered in Fabric yet; download and dbt docs serve</a:t>
            </a:r>
          </a:p>
        </p:txBody>
      </p:sp>
      <p:sp>
        <p:nvSpPr>
          <p:cNvPr id="150" name="Shape 150"/>
          <p:cNvSpPr/>
          <p:nvPr/>
        </p:nvSpPr>
        <p:spPr>
          <a:xfrm>
            <a:off x="9372600" y="7061200"/>
            <a:ext cx="304800" cy="508000"/>
          </a:xfrm>
          <a:prstGeom prst="rect">
            <a:avLst/>
          </a:prstGeom>
          <a:noFill/>
          <a:ln>
            <a:noFill/>
          </a:ln>
        </p:spPr>
        <p:txBody>
          <a:bodyPr wrap="square" lIns="0" tIns="0" rIns="0" bIns="0" anchor="ctr">
            <a:normAutofit/>
          </a:bodyPr>
          <a:lstStyle/>
          <a:p>
            <a:pPr algn="ctr">
              <a:buNone/>
            </a:pPr>
            <a:r>
              <a:rPr lang="en-US" sz="1800" b="1" dirty="0">
                <a:solidFill>
                  <a:srgbClr val="B7791F"/>
                </a:solidFill>
                <a:latin typeface="Frutiger"/>
                <a:cs typeface="Frutiger"/>
              </a:rPr>
              <a:t>!</a:t>
            </a:r>
          </a:p>
        </p:txBody>
      </p:sp>
      <p:sp>
        <p:nvSpPr>
          <p:cNvPr id="151" name="Shape 151"/>
          <p:cNvSpPr/>
          <p:nvPr/>
        </p:nvSpPr>
        <p:spPr>
          <a:xfrm>
            <a:off x="9753600" y="7061200"/>
            <a:ext cx="7543800" cy="508000"/>
          </a:xfrm>
          <a:prstGeom prst="rect">
            <a:avLst/>
          </a:prstGeom>
          <a:noFill/>
          <a:ln>
            <a:noFill/>
          </a:ln>
        </p:spPr>
        <p:txBody>
          <a:bodyPr wrap="square" lIns="0" tIns="0" rIns="0" bIns="0" anchor="ctr">
            <a:normAutofit/>
          </a:bodyPr>
          <a:lstStyle/>
          <a:p>
            <a:pPr>
              <a:lnSpc>
                <a:spcPct val="100000"/>
              </a:lnSpc>
              <a:buNone/>
            </a:pPr>
            <a:r>
              <a:rPr lang="en-US" sz="1600" dirty="0">
                <a:solidFill>
                  <a:srgbClr val="364750"/>
                </a:solidFill>
                <a:latin typeface="Frutiger"/>
                <a:cs typeface="Frutiger"/>
              </a:rPr>
              <a:t>GitHub is the only external code source today (classic PAT, read-only in the UI) — Azure DevOps repos are not yet supported</a:t>
            </a:r>
          </a:p>
        </p:txBody>
      </p:sp>
      <p:sp>
        <p:nvSpPr>
          <p:cNvPr id="152" name="Shape 152"/>
          <p:cNvSpPr/>
          <p:nvPr/>
        </p:nvSpPr>
        <p:spPr>
          <a:xfrm>
            <a:off x="9372600" y="7620000"/>
            <a:ext cx="304800" cy="508000"/>
          </a:xfrm>
          <a:prstGeom prst="rect">
            <a:avLst/>
          </a:prstGeom>
          <a:noFill/>
          <a:ln>
            <a:noFill/>
          </a:ln>
        </p:spPr>
        <p:txBody>
          <a:bodyPr wrap="square" lIns="0" tIns="0" rIns="0" bIns="0" anchor="ctr">
            <a:normAutofit/>
          </a:bodyPr>
          <a:lstStyle/>
          <a:p>
            <a:pPr algn="ctr">
              <a:buNone/>
            </a:pPr>
            <a:r>
              <a:rPr lang="en-US" sz="1800" b="1" dirty="0">
                <a:solidFill>
                  <a:srgbClr val="B7791F"/>
                </a:solidFill>
                <a:latin typeface="Frutiger"/>
                <a:cs typeface="Frutiger"/>
              </a:rPr>
              <a:t>!</a:t>
            </a:r>
          </a:p>
        </p:txBody>
      </p:sp>
      <p:sp>
        <p:nvSpPr>
          <p:cNvPr id="153" name="Shape 153"/>
          <p:cNvSpPr/>
          <p:nvPr/>
        </p:nvSpPr>
        <p:spPr>
          <a:xfrm>
            <a:off x="9753600" y="7620000"/>
            <a:ext cx="7543800" cy="508000"/>
          </a:xfrm>
          <a:prstGeom prst="rect">
            <a:avLst/>
          </a:prstGeom>
          <a:noFill/>
          <a:ln>
            <a:noFill/>
          </a:ln>
        </p:spPr>
        <p:txBody>
          <a:bodyPr wrap="square" lIns="0" tIns="0" rIns="0" bIns="0" anchor="ctr">
            <a:normAutofit/>
          </a:bodyPr>
          <a:lstStyle/>
          <a:p>
            <a:pPr>
              <a:lnSpc>
                <a:spcPct val="100000"/>
              </a:lnSpc>
              <a:buNone/>
            </a:pPr>
            <a:r>
              <a:rPr lang="en-US" sz="1600" dirty="0">
                <a:solidFill>
                  <a:srgbClr val="364750"/>
                </a:solidFill>
                <a:latin typeface="Frutiger"/>
                <a:cs typeface="Frutiger"/>
              </a:rPr>
              <a:t>Pinned to the runtime’s Core and adapter versions — you don’t choose when to upgrade</a:t>
            </a:r>
          </a:p>
        </p:txBody>
      </p:sp>
      <p:sp>
        <p:nvSpPr>
          <p:cNvPr id="160" name="Shape 160"/>
          <p:cNvSpPr/>
          <p:nvPr/>
        </p:nvSpPr>
        <p:spPr>
          <a:xfrm>
            <a:off x="838200" y="8382000"/>
            <a:ext cx="16611600" cy="787400"/>
          </a:xfrm>
          <a:prstGeom prst="rect">
            <a:avLst/>
          </a:prstGeom>
          <a:solidFill>
            <a:srgbClr val="F4F6FA"/>
          </a:solidFill>
          <a:ln>
            <a:noFill/>
          </a:ln>
        </p:spPr>
        <p:txBody>
          <a:bodyPr wrap="square" lIns="228600" tIns="50800" rIns="228600" bIns="50800" anchor="ctr">
            <a:normAutofit/>
          </a:bodyPr>
          <a:lstStyle/>
          <a:p>
            <a:pPr>
              <a:buNone/>
            </a:pPr>
            <a:r>
              <a:rPr lang="en-US" sz="1700" b="1" dirty="0">
                <a:solidFill>
                  <a:srgbClr val="001F6B"/>
                </a:solidFill>
                <a:latin typeface="Frutiger"/>
                <a:cs typeface="Frutiger"/>
              </a:rPr>
              <a:t>Where it fits today:  </a:t>
            </a:r>
            <a:r>
              <a:rPr lang="en-US" sz="1700" dirty="0">
                <a:solidFill>
                  <a:srgbClr val="364750"/>
                </a:solidFill>
                <a:latin typeface="Frutiger"/>
                <a:cs typeface="Frutiger"/>
              </a:rPr>
              <a:t>the easiest production host for a Warehouse- or Lakehouse-targeted project, and the lowest-friction way for a Power BI team to try dbt. Keep an external runner for on-prem SQL Server, state-based CI, or when the code lives in Azure DevOps.</a:t>
            </a:r>
          </a:p>
        </p:txBody>
      </p:sp>
    </p:spTree>
    <p:extLst>
      <p:ext uri="{BB962C8B-B14F-4D97-AF65-F5344CB8AC3E}">
        <p14:creationId xmlns:p14="http://schemas.microsoft.com/office/powerpoint/2010/main" val="17263607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3AA81A4-4B55-4071-8D0D-8E66DAC85BE0}"/>
              </a:ext>
            </a:extLst>
          </p:cNvPr>
          <p:cNvSpPr>
            <a:spLocks noGrp="1"/>
          </p:cNvSpPr>
          <p:nvPr/>
        </p:nvSpPr>
        <p:spPr>
          <a:xfrm>
            <a:off x="838201" y="495302"/>
            <a:ext cx="15240000" cy="392311"/>
          </a:xfrm>
          <a:prstGeom prst="rect">
            <a:avLst/>
          </a:prstGeom>
          <a:noFill/>
        </p:spPr>
        <p:txBody>
          <a:bodyPr wrap="square" lIns="25401" tIns="25401" rIns="25401" bIns="25401" anchor="t">
            <a:normAutofit/>
          </a:bodyPr>
          <a:lstStyle/>
          <a:p>
            <a:pPr>
              <a:lnSpc>
                <a:spcPct val="120000"/>
              </a:lnSpc>
              <a:buNone/>
            </a:pPr>
            <a:r>
              <a:rPr sz="1801" b="1" spc="361">
                <a:solidFill>
                  <a:srgbClr val="E40046"/>
                </a:solidFill>
                <a:latin typeface="Frutiger"/>
                <a:ea typeface="Frutiger"/>
                <a:cs typeface="Frutiger"/>
              </a:rPr>
              <a:t>A PRACTICAL FIRST STEP</a:t>
            </a:r>
            <a:endParaRPr sz="1801"/>
          </a:p>
        </p:txBody>
      </p:sp>
      <p:sp>
        <p:nvSpPr>
          <p:cNvPr id="3" name="Text 1">
            <a:extLst>
              <a:ext uri="{FF2B5EF4-FFF2-40B4-BE49-F238E27FC236}">
                <a16:creationId xmlns:a16="http://schemas.microsoft.com/office/drawing/2014/main" id="{BCCFDF1D-25C9-4CBE-B374-B2E6938EB573}"/>
              </a:ext>
            </a:extLst>
          </p:cNvPr>
          <p:cNvSpPr>
            <a:spLocks noGrp="1"/>
          </p:cNvSpPr>
          <p:nvPr/>
        </p:nvSpPr>
        <p:spPr>
          <a:xfrm>
            <a:off x="838201" y="963812"/>
            <a:ext cx="15240000" cy="640407"/>
          </a:xfrm>
          <a:prstGeom prst="rect">
            <a:avLst/>
          </a:prstGeom>
          <a:noFill/>
        </p:spPr>
        <p:txBody>
          <a:bodyPr wrap="square" lIns="25401" tIns="25401" rIns="25401" bIns="25401" anchor="t">
            <a:normAutofit/>
          </a:bodyPr>
          <a:lstStyle/>
          <a:p>
            <a:pPr>
              <a:lnSpc>
                <a:spcPct val="79050"/>
              </a:lnSpc>
              <a:buNone/>
            </a:pPr>
            <a:r>
              <a:rPr sz="4651" b="1" spc="-69">
                <a:solidFill>
                  <a:srgbClr val="001F6B"/>
                </a:solidFill>
                <a:latin typeface="Frutiger"/>
                <a:ea typeface="Frutiger"/>
                <a:cs typeface="Frutiger"/>
              </a:rPr>
              <a:t>Start with one mart</a:t>
            </a:r>
            <a:endParaRPr sz="4651"/>
          </a:p>
        </p:txBody>
      </p:sp>
      <p:pic>
        <p:nvPicPr>
          <p:cNvPr id="29" name="Image 0"/>
          <p:cNvPicPr>
            <a:picLocks noChangeAspect="1"/>
          </p:cNvPicPr>
          <p:nvPr/>
        </p:nvPicPr>
        <p:blipFill>
          <a:blip r:embed="rId3"/>
          <a:srcRect t="-5" b="-5"/>
          <a:stretch/>
        </p:blipFill>
        <p:spPr>
          <a:xfrm>
            <a:off x="16412620" y="571500"/>
            <a:ext cx="1037182" cy="514350"/>
          </a:xfrm>
          <a:prstGeom prst="rect">
            <a:avLst/>
          </a:prstGeom>
        </p:spPr>
      </p:pic>
      <p:sp>
        <p:nvSpPr>
          <p:cNvPr id="5" name="Shape 2">
            <a:extLst>
              <a:ext uri="{FF2B5EF4-FFF2-40B4-BE49-F238E27FC236}">
                <a16:creationId xmlns:a16="http://schemas.microsoft.com/office/drawing/2014/main" id="{EB3CBC50-008C-43C4-9C0B-DC3810711F60}"/>
              </a:ext>
            </a:extLst>
          </p:cNvPr>
          <p:cNvSpPr>
            <a:spLocks noGrp="1"/>
          </p:cNvSpPr>
          <p:nvPr/>
        </p:nvSpPr>
        <p:spPr>
          <a:xfrm>
            <a:off x="838202" y="1813769"/>
            <a:ext cx="16611600" cy="28574"/>
          </a:xfrm>
          <a:prstGeom prst="rect">
            <a:avLst/>
          </a:prstGeom>
          <a:solidFill>
            <a:srgbClr val="FF0000"/>
          </a:solidFill>
        </p:spPr>
        <p:txBody>
          <a:bodyPr/>
          <a:lstStyle/>
          <a:p>
            <a:endParaRPr sz="1801"/>
          </a:p>
        </p:txBody>
      </p:sp>
      <p:sp>
        <p:nvSpPr>
          <p:cNvPr id="6" name="Shape 3">
            <a:extLst>
              <a:ext uri="{FF2B5EF4-FFF2-40B4-BE49-F238E27FC236}">
                <a16:creationId xmlns:a16="http://schemas.microsoft.com/office/drawing/2014/main" id="{A2F5C3DE-A1D6-4F76-BA20-D1D1D174C82A}"/>
              </a:ext>
            </a:extLst>
          </p:cNvPr>
          <p:cNvSpPr>
            <a:spLocks noGrp="1"/>
          </p:cNvSpPr>
          <p:nvPr/>
        </p:nvSpPr>
        <p:spPr>
          <a:xfrm>
            <a:off x="838202" y="1880445"/>
            <a:ext cx="16611600" cy="28574"/>
          </a:xfrm>
          <a:prstGeom prst="rect">
            <a:avLst/>
          </a:prstGeom>
          <a:solidFill>
            <a:srgbClr val="3649A8"/>
          </a:solidFill>
        </p:spPr>
        <p:txBody>
          <a:bodyPr/>
          <a:lstStyle/>
          <a:p>
            <a:endParaRPr sz="1801"/>
          </a:p>
        </p:txBody>
      </p:sp>
      <p:sp>
        <p:nvSpPr>
          <p:cNvPr id="22" name="Shape 19">
            <a:extLst>
              <a:ext uri="{FF2B5EF4-FFF2-40B4-BE49-F238E27FC236}">
                <a16:creationId xmlns:a16="http://schemas.microsoft.com/office/drawing/2014/main" id="{1541A8EB-697F-4AB4-AB8A-D0B4D6C58098}"/>
              </a:ext>
            </a:extLst>
          </p:cNvPr>
          <p:cNvSpPr>
            <a:spLocks noGrp="1"/>
          </p:cNvSpPr>
          <p:nvPr/>
        </p:nvSpPr>
        <p:spPr>
          <a:xfrm>
            <a:off x="838202" y="9294615"/>
            <a:ext cx="16611600" cy="9525"/>
          </a:xfrm>
          <a:prstGeom prst="rect">
            <a:avLst/>
          </a:prstGeom>
          <a:solidFill>
            <a:srgbClr val="E2E7EB"/>
          </a:solidFill>
        </p:spPr>
        <p:txBody>
          <a:bodyPr/>
          <a:lstStyle/>
          <a:p>
            <a:endParaRPr sz="1801"/>
          </a:p>
        </p:txBody>
      </p:sp>
      <p:sp>
        <p:nvSpPr>
          <p:cNvPr id="23" name="Text 20">
            <a:extLst>
              <a:ext uri="{FF2B5EF4-FFF2-40B4-BE49-F238E27FC236}">
                <a16:creationId xmlns:a16="http://schemas.microsoft.com/office/drawing/2014/main" id="{E15C9716-E370-4C36-BAEA-9A2EA3E99FB3}"/>
              </a:ext>
            </a:extLst>
          </p:cNvPr>
          <p:cNvSpPr>
            <a:spLocks noGrp="1"/>
          </p:cNvSpPr>
          <p:nvPr/>
        </p:nvSpPr>
        <p:spPr>
          <a:xfrm>
            <a:off x="838201" y="9513691"/>
            <a:ext cx="7461945" cy="392311"/>
          </a:xfrm>
          <a:prstGeom prst="rect">
            <a:avLst/>
          </a:prstGeom>
          <a:noFill/>
        </p:spPr>
        <p:txBody>
          <a:bodyPr wrap="square" lIns="25401" tIns="25401" rIns="25401" bIns="25401" anchor="t">
            <a:normAutofit/>
          </a:bodyPr>
          <a:lstStyle/>
          <a:p>
            <a:pPr>
              <a:lnSpc>
                <a:spcPct val="124000"/>
              </a:lnSpc>
              <a:buNone/>
            </a:pPr>
            <a:r>
              <a:rPr sz="1801" dirty="0">
                <a:solidFill>
                  <a:srgbClr val="667780"/>
                </a:solidFill>
                <a:latin typeface="Frutiger"/>
                <a:ea typeface="Frutiger"/>
                <a:cs typeface="Frutiger"/>
              </a:rPr>
              <a:t>Getting started with dbt</a:t>
            </a:r>
            <a:endParaRPr sz="1801" dirty="0"/>
          </a:p>
        </p:txBody>
      </p:sp>
      <p:sp>
        <p:nvSpPr>
          <p:cNvPr id="25" name="Text 22">
            <a:extLst>
              <a:ext uri="{FF2B5EF4-FFF2-40B4-BE49-F238E27FC236}">
                <a16:creationId xmlns:a16="http://schemas.microsoft.com/office/drawing/2014/main" id="{0D167625-4BC5-4EC5-9AFD-330CEA05D3F3}"/>
              </a:ext>
            </a:extLst>
          </p:cNvPr>
          <p:cNvSpPr>
            <a:spLocks noGrp="1"/>
          </p:cNvSpPr>
          <p:nvPr/>
        </p:nvSpPr>
        <p:spPr>
          <a:xfrm>
            <a:off x="9987856" y="9513691"/>
            <a:ext cx="7461945" cy="392311"/>
          </a:xfrm>
          <a:prstGeom prst="rect">
            <a:avLst/>
          </a:prstGeom>
          <a:noFill/>
        </p:spPr>
        <p:txBody>
          <a:bodyPr wrap="square" lIns="25401" tIns="25401" rIns="25401" bIns="25401" anchor="t">
            <a:normAutofit/>
          </a:bodyPr>
          <a:lstStyle/>
          <a:p>
            <a:pPr algn="r">
              <a:lnSpc>
                <a:spcPct val="124000"/>
              </a:lnSpc>
              <a:buNone/>
            </a:pPr>
            <a:r>
              <a:rPr lang="en-US" sz="1801">
                <a:solidFill>
                  <a:srgbClr val="667780"/>
                </a:solidFill>
                <a:latin typeface="Frutiger"/>
                <a:ea typeface="Frutiger"/>
                <a:cs typeface="Frutiger"/>
              </a:rPr>
              <a:t>25</a:t>
            </a:r>
            <a:endParaRPr sz="1801"/>
          </a:p>
        </p:txBody>
      </p:sp>
      <p:cxnSp>
        <p:nvCxnSpPr>
          <p:cNvPr id="100" name="Line 100"/>
          <p:cNvCxnSpPr/>
          <p:nvPr/>
        </p:nvCxnSpPr>
        <p:spPr>
          <a:xfrm>
            <a:off x="2499360" y="2895600"/>
            <a:ext cx="13289280" cy="0"/>
          </a:xfrm>
          <a:prstGeom prst="line">
            <a:avLst/>
          </a:prstGeom>
          <a:ln w="38100">
            <a:solidFill>
              <a:srgbClr val="8E9DC5"/>
            </a:solidFill>
          </a:ln>
        </p:spPr>
      </p:cxnSp>
      <p:sp>
        <p:nvSpPr>
          <p:cNvPr id="101" name="Shape 101"/>
          <p:cNvSpPr/>
          <p:nvPr/>
        </p:nvSpPr>
        <p:spPr>
          <a:xfrm>
            <a:off x="2219960" y="2616200"/>
            <a:ext cx="558800" cy="558800"/>
          </a:xfrm>
          <a:prstGeom prst="ellipse">
            <a:avLst/>
          </a:prstGeom>
          <a:solidFill>
            <a:srgbClr val="E40046"/>
          </a:solidFill>
          <a:ln>
            <a:noFill/>
          </a:ln>
        </p:spPr>
        <p:txBody>
          <a:bodyPr wrap="square" lIns="0" tIns="0" rIns="0" bIns="0" anchor="ctr">
            <a:normAutofit/>
          </a:bodyPr>
          <a:lstStyle/>
          <a:p>
            <a:pPr algn="ctr">
              <a:buNone/>
            </a:pPr>
            <a:r>
              <a:rPr lang="en-US" sz="2100" b="1" dirty="0">
                <a:solidFill>
                  <a:srgbClr val="FFFFFF"/>
                </a:solidFill>
                <a:latin typeface="Frutiger"/>
                <a:cs typeface="Frutiger"/>
              </a:rPr>
              <a:t>1</a:t>
            </a:r>
          </a:p>
        </p:txBody>
      </p:sp>
      <p:sp>
        <p:nvSpPr>
          <p:cNvPr id="102" name="Shape 102"/>
          <p:cNvSpPr/>
          <p:nvPr/>
        </p:nvSpPr>
        <p:spPr>
          <a:xfrm>
            <a:off x="939800" y="3352800"/>
            <a:ext cx="3119120" cy="1905000"/>
          </a:xfrm>
          <a:prstGeom prst="rect">
            <a:avLst/>
          </a:prstGeom>
          <a:noFill/>
          <a:ln>
            <a:noFill/>
          </a:ln>
        </p:spPr>
        <p:txBody>
          <a:bodyPr wrap="square" lIns="0" tIns="0" rIns="0" bIns="0" anchor="t">
            <a:normAutofit/>
          </a:bodyPr>
          <a:lstStyle/>
          <a:p>
            <a:pPr algn="ctr">
              <a:buNone/>
            </a:pPr>
            <a:r>
              <a:rPr lang="en-US" sz="2100" b="1" dirty="0">
                <a:solidFill>
                  <a:srgbClr val="001F6B"/>
                </a:solidFill>
                <a:latin typeface="Frutiger"/>
                <a:cs typeface="Frutiger"/>
              </a:rPr>
              <a:t>Pick one painful transformation</a:t>
            </a:r>
          </a:p>
          <a:p>
            <a:pPr algn="ctr">
              <a:lnSpc>
                <a:spcPct val="105000"/>
              </a:lnSpc>
              <a:spcBef>
                <a:spcPts val="600"/>
              </a:spcBef>
              <a:buNone/>
            </a:pPr>
            <a:r>
              <a:rPr lang="en-US" sz="1800" dirty="0">
                <a:solidFill>
                  <a:srgbClr val="364750"/>
                </a:solidFill>
                <a:latin typeface="Frutiger"/>
                <a:cs typeface="Frutiger"/>
              </a:rPr>
              <a:t>A real table with a clear owner and real consumers — not a platform migration.</a:t>
            </a:r>
          </a:p>
        </p:txBody>
      </p:sp>
      <p:sp>
        <p:nvSpPr>
          <p:cNvPr id="103" name="Shape 103"/>
          <p:cNvSpPr/>
          <p:nvPr/>
        </p:nvSpPr>
        <p:spPr>
          <a:xfrm>
            <a:off x="5542280" y="2616200"/>
            <a:ext cx="558800" cy="558800"/>
          </a:xfrm>
          <a:prstGeom prst="ellipse">
            <a:avLst/>
          </a:prstGeom>
          <a:solidFill>
            <a:srgbClr val="001F6B"/>
          </a:solidFill>
          <a:ln>
            <a:noFill/>
          </a:ln>
        </p:spPr>
        <p:txBody>
          <a:bodyPr wrap="square" lIns="0" tIns="0" rIns="0" bIns="0" anchor="ctr">
            <a:normAutofit/>
          </a:bodyPr>
          <a:lstStyle/>
          <a:p>
            <a:pPr algn="ctr">
              <a:buNone/>
            </a:pPr>
            <a:r>
              <a:rPr lang="en-US" sz="2100" b="1" dirty="0">
                <a:solidFill>
                  <a:srgbClr val="FFFFFF"/>
                </a:solidFill>
                <a:latin typeface="Frutiger"/>
                <a:cs typeface="Frutiger"/>
              </a:rPr>
              <a:t>2</a:t>
            </a:r>
          </a:p>
        </p:txBody>
      </p:sp>
      <p:sp>
        <p:nvSpPr>
          <p:cNvPr id="104" name="Shape 104"/>
          <p:cNvSpPr/>
          <p:nvPr/>
        </p:nvSpPr>
        <p:spPr>
          <a:xfrm>
            <a:off x="4262120" y="3352800"/>
            <a:ext cx="3119120" cy="1905000"/>
          </a:xfrm>
          <a:prstGeom prst="rect">
            <a:avLst/>
          </a:prstGeom>
          <a:noFill/>
          <a:ln>
            <a:noFill/>
          </a:ln>
        </p:spPr>
        <p:txBody>
          <a:bodyPr wrap="square" lIns="0" tIns="0" rIns="0" bIns="0" anchor="t">
            <a:normAutofit/>
          </a:bodyPr>
          <a:lstStyle/>
          <a:p>
            <a:pPr algn="ctr">
              <a:buNone/>
            </a:pPr>
            <a:r>
              <a:rPr lang="en-US" sz="2100" b="1" dirty="0">
                <a:solidFill>
                  <a:srgbClr val="001F6B"/>
                </a:solidFill>
                <a:latin typeface="Frutiger"/>
                <a:cs typeface="Frutiger"/>
              </a:rPr>
              <a:t>Write down the grain</a:t>
            </a:r>
          </a:p>
          <a:p>
            <a:pPr algn="ctr">
              <a:lnSpc>
                <a:spcPct val="105000"/>
              </a:lnSpc>
              <a:spcBef>
                <a:spcPts val="600"/>
              </a:spcBef>
              <a:buNone/>
            </a:pPr>
            <a:r>
              <a:rPr lang="en-US" sz="1800" dirty="0">
                <a:solidFill>
                  <a:srgbClr val="364750"/>
                </a:solidFill>
                <a:latin typeface="Frutiger"/>
                <a:cs typeface="Frutiger"/>
              </a:rPr>
              <a:t>One row per what? Which inputs? Declare them with source() or ref().</a:t>
            </a:r>
          </a:p>
        </p:txBody>
      </p:sp>
      <p:sp>
        <p:nvSpPr>
          <p:cNvPr id="105" name="Shape 105"/>
          <p:cNvSpPr/>
          <p:nvPr/>
        </p:nvSpPr>
        <p:spPr>
          <a:xfrm>
            <a:off x="8864600" y="2616200"/>
            <a:ext cx="558800" cy="558800"/>
          </a:xfrm>
          <a:prstGeom prst="ellipse">
            <a:avLst/>
          </a:prstGeom>
          <a:solidFill>
            <a:srgbClr val="001F6B"/>
          </a:solidFill>
          <a:ln>
            <a:noFill/>
          </a:ln>
        </p:spPr>
        <p:txBody>
          <a:bodyPr wrap="square" lIns="0" tIns="0" rIns="0" bIns="0" anchor="ctr">
            <a:normAutofit/>
          </a:bodyPr>
          <a:lstStyle/>
          <a:p>
            <a:pPr algn="ctr">
              <a:buNone/>
            </a:pPr>
            <a:r>
              <a:rPr lang="en-US" sz="2100" b="1" dirty="0">
                <a:solidFill>
                  <a:srgbClr val="FFFFFF"/>
                </a:solidFill>
                <a:latin typeface="Frutiger"/>
                <a:cs typeface="Frutiger"/>
              </a:rPr>
              <a:t>3</a:t>
            </a:r>
          </a:p>
        </p:txBody>
      </p:sp>
      <p:sp>
        <p:nvSpPr>
          <p:cNvPr id="106" name="Shape 106"/>
          <p:cNvSpPr/>
          <p:nvPr/>
        </p:nvSpPr>
        <p:spPr>
          <a:xfrm>
            <a:off x="7584440" y="3352800"/>
            <a:ext cx="3119120" cy="1905000"/>
          </a:xfrm>
          <a:prstGeom prst="rect">
            <a:avLst/>
          </a:prstGeom>
          <a:noFill/>
          <a:ln>
            <a:noFill/>
          </a:ln>
        </p:spPr>
        <p:txBody>
          <a:bodyPr wrap="square" lIns="0" tIns="0" rIns="0" bIns="0" anchor="t">
            <a:normAutofit/>
          </a:bodyPr>
          <a:lstStyle/>
          <a:p>
            <a:pPr algn="ctr">
              <a:buNone/>
            </a:pPr>
            <a:r>
              <a:rPr lang="en-US" sz="2100" b="1" dirty="0">
                <a:solidFill>
                  <a:srgbClr val="001F6B"/>
                </a:solidFill>
                <a:latin typeface="Frutiger"/>
                <a:cs typeface="Frutiger"/>
              </a:rPr>
              <a:t>Move the SELECT into a model</a:t>
            </a:r>
          </a:p>
          <a:p>
            <a:pPr algn="ctr">
              <a:lnSpc>
                <a:spcPct val="105000"/>
              </a:lnSpc>
              <a:spcBef>
                <a:spcPts val="600"/>
              </a:spcBef>
              <a:buNone/>
            </a:pPr>
            <a:r>
              <a:rPr lang="en-US" sz="1800" dirty="0">
                <a:solidFill>
                  <a:srgbClr val="364750"/>
                </a:solidFill>
                <a:latin typeface="Frutiger"/>
                <a:cs typeface="Frutiger"/>
              </a:rPr>
              <a:t>Add three tests: the key is unique and not null, plus one business reconciliation.</a:t>
            </a:r>
          </a:p>
        </p:txBody>
      </p:sp>
      <p:sp>
        <p:nvSpPr>
          <p:cNvPr id="107" name="Shape 107"/>
          <p:cNvSpPr/>
          <p:nvPr/>
        </p:nvSpPr>
        <p:spPr>
          <a:xfrm>
            <a:off x="12186920" y="2616200"/>
            <a:ext cx="558800" cy="558800"/>
          </a:xfrm>
          <a:prstGeom prst="ellipse">
            <a:avLst/>
          </a:prstGeom>
          <a:solidFill>
            <a:srgbClr val="001F6B"/>
          </a:solidFill>
          <a:ln>
            <a:noFill/>
          </a:ln>
        </p:spPr>
        <p:txBody>
          <a:bodyPr wrap="square" lIns="0" tIns="0" rIns="0" bIns="0" anchor="ctr">
            <a:normAutofit/>
          </a:bodyPr>
          <a:lstStyle/>
          <a:p>
            <a:pPr algn="ctr">
              <a:buNone/>
            </a:pPr>
            <a:r>
              <a:rPr lang="en-US" sz="2100" b="1" dirty="0">
                <a:solidFill>
                  <a:srgbClr val="FFFFFF"/>
                </a:solidFill>
                <a:latin typeface="Frutiger"/>
                <a:cs typeface="Frutiger"/>
              </a:rPr>
              <a:t>4</a:t>
            </a:r>
          </a:p>
        </p:txBody>
      </p:sp>
      <p:sp>
        <p:nvSpPr>
          <p:cNvPr id="108" name="Shape 108"/>
          <p:cNvSpPr/>
          <p:nvPr/>
        </p:nvSpPr>
        <p:spPr>
          <a:xfrm>
            <a:off x="10906760" y="3352800"/>
            <a:ext cx="3119120" cy="1905000"/>
          </a:xfrm>
          <a:prstGeom prst="rect">
            <a:avLst/>
          </a:prstGeom>
          <a:noFill/>
          <a:ln>
            <a:noFill/>
          </a:ln>
        </p:spPr>
        <p:txBody>
          <a:bodyPr wrap="square" lIns="0" tIns="0" rIns="0" bIns="0" anchor="t">
            <a:normAutofit/>
          </a:bodyPr>
          <a:lstStyle/>
          <a:p>
            <a:pPr algn="ctr">
              <a:buNone/>
            </a:pPr>
            <a:r>
              <a:rPr lang="en-US" sz="2100" b="1" dirty="0">
                <a:solidFill>
                  <a:srgbClr val="001F6B"/>
                </a:solidFill>
                <a:latin typeface="Frutiger"/>
                <a:cs typeface="Frutiger"/>
              </a:rPr>
              <a:t>Describe it for the next person</a:t>
            </a:r>
          </a:p>
          <a:p>
            <a:pPr algn="ctr">
              <a:lnSpc>
                <a:spcPct val="105000"/>
              </a:lnSpc>
              <a:spcBef>
                <a:spcPts val="600"/>
              </a:spcBef>
              <a:buNone/>
            </a:pPr>
            <a:r>
              <a:rPr lang="en-US" sz="1800" dirty="0">
                <a:solidFill>
                  <a:srgbClr val="364750"/>
                </a:solidFill>
                <a:latin typeface="Frutiger"/>
                <a:cs typeface="Frutiger"/>
              </a:rPr>
              <a:t>Grain, inclusion rules, units, refresh expectations — in the YAML next to the code.</a:t>
            </a:r>
          </a:p>
        </p:txBody>
      </p:sp>
      <p:sp>
        <p:nvSpPr>
          <p:cNvPr id="109" name="Shape 109"/>
          <p:cNvSpPr/>
          <p:nvPr/>
        </p:nvSpPr>
        <p:spPr>
          <a:xfrm>
            <a:off x="15509240" y="2616200"/>
            <a:ext cx="558800" cy="558800"/>
          </a:xfrm>
          <a:prstGeom prst="ellipse">
            <a:avLst/>
          </a:prstGeom>
          <a:solidFill>
            <a:srgbClr val="001F6B"/>
          </a:solidFill>
          <a:ln>
            <a:noFill/>
          </a:ln>
        </p:spPr>
        <p:txBody>
          <a:bodyPr wrap="square" lIns="0" tIns="0" rIns="0" bIns="0" anchor="ctr">
            <a:normAutofit/>
          </a:bodyPr>
          <a:lstStyle/>
          <a:p>
            <a:pPr algn="ctr">
              <a:buNone/>
            </a:pPr>
            <a:r>
              <a:rPr lang="en-US" sz="2100" b="1" dirty="0">
                <a:solidFill>
                  <a:srgbClr val="FFFFFF"/>
                </a:solidFill>
                <a:latin typeface="Frutiger"/>
                <a:cs typeface="Frutiger"/>
              </a:rPr>
              <a:t>5</a:t>
            </a:r>
          </a:p>
        </p:txBody>
      </p:sp>
      <p:sp>
        <p:nvSpPr>
          <p:cNvPr id="110" name="Shape 110"/>
          <p:cNvSpPr/>
          <p:nvPr/>
        </p:nvSpPr>
        <p:spPr>
          <a:xfrm>
            <a:off x="14229080" y="3352800"/>
            <a:ext cx="3119120" cy="1905000"/>
          </a:xfrm>
          <a:prstGeom prst="rect">
            <a:avLst/>
          </a:prstGeom>
          <a:noFill/>
          <a:ln>
            <a:noFill/>
          </a:ln>
        </p:spPr>
        <p:txBody>
          <a:bodyPr wrap="square" lIns="0" tIns="0" rIns="0" bIns="0" anchor="t">
            <a:normAutofit/>
          </a:bodyPr>
          <a:lstStyle/>
          <a:p>
            <a:pPr algn="ctr">
              <a:buNone/>
            </a:pPr>
            <a:r>
              <a:rPr lang="en-US" sz="2100" b="1" dirty="0">
                <a:solidFill>
                  <a:srgbClr val="001F6B"/>
                </a:solidFill>
                <a:latin typeface="Frutiger"/>
                <a:cs typeface="Frutiger"/>
              </a:rPr>
              <a:t>Review it, then schedule it</a:t>
            </a:r>
          </a:p>
          <a:p>
            <a:pPr algn="ctr">
              <a:lnSpc>
                <a:spcPct val="105000"/>
              </a:lnSpc>
              <a:spcBef>
                <a:spcPts val="600"/>
              </a:spcBef>
              <a:buNone/>
            </a:pPr>
            <a:r>
              <a:rPr lang="en-US" sz="1800" dirty="0">
                <a:solidFill>
                  <a:srgbClr val="364750"/>
                </a:solidFill>
                <a:latin typeface="Frutiger"/>
                <a:cs typeface="Frutiger"/>
              </a:rPr>
              <a:t>A pull request, a CI build in an isolated target, then a job that runs after ingestion.</a:t>
            </a:r>
          </a:p>
        </p:txBody>
      </p:sp>
      <p:sp>
        <p:nvSpPr>
          <p:cNvPr id="120" name="Shape 120"/>
          <p:cNvSpPr/>
          <p:nvPr/>
        </p:nvSpPr>
        <p:spPr>
          <a:xfrm>
            <a:off x="838200" y="5537200"/>
            <a:ext cx="9652000" cy="3581400"/>
          </a:xfrm>
          <a:prstGeom prst="rect">
            <a:avLst/>
          </a:prstGeom>
          <a:solidFill>
            <a:srgbClr val="F4F6FA"/>
          </a:solidFill>
          <a:ln>
            <a:noFill/>
          </a:ln>
        </p:spPr>
        <p:txBody>
          <a:bodyPr wrap="square" lIns="101600" tIns="101600" rIns="101600" bIns="101600" anchor="t">
            <a:normAutofit/>
          </a:bodyPr>
          <a:lstStyle/>
          <a:p>
            <a:endParaRPr lang="en-US"/>
          </a:p>
        </p:txBody>
      </p:sp>
      <p:sp>
        <p:nvSpPr>
          <p:cNvPr id="121" name="Shape 121"/>
          <p:cNvSpPr/>
          <p:nvPr/>
        </p:nvSpPr>
        <p:spPr>
          <a:xfrm>
            <a:off x="1092200" y="5715000"/>
            <a:ext cx="9144000" cy="381000"/>
          </a:xfrm>
          <a:prstGeom prst="rect">
            <a:avLst/>
          </a:prstGeom>
          <a:noFill/>
          <a:ln>
            <a:noFill/>
          </a:ln>
        </p:spPr>
        <p:txBody>
          <a:bodyPr wrap="square" lIns="0" tIns="0" rIns="0" bIns="0" anchor="t">
            <a:normAutofit/>
          </a:bodyPr>
          <a:lstStyle/>
          <a:p>
            <a:pPr>
              <a:buNone/>
            </a:pPr>
            <a:r>
              <a:rPr lang="en-US" sz="2100" b="1" dirty="0">
                <a:solidFill>
                  <a:srgbClr val="001F6B"/>
                </a:solidFill>
                <a:latin typeface="Frutiger"/>
                <a:cs typeface="Frutiger"/>
              </a:rPr>
              <a:t>Where would you start?</a:t>
            </a:r>
          </a:p>
        </p:txBody>
      </p:sp>
      <p:sp>
        <p:nvSpPr>
          <p:cNvPr id="122" name="Shape 122"/>
          <p:cNvSpPr/>
          <p:nvPr/>
        </p:nvSpPr>
        <p:spPr>
          <a:xfrm>
            <a:off x="1092200" y="6324600"/>
            <a:ext cx="76200" cy="660400"/>
          </a:xfrm>
          <a:prstGeom prst="rect">
            <a:avLst/>
          </a:prstGeom>
          <a:solidFill>
            <a:srgbClr val="8E9DC5"/>
          </a:solidFill>
          <a:ln>
            <a:noFill/>
          </a:ln>
        </p:spPr>
        <p:txBody>
          <a:bodyPr wrap="square" lIns="101600" tIns="101600" rIns="101600" bIns="101600" anchor="t">
            <a:normAutofit/>
          </a:bodyPr>
          <a:lstStyle/>
          <a:p>
            <a:endParaRPr lang="en-US"/>
          </a:p>
        </p:txBody>
      </p:sp>
      <p:sp>
        <p:nvSpPr>
          <p:cNvPr id="123" name="Shape 123"/>
          <p:cNvSpPr/>
          <p:nvPr/>
        </p:nvSpPr>
        <p:spPr>
          <a:xfrm>
            <a:off x="1346200" y="6248400"/>
            <a:ext cx="8890000" cy="838200"/>
          </a:xfrm>
          <a:prstGeom prst="rect">
            <a:avLst/>
          </a:prstGeom>
          <a:noFill/>
          <a:ln>
            <a:noFill/>
          </a:ln>
        </p:spPr>
        <p:txBody>
          <a:bodyPr wrap="square" lIns="0" tIns="0" rIns="0" bIns="0" anchor="t">
            <a:normAutofit lnSpcReduction="10000"/>
          </a:bodyPr>
          <a:lstStyle/>
          <a:p>
            <a:pPr>
              <a:buNone/>
            </a:pPr>
            <a:r>
              <a:rPr lang="en-US" sz="2000" b="1" dirty="0">
                <a:solidFill>
                  <a:srgbClr val="001F6B"/>
                </a:solidFill>
                <a:latin typeface="Frutiger"/>
                <a:cs typeface="Frutiger"/>
              </a:rPr>
              <a:t>Power BI developer</a:t>
            </a:r>
          </a:p>
          <a:p>
            <a:pPr>
              <a:lnSpc>
                <a:spcPct val="104000"/>
              </a:lnSpc>
              <a:spcBef>
                <a:spcPts val="200"/>
              </a:spcBef>
              <a:buNone/>
            </a:pPr>
            <a:r>
              <a:rPr lang="en-US" sz="1800" dirty="0">
                <a:solidFill>
                  <a:srgbClr val="364750"/>
                </a:solidFill>
                <a:latin typeface="Frutiger"/>
                <a:cs typeface="Frutiger"/>
              </a:rPr>
              <a:t>The mart behind your busiest report — the one you rebuild in Power Query every time the source changes.</a:t>
            </a:r>
          </a:p>
        </p:txBody>
      </p:sp>
      <p:sp>
        <p:nvSpPr>
          <p:cNvPr id="124" name="Shape 124"/>
          <p:cNvSpPr/>
          <p:nvPr/>
        </p:nvSpPr>
        <p:spPr>
          <a:xfrm>
            <a:off x="1092200" y="7239000"/>
            <a:ext cx="76200" cy="660400"/>
          </a:xfrm>
          <a:prstGeom prst="rect">
            <a:avLst/>
          </a:prstGeom>
          <a:solidFill>
            <a:srgbClr val="8E9DC5"/>
          </a:solidFill>
          <a:ln>
            <a:noFill/>
          </a:ln>
        </p:spPr>
        <p:txBody>
          <a:bodyPr wrap="square" lIns="101600" tIns="101600" rIns="101600" bIns="101600" anchor="t">
            <a:normAutofit/>
          </a:bodyPr>
          <a:lstStyle/>
          <a:p>
            <a:endParaRPr lang="en-US"/>
          </a:p>
        </p:txBody>
      </p:sp>
      <p:sp>
        <p:nvSpPr>
          <p:cNvPr id="125" name="Shape 125"/>
          <p:cNvSpPr/>
          <p:nvPr/>
        </p:nvSpPr>
        <p:spPr>
          <a:xfrm>
            <a:off x="1346200" y="7162800"/>
            <a:ext cx="8890000" cy="838200"/>
          </a:xfrm>
          <a:prstGeom prst="rect">
            <a:avLst/>
          </a:prstGeom>
          <a:noFill/>
          <a:ln>
            <a:noFill/>
          </a:ln>
        </p:spPr>
        <p:txBody>
          <a:bodyPr wrap="square" lIns="0" tIns="0" rIns="0" bIns="0" anchor="t">
            <a:normAutofit/>
          </a:bodyPr>
          <a:lstStyle/>
          <a:p>
            <a:pPr>
              <a:buNone/>
            </a:pPr>
            <a:r>
              <a:rPr lang="en-US" sz="2000" b="1" dirty="0">
                <a:solidFill>
                  <a:srgbClr val="001F6B"/>
                </a:solidFill>
                <a:latin typeface="Frutiger"/>
                <a:cs typeface="Frutiger"/>
              </a:rPr>
              <a:t>DBA / SQL developer</a:t>
            </a:r>
          </a:p>
          <a:p>
            <a:pPr>
              <a:lnSpc>
                <a:spcPct val="104000"/>
              </a:lnSpc>
              <a:spcBef>
                <a:spcPts val="200"/>
              </a:spcBef>
              <a:buNone/>
            </a:pPr>
            <a:r>
              <a:rPr lang="en-US" sz="1800" dirty="0">
                <a:solidFill>
                  <a:srgbClr val="364750"/>
                </a:solidFill>
                <a:latin typeface="Frutiger"/>
                <a:cs typeface="Frutiger"/>
              </a:rPr>
              <a:t>The stored procedure everyone is afraid to touch. Keep the procedure; model its output first.</a:t>
            </a:r>
          </a:p>
        </p:txBody>
      </p:sp>
      <p:sp>
        <p:nvSpPr>
          <p:cNvPr id="126" name="Shape 126"/>
          <p:cNvSpPr/>
          <p:nvPr/>
        </p:nvSpPr>
        <p:spPr>
          <a:xfrm>
            <a:off x="1092200" y="8153400"/>
            <a:ext cx="76200" cy="660400"/>
          </a:xfrm>
          <a:prstGeom prst="rect">
            <a:avLst/>
          </a:prstGeom>
          <a:solidFill>
            <a:srgbClr val="E40046"/>
          </a:solidFill>
          <a:ln>
            <a:noFill/>
          </a:ln>
        </p:spPr>
        <p:txBody>
          <a:bodyPr wrap="square" lIns="101600" tIns="101600" rIns="101600" bIns="101600" anchor="t">
            <a:normAutofit/>
          </a:bodyPr>
          <a:lstStyle/>
          <a:p>
            <a:endParaRPr lang="en-US"/>
          </a:p>
        </p:txBody>
      </p:sp>
      <p:sp>
        <p:nvSpPr>
          <p:cNvPr id="127" name="Shape 127"/>
          <p:cNvSpPr/>
          <p:nvPr/>
        </p:nvSpPr>
        <p:spPr>
          <a:xfrm>
            <a:off x="1346200" y="8077200"/>
            <a:ext cx="8890000" cy="838200"/>
          </a:xfrm>
          <a:prstGeom prst="rect">
            <a:avLst/>
          </a:prstGeom>
          <a:noFill/>
          <a:ln>
            <a:noFill/>
          </a:ln>
        </p:spPr>
        <p:txBody>
          <a:bodyPr wrap="square" lIns="0" tIns="0" rIns="0" bIns="0" anchor="t">
            <a:normAutofit lnSpcReduction="10000"/>
          </a:bodyPr>
          <a:lstStyle/>
          <a:p>
            <a:pPr>
              <a:buNone/>
            </a:pPr>
            <a:r>
              <a:rPr lang="en-US" sz="2000" b="1" dirty="0">
                <a:solidFill>
                  <a:srgbClr val="001F6B"/>
                </a:solidFill>
                <a:latin typeface="Frutiger"/>
                <a:cs typeface="Frutiger"/>
              </a:rPr>
              <a:t>Fabric / lakehouse team</a:t>
            </a:r>
          </a:p>
          <a:p>
            <a:pPr>
              <a:lnSpc>
                <a:spcPct val="104000"/>
              </a:lnSpc>
              <a:spcBef>
                <a:spcPts val="200"/>
              </a:spcBef>
              <a:buNone/>
            </a:pPr>
            <a:r>
              <a:rPr lang="en-US" sz="1800" dirty="0">
                <a:solidFill>
                  <a:srgbClr val="364750"/>
                </a:solidFill>
                <a:latin typeface="Frutiger"/>
                <a:cs typeface="Frutiger"/>
              </a:rPr>
              <a:t>One Gold table in a schema-enabled Lakehouse, built by dbt-fabricspark from curated Silver inputs.</a:t>
            </a:r>
          </a:p>
        </p:txBody>
      </p:sp>
      <p:sp>
        <p:nvSpPr>
          <p:cNvPr id="140" name="Shape 140"/>
          <p:cNvSpPr/>
          <p:nvPr/>
        </p:nvSpPr>
        <p:spPr>
          <a:xfrm>
            <a:off x="10795000" y="5537200"/>
            <a:ext cx="6654800" cy="35814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a:p>
        </p:txBody>
      </p:sp>
      <p:sp>
        <p:nvSpPr>
          <p:cNvPr id="141" name="Shape 141"/>
          <p:cNvSpPr/>
          <p:nvPr/>
        </p:nvSpPr>
        <p:spPr>
          <a:xfrm>
            <a:off x="11049000" y="5715000"/>
            <a:ext cx="6146800" cy="381000"/>
          </a:xfrm>
          <a:prstGeom prst="rect">
            <a:avLst/>
          </a:prstGeom>
          <a:noFill/>
          <a:ln>
            <a:noFill/>
          </a:ln>
        </p:spPr>
        <p:txBody>
          <a:bodyPr wrap="square" lIns="0" tIns="0" rIns="0" bIns="0" anchor="t">
            <a:normAutofit/>
          </a:bodyPr>
          <a:lstStyle/>
          <a:p>
            <a:pPr>
              <a:buNone/>
            </a:pPr>
            <a:r>
              <a:rPr lang="en-US" sz="2100" b="1" dirty="0">
                <a:solidFill>
                  <a:srgbClr val="E40046"/>
                </a:solidFill>
                <a:latin typeface="Frutiger"/>
                <a:cs typeface="Frutiger"/>
              </a:rPr>
              <a:t>Not on day one</a:t>
            </a:r>
          </a:p>
        </p:txBody>
      </p:sp>
      <p:sp>
        <p:nvSpPr>
          <p:cNvPr id="142" name="Shape 142"/>
          <p:cNvSpPr/>
          <p:nvPr/>
        </p:nvSpPr>
        <p:spPr>
          <a:xfrm>
            <a:off x="11049000" y="6223000"/>
            <a:ext cx="6146800" cy="2768600"/>
          </a:xfrm>
          <a:prstGeom prst="rect">
            <a:avLst/>
          </a:prstGeom>
          <a:noFill/>
          <a:ln>
            <a:noFill/>
          </a:ln>
        </p:spPr>
        <p:txBody>
          <a:bodyPr wrap="square" lIns="0" tIns="0" rIns="0" bIns="0" anchor="t">
            <a:normAutofit/>
          </a:bodyPr>
          <a:lstStyle/>
          <a:p>
            <a:pPr marL="279400" indent="-279400">
              <a:lnSpc>
                <a:spcPct val="104000"/>
              </a:lnSpc>
              <a:spcBef>
                <a:spcPts val="600"/>
              </a:spcBef>
              <a:buClr>
                <a:srgbClr val="E40046"/>
              </a:buClr>
              <a:buFont typeface="Arial"/>
              <a:buChar char="•"/>
            </a:pPr>
            <a:r>
              <a:rPr lang="en-US" sz="1900" dirty="0">
                <a:solidFill>
                  <a:srgbClr val="364750"/>
                </a:solidFill>
                <a:latin typeface="Frutiger"/>
                <a:cs typeface="Frutiger"/>
              </a:rPr>
              <a:t>Replacing every notebook and stored procedure</a:t>
            </a:r>
          </a:p>
          <a:p>
            <a:pPr marL="279400" indent="-279400">
              <a:lnSpc>
                <a:spcPct val="104000"/>
              </a:lnSpc>
              <a:spcBef>
                <a:spcPts val="600"/>
              </a:spcBef>
              <a:buClr>
                <a:srgbClr val="E40046"/>
              </a:buClr>
              <a:buFont typeface="Arial"/>
              <a:buChar char="•"/>
            </a:pPr>
            <a:r>
              <a:rPr lang="en-US" sz="1900" dirty="0">
                <a:solidFill>
                  <a:srgbClr val="364750"/>
                </a:solidFill>
                <a:latin typeface="Frutiger"/>
                <a:cs typeface="Frutiger"/>
              </a:rPr>
              <a:t>Incremental models and snapshots — state before you understand a plain build</a:t>
            </a:r>
          </a:p>
          <a:p>
            <a:pPr marL="279400" indent="-279400">
              <a:lnSpc>
                <a:spcPct val="104000"/>
              </a:lnSpc>
              <a:spcBef>
                <a:spcPts val="600"/>
              </a:spcBef>
              <a:buClr>
                <a:srgbClr val="E40046"/>
              </a:buClr>
              <a:buFont typeface="Arial"/>
              <a:buChar char="•"/>
            </a:pPr>
            <a:r>
              <a:rPr lang="en-US" sz="1900" dirty="0">
                <a:solidFill>
                  <a:srgbClr val="364750"/>
                </a:solidFill>
                <a:latin typeface="Frutiger"/>
                <a:cs typeface="Frutiger"/>
              </a:rPr>
              <a:t>Installing adapters or creating cloud resources during a demo</a:t>
            </a:r>
          </a:p>
          <a:p>
            <a:pPr marL="279400" indent="-279400">
              <a:lnSpc>
                <a:spcPct val="104000"/>
              </a:lnSpc>
              <a:spcBef>
                <a:spcPts val="600"/>
              </a:spcBef>
              <a:buClr>
                <a:srgbClr val="E40046"/>
              </a:buClr>
              <a:buFont typeface="Arial"/>
              <a:buChar char="•"/>
            </a:pPr>
            <a:r>
              <a:rPr lang="en-US" sz="1900" dirty="0">
                <a:solidFill>
                  <a:srgbClr val="364750"/>
                </a:solidFill>
                <a:latin typeface="Frutiger"/>
                <a:cs typeface="Frutiger"/>
              </a:rPr>
              <a:t>Promising that tests protect the database — they check, they don’t enforce</a:t>
            </a:r>
          </a:p>
          <a:p>
            <a:pPr marL="279400" indent="-279400">
              <a:lnSpc>
                <a:spcPct val="104000"/>
              </a:lnSpc>
              <a:spcBef>
                <a:spcPts val="600"/>
              </a:spcBef>
              <a:buClr>
                <a:srgbClr val="E40046"/>
              </a:buClr>
              <a:buFont typeface="Arial"/>
              <a:buChar char="•"/>
            </a:pPr>
            <a:r>
              <a:rPr lang="en-US" sz="1900" dirty="0">
                <a:solidFill>
                  <a:srgbClr val="364750"/>
                </a:solidFill>
                <a:latin typeface="Frutiger"/>
                <a:cs typeface="Frutiger"/>
              </a:rPr>
              <a:t>Cross-engine joins through ref() — one run, one target</a:t>
            </a:r>
          </a:p>
        </p:txBody>
      </p:sp>
    </p:spTree>
    <p:extLst>
      <p:ext uri="{BB962C8B-B14F-4D97-AF65-F5344CB8AC3E}">
        <p14:creationId xmlns:p14="http://schemas.microsoft.com/office/powerpoint/2010/main" val="42285355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3AA81A4-4B55-4071-8D0D-8E66DAC85BE0}"/>
              </a:ext>
            </a:extLst>
          </p:cNvPr>
          <p:cNvSpPr>
            <a:spLocks noGrp="1"/>
          </p:cNvSpPr>
          <p:nvPr/>
        </p:nvSpPr>
        <p:spPr>
          <a:xfrm>
            <a:off x="838201" y="495302"/>
            <a:ext cx="15240000" cy="392311"/>
          </a:xfrm>
          <a:prstGeom prst="rect">
            <a:avLst/>
          </a:prstGeom>
          <a:noFill/>
        </p:spPr>
        <p:txBody>
          <a:bodyPr wrap="square" lIns="25401" tIns="25401" rIns="25401" bIns="25401" anchor="t">
            <a:normAutofit/>
          </a:bodyPr>
          <a:lstStyle/>
          <a:p>
            <a:pPr>
              <a:lnSpc>
                <a:spcPct val="120000"/>
              </a:lnSpc>
              <a:buNone/>
            </a:pPr>
            <a:r>
              <a:rPr sz="1801" b="1" spc="361">
                <a:solidFill>
                  <a:srgbClr val="E40046"/>
                </a:solidFill>
                <a:latin typeface="Frutiger"/>
                <a:ea typeface="Frutiger"/>
                <a:cs typeface="Frutiger"/>
              </a:rPr>
              <a:t>APPENDIX  ·  AFTER THE BASICS</a:t>
            </a:r>
            <a:endParaRPr sz="1801"/>
          </a:p>
        </p:txBody>
      </p:sp>
      <p:sp>
        <p:nvSpPr>
          <p:cNvPr id="3" name="Text 1">
            <a:extLst>
              <a:ext uri="{FF2B5EF4-FFF2-40B4-BE49-F238E27FC236}">
                <a16:creationId xmlns:a16="http://schemas.microsoft.com/office/drawing/2014/main" id="{BCCFDF1D-25C9-4CBE-B374-B2E6938EB573}"/>
              </a:ext>
            </a:extLst>
          </p:cNvPr>
          <p:cNvSpPr>
            <a:spLocks noGrp="1"/>
          </p:cNvSpPr>
          <p:nvPr/>
        </p:nvSpPr>
        <p:spPr>
          <a:xfrm>
            <a:off x="838201" y="963812"/>
            <a:ext cx="15240000" cy="640407"/>
          </a:xfrm>
          <a:prstGeom prst="rect">
            <a:avLst/>
          </a:prstGeom>
          <a:noFill/>
        </p:spPr>
        <p:txBody>
          <a:bodyPr wrap="square" lIns="25401" tIns="25401" rIns="25401" bIns="25401" anchor="t">
            <a:normAutofit/>
          </a:bodyPr>
          <a:lstStyle/>
          <a:p>
            <a:pPr>
              <a:lnSpc>
                <a:spcPct val="79050"/>
              </a:lnSpc>
              <a:buNone/>
            </a:pPr>
            <a:r>
              <a:rPr sz="4651" b="1" spc="-69">
                <a:solidFill>
                  <a:srgbClr val="001F6B"/>
                </a:solidFill>
                <a:latin typeface="Frutiger"/>
                <a:ea typeface="Frutiger"/>
                <a:cs typeface="Frutiger"/>
              </a:rPr>
              <a:t>Go further — once the first mart is solid</a:t>
            </a:r>
            <a:endParaRPr sz="4651"/>
          </a:p>
        </p:txBody>
      </p:sp>
      <p:pic>
        <p:nvPicPr>
          <p:cNvPr id="29" name="Image 0"/>
          <p:cNvPicPr>
            <a:picLocks noChangeAspect="1"/>
          </p:cNvPicPr>
          <p:nvPr/>
        </p:nvPicPr>
        <p:blipFill>
          <a:blip r:embed="rId3"/>
          <a:srcRect t="-5" b="-5"/>
          <a:stretch/>
        </p:blipFill>
        <p:spPr>
          <a:xfrm>
            <a:off x="16412620" y="571500"/>
            <a:ext cx="1037182" cy="514350"/>
          </a:xfrm>
          <a:prstGeom prst="rect">
            <a:avLst/>
          </a:prstGeom>
        </p:spPr>
      </p:pic>
      <p:sp>
        <p:nvSpPr>
          <p:cNvPr id="5" name="Shape 2">
            <a:extLst>
              <a:ext uri="{FF2B5EF4-FFF2-40B4-BE49-F238E27FC236}">
                <a16:creationId xmlns:a16="http://schemas.microsoft.com/office/drawing/2014/main" id="{EB3CBC50-008C-43C4-9C0B-DC3810711F60}"/>
              </a:ext>
            </a:extLst>
          </p:cNvPr>
          <p:cNvSpPr>
            <a:spLocks noGrp="1"/>
          </p:cNvSpPr>
          <p:nvPr/>
        </p:nvSpPr>
        <p:spPr>
          <a:xfrm>
            <a:off x="838202" y="1813769"/>
            <a:ext cx="16611600" cy="28574"/>
          </a:xfrm>
          <a:prstGeom prst="rect">
            <a:avLst/>
          </a:prstGeom>
          <a:solidFill>
            <a:srgbClr val="FF0000"/>
          </a:solidFill>
        </p:spPr>
        <p:txBody>
          <a:bodyPr/>
          <a:lstStyle/>
          <a:p>
            <a:endParaRPr sz="1801"/>
          </a:p>
        </p:txBody>
      </p:sp>
      <p:sp>
        <p:nvSpPr>
          <p:cNvPr id="6" name="Shape 3">
            <a:extLst>
              <a:ext uri="{FF2B5EF4-FFF2-40B4-BE49-F238E27FC236}">
                <a16:creationId xmlns:a16="http://schemas.microsoft.com/office/drawing/2014/main" id="{A2F5C3DE-A1D6-4F76-BA20-D1D1D174C82A}"/>
              </a:ext>
            </a:extLst>
          </p:cNvPr>
          <p:cNvSpPr>
            <a:spLocks noGrp="1"/>
          </p:cNvSpPr>
          <p:nvPr/>
        </p:nvSpPr>
        <p:spPr>
          <a:xfrm>
            <a:off x="838202" y="1880445"/>
            <a:ext cx="16611600" cy="28574"/>
          </a:xfrm>
          <a:prstGeom prst="rect">
            <a:avLst/>
          </a:prstGeom>
          <a:solidFill>
            <a:srgbClr val="3649A8"/>
          </a:solidFill>
        </p:spPr>
        <p:txBody>
          <a:bodyPr/>
          <a:lstStyle/>
          <a:p>
            <a:endParaRPr sz="1801"/>
          </a:p>
        </p:txBody>
      </p:sp>
      <p:sp>
        <p:nvSpPr>
          <p:cNvPr id="22" name="Shape 19">
            <a:extLst>
              <a:ext uri="{FF2B5EF4-FFF2-40B4-BE49-F238E27FC236}">
                <a16:creationId xmlns:a16="http://schemas.microsoft.com/office/drawing/2014/main" id="{1541A8EB-697F-4AB4-AB8A-D0B4D6C58098}"/>
              </a:ext>
            </a:extLst>
          </p:cNvPr>
          <p:cNvSpPr>
            <a:spLocks noGrp="1"/>
          </p:cNvSpPr>
          <p:nvPr/>
        </p:nvSpPr>
        <p:spPr>
          <a:xfrm>
            <a:off x="838202" y="9294615"/>
            <a:ext cx="16611600" cy="9525"/>
          </a:xfrm>
          <a:prstGeom prst="rect">
            <a:avLst/>
          </a:prstGeom>
          <a:solidFill>
            <a:srgbClr val="E2E7EB"/>
          </a:solidFill>
        </p:spPr>
        <p:txBody>
          <a:bodyPr/>
          <a:lstStyle/>
          <a:p>
            <a:endParaRPr sz="1801"/>
          </a:p>
        </p:txBody>
      </p:sp>
      <p:sp>
        <p:nvSpPr>
          <p:cNvPr id="23" name="Text 20">
            <a:extLst>
              <a:ext uri="{FF2B5EF4-FFF2-40B4-BE49-F238E27FC236}">
                <a16:creationId xmlns:a16="http://schemas.microsoft.com/office/drawing/2014/main" id="{E15C9716-E370-4C36-BAEA-9A2EA3E99FB3}"/>
              </a:ext>
            </a:extLst>
          </p:cNvPr>
          <p:cNvSpPr>
            <a:spLocks noGrp="1"/>
          </p:cNvSpPr>
          <p:nvPr/>
        </p:nvSpPr>
        <p:spPr>
          <a:xfrm>
            <a:off x="838201" y="9513691"/>
            <a:ext cx="7461945" cy="392311"/>
          </a:xfrm>
          <a:prstGeom prst="rect">
            <a:avLst/>
          </a:prstGeom>
          <a:noFill/>
        </p:spPr>
        <p:txBody>
          <a:bodyPr wrap="square" lIns="25401" tIns="25401" rIns="25401" bIns="25401" anchor="t">
            <a:normAutofit/>
          </a:bodyPr>
          <a:lstStyle/>
          <a:p>
            <a:pPr>
              <a:lnSpc>
                <a:spcPct val="124000"/>
              </a:lnSpc>
              <a:buNone/>
            </a:pPr>
            <a:r>
              <a:rPr sz="1801" dirty="0">
                <a:solidFill>
                  <a:srgbClr val="667780"/>
                </a:solidFill>
                <a:latin typeface="Frutiger"/>
                <a:ea typeface="Frutiger"/>
                <a:cs typeface="Frutiger"/>
              </a:rPr>
              <a:t>Getting started with dbt</a:t>
            </a:r>
            <a:endParaRPr sz="1801" dirty="0"/>
          </a:p>
        </p:txBody>
      </p:sp>
      <p:sp>
        <p:nvSpPr>
          <p:cNvPr id="25" name="Text 22">
            <a:extLst>
              <a:ext uri="{FF2B5EF4-FFF2-40B4-BE49-F238E27FC236}">
                <a16:creationId xmlns:a16="http://schemas.microsoft.com/office/drawing/2014/main" id="{0D167625-4BC5-4EC5-9AFD-330CEA05D3F3}"/>
              </a:ext>
            </a:extLst>
          </p:cNvPr>
          <p:cNvSpPr>
            <a:spLocks noGrp="1"/>
          </p:cNvSpPr>
          <p:nvPr/>
        </p:nvSpPr>
        <p:spPr>
          <a:xfrm>
            <a:off x="9987856" y="9513691"/>
            <a:ext cx="7461945" cy="392311"/>
          </a:xfrm>
          <a:prstGeom prst="rect">
            <a:avLst/>
          </a:prstGeom>
          <a:noFill/>
        </p:spPr>
        <p:txBody>
          <a:bodyPr wrap="square" lIns="25401" tIns="25401" rIns="25401" bIns="25401" anchor="t">
            <a:normAutofit/>
          </a:bodyPr>
          <a:lstStyle/>
          <a:p>
            <a:pPr algn="r">
              <a:lnSpc>
                <a:spcPct val="124000"/>
              </a:lnSpc>
              <a:buNone/>
            </a:pPr>
            <a:r>
              <a:rPr lang="en-US" sz="1801">
                <a:solidFill>
                  <a:srgbClr val="667780"/>
                </a:solidFill>
                <a:latin typeface="Frutiger"/>
                <a:ea typeface="Frutiger"/>
                <a:cs typeface="Frutiger"/>
              </a:rPr>
              <a:t>26</a:t>
            </a:r>
            <a:endParaRPr sz="1801"/>
          </a:p>
        </p:txBody>
      </p:sp>
      <p:sp>
        <p:nvSpPr>
          <p:cNvPr id="100" name="Shape 100"/>
          <p:cNvSpPr/>
          <p:nvPr/>
        </p:nvSpPr>
        <p:spPr>
          <a:xfrm>
            <a:off x="838200" y="2362200"/>
            <a:ext cx="5435600" cy="32004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a:p>
        </p:txBody>
      </p:sp>
      <p:sp>
        <p:nvSpPr>
          <p:cNvPr id="101" name="Shape 101"/>
          <p:cNvSpPr/>
          <p:nvPr/>
        </p:nvSpPr>
        <p:spPr>
          <a:xfrm>
            <a:off x="838200" y="2362200"/>
            <a:ext cx="5435600" cy="76200"/>
          </a:xfrm>
          <a:prstGeom prst="rect">
            <a:avLst/>
          </a:prstGeom>
          <a:solidFill>
            <a:srgbClr val="001F6B"/>
          </a:solidFill>
          <a:ln>
            <a:noFill/>
          </a:ln>
        </p:spPr>
        <p:txBody>
          <a:bodyPr wrap="square" lIns="101600" tIns="101600" rIns="101600" bIns="101600" anchor="t">
            <a:normAutofit fontScale="25000" lnSpcReduction="20000"/>
          </a:bodyPr>
          <a:lstStyle/>
          <a:p>
            <a:endParaRPr lang="en-US"/>
          </a:p>
        </p:txBody>
      </p:sp>
      <p:sp>
        <p:nvSpPr>
          <p:cNvPr id="102" name="Shape 102"/>
          <p:cNvSpPr/>
          <p:nvPr/>
        </p:nvSpPr>
        <p:spPr>
          <a:xfrm>
            <a:off x="1092200" y="2616200"/>
            <a:ext cx="4927600" cy="508000"/>
          </a:xfrm>
          <a:prstGeom prst="rect">
            <a:avLst/>
          </a:prstGeom>
          <a:noFill/>
          <a:ln>
            <a:noFill/>
          </a:ln>
        </p:spPr>
        <p:txBody>
          <a:bodyPr wrap="square" lIns="0" tIns="0" rIns="0" bIns="0" anchor="t">
            <a:normAutofit/>
          </a:bodyPr>
          <a:lstStyle/>
          <a:p>
            <a:pPr>
              <a:buNone/>
            </a:pPr>
            <a:r>
              <a:rPr lang="en-US" sz="2100" b="1" dirty="0">
                <a:solidFill>
                  <a:srgbClr val="001F6B"/>
                </a:solidFill>
                <a:latin typeface="Frutiger"/>
                <a:cs typeface="Frutiger"/>
              </a:rPr>
              <a:t>Incremental models</a:t>
            </a:r>
          </a:p>
        </p:txBody>
      </p:sp>
      <p:sp>
        <p:nvSpPr>
          <p:cNvPr id="103" name="Shape 103"/>
          <p:cNvSpPr/>
          <p:nvPr/>
        </p:nvSpPr>
        <p:spPr>
          <a:xfrm>
            <a:off x="1092200" y="3098800"/>
            <a:ext cx="4927600" cy="1803400"/>
          </a:xfrm>
          <a:prstGeom prst="rect">
            <a:avLst/>
          </a:prstGeom>
          <a:noFill/>
          <a:ln>
            <a:noFill/>
          </a:ln>
        </p:spPr>
        <p:txBody>
          <a:bodyPr wrap="square" lIns="0" tIns="0" rIns="0" bIns="0" anchor="t">
            <a:normAutofit/>
          </a:bodyPr>
          <a:lstStyle/>
          <a:p>
            <a:pPr>
              <a:lnSpc>
                <a:spcPct val="106000"/>
              </a:lnSpc>
              <a:buNone/>
            </a:pPr>
            <a:r>
              <a:rPr lang="en-US" sz="1800" dirty="0">
                <a:solidFill>
                  <a:srgbClr val="364750"/>
                </a:solidFill>
                <a:latin typeface="Frutiger"/>
                <a:cs typeface="Frutiger"/>
              </a:rPr>
              <a:t>Process only new or changed rows. You define “new” — late arrivals, corrections and deletes need explicit handling. unique_key helps merge; it is not a uniqueness test.</a:t>
            </a:r>
          </a:p>
        </p:txBody>
      </p:sp>
      <p:sp>
        <p:nvSpPr>
          <p:cNvPr id="124" name="Shape 124"/>
          <p:cNvSpPr/>
          <p:nvPr/>
        </p:nvSpPr>
        <p:spPr>
          <a:xfrm>
            <a:off x="1092200" y="4953000"/>
            <a:ext cx="4927600" cy="406400"/>
          </a:xfrm>
          <a:prstGeom prst="rect">
            <a:avLst/>
          </a:prstGeom>
          <a:solidFill>
            <a:srgbClr val="F4F6FA"/>
          </a:solidFill>
          <a:ln>
            <a:noFill/>
          </a:ln>
        </p:spPr>
        <p:txBody>
          <a:bodyPr wrap="square" lIns="127000" tIns="25400" rIns="127000" bIns="25400" anchor="ctr">
            <a:normAutofit/>
          </a:bodyPr>
          <a:lstStyle/>
          <a:p>
            <a:pPr>
              <a:buNone/>
            </a:pPr>
            <a:r>
              <a:rPr lang="en-US" sz="1400" dirty="0">
                <a:solidFill>
                  <a:srgbClr val="001F6B"/>
                </a:solidFill>
                <a:latin typeface="Consolas"/>
                <a:cs typeface="Consolas"/>
              </a:rPr>
              <a:t>materialized='incremental'</a:t>
            </a:r>
          </a:p>
        </p:txBody>
      </p:sp>
      <p:sp>
        <p:nvSpPr>
          <p:cNvPr id="104" name="Shape 104"/>
          <p:cNvSpPr/>
          <p:nvPr/>
        </p:nvSpPr>
        <p:spPr>
          <a:xfrm>
            <a:off x="6426200" y="2362200"/>
            <a:ext cx="5435600" cy="32004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a:p>
        </p:txBody>
      </p:sp>
      <p:sp>
        <p:nvSpPr>
          <p:cNvPr id="105" name="Shape 105"/>
          <p:cNvSpPr/>
          <p:nvPr/>
        </p:nvSpPr>
        <p:spPr>
          <a:xfrm>
            <a:off x="6426200" y="2362200"/>
            <a:ext cx="5435600" cy="76200"/>
          </a:xfrm>
          <a:prstGeom prst="rect">
            <a:avLst/>
          </a:prstGeom>
          <a:solidFill>
            <a:srgbClr val="E40046"/>
          </a:solidFill>
          <a:ln>
            <a:noFill/>
          </a:ln>
        </p:spPr>
        <p:txBody>
          <a:bodyPr wrap="square" lIns="101600" tIns="101600" rIns="101600" bIns="101600" anchor="t">
            <a:normAutofit fontScale="25000" lnSpcReduction="20000"/>
          </a:bodyPr>
          <a:lstStyle/>
          <a:p>
            <a:endParaRPr lang="en-US"/>
          </a:p>
        </p:txBody>
      </p:sp>
      <p:sp>
        <p:nvSpPr>
          <p:cNvPr id="106" name="Shape 106"/>
          <p:cNvSpPr/>
          <p:nvPr/>
        </p:nvSpPr>
        <p:spPr>
          <a:xfrm>
            <a:off x="6680200" y="2616200"/>
            <a:ext cx="4927600" cy="508000"/>
          </a:xfrm>
          <a:prstGeom prst="rect">
            <a:avLst/>
          </a:prstGeom>
          <a:noFill/>
          <a:ln>
            <a:noFill/>
          </a:ln>
        </p:spPr>
        <p:txBody>
          <a:bodyPr wrap="square" lIns="0" tIns="0" rIns="0" bIns="0" anchor="t">
            <a:normAutofit/>
          </a:bodyPr>
          <a:lstStyle/>
          <a:p>
            <a:pPr>
              <a:buNone/>
            </a:pPr>
            <a:r>
              <a:rPr lang="en-US" sz="2100" b="1" dirty="0">
                <a:solidFill>
                  <a:srgbClr val="001F6B"/>
                </a:solidFill>
                <a:latin typeface="Frutiger"/>
                <a:cs typeface="Frutiger"/>
              </a:rPr>
              <a:t>Snapshots</a:t>
            </a:r>
          </a:p>
        </p:txBody>
      </p:sp>
      <p:sp>
        <p:nvSpPr>
          <p:cNvPr id="107" name="Shape 107"/>
          <p:cNvSpPr/>
          <p:nvPr/>
        </p:nvSpPr>
        <p:spPr>
          <a:xfrm>
            <a:off x="6680200" y="3098800"/>
            <a:ext cx="4927600" cy="1803400"/>
          </a:xfrm>
          <a:prstGeom prst="rect">
            <a:avLst/>
          </a:prstGeom>
          <a:noFill/>
          <a:ln>
            <a:noFill/>
          </a:ln>
        </p:spPr>
        <p:txBody>
          <a:bodyPr wrap="square" lIns="0" tIns="0" rIns="0" bIns="0" anchor="t">
            <a:normAutofit/>
          </a:bodyPr>
          <a:lstStyle/>
          <a:p>
            <a:pPr>
              <a:lnSpc>
                <a:spcPct val="106000"/>
              </a:lnSpc>
              <a:buNone/>
            </a:pPr>
            <a:r>
              <a:rPr lang="en-US" sz="1800" dirty="0">
                <a:solidFill>
                  <a:srgbClr val="364750"/>
                </a:solidFill>
                <a:latin typeface="Frutiger"/>
                <a:cs typeface="Frutiger"/>
              </a:rPr>
              <a:t>Record how a row looked each time dbt ran — a slowly-changing-dimension pattern. Not a backup: a change that happens and reverts between runs is never seen.</a:t>
            </a:r>
          </a:p>
        </p:txBody>
      </p:sp>
      <p:sp>
        <p:nvSpPr>
          <p:cNvPr id="128" name="Shape 128"/>
          <p:cNvSpPr/>
          <p:nvPr/>
        </p:nvSpPr>
        <p:spPr>
          <a:xfrm>
            <a:off x="6680200" y="4953000"/>
            <a:ext cx="4927600" cy="406400"/>
          </a:xfrm>
          <a:prstGeom prst="rect">
            <a:avLst/>
          </a:prstGeom>
          <a:solidFill>
            <a:srgbClr val="F4F6FA"/>
          </a:solidFill>
          <a:ln>
            <a:noFill/>
          </a:ln>
        </p:spPr>
        <p:txBody>
          <a:bodyPr wrap="square" lIns="127000" tIns="25400" rIns="127000" bIns="25400" anchor="ctr">
            <a:normAutofit/>
          </a:bodyPr>
          <a:lstStyle/>
          <a:p>
            <a:pPr>
              <a:buNone/>
            </a:pPr>
            <a:r>
              <a:rPr lang="en-US" sz="1400" dirty="0">
                <a:solidFill>
                  <a:srgbClr val="001F6B"/>
                </a:solidFill>
                <a:latin typeface="Consolas"/>
                <a:cs typeface="Consolas"/>
              </a:rPr>
              <a:t>dbt snapshot</a:t>
            </a:r>
          </a:p>
        </p:txBody>
      </p:sp>
      <p:sp>
        <p:nvSpPr>
          <p:cNvPr id="108" name="Shape 108"/>
          <p:cNvSpPr/>
          <p:nvPr/>
        </p:nvSpPr>
        <p:spPr>
          <a:xfrm>
            <a:off x="12014200" y="2362200"/>
            <a:ext cx="5435600" cy="32004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a:p>
        </p:txBody>
      </p:sp>
      <p:sp>
        <p:nvSpPr>
          <p:cNvPr id="109" name="Shape 109"/>
          <p:cNvSpPr/>
          <p:nvPr/>
        </p:nvSpPr>
        <p:spPr>
          <a:xfrm>
            <a:off x="12014200" y="2362200"/>
            <a:ext cx="5435600" cy="76200"/>
          </a:xfrm>
          <a:prstGeom prst="rect">
            <a:avLst/>
          </a:prstGeom>
          <a:solidFill>
            <a:srgbClr val="001F6B"/>
          </a:solidFill>
          <a:ln>
            <a:noFill/>
          </a:ln>
        </p:spPr>
        <p:txBody>
          <a:bodyPr wrap="square" lIns="101600" tIns="101600" rIns="101600" bIns="101600" anchor="t">
            <a:normAutofit fontScale="25000" lnSpcReduction="20000"/>
          </a:bodyPr>
          <a:lstStyle/>
          <a:p>
            <a:endParaRPr lang="en-US"/>
          </a:p>
        </p:txBody>
      </p:sp>
      <p:sp>
        <p:nvSpPr>
          <p:cNvPr id="110" name="Shape 110"/>
          <p:cNvSpPr/>
          <p:nvPr/>
        </p:nvSpPr>
        <p:spPr>
          <a:xfrm>
            <a:off x="12268200" y="2616200"/>
            <a:ext cx="4927600" cy="508000"/>
          </a:xfrm>
          <a:prstGeom prst="rect">
            <a:avLst/>
          </a:prstGeom>
          <a:noFill/>
          <a:ln>
            <a:noFill/>
          </a:ln>
        </p:spPr>
        <p:txBody>
          <a:bodyPr wrap="square" lIns="0" tIns="0" rIns="0" bIns="0" anchor="t">
            <a:normAutofit/>
          </a:bodyPr>
          <a:lstStyle/>
          <a:p>
            <a:pPr>
              <a:buNone/>
            </a:pPr>
            <a:r>
              <a:rPr lang="en-US" sz="2100" b="1" dirty="0">
                <a:solidFill>
                  <a:srgbClr val="001F6B"/>
                </a:solidFill>
                <a:latin typeface="Frutiger"/>
                <a:cs typeface="Frutiger"/>
              </a:rPr>
              <a:t>Unit tests</a:t>
            </a:r>
          </a:p>
        </p:txBody>
      </p:sp>
      <p:sp>
        <p:nvSpPr>
          <p:cNvPr id="111" name="Shape 111"/>
          <p:cNvSpPr/>
          <p:nvPr/>
        </p:nvSpPr>
        <p:spPr>
          <a:xfrm>
            <a:off x="12268200" y="3098800"/>
            <a:ext cx="4927600" cy="1803400"/>
          </a:xfrm>
          <a:prstGeom prst="rect">
            <a:avLst/>
          </a:prstGeom>
          <a:noFill/>
          <a:ln>
            <a:noFill/>
          </a:ln>
        </p:spPr>
        <p:txBody>
          <a:bodyPr wrap="square" lIns="0" tIns="0" rIns="0" bIns="0" anchor="t">
            <a:normAutofit/>
          </a:bodyPr>
          <a:lstStyle/>
          <a:p>
            <a:pPr>
              <a:lnSpc>
                <a:spcPct val="106000"/>
              </a:lnSpc>
              <a:buNone/>
            </a:pPr>
            <a:r>
              <a:rPr lang="en-US" sz="1800" dirty="0">
                <a:solidFill>
                  <a:srgbClr val="364750"/>
                </a:solidFill>
                <a:latin typeface="Frutiger"/>
                <a:cs typeface="Frutiger"/>
              </a:rPr>
              <a:t>Feed a model controlled input rows and assert the output — e.g. an order with one jaffle and one drink is both a food and a drink order. Confirm adapter/Core support first.</a:t>
            </a:r>
          </a:p>
        </p:txBody>
      </p:sp>
      <p:sp>
        <p:nvSpPr>
          <p:cNvPr id="132" name="Shape 132"/>
          <p:cNvSpPr/>
          <p:nvPr/>
        </p:nvSpPr>
        <p:spPr>
          <a:xfrm>
            <a:off x="12268200" y="4953000"/>
            <a:ext cx="4927600" cy="406400"/>
          </a:xfrm>
          <a:prstGeom prst="rect">
            <a:avLst/>
          </a:prstGeom>
          <a:solidFill>
            <a:srgbClr val="F4F6FA"/>
          </a:solidFill>
          <a:ln>
            <a:noFill/>
          </a:ln>
        </p:spPr>
        <p:txBody>
          <a:bodyPr wrap="square" lIns="127000" tIns="25400" rIns="127000" bIns="25400" anchor="ctr">
            <a:normAutofit/>
          </a:bodyPr>
          <a:lstStyle/>
          <a:p>
            <a:pPr>
              <a:buNone/>
            </a:pPr>
            <a:r>
              <a:rPr lang="en-US" sz="1400" dirty="0">
                <a:solidFill>
                  <a:srgbClr val="001F6B"/>
                </a:solidFill>
                <a:latin typeface="Consolas"/>
                <a:cs typeface="Consolas"/>
              </a:rPr>
              <a:t>unit_tests: in YAML</a:t>
            </a:r>
          </a:p>
        </p:txBody>
      </p:sp>
      <p:sp>
        <p:nvSpPr>
          <p:cNvPr id="112" name="Shape 112"/>
          <p:cNvSpPr/>
          <p:nvPr/>
        </p:nvSpPr>
        <p:spPr>
          <a:xfrm>
            <a:off x="838200" y="5816600"/>
            <a:ext cx="5435600" cy="32004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a:p>
        </p:txBody>
      </p:sp>
      <p:sp>
        <p:nvSpPr>
          <p:cNvPr id="113" name="Shape 113"/>
          <p:cNvSpPr/>
          <p:nvPr/>
        </p:nvSpPr>
        <p:spPr>
          <a:xfrm>
            <a:off x="838200" y="5816600"/>
            <a:ext cx="5435600" cy="76200"/>
          </a:xfrm>
          <a:prstGeom prst="rect">
            <a:avLst/>
          </a:prstGeom>
          <a:solidFill>
            <a:srgbClr val="001F6B"/>
          </a:solidFill>
          <a:ln>
            <a:noFill/>
          </a:ln>
        </p:spPr>
        <p:txBody>
          <a:bodyPr wrap="square" lIns="101600" tIns="101600" rIns="101600" bIns="101600" anchor="t">
            <a:normAutofit fontScale="25000" lnSpcReduction="20000"/>
          </a:bodyPr>
          <a:lstStyle/>
          <a:p>
            <a:endParaRPr lang="en-US"/>
          </a:p>
        </p:txBody>
      </p:sp>
      <p:sp>
        <p:nvSpPr>
          <p:cNvPr id="114" name="Shape 114"/>
          <p:cNvSpPr/>
          <p:nvPr/>
        </p:nvSpPr>
        <p:spPr>
          <a:xfrm>
            <a:off x="1092200" y="6070600"/>
            <a:ext cx="4927600" cy="508000"/>
          </a:xfrm>
          <a:prstGeom prst="rect">
            <a:avLst/>
          </a:prstGeom>
          <a:noFill/>
          <a:ln>
            <a:noFill/>
          </a:ln>
        </p:spPr>
        <p:txBody>
          <a:bodyPr wrap="square" lIns="0" tIns="0" rIns="0" bIns="0" anchor="t">
            <a:normAutofit/>
          </a:bodyPr>
          <a:lstStyle/>
          <a:p>
            <a:pPr>
              <a:buNone/>
            </a:pPr>
            <a:r>
              <a:rPr lang="en-US" sz="2100" b="1" dirty="0">
                <a:solidFill>
                  <a:srgbClr val="001F6B"/>
                </a:solidFill>
                <a:latin typeface="Frutiger"/>
                <a:cs typeface="Frutiger"/>
              </a:rPr>
              <a:t>Sources &amp; freshness</a:t>
            </a:r>
          </a:p>
        </p:txBody>
      </p:sp>
      <p:sp>
        <p:nvSpPr>
          <p:cNvPr id="115" name="Shape 115"/>
          <p:cNvSpPr/>
          <p:nvPr/>
        </p:nvSpPr>
        <p:spPr>
          <a:xfrm>
            <a:off x="1092200" y="6553200"/>
            <a:ext cx="4927600" cy="1803400"/>
          </a:xfrm>
          <a:prstGeom prst="rect">
            <a:avLst/>
          </a:prstGeom>
          <a:noFill/>
          <a:ln>
            <a:noFill/>
          </a:ln>
        </p:spPr>
        <p:txBody>
          <a:bodyPr wrap="square" lIns="0" tIns="0" rIns="0" bIns="0" anchor="t">
            <a:normAutofit/>
          </a:bodyPr>
          <a:lstStyle/>
          <a:p>
            <a:pPr>
              <a:lnSpc>
                <a:spcPct val="106000"/>
              </a:lnSpc>
              <a:buNone/>
            </a:pPr>
            <a:r>
              <a:rPr lang="en-US" sz="1800" dirty="0">
                <a:solidFill>
                  <a:srgbClr val="364750"/>
                </a:solidFill>
                <a:latin typeface="Frutiger"/>
                <a:cs typeface="Frutiger"/>
              </a:rPr>
              <a:t>Declare the tables ingestion owns with source(); document and test them; check freshness from a timestamp column. Today’s raw tables are already declared this way — a real pipeline replaces the seed.</a:t>
            </a:r>
          </a:p>
        </p:txBody>
      </p:sp>
      <p:sp>
        <p:nvSpPr>
          <p:cNvPr id="136" name="Shape 136"/>
          <p:cNvSpPr/>
          <p:nvPr/>
        </p:nvSpPr>
        <p:spPr>
          <a:xfrm>
            <a:off x="1092200" y="8407400"/>
            <a:ext cx="4927600" cy="406400"/>
          </a:xfrm>
          <a:prstGeom prst="rect">
            <a:avLst/>
          </a:prstGeom>
          <a:solidFill>
            <a:srgbClr val="F4F6FA"/>
          </a:solidFill>
          <a:ln>
            <a:noFill/>
          </a:ln>
        </p:spPr>
        <p:txBody>
          <a:bodyPr wrap="square" lIns="127000" tIns="25400" rIns="127000" bIns="25400" anchor="ctr">
            <a:normAutofit/>
          </a:bodyPr>
          <a:lstStyle/>
          <a:p>
            <a:pPr>
              <a:buNone/>
            </a:pPr>
            <a:r>
              <a:rPr lang="en-US" sz="1400" dirty="0">
                <a:solidFill>
                  <a:srgbClr val="001F6B"/>
                </a:solidFill>
                <a:latin typeface="Consolas"/>
                <a:cs typeface="Consolas"/>
              </a:rPr>
              <a:t>dbt source freshness</a:t>
            </a:r>
          </a:p>
        </p:txBody>
      </p:sp>
      <p:sp>
        <p:nvSpPr>
          <p:cNvPr id="116" name="Shape 116"/>
          <p:cNvSpPr/>
          <p:nvPr/>
        </p:nvSpPr>
        <p:spPr>
          <a:xfrm>
            <a:off x="6426200" y="5816600"/>
            <a:ext cx="5435600" cy="32004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a:p>
        </p:txBody>
      </p:sp>
      <p:sp>
        <p:nvSpPr>
          <p:cNvPr id="117" name="Shape 117"/>
          <p:cNvSpPr/>
          <p:nvPr/>
        </p:nvSpPr>
        <p:spPr>
          <a:xfrm>
            <a:off x="6426200" y="5816600"/>
            <a:ext cx="5435600" cy="76200"/>
          </a:xfrm>
          <a:prstGeom prst="rect">
            <a:avLst/>
          </a:prstGeom>
          <a:solidFill>
            <a:srgbClr val="E40046"/>
          </a:solidFill>
          <a:ln>
            <a:noFill/>
          </a:ln>
        </p:spPr>
        <p:txBody>
          <a:bodyPr wrap="square" lIns="101600" tIns="101600" rIns="101600" bIns="101600" anchor="t">
            <a:normAutofit fontScale="25000" lnSpcReduction="20000"/>
          </a:bodyPr>
          <a:lstStyle/>
          <a:p>
            <a:endParaRPr lang="en-US"/>
          </a:p>
        </p:txBody>
      </p:sp>
      <p:sp>
        <p:nvSpPr>
          <p:cNvPr id="118" name="Shape 118"/>
          <p:cNvSpPr/>
          <p:nvPr/>
        </p:nvSpPr>
        <p:spPr>
          <a:xfrm>
            <a:off x="6680200" y="6070600"/>
            <a:ext cx="4927600" cy="508000"/>
          </a:xfrm>
          <a:prstGeom prst="rect">
            <a:avLst/>
          </a:prstGeom>
          <a:noFill/>
          <a:ln>
            <a:noFill/>
          </a:ln>
        </p:spPr>
        <p:txBody>
          <a:bodyPr wrap="square" lIns="0" tIns="0" rIns="0" bIns="0" anchor="t">
            <a:normAutofit/>
          </a:bodyPr>
          <a:lstStyle/>
          <a:p>
            <a:pPr>
              <a:buNone/>
            </a:pPr>
            <a:r>
              <a:rPr lang="en-US" sz="2100" b="1" dirty="0">
                <a:solidFill>
                  <a:srgbClr val="001F6B"/>
                </a:solidFill>
                <a:latin typeface="Frutiger"/>
                <a:cs typeface="Frutiger"/>
              </a:rPr>
              <a:t>Packages &amp; macros</a:t>
            </a:r>
          </a:p>
        </p:txBody>
      </p:sp>
      <p:sp>
        <p:nvSpPr>
          <p:cNvPr id="119" name="Shape 119"/>
          <p:cNvSpPr/>
          <p:nvPr/>
        </p:nvSpPr>
        <p:spPr>
          <a:xfrm>
            <a:off x="6680200" y="6553200"/>
            <a:ext cx="4927600" cy="1803400"/>
          </a:xfrm>
          <a:prstGeom prst="rect">
            <a:avLst/>
          </a:prstGeom>
          <a:noFill/>
          <a:ln>
            <a:noFill/>
          </a:ln>
        </p:spPr>
        <p:txBody>
          <a:bodyPr wrap="square" lIns="0" tIns="0" rIns="0" bIns="0" anchor="t">
            <a:normAutofit/>
          </a:bodyPr>
          <a:lstStyle/>
          <a:p>
            <a:pPr>
              <a:lnSpc>
                <a:spcPct val="106000"/>
              </a:lnSpc>
              <a:buNone/>
            </a:pPr>
            <a:r>
              <a:rPr lang="en-US" sz="1800" dirty="0" err="1">
                <a:solidFill>
                  <a:srgbClr val="364750"/>
                </a:solidFill>
                <a:latin typeface="Frutiger"/>
                <a:cs typeface="Frutiger"/>
              </a:rPr>
              <a:t>dbt_utils</a:t>
            </a:r>
            <a:r>
              <a:rPr lang="en-US" sz="1800" dirty="0">
                <a:solidFill>
                  <a:srgbClr val="364750"/>
                </a:solidFill>
                <a:latin typeface="Frutiger"/>
                <a:cs typeface="Frutiger"/>
              </a:rPr>
              <a:t> and friends add reusable tests and cross-database macros. Write your own macros for repeated SQL patterns. Every package has a support matrix.</a:t>
            </a:r>
          </a:p>
        </p:txBody>
      </p:sp>
      <p:sp>
        <p:nvSpPr>
          <p:cNvPr id="140" name="Shape 140"/>
          <p:cNvSpPr/>
          <p:nvPr/>
        </p:nvSpPr>
        <p:spPr>
          <a:xfrm>
            <a:off x="6680200" y="8407400"/>
            <a:ext cx="4927600" cy="406400"/>
          </a:xfrm>
          <a:prstGeom prst="rect">
            <a:avLst/>
          </a:prstGeom>
          <a:solidFill>
            <a:srgbClr val="F4F6FA"/>
          </a:solidFill>
          <a:ln>
            <a:noFill/>
          </a:ln>
        </p:spPr>
        <p:txBody>
          <a:bodyPr wrap="square" lIns="127000" tIns="25400" rIns="127000" bIns="25400" anchor="ctr">
            <a:normAutofit/>
          </a:bodyPr>
          <a:lstStyle/>
          <a:p>
            <a:pPr>
              <a:buNone/>
            </a:pPr>
            <a:r>
              <a:rPr lang="en-US" sz="1400" dirty="0">
                <a:solidFill>
                  <a:srgbClr val="001F6B"/>
                </a:solidFill>
                <a:latin typeface="Consolas"/>
                <a:cs typeface="Consolas"/>
              </a:rPr>
              <a:t>packages.yml · dbt deps</a:t>
            </a:r>
          </a:p>
        </p:txBody>
      </p:sp>
      <p:sp>
        <p:nvSpPr>
          <p:cNvPr id="120" name="Shape 120"/>
          <p:cNvSpPr/>
          <p:nvPr/>
        </p:nvSpPr>
        <p:spPr>
          <a:xfrm>
            <a:off x="12014200" y="5816600"/>
            <a:ext cx="5435600" cy="3200400"/>
          </a:xfrm>
          <a:prstGeom prst="rect">
            <a:avLst/>
          </a:prstGeom>
          <a:solidFill>
            <a:srgbClr val="FFFFFF"/>
          </a:solidFill>
          <a:ln w="19050">
            <a:solidFill>
              <a:srgbClr val="E2E7EB"/>
            </a:solidFill>
          </a:ln>
        </p:spPr>
        <p:txBody>
          <a:bodyPr wrap="square" lIns="101600" tIns="101600" rIns="101600" bIns="101600" anchor="t">
            <a:normAutofit/>
          </a:bodyPr>
          <a:lstStyle/>
          <a:p>
            <a:endParaRPr lang="en-US"/>
          </a:p>
        </p:txBody>
      </p:sp>
      <p:sp>
        <p:nvSpPr>
          <p:cNvPr id="121" name="Shape 121"/>
          <p:cNvSpPr/>
          <p:nvPr/>
        </p:nvSpPr>
        <p:spPr>
          <a:xfrm>
            <a:off x="12014200" y="5816600"/>
            <a:ext cx="5435600" cy="76200"/>
          </a:xfrm>
          <a:prstGeom prst="rect">
            <a:avLst/>
          </a:prstGeom>
          <a:solidFill>
            <a:srgbClr val="001F6B"/>
          </a:solidFill>
          <a:ln>
            <a:noFill/>
          </a:ln>
        </p:spPr>
        <p:txBody>
          <a:bodyPr wrap="square" lIns="101600" tIns="101600" rIns="101600" bIns="101600" anchor="t">
            <a:normAutofit fontScale="25000" lnSpcReduction="20000"/>
          </a:bodyPr>
          <a:lstStyle/>
          <a:p>
            <a:endParaRPr lang="en-US"/>
          </a:p>
        </p:txBody>
      </p:sp>
      <p:sp>
        <p:nvSpPr>
          <p:cNvPr id="122" name="Shape 122"/>
          <p:cNvSpPr/>
          <p:nvPr/>
        </p:nvSpPr>
        <p:spPr>
          <a:xfrm>
            <a:off x="12268200" y="6070600"/>
            <a:ext cx="4927600" cy="508000"/>
          </a:xfrm>
          <a:prstGeom prst="rect">
            <a:avLst/>
          </a:prstGeom>
          <a:noFill/>
          <a:ln>
            <a:noFill/>
          </a:ln>
        </p:spPr>
        <p:txBody>
          <a:bodyPr wrap="square" lIns="0" tIns="0" rIns="0" bIns="0" anchor="t">
            <a:normAutofit/>
          </a:bodyPr>
          <a:lstStyle/>
          <a:p>
            <a:pPr>
              <a:buNone/>
            </a:pPr>
            <a:r>
              <a:rPr lang="en-US" sz="2100" b="1" dirty="0">
                <a:solidFill>
                  <a:srgbClr val="001F6B"/>
                </a:solidFill>
                <a:latin typeface="Frutiger"/>
                <a:cs typeface="Frutiger"/>
              </a:rPr>
              <a:t>State-based CI &amp; defer</a:t>
            </a:r>
          </a:p>
        </p:txBody>
      </p:sp>
      <p:sp>
        <p:nvSpPr>
          <p:cNvPr id="123" name="Shape 123"/>
          <p:cNvSpPr/>
          <p:nvPr/>
        </p:nvSpPr>
        <p:spPr>
          <a:xfrm>
            <a:off x="12268200" y="6553200"/>
            <a:ext cx="4927600" cy="1803400"/>
          </a:xfrm>
          <a:prstGeom prst="rect">
            <a:avLst/>
          </a:prstGeom>
          <a:noFill/>
          <a:ln>
            <a:noFill/>
          </a:ln>
        </p:spPr>
        <p:txBody>
          <a:bodyPr wrap="square" lIns="0" tIns="0" rIns="0" bIns="0" anchor="t">
            <a:normAutofit/>
          </a:bodyPr>
          <a:lstStyle/>
          <a:p>
            <a:pPr>
              <a:lnSpc>
                <a:spcPct val="106000"/>
              </a:lnSpc>
              <a:buNone/>
            </a:pPr>
            <a:r>
              <a:rPr lang="en-US" sz="1800" dirty="0">
                <a:solidFill>
                  <a:srgbClr val="364750"/>
                </a:solidFill>
                <a:latin typeface="Frutiger"/>
                <a:cs typeface="Frutiger"/>
              </a:rPr>
              <a:t>Build only what changed against production artifacts: --select state:modified+ --defer. Faster CI once the basics are solid.</a:t>
            </a:r>
          </a:p>
        </p:txBody>
      </p:sp>
      <p:sp>
        <p:nvSpPr>
          <p:cNvPr id="144" name="Shape 144"/>
          <p:cNvSpPr/>
          <p:nvPr/>
        </p:nvSpPr>
        <p:spPr>
          <a:xfrm>
            <a:off x="12268200" y="8407400"/>
            <a:ext cx="4927600" cy="406400"/>
          </a:xfrm>
          <a:prstGeom prst="rect">
            <a:avLst/>
          </a:prstGeom>
          <a:solidFill>
            <a:srgbClr val="F4F6FA"/>
          </a:solidFill>
          <a:ln>
            <a:noFill/>
          </a:ln>
        </p:spPr>
        <p:txBody>
          <a:bodyPr wrap="square" lIns="127000" tIns="25400" rIns="127000" bIns="25400" anchor="ctr">
            <a:normAutofit/>
          </a:bodyPr>
          <a:lstStyle/>
          <a:p>
            <a:pPr>
              <a:buNone/>
            </a:pPr>
            <a:r>
              <a:rPr lang="en-US" sz="1400" dirty="0">
                <a:solidFill>
                  <a:srgbClr val="001F6B"/>
                </a:solidFill>
                <a:latin typeface="Consolas"/>
                <a:cs typeface="Consolas"/>
              </a:rPr>
              <a:t>--state · --defer</a:t>
            </a:r>
          </a:p>
        </p:txBody>
      </p:sp>
    </p:spTree>
    <p:extLst>
      <p:ext uri="{BB962C8B-B14F-4D97-AF65-F5344CB8AC3E}">
        <p14:creationId xmlns:p14="http://schemas.microsoft.com/office/powerpoint/2010/main" val="42295644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99A89D5-83CF-4C3E-9CF5-65C3BE887734}"/>
              </a:ext>
            </a:extLst>
          </p:cNvPr>
          <p:cNvSpPr>
            <a:spLocks noGrp="1"/>
          </p:cNvSpPr>
          <p:nvPr/>
        </p:nvSpPr>
        <p:spPr>
          <a:xfrm>
            <a:off x="0" y="3989190"/>
            <a:ext cx="18288000" cy="6297812"/>
          </a:xfrm>
          <a:custGeom>
            <a:avLst/>
            <a:gdLst/>
            <a:ahLst/>
            <a:cxnLst/>
            <a:rect l="0" t="0" r="0" b="0"/>
            <a:pathLst>
              <a:path w="18288000" h="6297811">
                <a:moveTo>
                  <a:pt x="0" y="1485900"/>
                </a:moveTo>
                <a:lnTo>
                  <a:pt x="18288000" y="0"/>
                </a:lnTo>
                <a:lnTo>
                  <a:pt x="18288000" y="6297811"/>
                </a:lnTo>
                <a:lnTo>
                  <a:pt x="0" y="6297811"/>
                </a:lnTo>
                <a:close/>
              </a:path>
            </a:pathLst>
          </a:custGeom>
          <a:solidFill>
            <a:srgbClr val="001F6B"/>
          </a:solidFill>
        </p:spPr>
        <p:txBody>
          <a:bodyPr/>
          <a:lstStyle/>
          <a:p>
            <a:endParaRPr sz="1801"/>
          </a:p>
        </p:txBody>
      </p:sp>
      <p:sp>
        <p:nvSpPr>
          <p:cNvPr id="900" name="Accent Line">
            <a:extLst>
              <a:ext uri="{FF2B5EF4-FFF2-40B4-BE49-F238E27FC236}">
                <a16:creationId xmlns:a16="http://schemas.microsoft.com/office/drawing/2014/main" id="{D5F61F5F-CE19-44ED-9D02-A5527460F025}"/>
              </a:ext>
            </a:extLst>
          </p:cNvPr>
          <p:cNvSpPr>
            <a:spLocks noGrp="1"/>
          </p:cNvSpPr>
          <p:nvPr/>
        </p:nvSpPr>
        <p:spPr>
          <a:xfrm flipV="1">
            <a:off x="0" y="3836790"/>
            <a:ext cx="18288000" cy="1485900"/>
          </a:xfrm>
          <a:prstGeom prst="line">
            <a:avLst/>
          </a:prstGeom>
          <a:ln w="57150">
            <a:solidFill>
              <a:srgbClr val="FF0000"/>
            </a:solidFill>
          </a:ln>
        </p:spPr>
        <p:txBody>
          <a:bodyPr/>
          <a:lstStyle/>
          <a:p>
            <a:endParaRPr lang="en-US"/>
          </a:p>
        </p:txBody>
      </p:sp>
      <p:sp>
        <p:nvSpPr>
          <p:cNvPr id="4" name="Text 1">
            <a:extLst>
              <a:ext uri="{FF2B5EF4-FFF2-40B4-BE49-F238E27FC236}">
                <a16:creationId xmlns:a16="http://schemas.microsoft.com/office/drawing/2014/main" id="{235EE72F-2DF4-4BBC-B836-E156CD294378}"/>
              </a:ext>
            </a:extLst>
          </p:cNvPr>
          <p:cNvSpPr>
            <a:spLocks noGrp="1"/>
          </p:cNvSpPr>
          <p:nvPr/>
        </p:nvSpPr>
        <p:spPr>
          <a:xfrm>
            <a:off x="838202" y="8448676"/>
            <a:ext cx="1855010" cy="1152524"/>
          </a:xfrm>
          <a:prstGeom prst="rect">
            <a:avLst/>
          </a:prstGeom>
          <a:noFill/>
        </p:spPr>
        <p:txBody>
          <a:bodyPr wrap="square" lIns="25401" tIns="25401" rIns="25401" bIns="25401" anchor="t">
            <a:normAutofit lnSpcReduction="10000"/>
          </a:bodyPr>
          <a:lstStyle/>
          <a:p>
            <a:pPr>
              <a:lnSpc>
                <a:spcPct val="58500"/>
              </a:lnSpc>
              <a:buNone/>
            </a:pPr>
            <a:r>
              <a:rPr sz="11250" b="1" spc="-450">
                <a:solidFill>
                  <a:srgbClr val="E40046"/>
                </a:solidFill>
                <a:latin typeface="Frutiger"/>
                <a:ea typeface="Frutiger"/>
                <a:cs typeface="Frutiger"/>
              </a:rPr>
              <a:t>?</a:t>
            </a:r>
          </a:p>
        </p:txBody>
      </p:sp>
      <p:sp>
        <p:nvSpPr>
          <p:cNvPr id="5" name="Text 2">
            <a:extLst>
              <a:ext uri="{FF2B5EF4-FFF2-40B4-BE49-F238E27FC236}">
                <a16:creationId xmlns:a16="http://schemas.microsoft.com/office/drawing/2014/main" id="{E2855DD2-C834-48A4-ADA1-C139894E16A5}"/>
              </a:ext>
            </a:extLst>
          </p:cNvPr>
          <p:cNvSpPr>
            <a:spLocks noGrp="1"/>
          </p:cNvSpPr>
          <p:nvPr/>
        </p:nvSpPr>
        <p:spPr>
          <a:xfrm>
            <a:off x="3134171" y="7612561"/>
            <a:ext cx="10991061" cy="392311"/>
          </a:xfrm>
          <a:prstGeom prst="rect">
            <a:avLst/>
          </a:prstGeom>
          <a:noFill/>
        </p:spPr>
        <p:txBody>
          <a:bodyPr wrap="square" lIns="25401" tIns="25401" rIns="25401" bIns="25401" anchor="t">
            <a:normAutofit/>
          </a:bodyPr>
          <a:lstStyle/>
          <a:p>
            <a:pPr>
              <a:lnSpc>
                <a:spcPct val="120000"/>
              </a:lnSpc>
              <a:buNone/>
            </a:pPr>
            <a:r>
              <a:rPr sz="1801" b="1" spc="432">
                <a:solidFill>
                  <a:srgbClr val="B6BFC4"/>
                </a:solidFill>
                <a:latin typeface="Frutiger"/>
                <a:ea typeface="Frutiger"/>
                <a:cs typeface="Frutiger"/>
              </a:rPr>
              <a:t>DISCUSSION  ·  5 MINUTES</a:t>
            </a:r>
          </a:p>
        </p:txBody>
      </p:sp>
      <p:sp>
        <p:nvSpPr>
          <p:cNvPr id="6" name="Text 3">
            <a:extLst>
              <a:ext uri="{FF2B5EF4-FFF2-40B4-BE49-F238E27FC236}">
                <a16:creationId xmlns:a16="http://schemas.microsoft.com/office/drawing/2014/main" id="{20892FFE-61C4-4001-81BF-E1ACD977F149}"/>
              </a:ext>
            </a:extLst>
          </p:cNvPr>
          <p:cNvSpPr>
            <a:spLocks noGrp="1"/>
          </p:cNvSpPr>
          <p:nvPr/>
        </p:nvSpPr>
        <p:spPr>
          <a:xfrm>
            <a:off x="3134171" y="8138220"/>
            <a:ext cx="10991061" cy="800100"/>
          </a:xfrm>
          <a:prstGeom prst="rect">
            <a:avLst/>
          </a:prstGeom>
          <a:noFill/>
        </p:spPr>
        <p:txBody>
          <a:bodyPr wrap="square" lIns="25401" tIns="25401" rIns="25401" bIns="25401" anchor="t">
            <a:normAutofit/>
          </a:bodyPr>
          <a:lstStyle/>
          <a:p>
            <a:pPr>
              <a:lnSpc>
                <a:spcPct val="77670"/>
              </a:lnSpc>
              <a:buNone/>
            </a:pPr>
            <a:r>
              <a:rPr sz="6000" b="1" spc="-121">
                <a:solidFill>
                  <a:srgbClr val="FFFFFF"/>
                </a:solidFill>
                <a:latin typeface="Frutiger"/>
                <a:ea typeface="Frutiger"/>
                <a:cs typeface="Frutiger"/>
              </a:rPr>
              <a:t>Questions</a:t>
            </a:r>
          </a:p>
        </p:txBody>
      </p:sp>
      <p:sp>
        <p:nvSpPr>
          <p:cNvPr id="7" name="Text 4">
            <a:extLst>
              <a:ext uri="{FF2B5EF4-FFF2-40B4-BE49-F238E27FC236}">
                <a16:creationId xmlns:a16="http://schemas.microsoft.com/office/drawing/2014/main" id="{C426275A-6120-4A60-960F-EDFEA0556A63}"/>
              </a:ext>
            </a:extLst>
          </p:cNvPr>
          <p:cNvSpPr>
            <a:spLocks noGrp="1"/>
          </p:cNvSpPr>
          <p:nvPr/>
        </p:nvSpPr>
        <p:spPr>
          <a:xfrm>
            <a:off x="3134171" y="9071670"/>
            <a:ext cx="10991061" cy="434281"/>
          </a:xfrm>
          <a:prstGeom prst="rect">
            <a:avLst/>
          </a:prstGeom>
          <a:noFill/>
        </p:spPr>
        <p:txBody>
          <a:bodyPr wrap="square" lIns="25401" tIns="25401" rIns="25401" bIns="25401" anchor="t">
            <a:normAutofit fontScale="92500"/>
          </a:bodyPr>
          <a:lstStyle/>
          <a:p>
            <a:pPr>
              <a:lnSpc>
                <a:spcPct val="104000"/>
              </a:lnSpc>
              <a:buNone/>
            </a:pPr>
            <a:r>
              <a:rPr sz="2400">
                <a:solidFill>
                  <a:srgbClr val="C7D0E5"/>
                </a:solidFill>
                <a:latin typeface="Frutiger"/>
                <a:ea typeface="Frutiger"/>
                <a:cs typeface="Frutiger"/>
              </a:rPr>
              <a:t>Which of your transformations would you trust more with tests and visible dependencies?</a:t>
            </a:r>
          </a:p>
        </p:txBody>
      </p:sp>
      <p:pic>
        <p:nvPicPr>
          <p:cNvPr id="908" name="Image 0"/>
          <p:cNvPicPr>
            <a:picLocks noChangeAspect="1"/>
          </p:cNvPicPr>
          <p:nvPr/>
        </p:nvPicPr>
        <p:blipFill>
          <a:blip r:embed="rId3"/>
          <a:srcRect t="-5" b="-5"/>
          <a:stretch/>
        </p:blipFill>
        <p:spPr>
          <a:xfrm>
            <a:off x="16412620" y="571500"/>
            <a:ext cx="1037182" cy="514350"/>
          </a:xfrm>
          <a:prstGeom prst="rect">
            <a:avLst/>
          </a:prstGeom>
        </p:spPr>
      </p:pic>
      <p:sp>
        <p:nvSpPr>
          <p:cNvPr id="100" name="Shape 100"/>
          <p:cNvSpPr/>
          <p:nvPr/>
        </p:nvSpPr>
        <p:spPr>
          <a:xfrm>
            <a:off x="838200" y="660400"/>
            <a:ext cx="11430000" cy="355600"/>
          </a:xfrm>
          <a:prstGeom prst="rect">
            <a:avLst/>
          </a:prstGeom>
          <a:noFill/>
          <a:ln>
            <a:noFill/>
          </a:ln>
        </p:spPr>
        <p:txBody>
          <a:bodyPr wrap="square" lIns="0" tIns="0" rIns="0" bIns="0" anchor="t">
            <a:normAutofit/>
          </a:bodyPr>
          <a:lstStyle/>
          <a:p>
            <a:pPr>
              <a:buNone/>
            </a:pPr>
            <a:r>
              <a:rPr lang="en-US" sz="1500" b="1" spc="200" dirty="0">
                <a:solidFill>
                  <a:srgbClr val="E40046"/>
                </a:solidFill>
                <a:latin typeface="Frutiger"/>
                <a:cs typeface="Frutiger"/>
              </a:rPr>
              <a:t>FOUR THINGS YOU CAN NOW ANSWER</a:t>
            </a:r>
          </a:p>
        </p:txBody>
      </p:sp>
      <p:sp>
        <p:nvSpPr>
          <p:cNvPr id="110" name="Shape 110"/>
          <p:cNvSpPr/>
          <p:nvPr/>
        </p:nvSpPr>
        <p:spPr>
          <a:xfrm>
            <a:off x="838200" y="1117600"/>
            <a:ext cx="63500" cy="1016000"/>
          </a:xfrm>
          <a:prstGeom prst="rect">
            <a:avLst/>
          </a:prstGeom>
          <a:solidFill>
            <a:srgbClr val="001F6B"/>
          </a:solidFill>
          <a:ln>
            <a:noFill/>
          </a:ln>
        </p:spPr>
        <p:txBody>
          <a:bodyPr wrap="square" lIns="101600" tIns="101600" rIns="101600" bIns="101600" anchor="t">
            <a:normAutofit/>
          </a:bodyPr>
          <a:lstStyle/>
          <a:p>
            <a:endParaRPr lang="en-US"/>
          </a:p>
        </p:txBody>
      </p:sp>
      <p:sp>
        <p:nvSpPr>
          <p:cNvPr id="111" name="Shape 111"/>
          <p:cNvSpPr/>
          <p:nvPr/>
        </p:nvSpPr>
        <p:spPr>
          <a:xfrm>
            <a:off x="1092200" y="1066800"/>
            <a:ext cx="6731000" cy="1143000"/>
          </a:xfrm>
          <a:prstGeom prst="rect">
            <a:avLst/>
          </a:prstGeom>
          <a:noFill/>
          <a:ln>
            <a:noFill/>
          </a:ln>
        </p:spPr>
        <p:txBody>
          <a:bodyPr wrap="square" lIns="0" tIns="0" rIns="0" bIns="0" anchor="t">
            <a:normAutofit/>
          </a:bodyPr>
          <a:lstStyle/>
          <a:p>
            <a:pPr>
              <a:buNone/>
            </a:pPr>
            <a:r>
              <a:rPr lang="en-US" sz="2100" b="1" dirty="0">
                <a:solidFill>
                  <a:srgbClr val="001F6B"/>
                </a:solidFill>
                <a:latin typeface="Frutiger"/>
                <a:cs typeface="Frutiger"/>
              </a:rPr>
              <a:t>Where does the dbt process run?</a:t>
            </a:r>
          </a:p>
          <a:p>
            <a:pPr>
              <a:lnSpc>
                <a:spcPct val="104000"/>
              </a:lnSpc>
              <a:spcBef>
                <a:spcPts val="400"/>
              </a:spcBef>
              <a:buNone/>
            </a:pPr>
            <a:r>
              <a:rPr lang="en-US" sz="1800" dirty="0">
                <a:solidFill>
                  <a:srgbClr val="364750"/>
                </a:solidFill>
                <a:latin typeface="Frutiger"/>
                <a:cs typeface="Frutiger"/>
              </a:rPr>
              <a:t>On a client or runner — laptop, agent, notebook. The SQL runs in the engine.</a:t>
            </a:r>
          </a:p>
        </p:txBody>
      </p:sp>
      <p:sp>
        <p:nvSpPr>
          <p:cNvPr id="112" name="Shape 112"/>
          <p:cNvSpPr/>
          <p:nvPr/>
        </p:nvSpPr>
        <p:spPr>
          <a:xfrm>
            <a:off x="8458200" y="1117600"/>
            <a:ext cx="63500" cy="1016000"/>
          </a:xfrm>
          <a:prstGeom prst="rect">
            <a:avLst/>
          </a:prstGeom>
          <a:solidFill>
            <a:srgbClr val="001F6B"/>
          </a:solidFill>
          <a:ln>
            <a:noFill/>
          </a:ln>
        </p:spPr>
        <p:txBody>
          <a:bodyPr wrap="square" lIns="101600" tIns="101600" rIns="101600" bIns="101600" anchor="t">
            <a:normAutofit/>
          </a:bodyPr>
          <a:lstStyle/>
          <a:p>
            <a:endParaRPr lang="en-US"/>
          </a:p>
        </p:txBody>
      </p:sp>
      <p:sp>
        <p:nvSpPr>
          <p:cNvPr id="113" name="Shape 113"/>
          <p:cNvSpPr/>
          <p:nvPr/>
        </p:nvSpPr>
        <p:spPr>
          <a:xfrm>
            <a:off x="8712200" y="1066800"/>
            <a:ext cx="6731000" cy="1143000"/>
          </a:xfrm>
          <a:prstGeom prst="rect">
            <a:avLst/>
          </a:prstGeom>
          <a:noFill/>
          <a:ln>
            <a:noFill/>
          </a:ln>
        </p:spPr>
        <p:txBody>
          <a:bodyPr wrap="square" lIns="0" tIns="0" rIns="0" bIns="0" anchor="t">
            <a:normAutofit/>
          </a:bodyPr>
          <a:lstStyle/>
          <a:p>
            <a:pPr>
              <a:buNone/>
            </a:pPr>
            <a:r>
              <a:rPr lang="en-US" sz="2100" b="1" dirty="0">
                <a:solidFill>
                  <a:srgbClr val="001F6B"/>
                </a:solidFill>
                <a:latin typeface="Frutiger"/>
                <a:cs typeface="Frutiger"/>
              </a:rPr>
              <a:t>Does ref() copy data between systems?</a:t>
            </a:r>
          </a:p>
          <a:p>
            <a:pPr>
              <a:lnSpc>
                <a:spcPct val="104000"/>
              </a:lnSpc>
              <a:spcBef>
                <a:spcPts val="400"/>
              </a:spcBef>
              <a:buNone/>
            </a:pPr>
            <a:r>
              <a:rPr lang="en-US" sz="1800" dirty="0">
                <a:solidFill>
                  <a:srgbClr val="364750"/>
                </a:solidFill>
                <a:latin typeface="Frutiger"/>
                <a:cs typeface="Frutiger"/>
              </a:rPr>
              <a:t>No. It resolves to a relation name and records a dependency. One run, one target.</a:t>
            </a:r>
          </a:p>
        </p:txBody>
      </p:sp>
      <p:sp>
        <p:nvSpPr>
          <p:cNvPr id="114" name="Shape 114"/>
          <p:cNvSpPr/>
          <p:nvPr/>
        </p:nvSpPr>
        <p:spPr>
          <a:xfrm>
            <a:off x="838200" y="2387600"/>
            <a:ext cx="63500" cy="1016000"/>
          </a:xfrm>
          <a:prstGeom prst="rect">
            <a:avLst/>
          </a:prstGeom>
          <a:solidFill>
            <a:srgbClr val="001F6B"/>
          </a:solidFill>
          <a:ln>
            <a:noFill/>
          </a:ln>
        </p:spPr>
        <p:txBody>
          <a:bodyPr wrap="square" lIns="101600" tIns="101600" rIns="101600" bIns="101600" anchor="t">
            <a:normAutofit/>
          </a:bodyPr>
          <a:lstStyle/>
          <a:p>
            <a:endParaRPr lang="en-US"/>
          </a:p>
        </p:txBody>
      </p:sp>
      <p:sp>
        <p:nvSpPr>
          <p:cNvPr id="115" name="Shape 115"/>
          <p:cNvSpPr/>
          <p:nvPr/>
        </p:nvSpPr>
        <p:spPr>
          <a:xfrm>
            <a:off x="1092200" y="2336800"/>
            <a:ext cx="6731000" cy="1143000"/>
          </a:xfrm>
          <a:prstGeom prst="rect">
            <a:avLst/>
          </a:prstGeom>
          <a:noFill/>
          <a:ln>
            <a:noFill/>
          </a:ln>
        </p:spPr>
        <p:txBody>
          <a:bodyPr wrap="square" lIns="0" tIns="0" rIns="0" bIns="0" anchor="t">
            <a:normAutofit/>
          </a:bodyPr>
          <a:lstStyle/>
          <a:p>
            <a:pPr>
              <a:buNone/>
            </a:pPr>
            <a:r>
              <a:rPr lang="en-US" sz="2100" b="1" dirty="0">
                <a:solidFill>
                  <a:srgbClr val="001F6B"/>
                </a:solidFill>
                <a:latin typeface="Frutiger"/>
                <a:cs typeface="Frutiger"/>
              </a:rPr>
              <a:t>What remains after a failing build?</a:t>
            </a:r>
          </a:p>
          <a:p>
            <a:pPr>
              <a:lnSpc>
                <a:spcPct val="104000"/>
              </a:lnSpc>
              <a:spcBef>
                <a:spcPts val="400"/>
              </a:spcBef>
              <a:buNone/>
            </a:pPr>
            <a:r>
              <a:rPr lang="en-US" sz="1800" dirty="0">
                <a:solidFill>
                  <a:srgbClr val="364750"/>
                </a:solidFill>
                <a:latin typeface="Frutiger"/>
                <a:cs typeface="Frutiger"/>
              </a:rPr>
              <a:t>Previously built objects. A failure stops downstream models; it is not a rollback.</a:t>
            </a:r>
          </a:p>
        </p:txBody>
      </p:sp>
      <p:sp>
        <p:nvSpPr>
          <p:cNvPr id="116" name="Shape 116"/>
          <p:cNvSpPr/>
          <p:nvPr/>
        </p:nvSpPr>
        <p:spPr>
          <a:xfrm>
            <a:off x="8458200" y="2387600"/>
            <a:ext cx="63500" cy="1016000"/>
          </a:xfrm>
          <a:prstGeom prst="rect">
            <a:avLst/>
          </a:prstGeom>
          <a:solidFill>
            <a:srgbClr val="E40046"/>
          </a:solidFill>
          <a:ln>
            <a:noFill/>
          </a:ln>
        </p:spPr>
        <p:txBody>
          <a:bodyPr wrap="square" lIns="101600" tIns="101600" rIns="101600" bIns="101600" anchor="t">
            <a:normAutofit/>
          </a:bodyPr>
          <a:lstStyle/>
          <a:p>
            <a:endParaRPr lang="en-US"/>
          </a:p>
        </p:txBody>
      </p:sp>
      <p:sp>
        <p:nvSpPr>
          <p:cNvPr id="117" name="Shape 117"/>
          <p:cNvSpPr/>
          <p:nvPr/>
        </p:nvSpPr>
        <p:spPr>
          <a:xfrm>
            <a:off x="8712200" y="2336800"/>
            <a:ext cx="6731000" cy="1143000"/>
          </a:xfrm>
          <a:prstGeom prst="rect">
            <a:avLst/>
          </a:prstGeom>
          <a:noFill/>
          <a:ln>
            <a:noFill/>
          </a:ln>
        </p:spPr>
        <p:txBody>
          <a:bodyPr wrap="square" lIns="0" tIns="0" rIns="0" bIns="0" anchor="t">
            <a:normAutofit/>
          </a:bodyPr>
          <a:lstStyle/>
          <a:p>
            <a:pPr>
              <a:buNone/>
            </a:pPr>
            <a:r>
              <a:rPr lang="en-US" sz="2100" b="1" dirty="0">
                <a:solidFill>
                  <a:srgbClr val="001F6B"/>
                </a:solidFill>
                <a:latin typeface="Frutiger"/>
                <a:cs typeface="Frutiger"/>
              </a:rPr>
              <a:t>What would you test first?</a:t>
            </a:r>
          </a:p>
          <a:p>
            <a:pPr>
              <a:lnSpc>
                <a:spcPct val="104000"/>
              </a:lnSpc>
              <a:spcBef>
                <a:spcPts val="400"/>
              </a:spcBef>
              <a:buNone/>
            </a:pPr>
            <a:r>
              <a:rPr lang="en-US" sz="1800" dirty="0">
                <a:solidFill>
                  <a:srgbClr val="364750"/>
                </a:solidFill>
                <a:latin typeface="Frutiger"/>
                <a:cs typeface="Frutiger"/>
              </a:rPr>
              <a:t>The key of the grain (unique, not_null) and one business reconciliation.</a:t>
            </a:r>
          </a:p>
        </p:txBody>
      </p:sp>
    </p:spTree>
    <p:extLst>
      <p:ext uri="{BB962C8B-B14F-4D97-AF65-F5344CB8AC3E}">
        <p14:creationId xmlns:p14="http://schemas.microsoft.com/office/powerpoint/2010/main" val="26878565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3AA81A4-4B55-4071-8D0D-8E66DAC85BE0}"/>
              </a:ext>
            </a:extLst>
          </p:cNvPr>
          <p:cNvSpPr>
            <a:spLocks noGrp="1"/>
          </p:cNvSpPr>
          <p:nvPr/>
        </p:nvSpPr>
        <p:spPr>
          <a:xfrm>
            <a:off x="838201" y="495302"/>
            <a:ext cx="15240000" cy="392311"/>
          </a:xfrm>
          <a:prstGeom prst="rect">
            <a:avLst/>
          </a:prstGeom>
          <a:noFill/>
        </p:spPr>
        <p:txBody>
          <a:bodyPr wrap="square" lIns="25401" tIns="25401" rIns="25401" bIns="25401" anchor="t">
            <a:normAutofit/>
          </a:bodyPr>
          <a:lstStyle/>
          <a:p>
            <a:pPr>
              <a:lnSpc>
                <a:spcPct val="120000"/>
              </a:lnSpc>
              <a:buNone/>
            </a:pPr>
            <a:r>
              <a:rPr sz="1801" b="1" spc="361">
                <a:solidFill>
                  <a:srgbClr val="E40046"/>
                </a:solidFill>
                <a:latin typeface="Frutiger"/>
                <a:ea typeface="Frutiger"/>
                <a:cs typeface="Frutiger"/>
              </a:rPr>
              <a:t>APPENDIX  ·  REFERENCE LINKS</a:t>
            </a:r>
            <a:endParaRPr sz="1801"/>
          </a:p>
        </p:txBody>
      </p:sp>
      <p:sp>
        <p:nvSpPr>
          <p:cNvPr id="3" name="Text 1">
            <a:extLst>
              <a:ext uri="{FF2B5EF4-FFF2-40B4-BE49-F238E27FC236}">
                <a16:creationId xmlns:a16="http://schemas.microsoft.com/office/drawing/2014/main" id="{BCCFDF1D-25C9-4CBE-B374-B2E6938EB573}"/>
              </a:ext>
            </a:extLst>
          </p:cNvPr>
          <p:cNvSpPr>
            <a:spLocks noGrp="1"/>
          </p:cNvSpPr>
          <p:nvPr/>
        </p:nvSpPr>
        <p:spPr>
          <a:xfrm>
            <a:off x="838201" y="963812"/>
            <a:ext cx="15240000" cy="640407"/>
          </a:xfrm>
          <a:prstGeom prst="rect">
            <a:avLst/>
          </a:prstGeom>
          <a:noFill/>
        </p:spPr>
        <p:txBody>
          <a:bodyPr wrap="square" lIns="25401" tIns="25401" rIns="25401" bIns="25401" anchor="t">
            <a:normAutofit/>
          </a:bodyPr>
          <a:lstStyle/>
          <a:p>
            <a:pPr>
              <a:lnSpc>
                <a:spcPct val="79050"/>
              </a:lnSpc>
              <a:buNone/>
            </a:pPr>
            <a:r>
              <a:rPr sz="4651" b="1" spc="-69">
                <a:solidFill>
                  <a:srgbClr val="001F6B"/>
                </a:solidFill>
                <a:latin typeface="Frutiger"/>
                <a:ea typeface="Frutiger"/>
                <a:cs typeface="Frutiger"/>
              </a:rPr>
              <a:t>Keep learning</a:t>
            </a:r>
            <a:endParaRPr sz="4651"/>
          </a:p>
        </p:txBody>
      </p:sp>
      <p:pic>
        <p:nvPicPr>
          <p:cNvPr id="29" name="Image 0"/>
          <p:cNvPicPr>
            <a:picLocks noChangeAspect="1"/>
          </p:cNvPicPr>
          <p:nvPr/>
        </p:nvPicPr>
        <p:blipFill>
          <a:blip r:embed="rId3"/>
          <a:srcRect t="-5" b="-5"/>
          <a:stretch/>
        </p:blipFill>
        <p:spPr>
          <a:xfrm>
            <a:off x="16412620" y="571500"/>
            <a:ext cx="1037182" cy="514350"/>
          </a:xfrm>
          <a:prstGeom prst="rect">
            <a:avLst/>
          </a:prstGeom>
        </p:spPr>
      </p:pic>
      <p:sp>
        <p:nvSpPr>
          <p:cNvPr id="5" name="Shape 2">
            <a:extLst>
              <a:ext uri="{FF2B5EF4-FFF2-40B4-BE49-F238E27FC236}">
                <a16:creationId xmlns:a16="http://schemas.microsoft.com/office/drawing/2014/main" id="{EB3CBC50-008C-43C4-9C0B-DC3810711F60}"/>
              </a:ext>
            </a:extLst>
          </p:cNvPr>
          <p:cNvSpPr>
            <a:spLocks noGrp="1"/>
          </p:cNvSpPr>
          <p:nvPr/>
        </p:nvSpPr>
        <p:spPr>
          <a:xfrm>
            <a:off x="838202" y="1813769"/>
            <a:ext cx="16611600" cy="28574"/>
          </a:xfrm>
          <a:prstGeom prst="rect">
            <a:avLst/>
          </a:prstGeom>
          <a:solidFill>
            <a:srgbClr val="FF0000"/>
          </a:solidFill>
        </p:spPr>
        <p:txBody>
          <a:bodyPr/>
          <a:lstStyle/>
          <a:p>
            <a:endParaRPr sz="1801"/>
          </a:p>
        </p:txBody>
      </p:sp>
      <p:sp>
        <p:nvSpPr>
          <p:cNvPr id="6" name="Shape 3">
            <a:extLst>
              <a:ext uri="{FF2B5EF4-FFF2-40B4-BE49-F238E27FC236}">
                <a16:creationId xmlns:a16="http://schemas.microsoft.com/office/drawing/2014/main" id="{A2F5C3DE-A1D6-4F76-BA20-D1D1D174C82A}"/>
              </a:ext>
            </a:extLst>
          </p:cNvPr>
          <p:cNvSpPr>
            <a:spLocks noGrp="1"/>
          </p:cNvSpPr>
          <p:nvPr/>
        </p:nvSpPr>
        <p:spPr>
          <a:xfrm>
            <a:off x="838202" y="1880445"/>
            <a:ext cx="16611600" cy="28574"/>
          </a:xfrm>
          <a:prstGeom prst="rect">
            <a:avLst/>
          </a:prstGeom>
          <a:solidFill>
            <a:srgbClr val="3649A8"/>
          </a:solidFill>
        </p:spPr>
        <p:txBody>
          <a:bodyPr/>
          <a:lstStyle/>
          <a:p>
            <a:endParaRPr sz="1801"/>
          </a:p>
        </p:txBody>
      </p:sp>
      <p:sp>
        <p:nvSpPr>
          <p:cNvPr id="22" name="Shape 19">
            <a:extLst>
              <a:ext uri="{FF2B5EF4-FFF2-40B4-BE49-F238E27FC236}">
                <a16:creationId xmlns:a16="http://schemas.microsoft.com/office/drawing/2014/main" id="{1541A8EB-697F-4AB4-AB8A-D0B4D6C58098}"/>
              </a:ext>
            </a:extLst>
          </p:cNvPr>
          <p:cNvSpPr>
            <a:spLocks noGrp="1"/>
          </p:cNvSpPr>
          <p:nvPr/>
        </p:nvSpPr>
        <p:spPr>
          <a:xfrm>
            <a:off x="838202" y="9294615"/>
            <a:ext cx="16611600" cy="9525"/>
          </a:xfrm>
          <a:prstGeom prst="rect">
            <a:avLst/>
          </a:prstGeom>
          <a:solidFill>
            <a:srgbClr val="E2E7EB"/>
          </a:solidFill>
        </p:spPr>
        <p:txBody>
          <a:bodyPr/>
          <a:lstStyle/>
          <a:p>
            <a:endParaRPr sz="1801"/>
          </a:p>
        </p:txBody>
      </p:sp>
      <p:sp>
        <p:nvSpPr>
          <p:cNvPr id="23" name="Text 20">
            <a:extLst>
              <a:ext uri="{FF2B5EF4-FFF2-40B4-BE49-F238E27FC236}">
                <a16:creationId xmlns:a16="http://schemas.microsoft.com/office/drawing/2014/main" id="{E15C9716-E370-4C36-BAEA-9A2EA3E99FB3}"/>
              </a:ext>
            </a:extLst>
          </p:cNvPr>
          <p:cNvSpPr>
            <a:spLocks noGrp="1"/>
          </p:cNvSpPr>
          <p:nvPr/>
        </p:nvSpPr>
        <p:spPr>
          <a:xfrm>
            <a:off x="838201" y="9513691"/>
            <a:ext cx="7461945" cy="392311"/>
          </a:xfrm>
          <a:prstGeom prst="rect">
            <a:avLst/>
          </a:prstGeom>
          <a:noFill/>
        </p:spPr>
        <p:txBody>
          <a:bodyPr wrap="square" lIns="25401" tIns="25401" rIns="25401" bIns="25401" anchor="t">
            <a:normAutofit/>
          </a:bodyPr>
          <a:lstStyle/>
          <a:p>
            <a:pPr>
              <a:lnSpc>
                <a:spcPct val="124000"/>
              </a:lnSpc>
              <a:buNone/>
            </a:pPr>
            <a:r>
              <a:rPr sz="1801" dirty="0">
                <a:solidFill>
                  <a:srgbClr val="667780"/>
                </a:solidFill>
                <a:latin typeface="Frutiger"/>
                <a:ea typeface="Frutiger"/>
                <a:cs typeface="Frutiger"/>
              </a:rPr>
              <a:t>Getting started with dbt</a:t>
            </a:r>
            <a:endParaRPr sz="1801" dirty="0"/>
          </a:p>
        </p:txBody>
      </p:sp>
      <p:sp>
        <p:nvSpPr>
          <p:cNvPr id="25" name="Text 22">
            <a:extLst>
              <a:ext uri="{FF2B5EF4-FFF2-40B4-BE49-F238E27FC236}">
                <a16:creationId xmlns:a16="http://schemas.microsoft.com/office/drawing/2014/main" id="{0D167625-4BC5-4EC5-9AFD-330CEA05D3F3}"/>
              </a:ext>
            </a:extLst>
          </p:cNvPr>
          <p:cNvSpPr>
            <a:spLocks noGrp="1"/>
          </p:cNvSpPr>
          <p:nvPr/>
        </p:nvSpPr>
        <p:spPr>
          <a:xfrm>
            <a:off x="9987856" y="9513691"/>
            <a:ext cx="7461945" cy="392311"/>
          </a:xfrm>
          <a:prstGeom prst="rect">
            <a:avLst/>
          </a:prstGeom>
          <a:noFill/>
        </p:spPr>
        <p:txBody>
          <a:bodyPr wrap="square" lIns="25401" tIns="25401" rIns="25401" bIns="25401" anchor="t">
            <a:normAutofit/>
          </a:bodyPr>
          <a:lstStyle/>
          <a:p>
            <a:pPr algn="r">
              <a:lnSpc>
                <a:spcPct val="124000"/>
              </a:lnSpc>
              <a:buNone/>
            </a:pPr>
            <a:r>
              <a:rPr lang="en-US" sz="1801">
                <a:solidFill>
                  <a:srgbClr val="667780"/>
                </a:solidFill>
                <a:latin typeface="Frutiger"/>
                <a:ea typeface="Frutiger"/>
                <a:cs typeface="Frutiger"/>
              </a:rPr>
              <a:t>28</a:t>
            </a:r>
            <a:endParaRPr sz="1801"/>
          </a:p>
        </p:txBody>
      </p:sp>
      <p:graphicFrame>
        <p:nvGraphicFramePr>
          <p:cNvPr id="100" name="Table 100"/>
          <p:cNvGraphicFramePr>
            <a:graphicFrameLocks noGrp="1"/>
          </p:cNvGraphicFramePr>
          <p:nvPr/>
        </p:nvGraphicFramePr>
        <p:xfrm>
          <a:off x="838200" y="2362200"/>
          <a:ext cx="16611600" cy="5410200"/>
        </p:xfrm>
        <a:graphic>
          <a:graphicData uri="http://schemas.openxmlformats.org/drawingml/2006/table">
            <a:tbl>
              <a:tblPr/>
              <a:tblGrid>
                <a:gridCol w="5588000">
                  <a:extLst>
                    <a:ext uri="{9D8B030D-6E8A-4147-A177-3AD203B41FA5}">
                      <a16:colId xmlns:a16="http://schemas.microsoft.com/office/drawing/2014/main" val="20000"/>
                    </a:ext>
                  </a:extLst>
                </a:gridCol>
                <a:gridCol w="11023600">
                  <a:extLst>
                    <a:ext uri="{9D8B030D-6E8A-4147-A177-3AD203B41FA5}">
                      <a16:colId xmlns:a16="http://schemas.microsoft.com/office/drawing/2014/main" val="20001"/>
                    </a:ext>
                  </a:extLst>
                </a:gridCol>
              </a:tblGrid>
              <a:tr h="533400">
                <a:tc>
                  <a:txBody>
                    <a:bodyPr/>
                    <a:lstStyle/>
                    <a:p>
                      <a:pPr algn="l">
                        <a:buNone/>
                      </a:pPr>
                      <a:r>
                        <a:rPr lang="en-US" sz="1600" b="1" dirty="0">
                          <a:solidFill>
                            <a:srgbClr val="FFFFFF"/>
                          </a:solidFill>
                          <a:latin typeface="Frutiger"/>
                          <a:cs typeface="Frutiger"/>
                        </a:rPr>
                        <a:t>Topic</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001F6B"/>
                    </a:solidFill>
                  </a:tcPr>
                </a:tc>
                <a:tc>
                  <a:txBody>
                    <a:bodyPr/>
                    <a:lstStyle/>
                    <a:p>
                      <a:pPr algn="l">
                        <a:buNone/>
                      </a:pPr>
                      <a:r>
                        <a:rPr lang="en-US" sz="1600" b="1" dirty="0">
                          <a:solidFill>
                            <a:srgbClr val="FFFFFF"/>
                          </a:solidFill>
                          <a:latin typeface="Frutiger"/>
                          <a:cs typeface="Frutiger"/>
                        </a:rPr>
                        <a:t>Where to read</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001F6B"/>
                    </a:solidFill>
                  </a:tcPr>
                </a:tc>
                <a:extLst>
                  <a:ext uri="{0D108BD9-81ED-4DB2-BD59-A6C34878D82A}">
                    <a16:rowId xmlns:a16="http://schemas.microsoft.com/office/drawing/2014/main" val="10000"/>
                  </a:ext>
                </a:extLst>
              </a:tr>
              <a:tr h="609600">
                <a:tc>
                  <a:txBody>
                    <a:bodyPr/>
                    <a:lstStyle/>
                    <a:p>
                      <a:pPr algn="l">
                        <a:buNone/>
                      </a:pPr>
                      <a:r>
                        <a:rPr lang="en-US" sz="1600" dirty="0">
                          <a:solidFill>
                            <a:srgbClr val="364750"/>
                          </a:solidFill>
                          <a:latin typeface="Frutiger"/>
                          <a:cs typeface="Frutiger"/>
                        </a:rPr>
                        <a:t>What is dbt? · SQL models · ref()</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500" dirty="0">
                          <a:solidFill>
                            <a:srgbClr val="3649A8"/>
                          </a:solidFill>
                          <a:latin typeface="Consolas"/>
                          <a:cs typeface="Consolas"/>
                        </a:rPr>
                        <a:t>docs.getdbt.com/docs/introduction  ·  /docs/build/sql-models</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extLst>
                  <a:ext uri="{0D108BD9-81ED-4DB2-BD59-A6C34878D82A}">
                    <a16:rowId xmlns:a16="http://schemas.microsoft.com/office/drawing/2014/main" val="10001"/>
                  </a:ext>
                </a:extLst>
              </a:tr>
              <a:tr h="609600">
                <a:tc>
                  <a:txBody>
                    <a:bodyPr/>
                    <a:lstStyle/>
                    <a:p>
                      <a:pPr algn="l">
                        <a:buNone/>
                      </a:pPr>
                      <a:r>
                        <a:rPr lang="en-US" sz="1600" dirty="0">
                          <a:solidFill>
                            <a:srgbClr val="364750"/>
                          </a:solidFill>
                          <a:latin typeface="Frutiger"/>
                          <a:cs typeface="Frutiger"/>
                        </a:rPr>
                        <a:t>Data tests · unit tests · dbt build</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4F6FA"/>
                    </a:solidFill>
                  </a:tcPr>
                </a:tc>
                <a:tc>
                  <a:txBody>
                    <a:bodyPr/>
                    <a:lstStyle/>
                    <a:p>
                      <a:pPr algn="l">
                        <a:buNone/>
                      </a:pPr>
                      <a:r>
                        <a:rPr lang="en-US" sz="1500" dirty="0">
                          <a:solidFill>
                            <a:srgbClr val="3649A8"/>
                          </a:solidFill>
                          <a:latin typeface="Consolas"/>
                          <a:cs typeface="Consolas"/>
                        </a:rPr>
                        <a:t>docs.getdbt.com/docs/build/data-tests  ·  /reference/commands/build</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4F6FA"/>
                    </a:solidFill>
                  </a:tcPr>
                </a:tc>
                <a:extLst>
                  <a:ext uri="{0D108BD9-81ED-4DB2-BD59-A6C34878D82A}">
                    <a16:rowId xmlns:a16="http://schemas.microsoft.com/office/drawing/2014/main" val="10002"/>
                  </a:ext>
                </a:extLst>
              </a:tr>
              <a:tr h="609600">
                <a:tc>
                  <a:txBody>
                    <a:bodyPr/>
                    <a:lstStyle/>
                    <a:p>
                      <a:pPr algn="l">
                        <a:buNone/>
                      </a:pPr>
                      <a:r>
                        <a:rPr lang="en-US" sz="1600" dirty="0">
                          <a:solidFill>
                            <a:srgbClr val="364750"/>
                          </a:solidFill>
                          <a:latin typeface="Frutiger"/>
                          <a:cs typeface="Frutiger"/>
                        </a:rPr>
                        <a:t>Materializations · incremental · snapshots</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500" dirty="0">
                          <a:solidFill>
                            <a:srgbClr val="3649A8"/>
                          </a:solidFill>
                          <a:latin typeface="Consolas"/>
                          <a:cs typeface="Consolas"/>
                        </a:rPr>
                        <a:t>docs.getdbt.com/docs/build/materializations</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extLst>
                  <a:ext uri="{0D108BD9-81ED-4DB2-BD59-A6C34878D82A}">
                    <a16:rowId xmlns:a16="http://schemas.microsoft.com/office/drawing/2014/main" val="10003"/>
                  </a:ext>
                </a:extLst>
              </a:tr>
              <a:tr h="609600">
                <a:tc>
                  <a:txBody>
                    <a:bodyPr/>
                    <a:lstStyle/>
                    <a:p>
                      <a:pPr algn="l">
                        <a:buNone/>
                      </a:pPr>
                      <a:r>
                        <a:rPr lang="en-US" sz="1600" dirty="0">
                          <a:solidFill>
                            <a:srgbClr val="364750"/>
                          </a:solidFill>
                          <a:latin typeface="Frutiger"/>
                          <a:cs typeface="Frutiger"/>
                        </a:rPr>
                        <a:t>Documentation · lineage · artifacts</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4F6FA"/>
                    </a:solidFill>
                  </a:tcPr>
                </a:tc>
                <a:tc>
                  <a:txBody>
                    <a:bodyPr/>
                    <a:lstStyle/>
                    <a:p>
                      <a:pPr algn="l">
                        <a:buNone/>
                      </a:pPr>
                      <a:r>
                        <a:rPr lang="en-US" sz="1500" dirty="0">
                          <a:solidFill>
                            <a:srgbClr val="3649A8"/>
                          </a:solidFill>
                          <a:latin typeface="Consolas"/>
                          <a:cs typeface="Consolas"/>
                        </a:rPr>
                        <a:t>docs.getdbt.com/reference/commands/cmd-docs  ·  /reference/artifacts</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4F6FA"/>
                    </a:solidFill>
                  </a:tcPr>
                </a:tc>
                <a:extLst>
                  <a:ext uri="{0D108BD9-81ED-4DB2-BD59-A6C34878D82A}">
                    <a16:rowId xmlns:a16="http://schemas.microsoft.com/office/drawing/2014/main" val="10004"/>
                  </a:ext>
                </a:extLst>
              </a:tr>
              <a:tr h="609600">
                <a:tc>
                  <a:txBody>
                    <a:bodyPr/>
                    <a:lstStyle/>
                    <a:p>
                      <a:pPr algn="l">
                        <a:buNone/>
                      </a:pPr>
                      <a:r>
                        <a:rPr lang="en-US" sz="1600" dirty="0">
                          <a:solidFill>
                            <a:srgbClr val="364750"/>
                          </a:solidFill>
                          <a:latin typeface="Frutiger"/>
                          <a:cs typeface="Frutiger"/>
                        </a:rPr>
                        <a:t>Fabric Warehouse adapter (dbt-fabric)</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500" dirty="0">
                          <a:solidFill>
                            <a:srgbClr val="3649A8"/>
                          </a:solidFill>
                          <a:latin typeface="Consolas"/>
                          <a:cs typeface="Consolas"/>
                        </a:rPr>
                        <a:t>docs.getdbt.com/docs/core/connect-data-platform/fabric-setup  ·  github.com/microsoft/dbt-fabric</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extLst>
                  <a:ext uri="{0D108BD9-81ED-4DB2-BD59-A6C34878D82A}">
                    <a16:rowId xmlns:a16="http://schemas.microsoft.com/office/drawing/2014/main" val="10005"/>
                  </a:ext>
                </a:extLst>
              </a:tr>
              <a:tr h="609600">
                <a:tc>
                  <a:txBody>
                    <a:bodyPr/>
                    <a:lstStyle/>
                    <a:p>
                      <a:pPr algn="l">
                        <a:buNone/>
                      </a:pPr>
                      <a:r>
                        <a:rPr lang="en-US" sz="1600" dirty="0">
                          <a:solidFill>
                            <a:srgbClr val="364750"/>
                          </a:solidFill>
                          <a:latin typeface="Frutiger"/>
                          <a:cs typeface="Frutiger"/>
                        </a:rPr>
                        <a:t>Fabric Lakehouse / Spark adapter (dbt-fabricspark)</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4F6FA"/>
                    </a:solidFill>
                  </a:tcPr>
                </a:tc>
                <a:tc>
                  <a:txBody>
                    <a:bodyPr/>
                    <a:lstStyle/>
                    <a:p>
                      <a:pPr algn="l">
                        <a:buNone/>
                      </a:pPr>
                      <a:r>
                        <a:rPr lang="en-US" sz="1500" dirty="0">
                          <a:solidFill>
                            <a:srgbClr val="3649A8"/>
                          </a:solidFill>
                          <a:latin typeface="Consolas"/>
                          <a:cs typeface="Consolas"/>
                        </a:rPr>
                        <a:t>docs.getdbt.com/docs/core/connect-data-platform/fabricspark-setup  ·  github.com/microsoft/dbt-fabricspark</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4F6FA"/>
                    </a:solidFill>
                  </a:tcPr>
                </a:tc>
                <a:extLst>
                  <a:ext uri="{0D108BD9-81ED-4DB2-BD59-A6C34878D82A}">
                    <a16:rowId xmlns:a16="http://schemas.microsoft.com/office/drawing/2014/main" val="10006"/>
                  </a:ext>
                </a:extLst>
              </a:tr>
              <a:tr h="609600">
                <a:tc>
                  <a:txBody>
                    <a:bodyPr/>
                    <a:lstStyle/>
                    <a:p>
                      <a:pPr algn="l">
                        <a:buNone/>
                      </a:pPr>
                      <a:r>
                        <a:rPr lang="en-US" sz="1600" dirty="0">
                          <a:solidFill>
                            <a:srgbClr val="364750"/>
                          </a:solidFill>
                          <a:latin typeface="Frutiger"/>
                          <a:cs typeface="Frutiger"/>
                        </a:rPr>
                        <a:t>SQL Server / Azure SQL adapter (dbt-sqlserver)</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tc>
                  <a:txBody>
                    <a:bodyPr/>
                    <a:lstStyle/>
                    <a:p>
                      <a:pPr algn="l">
                        <a:buNone/>
                      </a:pPr>
                      <a:r>
                        <a:rPr lang="en-US" sz="1500" dirty="0">
                          <a:solidFill>
                            <a:srgbClr val="3649A8"/>
                          </a:solidFill>
                          <a:latin typeface="Consolas"/>
                          <a:cs typeface="Consolas"/>
                        </a:rPr>
                        <a:t>docs.getdbt.com/docs/core/connect-data-platform/mssql-setup  ·  github.com/dbt-msft/dbt-sqlserver</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FFFFF"/>
                    </a:solidFill>
                  </a:tcPr>
                </a:tc>
                <a:extLst>
                  <a:ext uri="{0D108BD9-81ED-4DB2-BD59-A6C34878D82A}">
                    <a16:rowId xmlns:a16="http://schemas.microsoft.com/office/drawing/2014/main" val="10007"/>
                  </a:ext>
                </a:extLst>
              </a:tr>
              <a:tr h="609600">
                <a:tc>
                  <a:txBody>
                    <a:bodyPr/>
                    <a:lstStyle/>
                    <a:p>
                      <a:pPr algn="l">
                        <a:buNone/>
                      </a:pPr>
                      <a:r>
                        <a:rPr lang="en-US" sz="1600" dirty="0">
                          <a:solidFill>
                            <a:srgbClr val="364750"/>
                          </a:solidFill>
                          <a:latin typeface="Frutiger"/>
                          <a:cs typeface="Frutiger"/>
                        </a:rPr>
                        <a:t>Deploying dbt · graph selection · Jinja &amp; macros</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4F6FA"/>
                    </a:solidFill>
                  </a:tcPr>
                </a:tc>
                <a:tc>
                  <a:txBody>
                    <a:bodyPr/>
                    <a:lstStyle/>
                    <a:p>
                      <a:pPr algn="l">
                        <a:buNone/>
                      </a:pPr>
                      <a:r>
                        <a:rPr lang="en-US" sz="1500" dirty="0">
                          <a:solidFill>
                            <a:srgbClr val="3649A8"/>
                          </a:solidFill>
                          <a:latin typeface="Consolas"/>
                          <a:cs typeface="Consolas"/>
                        </a:rPr>
                        <a:t>docs.getdbt.com/docs/deploy  ·  /reference/node-selection/syntax  ·  /docs/build/jinja-macros</a:t>
                      </a:r>
                    </a:p>
                  </a:txBody>
                  <a:tcPr marL="127000" marR="127000" marT="76200" marB="76200" anchor="ctr">
                    <a:lnL w="12700">
                      <a:solidFill>
                        <a:srgbClr val="E2E7EB"/>
                      </a:solidFill>
                    </a:lnL>
                    <a:lnR w="12700">
                      <a:solidFill>
                        <a:srgbClr val="E2E7EB"/>
                      </a:solidFill>
                    </a:lnR>
                    <a:lnT w="12700">
                      <a:solidFill>
                        <a:srgbClr val="E2E7EB"/>
                      </a:solidFill>
                    </a:lnT>
                    <a:lnB w="12700">
                      <a:solidFill>
                        <a:srgbClr val="E2E7EB"/>
                      </a:solidFill>
                    </a:lnB>
                    <a:solidFill>
                      <a:srgbClr val="F4F6FA"/>
                    </a:solidFill>
                  </a:tcPr>
                </a:tc>
                <a:extLst>
                  <a:ext uri="{0D108BD9-81ED-4DB2-BD59-A6C34878D82A}">
                    <a16:rowId xmlns:a16="http://schemas.microsoft.com/office/drawing/2014/main" val="10008"/>
                  </a:ext>
                </a:extLst>
              </a:tr>
            </a:tbl>
          </a:graphicData>
        </a:graphic>
      </p:graphicFrame>
      <p:sp>
        <p:nvSpPr>
          <p:cNvPr id="110" name="Shape 110"/>
          <p:cNvSpPr/>
          <p:nvPr/>
        </p:nvSpPr>
        <p:spPr>
          <a:xfrm>
            <a:off x="838200" y="8051800"/>
            <a:ext cx="16611600" cy="1066800"/>
          </a:xfrm>
          <a:prstGeom prst="rect">
            <a:avLst/>
          </a:prstGeom>
          <a:solidFill>
            <a:srgbClr val="F4F6FA"/>
          </a:solidFill>
          <a:ln>
            <a:noFill/>
          </a:ln>
        </p:spPr>
        <p:txBody>
          <a:bodyPr wrap="square" lIns="101600" tIns="101600" rIns="101600" bIns="101600" anchor="t">
            <a:normAutofit/>
          </a:bodyPr>
          <a:lstStyle/>
          <a:p>
            <a:endParaRPr lang="en-US"/>
          </a:p>
        </p:txBody>
      </p:sp>
      <p:sp>
        <p:nvSpPr>
          <p:cNvPr id="111" name="Shape 111"/>
          <p:cNvSpPr/>
          <p:nvPr/>
        </p:nvSpPr>
        <p:spPr>
          <a:xfrm>
            <a:off x="1092200" y="8178800"/>
            <a:ext cx="16129000" cy="838200"/>
          </a:xfrm>
          <a:prstGeom prst="rect">
            <a:avLst/>
          </a:prstGeom>
          <a:noFill/>
          <a:ln>
            <a:noFill/>
          </a:ln>
        </p:spPr>
        <p:txBody>
          <a:bodyPr wrap="square" lIns="0" tIns="0" rIns="0" bIns="0" anchor="t">
            <a:normAutofit fontScale="85000" lnSpcReduction="10000"/>
          </a:bodyPr>
          <a:lstStyle/>
          <a:p>
            <a:pPr>
              <a:lnSpc>
                <a:spcPct val="105000"/>
              </a:lnSpc>
              <a:buNone/>
            </a:pPr>
            <a:r>
              <a:rPr lang="en-US" sz="1900" b="1" dirty="0">
                <a:solidFill>
                  <a:srgbClr val="001F6B"/>
                </a:solidFill>
                <a:latin typeface="Frutiger"/>
                <a:cs typeface="Frutiger"/>
              </a:rPr>
              <a:t>Companion material: </a:t>
            </a:r>
            <a:r>
              <a:rPr lang="en-US" sz="1800" dirty="0">
                <a:solidFill>
                  <a:srgbClr val="364750"/>
                </a:solidFill>
                <a:latin typeface="Frutiger"/>
                <a:cs typeface="Frutiger"/>
              </a:rPr>
              <a:t>docs/runbook.md covers environment setup, per-demo commands, expected outputs and recovery steps; docs/fabric-setup.md covers the one-time Fabric, Entra and Azure DevOps setup; the companion repository (https://github.com/aboerger/getting-started-with-dbt) contains the Jaffle Shop project, profiles, pipeline, runner notebook and runbook.</a:t>
            </a:r>
          </a:p>
          <a:p>
            <a:pPr>
              <a:spcBef>
                <a:spcPts val="400"/>
              </a:spcBef>
              <a:buNone/>
            </a:pPr>
            <a:r>
              <a:rPr lang="en-US" sz="1700" i="1" dirty="0">
                <a:solidFill>
                  <a:srgbClr val="667780"/>
                </a:solidFill>
                <a:latin typeface="Frutiger"/>
                <a:cs typeface="Frutiger"/>
              </a:rPr>
              <a:t>Version-sensitive claims in this deck (adapter versions, connection libraries, auth modes) were checked in September 2026 — re-verify before presenting.</a:t>
            </a:r>
          </a:p>
        </p:txBody>
      </p:sp>
    </p:spTree>
    <p:extLst>
      <p:ext uri="{BB962C8B-B14F-4D97-AF65-F5344CB8AC3E}">
        <p14:creationId xmlns:p14="http://schemas.microsoft.com/office/powerpoint/2010/main" val="14500692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696"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0205F9E-D364-4AE6-B05E-A42EF31184DD}">
  <we:reference id="WA200010725" version="1.0.0.1" store="Omex" storeType="OMEX"/>
  <we:alternateReferences>
    <we:reference id="WA200010725" version="1.0.0.1" store="WA200010725" storeType="OMEX"/>
  </we:alternateReferences>
  <we:properties>
    <we:property name="claude.fileId" value="&quot;e47c0829-70f0-46d4-98ed-862f6c0cc6f3&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1061</TotalTime>
  <Words>11769</Words>
  <Application>Microsoft Office PowerPoint</Application>
  <DocSecurity>0</DocSecurity>
  <PresentationFormat>Custom</PresentationFormat>
  <Paragraphs>1121</Paragraphs>
  <Slides>32</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Consolas</vt:lpstr>
      <vt:lpstr>Frutiger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Boerger, Andrew</cp:lastModifiedBy>
  <cp:revision>13</cp:revision>
  <dcterms:created xsi:type="dcterms:W3CDTF">2026-09-06T15:22:03Z</dcterms:created>
  <dcterms:modified xsi:type="dcterms:W3CDTF">2026-09-10T17:36:57Z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b500289-1a9c-442f-923d-4f95209608d2_Enabled">
    <vt:lpwstr>true</vt:lpwstr>
  </property>
  <property fmtid="{D5CDD505-2E9C-101B-9397-08002B2CF9AE}" pid="3" name="MSIP_Label_9b500289-1a9c-442f-923d-4f95209608d2_SetDate">
    <vt:lpwstr>2026-09-08T18:19:34Z</vt:lpwstr>
  </property>
  <property fmtid="{D5CDD505-2E9C-101B-9397-08002B2CF9AE}" pid="4" name="MSIP_Label_9b500289-1a9c-442f-923d-4f95209608d2_Method">
    <vt:lpwstr>Privileged</vt:lpwstr>
  </property>
  <property fmtid="{D5CDD505-2E9C-101B-9397-08002B2CF9AE}" pid="5" name="MSIP_Label_9b500289-1a9c-442f-923d-4f95209608d2_Name">
    <vt:lpwstr>GCEP2 - Others</vt:lpwstr>
  </property>
  <property fmtid="{D5CDD505-2E9C-101B-9397-08002B2CF9AE}" pid="6" name="MSIP_Label_9b500289-1a9c-442f-923d-4f95209608d2_SiteId">
    <vt:lpwstr>90c56ca2-d892-45ce-810d-6cf368facdb3</vt:lpwstr>
  </property>
  <property fmtid="{D5CDD505-2E9C-101B-9397-08002B2CF9AE}" pid="7" name="MSIP_Label_9b500289-1a9c-442f-923d-4f95209608d2_ActionId">
    <vt:lpwstr>242216fd-53bd-42d9-85b4-bd90f3a90dd7</vt:lpwstr>
  </property>
  <property fmtid="{D5CDD505-2E9C-101B-9397-08002B2CF9AE}" pid="8" name="MSIP_Label_9b500289-1a9c-442f-923d-4f95209608d2_ContentBits">
    <vt:lpwstr>0</vt:lpwstr>
  </property>
  <property fmtid="{D5CDD505-2E9C-101B-9397-08002B2CF9AE}" pid="9" name="MSIP_Label_9b500289-1a9c-442f-923d-4f95209608d2_Tag">
    <vt:lpwstr>10, 0, 1, 1</vt:lpwstr>
  </property>
</Properties>
</file>